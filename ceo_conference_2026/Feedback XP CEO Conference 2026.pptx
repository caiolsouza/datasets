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2.svg" ContentType="image/svg+xml"/>
  <Override PartName="/ppt/media/image13.svg" ContentType="image/svg+xml"/>
  <Override PartName="/ppt/media/image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711" r:id="rId2"/>
    <p:sldMasterId id="2147483750" r:id="rId3"/>
  </p:sldMasterIdLst>
  <p:notesMasterIdLst>
    <p:notesMasterId r:id="rId31"/>
  </p:notesMasterIdLst>
  <p:sldIdLst>
    <p:sldId id="405" r:id="rId4"/>
    <p:sldId id="396" r:id="rId5"/>
    <p:sldId id="256" r:id="rId6"/>
    <p:sldId id="262" r:id="rId7"/>
    <p:sldId id="379" r:id="rId8"/>
    <p:sldId id="380" r:id="rId9"/>
    <p:sldId id="381" r:id="rId10"/>
    <p:sldId id="384" r:id="rId11"/>
    <p:sldId id="389" r:id="rId12"/>
    <p:sldId id="387" r:id="rId13"/>
    <p:sldId id="386" r:id="rId14"/>
    <p:sldId id="390" r:id="rId15"/>
    <p:sldId id="298" r:id="rId16"/>
    <p:sldId id="391" r:id="rId17"/>
    <p:sldId id="392" r:id="rId18"/>
    <p:sldId id="398" r:id="rId19"/>
    <p:sldId id="399" r:id="rId20"/>
    <p:sldId id="400" r:id="rId21"/>
    <p:sldId id="401" r:id="rId22"/>
    <p:sldId id="402" r:id="rId23"/>
    <p:sldId id="403" r:id="rId24"/>
    <p:sldId id="404" r:id="rId25"/>
    <p:sldId id="406" r:id="rId36"/>
    <p:sldId id="383" r:id="rId26"/>
    <p:sldId id="397" r:id="rId27"/>
    <p:sldId id="388" r:id="rId28"/>
    <p:sldId id="271" r:id="rId29"/>
    <p:sldId id="272" r:id="rId30"/>
  </p:sldIdLst>
  <p:sldSz cx="6858000" cy="9906000" type="A4"/>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E25373-AEA3-4792-A3B0-8F828C4D1242}">
          <p14:sldIdLst>
            <p14:sldId id="405"/>
            <p14:sldId id="396"/>
            <p14:sldId id="256"/>
            <p14:sldId id="262"/>
            <p14:sldId id="379"/>
            <p14:sldId id="380"/>
            <p14:sldId id="381"/>
            <p14:sldId id="384"/>
            <p14:sldId id="389"/>
            <p14:sldId id="387"/>
            <p14:sldId id="386"/>
            <p14:sldId id="390"/>
            <p14:sldId id="298"/>
            <p14:sldId id="391"/>
            <p14:sldId id="392"/>
            <p14:sldId id="398"/>
            <p14:sldId id="399"/>
            <p14:sldId id="400"/>
            <p14:sldId id="401"/>
            <p14:sldId id="402"/>
            <p14:sldId id="403"/>
            <p14:sldId id="404"/>
            <p14:sldId id="383"/>
            <p14:sldId id="397"/>
            <p14:sldId id="388"/>
            <p14:sldId id="271"/>
            <p14:sldId id="272"/>
          </p14:sldIdLst>
        </p14:section>
        <p14:section name="OLD" id="{C273E1AE-2073-4707-BAAB-FA84904E2EBF}">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B3DF"/>
    <a:srgbClr val="000000"/>
    <a:srgbClr val="F9C113"/>
    <a:srgbClr val="707971"/>
    <a:srgbClr val="FFFFFF"/>
    <a:srgbClr val="1F2F44"/>
    <a:srgbClr val="141515"/>
    <a:srgbClr val="151616"/>
    <a:srgbClr val="18191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85" autoAdjust="0"/>
    <p:restoredTop sz="94660"/>
  </p:normalViewPr>
  <p:slideViewPr>
    <p:cSldViewPr snapToGrid="0">
      <p:cViewPr varScale="1">
        <p:scale>
          <a:sx n="77" d="100"/>
          <a:sy n="77" d="100"/>
        </p:scale>
        <p:origin x="3522" y="108"/>
      </p:cViewPr>
      <p:guideLst/>
    </p:cSldViewPr>
  </p:slideViewPr>
  <p:notesTextViewPr>
    <p:cViewPr>
      <p:scale>
        <a:sx n="3" d="2"/>
        <a:sy n="3" d="2"/>
      </p:scale>
      <p:origin x="0" y="0"/>
    </p:cViewPr>
  </p:notesTextViewPr>
  <p:notesViewPr>
    <p:cSldViewPr snapToGrid="0">
      <p:cViewPr varScale="1">
        <p:scale>
          <a:sx n="64" d="100"/>
          <a:sy n="64" d="100"/>
        </p:scale>
        <p:origin x="3192" y="77"/>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904919-855E-41AB-8A84-30C374ADE181}" type="datetimeFigureOut">
              <a:rPr lang="en-US" smtClean="0"/>
              <a:t>8/18/2026</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984EC9-51C0-4BB7-A48B-D32011637DBD}" type="slidenum">
              <a:rPr lang="en-US" smtClean="0"/>
              <a:t>‹#›</a:t>
            </a:fld>
            <a:endParaRPr lang="en-US"/>
          </a:p>
        </p:txBody>
      </p:sp>
    </p:spTree>
    <p:extLst>
      <p:ext uri="{BB962C8B-B14F-4D97-AF65-F5344CB8AC3E}">
        <p14:creationId xmlns:p14="http://schemas.microsoft.com/office/powerpoint/2010/main" val="584803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2026 attendance detail:</a:t>
            </a:r>
          </a:p>
          <a:p>
            <a:r>
              <a:rPr dirty="0"/>
              <a:t>3Tentos: August 18th</a:t>
            </a:r>
          </a:p>
          <a:p>
            <a:r>
              <a:rPr dirty="0"/>
              <a:t>Ambev: August 17th</a:t>
            </a:r>
          </a:p>
          <a:p>
            <a:r>
              <a:rPr dirty="0"/>
              <a:t>Boa Safra: August 17th</a:t>
            </a:r>
          </a:p>
          <a:p>
            <a:r>
              <a:rPr dirty="0" err="1"/>
              <a:t>Brasil</a:t>
            </a:r>
            <a:r>
              <a:rPr dirty="0"/>
              <a:t> </a:t>
            </a:r>
            <a:r>
              <a:rPr dirty="0" err="1"/>
              <a:t>Agro</a:t>
            </a:r>
            <a:r>
              <a:rPr dirty="0"/>
              <a:t>: August 18th</a:t>
            </a:r>
          </a:p>
          <a:p>
            <a:r>
              <a:rPr dirty="0"/>
              <a:t>Camil: August 17th</a:t>
            </a:r>
          </a:p>
          <a:p>
            <a:r>
              <a:rPr dirty="0" err="1"/>
              <a:t>Jalles</a:t>
            </a:r>
            <a:r>
              <a:rPr dirty="0"/>
              <a:t>: August 18th</a:t>
            </a:r>
          </a:p>
          <a:p>
            <a:r>
              <a:rPr dirty="0"/>
              <a:t>JBS: August 18th</a:t>
            </a:r>
          </a:p>
          <a:p>
            <a:r>
              <a:rPr dirty="0"/>
              <a:t>M. Dias Branco: August 18th</a:t>
            </a:r>
          </a:p>
          <a:p>
            <a:r>
              <a:rPr dirty="0"/>
              <a:t>MBRF: August 18th</a:t>
            </a:r>
          </a:p>
          <a:p>
            <a:r>
              <a:rPr dirty="0"/>
              <a:t>Minerva: August 17th</a:t>
            </a:r>
          </a:p>
          <a:p>
            <a:r>
              <a:rPr dirty="0"/>
              <a:t>SLC: August 17th</a:t>
            </a:r>
          </a:p>
          <a:p>
            <a:r>
              <a:rPr dirty="0"/>
              <a:t>WEG: August 17th</a:t>
            </a:r>
          </a:p>
          <a:p>
            <a:r>
              <a:rPr dirty="0" err="1"/>
              <a:t>Ânima</a:t>
            </a:r>
            <a:r>
              <a:rPr dirty="0"/>
              <a:t>: August 17th</a:t>
            </a:r>
          </a:p>
          <a:p>
            <a:r>
              <a:rPr dirty="0"/>
              <a:t>Cogna </a:t>
            </a:r>
            <a:r>
              <a:rPr dirty="0" err="1"/>
              <a:t>Educação</a:t>
            </a:r>
            <a:r>
              <a:rPr dirty="0"/>
              <a:t>: August 17th</a:t>
            </a:r>
          </a:p>
          <a:p>
            <a:r>
              <a:rPr dirty="0"/>
              <a:t>Cruzeiro do Sul </a:t>
            </a:r>
            <a:r>
              <a:rPr dirty="0" err="1"/>
              <a:t>Educacional</a:t>
            </a:r>
            <a:r>
              <a:rPr dirty="0"/>
              <a:t>: August 17th</a:t>
            </a:r>
          </a:p>
          <a:p>
            <a:r>
              <a:rPr dirty="0"/>
              <a:t>Salta: August 17th</a:t>
            </a:r>
          </a:p>
          <a:p>
            <a:r>
              <a:rPr dirty="0" err="1"/>
              <a:t>Vitru</a:t>
            </a:r>
            <a:r>
              <a:rPr dirty="0"/>
              <a:t> </a:t>
            </a:r>
            <a:r>
              <a:rPr dirty="0" err="1"/>
              <a:t>Educação</a:t>
            </a:r>
            <a:r>
              <a:rPr dirty="0"/>
              <a:t>: August 17th</a:t>
            </a:r>
          </a:p>
          <a:p>
            <a:r>
              <a:rPr dirty="0" err="1"/>
              <a:t>Yduqs</a:t>
            </a:r>
            <a:r>
              <a:rPr dirty="0"/>
              <a:t>: August 17th</a:t>
            </a:r>
          </a:p>
          <a:p>
            <a:r>
              <a:rPr dirty="0"/>
              <a:t>Aegea: August 17th, August 18th</a:t>
            </a:r>
          </a:p>
          <a:p>
            <a:r>
              <a:rPr dirty="0"/>
              <a:t>Auren: August 18th</a:t>
            </a:r>
          </a:p>
          <a:p>
            <a:r>
              <a:rPr dirty="0"/>
              <a:t>AXIA: August 18th</a:t>
            </a:r>
          </a:p>
          <a:p>
            <a:r>
              <a:rPr dirty="0" err="1"/>
              <a:t>Cemig</a:t>
            </a:r>
            <a:r>
              <a:rPr dirty="0"/>
              <a:t>: August 18th</a:t>
            </a:r>
          </a:p>
          <a:p>
            <a:r>
              <a:rPr dirty="0" err="1"/>
              <a:t>Copasa</a:t>
            </a:r>
            <a:r>
              <a:rPr dirty="0"/>
              <a:t>: August 17th</a:t>
            </a:r>
          </a:p>
          <a:p>
            <a:r>
              <a:rPr dirty="0"/>
              <a:t>Copel: August 17th</a:t>
            </a:r>
          </a:p>
          <a:p>
            <a:r>
              <a:rPr dirty="0" err="1"/>
              <a:t>Energisa</a:t>
            </a:r>
            <a:r>
              <a:rPr dirty="0"/>
              <a:t>: August 17th</a:t>
            </a:r>
          </a:p>
          <a:p>
            <a:r>
              <a:rPr dirty="0"/>
              <a:t>Engie: August 17th</a:t>
            </a:r>
          </a:p>
          <a:p>
            <a:r>
              <a:rPr dirty="0"/>
              <a:t>Equatorial: August 17th</a:t>
            </a:r>
          </a:p>
          <a:p>
            <a:r>
              <a:rPr dirty="0"/>
              <a:t>Light: August 18th</a:t>
            </a:r>
          </a:p>
          <a:p>
            <a:r>
              <a:rPr dirty="0" err="1"/>
              <a:t>Orizon</a:t>
            </a:r>
            <a:r>
              <a:rPr dirty="0"/>
              <a:t>: August 18th</a:t>
            </a:r>
          </a:p>
          <a:p>
            <a:r>
              <a:rPr dirty="0"/>
              <a:t>Taesa: August 18th</a:t>
            </a:r>
          </a:p>
          <a:p>
            <a:r>
              <a:rPr dirty="0" err="1"/>
              <a:t>Agibank</a:t>
            </a:r>
            <a:r>
              <a:rPr dirty="0"/>
              <a:t>: August 17th</a:t>
            </a:r>
          </a:p>
          <a:p>
            <a:r>
              <a:rPr dirty="0"/>
              <a:t>B3: August 17th</a:t>
            </a:r>
          </a:p>
          <a:p>
            <a:r>
              <a:rPr dirty="0"/>
              <a:t>Banco do </a:t>
            </a:r>
            <a:r>
              <a:rPr dirty="0" err="1"/>
              <a:t>Brasil</a:t>
            </a:r>
            <a:r>
              <a:rPr dirty="0"/>
              <a:t>: August 17th</a:t>
            </a:r>
          </a:p>
          <a:p>
            <a:r>
              <a:rPr dirty="0"/>
              <a:t>BB </a:t>
            </a:r>
            <a:r>
              <a:rPr dirty="0" err="1"/>
              <a:t>Seguridade</a:t>
            </a:r>
            <a:r>
              <a:rPr dirty="0"/>
              <a:t>: August 17th</a:t>
            </a:r>
          </a:p>
          <a:p>
            <a:r>
              <a:rPr dirty="0"/>
              <a:t>BR Partners: August 18th</a:t>
            </a:r>
          </a:p>
          <a:p>
            <a:r>
              <a:rPr dirty="0"/>
              <a:t>Bradesco: August 17th</a:t>
            </a:r>
          </a:p>
          <a:p>
            <a:r>
              <a:rPr dirty="0"/>
              <a:t>Caixa </a:t>
            </a:r>
            <a:r>
              <a:rPr dirty="0" err="1"/>
              <a:t>Seguridade</a:t>
            </a:r>
            <a:r>
              <a:rPr dirty="0"/>
              <a:t>: August 17th</a:t>
            </a:r>
          </a:p>
          <a:p>
            <a:r>
              <a:rPr dirty="0"/>
              <a:t>IRB(Re): August 18th</a:t>
            </a:r>
          </a:p>
          <a:p>
            <a:r>
              <a:rPr dirty="0"/>
              <a:t>Itaú: August 18th</a:t>
            </a:r>
          </a:p>
          <a:p>
            <a:r>
              <a:rPr dirty="0"/>
              <a:t>Mercantil: August 17th</a:t>
            </a:r>
          </a:p>
          <a:p>
            <a:r>
              <a:rPr dirty="0"/>
              <a:t>Pine: August 18th</a:t>
            </a:r>
          </a:p>
          <a:p>
            <a:r>
              <a:rPr dirty="0"/>
              <a:t>Stone: August 17th</a:t>
            </a:r>
          </a:p>
          <a:p>
            <a:r>
              <a:rPr dirty="0"/>
              <a:t>XP Inc.: August 18th</a:t>
            </a:r>
          </a:p>
          <a:p>
            <a:r>
              <a:rPr dirty="0"/>
              <a:t>XP Research | Macro &amp; Politics: August 17th, August 18th</a:t>
            </a:r>
          </a:p>
          <a:p>
            <a:r>
              <a:rPr dirty="0"/>
              <a:t>XP Research | Strategy: August 17th, August 18th</a:t>
            </a:r>
          </a:p>
          <a:p>
            <a:r>
              <a:rPr dirty="0" err="1"/>
              <a:t>BradSaúde</a:t>
            </a:r>
            <a:r>
              <a:rPr dirty="0"/>
              <a:t>: August 18th</a:t>
            </a:r>
          </a:p>
          <a:p>
            <a:r>
              <a:rPr dirty="0"/>
              <a:t>Dasa: August 17th</a:t>
            </a:r>
          </a:p>
          <a:p>
            <a:r>
              <a:rPr dirty="0"/>
              <a:t>Fleury: August 18th</a:t>
            </a:r>
          </a:p>
          <a:p>
            <a:r>
              <a:rPr dirty="0" err="1"/>
              <a:t>Hapvida</a:t>
            </a:r>
            <a:r>
              <a:rPr dirty="0"/>
              <a:t>: August 17th</a:t>
            </a:r>
          </a:p>
          <a:p>
            <a:r>
              <a:rPr dirty="0" err="1"/>
              <a:t>Hypera</a:t>
            </a:r>
            <a:r>
              <a:rPr dirty="0"/>
              <a:t>: August 17th</a:t>
            </a:r>
          </a:p>
          <a:p>
            <a:r>
              <a:rPr dirty="0"/>
              <a:t>Mater Dei: August 17th</a:t>
            </a:r>
          </a:p>
          <a:p>
            <a:r>
              <a:rPr dirty="0"/>
              <a:t>Rede D'Or: August 17th</a:t>
            </a:r>
          </a:p>
          <a:p>
            <a:r>
              <a:rPr dirty="0" err="1"/>
              <a:t>União</a:t>
            </a:r>
            <a:r>
              <a:rPr dirty="0"/>
              <a:t> </a:t>
            </a:r>
            <a:r>
              <a:rPr dirty="0" err="1"/>
              <a:t>Química</a:t>
            </a:r>
            <a:r>
              <a:rPr dirty="0"/>
              <a:t>: August 18th</a:t>
            </a:r>
          </a:p>
          <a:p>
            <a:r>
              <a:rPr dirty="0"/>
              <a:t>CSN: August 17th</a:t>
            </a:r>
          </a:p>
          <a:p>
            <a:r>
              <a:rPr dirty="0"/>
              <a:t>Vale: August 18th</a:t>
            </a:r>
          </a:p>
          <a:p>
            <a:r>
              <a:rPr dirty="0"/>
              <a:t>Brava: August 17th</a:t>
            </a:r>
          </a:p>
          <a:p>
            <a:r>
              <a:rPr dirty="0"/>
              <a:t>Compass: August 17th</a:t>
            </a:r>
          </a:p>
          <a:p>
            <a:r>
              <a:rPr dirty="0" err="1"/>
              <a:t>Origem</a:t>
            </a:r>
            <a:r>
              <a:rPr dirty="0"/>
              <a:t>: August 18th</a:t>
            </a:r>
          </a:p>
          <a:p>
            <a:r>
              <a:rPr dirty="0"/>
              <a:t>Petrobras: August 18th</a:t>
            </a:r>
          </a:p>
          <a:p>
            <a:r>
              <a:rPr dirty="0" err="1"/>
              <a:t>PetroRecôncavo</a:t>
            </a:r>
            <a:r>
              <a:rPr dirty="0"/>
              <a:t>: August 17th</a:t>
            </a:r>
          </a:p>
          <a:p>
            <a:r>
              <a:rPr dirty="0"/>
              <a:t>PRIO: August 17th</a:t>
            </a:r>
          </a:p>
          <a:p>
            <a:r>
              <a:rPr dirty="0"/>
              <a:t>Ultra: August 17th</a:t>
            </a:r>
          </a:p>
          <a:p>
            <a:r>
              <a:rPr dirty="0"/>
              <a:t>Vibra: August 18th</a:t>
            </a:r>
          </a:p>
          <a:p>
            <a:r>
              <a:rPr dirty="0"/>
              <a:t>Klabin: August 18th</a:t>
            </a:r>
          </a:p>
          <a:p>
            <a:r>
              <a:rPr dirty="0"/>
              <a:t>Suzano: August 17th</a:t>
            </a:r>
          </a:p>
          <a:p>
            <a:r>
              <a:rPr dirty="0" err="1"/>
              <a:t>Allos</a:t>
            </a:r>
            <a:r>
              <a:rPr dirty="0"/>
              <a:t>: August 17th</a:t>
            </a:r>
          </a:p>
          <a:p>
            <a:r>
              <a:rPr dirty="0"/>
              <a:t>Cury: August 18th</a:t>
            </a:r>
          </a:p>
          <a:p>
            <a:r>
              <a:rPr dirty="0" err="1"/>
              <a:t>Cyrela</a:t>
            </a:r>
            <a:r>
              <a:rPr dirty="0"/>
              <a:t>: August 18th</a:t>
            </a:r>
          </a:p>
          <a:p>
            <a:r>
              <a:rPr dirty="0" err="1"/>
              <a:t>Direcional</a:t>
            </a:r>
            <a:r>
              <a:rPr dirty="0"/>
              <a:t>: August 18th</a:t>
            </a:r>
          </a:p>
          <a:p>
            <a:r>
              <a:rPr dirty="0"/>
              <a:t>Even: August 17th</a:t>
            </a:r>
          </a:p>
          <a:p>
            <a:r>
              <a:rPr dirty="0" err="1"/>
              <a:t>Iguatemi</a:t>
            </a:r>
            <a:r>
              <a:rPr dirty="0"/>
              <a:t>: August 17th</a:t>
            </a:r>
          </a:p>
          <a:p>
            <a:r>
              <a:rPr dirty="0"/>
              <a:t>JHSF: August 17th</a:t>
            </a:r>
          </a:p>
          <a:p>
            <a:r>
              <a:rPr dirty="0" err="1"/>
              <a:t>Lavvi</a:t>
            </a:r>
            <a:r>
              <a:rPr dirty="0"/>
              <a:t>: August 17th</a:t>
            </a:r>
          </a:p>
          <a:p>
            <a:r>
              <a:rPr dirty="0"/>
              <a:t>Moura </a:t>
            </a:r>
            <a:r>
              <a:rPr dirty="0" err="1"/>
              <a:t>Dubeux</a:t>
            </a:r>
            <a:r>
              <a:rPr dirty="0"/>
              <a:t>: August 18th</a:t>
            </a:r>
          </a:p>
          <a:p>
            <a:r>
              <a:rPr dirty="0"/>
              <a:t>MRV: August 18th</a:t>
            </a:r>
          </a:p>
          <a:p>
            <a:r>
              <a:rPr dirty="0"/>
              <a:t>Multiplan: August 17th</a:t>
            </a:r>
          </a:p>
          <a:p>
            <a:r>
              <a:rPr dirty="0" err="1"/>
              <a:t>Plano&amp;Plano</a:t>
            </a:r>
            <a:r>
              <a:rPr dirty="0"/>
              <a:t>: August 17th</a:t>
            </a:r>
          </a:p>
          <a:p>
            <a:r>
              <a:rPr dirty="0" err="1"/>
              <a:t>Alpargatas</a:t>
            </a:r>
            <a:r>
              <a:rPr dirty="0"/>
              <a:t>: August 17th</a:t>
            </a:r>
          </a:p>
          <a:p>
            <a:r>
              <a:rPr dirty="0" err="1"/>
              <a:t>Assaí</a:t>
            </a:r>
            <a:r>
              <a:rPr dirty="0"/>
              <a:t>: August 18th</a:t>
            </a:r>
          </a:p>
          <a:p>
            <a:r>
              <a:rPr dirty="0" err="1"/>
              <a:t>Azzas</a:t>
            </a:r>
            <a:r>
              <a:rPr dirty="0"/>
              <a:t> 2154: August 17th</a:t>
            </a:r>
          </a:p>
          <a:p>
            <a:r>
              <a:rPr dirty="0"/>
              <a:t>C&amp;A: August 18th</a:t>
            </a:r>
          </a:p>
          <a:p>
            <a:r>
              <a:rPr dirty="0"/>
              <a:t>Grupo SBF: August 17th</a:t>
            </a:r>
          </a:p>
          <a:p>
            <a:r>
              <a:rPr dirty="0"/>
              <a:t>Live!: August 17th</a:t>
            </a:r>
          </a:p>
          <a:p>
            <a:r>
              <a:rPr dirty="0" err="1"/>
              <a:t>Magalu</a:t>
            </a:r>
            <a:r>
              <a:rPr dirty="0"/>
              <a:t>: August 18th</a:t>
            </a:r>
          </a:p>
          <a:p>
            <a:r>
              <a:rPr dirty="0"/>
              <a:t>Mercado Libre: August 17th</a:t>
            </a:r>
          </a:p>
          <a:p>
            <a:r>
              <a:rPr dirty="0"/>
              <a:t>Natura: August 17th</a:t>
            </a:r>
          </a:p>
          <a:p>
            <a:r>
              <a:rPr dirty="0"/>
              <a:t>Pague Menos: August 18th</a:t>
            </a:r>
          </a:p>
          <a:p>
            <a:r>
              <a:rPr dirty="0" err="1"/>
              <a:t>Panvel</a:t>
            </a:r>
            <a:r>
              <a:rPr dirty="0"/>
              <a:t>: August 18th</a:t>
            </a:r>
          </a:p>
          <a:p>
            <a:r>
              <a:rPr dirty="0" err="1"/>
              <a:t>Petlove</a:t>
            </a:r>
            <a:r>
              <a:rPr dirty="0"/>
              <a:t>: August 18th</a:t>
            </a:r>
          </a:p>
          <a:p>
            <a:r>
              <a:rPr dirty="0"/>
              <a:t>Petz </a:t>
            </a:r>
            <a:r>
              <a:rPr dirty="0" err="1"/>
              <a:t>Cobasi</a:t>
            </a:r>
            <a:r>
              <a:rPr dirty="0"/>
              <a:t>: August 17th</a:t>
            </a:r>
          </a:p>
          <a:p>
            <a:r>
              <a:rPr dirty="0" err="1"/>
              <a:t>Profarma</a:t>
            </a:r>
            <a:r>
              <a:rPr dirty="0"/>
              <a:t>: August 18th</a:t>
            </a:r>
          </a:p>
          <a:p>
            <a:r>
              <a:rPr dirty="0"/>
              <a:t>RD </a:t>
            </a:r>
            <a:r>
              <a:rPr dirty="0" err="1"/>
              <a:t>Saúde</a:t>
            </a:r>
            <a:r>
              <a:rPr dirty="0"/>
              <a:t>: August 17th</a:t>
            </a:r>
          </a:p>
          <a:p>
            <a:r>
              <a:rPr dirty="0"/>
              <a:t>Renner: August 17th</a:t>
            </a:r>
          </a:p>
          <a:p>
            <a:r>
              <a:rPr dirty="0" err="1"/>
              <a:t>Riachuelo</a:t>
            </a:r>
            <a:r>
              <a:rPr dirty="0"/>
              <a:t>: August 17th</a:t>
            </a:r>
          </a:p>
          <a:p>
            <a:r>
              <a:rPr dirty="0" err="1"/>
              <a:t>Smartfit</a:t>
            </a:r>
            <a:r>
              <a:rPr dirty="0"/>
              <a:t>: August 18th</a:t>
            </a:r>
          </a:p>
          <a:p>
            <a:r>
              <a:rPr dirty="0" err="1"/>
              <a:t>Vivara</a:t>
            </a:r>
            <a:r>
              <a:rPr dirty="0"/>
              <a:t>: August 17th</a:t>
            </a:r>
          </a:p>
          <a:p>
            <a:r>
              <a:rPr dirty="0" err="1"/>
              <a:t>Vulcabras</a:t>
            </a:r>
            <a:r>
              <a:rPr dirty="0"/>
              <a:t>: August 18th</a:t>
            </a:r>
          </a:p>
          <a:p>
            <a:r>
              <a:rPr dirty="0" err="1"/>
              <a:t>Bemobi</a:t>
            </a:r>
            <a:r>
              <a:rPr dirty="0"/>
              <a:t>: August 18th</a:t>
            </a:r>
          </a:p>
          <a:p>
            <a:r>
              <a:rPr dirty="0" err="1"/>
              <a:t>Intelbras</a:t>
            </a:r>
            <a:r>
              <a:rPr dirty="0"/>
              <a:t>: August 17th</a:t>
            </a:r>
          </a:p>
          <a:p>
            <a:r>
              <a:rPr dirty="0" err="1"/>
              <a:t>Livemode</a:t>
            </a:r>
            <a:r>
              <a:rPr dirty="0"/>
              <a:t>: August 18th</a:t>
            </a:r>
          </a:p>
          <a:p>
            <a:r>
              <a:rPr dirty="0"/>
              <a:t>LWSA: August 18th</a:t>
            </a:r>
          </a:p>
          <a:p>
            <a:r>
              <a:rPr dirty="0"/>
              <a:t>Senior Sistemas: August 17th</a:t>
            </a:r>
          </a:p>
          <a:p>
            <a:r>
              <a:rPr dirty="0" err="1"/>
              <a:t>Telefônica</a:t>
            </a:r>
            <a:r>
              <a:rPr dirty="0"/>
              <a:t> Vivo: August 17th</a:t>
            </a:r>
          </a:p>
          <a:p>
            <a:r>
              <a:rPr dirty="0"/>
              <a:t>TIM: August 18th</a:t>
            </a:r>
          </a:p>
          <a:p>
            <a:r>
              <a:rPr dirty="0"/>
              <a:t>TOTVS: August 18th</a:t>
            </a:r>
          </a:p>
          <a:p>
            <a:r>
              <a:rPr dirty="0" err="1"/>
              <a:t>Armac</a:t>
            </a:r>
            <a:r>
              <a:rPr dirty="0"/>
              <a:t>: August 17th</a:t>
            </a:r>
          </a:p>
          <a:p>
            <a:r>
              <a:rPr dirty="0" err="1"/>
              <a:t>Automob</a:t>
            </a:r>
            <a:r>
              <a:rPr dirty="0"/>
              <a:t>: August 18th</a:t>
            </a:r>
          </a:p>
          <a:p>
            <a:r>
              <a:rPr dirty="0" err="1"/>
              <a:t>Ecorodovias</a:t>
            </a:r>
            <a:r>
              <a:rPr dirty="0"/>
              <a:t>: August 18th</a:t>
            </a:r>
          </a:p>
          <a:p>
            <a:r>
              <a:rPr dirty="0"/>
              <a:t>GPS: August 18th</a:t>
            </a:r>
          </a:p>
          <a:p>
            <a:r>
              <a:rPr dirty="0"/>
              <a:t>Motiva: August 18th</a:t>
            </a:r>
          </a:p>
          <a:p>
            <a:r>
              <a:rPr dirty="0"/>
              <a:t>Movida: August 17th</a:t>
            </a:r>
          </a:p>
          <a:p>
            <a:r>
              <a:rPr dirty="0"/>
              <a:t>Priner: August 18th</a:t>
            </a:r>
          </a:p>
          <a:p>
            <a:r>
              <a:rPr dirty="0"/>
              <a:t>Rumo: August 17th</a:t>
            </a:r>
          </a:p>
          <a:p>
            <a:r>
              <a:rPr dirty="0" err="1"/>
              <a:t>Simpar</a:t>
            </a:r>
            <a:r>
              <a:rPr dirty="0"/>
              <a:t>: August 17th</a:t>
            </a:r>
          </a:p>
          <a:p>
            <a:r>
              <a:rPr dirty="0"/>
              <a:t>Vamos: August 18th</a:t>
            </a:r>
          </a:p>
          <a:p>
            <a:endParaRPr dirty="0"/>
          </a:p>
          <a:p>
            <a:r>
              <a:rPr dirty="0"/>
              <a:t>[Sources]</a:t>
            </a:r>
          </a:p>
          <a:p>
            <a:r>
              <a:rPr dirty="0"/>
              <a:t>- 2026 participant list supplied by the user (pasted-text.txt).</a:t>
            </a:r>
          </a:p>
          <a:p>
            <a:r>
              <a:rPr dirty="0"/>
              <a:t>- Source visual template: https://researchxp1.s3.sa-east-1.amazonaws.com/Company+list.pptx</a:t>
            </a:r>
          </a:p>
          <a:p>
            <a:r>
              <a:rPr dirty="0"/>
              <a:t>- XP Research sector taxonomy reference: https://conteudos.xpi.com.br/acoes/relatorios/enquadrando-o-varejo-para-2026/</a:t>
            </a:r>
          </a:p>
          <a:p>
            <a:r>
              <a:rPr dirty="0"/>
              <a:t>- XP Research sector taxonomy reference: https://conteudos.xpi.com.br/acoes/relatorios/utilities-previa-de-resultados-1t26/</a:t>
            </a:r>
          </a:p>
          <a:p>
            <a:r>
              <a:rPr dirty="0"/>
              <a:t>- XP Research sector taxonomy reference: https://conteudos.xpi.com.br/acoes/relatorios/transportes-previa-de-resultados-do-2t26/</a:t>
            </a:r>
          </a:p>
          <a:p>
            <a:r>
              <a:rPr dirty="0"/>
              <a:t>- XP Research sector taxonomy reference: https://conteudos.xpi.com.br/acoes/relatorios/tmt-previa-do-2t26-lwsa3-e-bmob3/</a:t>
            </a:r>
          </a:p>
          <a:p>
            <a:r>
              <a:rPr dirty="0"/>
              <a:t>- XP Research sector taxonomy reference: https://conteudos.xpi.com.br/acoes/relatorios/o-setor-de-saude-em-alta-momentum-favoravel-pela-frente/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image" Target="../media/image4.jpe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image" Target="../media/image6.jpeg"/></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image" Target="../media/image8.svg"/><Relationship Id="rId4" Type="http://schemas.openxmlformats.org/officeDocument/2006/relationships/image" Target="../media/image6.jpe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image" Target="../media/image9.svg"/><Relationship Id="rId4" Type="http://schemas.openxmlformats.org/officeDocument/2006/relationships/image" Target="../media/image10.png"/><Relationship Id="rId5" Type="http://schemas.microsoft.com/office/2007/relationships/hdphoto" Target="../media/hdphoto1.wdp"/><Relationship Id="rId6" Type="http://schemas.openxmlformats.org/officeDocument/2006/relationships/image" Target="../media/image11.sv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2.xml"/><Relationship Id="rId3" Type="http://schemas.openxmlformats.org/officeDocument/2006/relationships/slide" Target="../slides/slide4.xml"/><Relationship Id="rId4"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37.xml"/><Relationship Id="rId2"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slideMaster" Target="../slideMasters/slideMaster2.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jpeg"/><Relationship Id="rId3" Type="http://schemas.openxmlformats.org/officeDocument/2006/relationships/image" Target="../media/image13.svg"/></Relationships>
</file>

<file path=ppt/slideLayouts/_rels/slideLayout41.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40.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tags" Target="../tags/tag41.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42.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6.xml.rels><?xml version='1.0' encoding='UTF-8' standalone='yes'?>
<Relationships xmlns="http://schemas.openxmlformats.org/package/2006/relationships"><Relationship Id="rId1" Type="http://schemas.openxmlformats.org/officeDocument/2006/relationships/tags" Target="../tags/tag44.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7.xml.rels><?xml version='1.0' encoding='UTF-8' standalone='yes'?>
<Relationships xmlns="http://schemas.openxmlformats.org/package/2006/relationships"><Relationship Id="rId1" Type="http://schemas.openxmlformats.org/officeDocument/2006/relationships/tags" Target="../tags/tag45.xml"/><Relationship Id="rId2" Type="http://schemas.openxmlformats.org/officeDocument/2006/relationships/slideMaster" Target="../slideMasters/slideMaster3.xml"/><Relationship Id="rId3" Type="http://schemas.openxmlformats.org/officeDocument/2006/relationships/image" Target="../media/image4.jpeg"/></Relationships>
</file>

<file path=ppt/slideLayouts/_rels/slideLayout48.xml.rels><?xml version='1.0' encoding='UTF-8' standalone='yes'?>
<Relationships xmlns="http://schemas.openxmlformats.org/package/2006/relationships"><Relationship Id="rId1" Type="http://schemas.openxmlformats.org/officeDocument/2006/relationships/tags" Target="../tags/tag46.xml"/><Relationship Id="rId2"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slideMaster" Target="../slideMasters/slideMaster3.xml"/><Relationship Id="rId3" Type="http://schemas.openxmlformats.org/officeDocument/2006/relationships/image" Target="../media/image5.jpeg"/></Relationships>
</file>

<file path=ppt/slideLayouts/_rels/slideLayout50.xml.rels><?xml version='1.0' encoding='UTF-8' standalone='yes'?>
<Relationships xmlns="http://schemas.openxmlformats.org/package/2006/relationships"><Relationship Id="rId1" Type="http://schemas.openxmlformats.org/officeDocument/2006/relationships/tags" Target="../tags/tag48.xml"/><Relationship Id="rId2" Type="http://schemas.openxmlformats.org/officeDocument/2006/relationships/slideMaster" Target="../slideMasters/slideMaster3.xml"/><Relationship Id="rId3" Type="http://schemas.openxmlformats.org/officeDocument/2006/relationships/image" Target="../media/image6.jpeg"/></Relationships>
</file>

<file path=ppt/slideLayouts/_rels/slideLayout51.xml.rels><?xml version='1.0' encoding='UTF-8' standalone='yes'?>
<Relationships xmlns="http://schemas.openxmlformats.org/package/2006/relationships"><Relationship Id="rId1" Type="http://schemas.openxmlformats.org/officeDocument/2006/relationships/tags" Target="../tags/tag49.xml"/><Relationship Id="rId2"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tags" Target="../tags/tag51.xml"/><Relationship Id="rId2"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tags" Target="../tags/tag52.xml"/><Relationship Id="rId2"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tags" Target="../tags/tag55.xml"/><Relationship Id="rId2"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tags" Target="../tags/tag56.xml"/><Relationship Id="rId2"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tags" Target="../tags/tag57.xml"/><Relationship Id="rId2" Type="http://schemas.openxmlformats.org/officeDocument/2006/relationships/slideMaster" Target="../slideMasters/slideMaster3.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60.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slideMaster" Target="../slideMasters/slideMaster3.xml"/><Relationship Id="rId3" Type="http://schemas.openxmlformats.org/officeDocument/2006/relationships/image" Target="../media/image8.svg"/><Relationship Id="rId4" Type="http://schemas.openxmlformats.org/officeDocument/2006/relationships/image" Target="../media/image6.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457222"/>
            <a:ext cx="6858000" cy="3811729"/>
          </a:xfrm>
          <a:prstGeom prst="rect">
            <a:avLst/>
          </a:prstGeom>
          <a:gradFill flip="none" rotWithShape="1">
            <a:gsLst>
              <a:gs pos="100000">
                <a:srgbClr val="000000"/>
              </a:gs>
              <a:gs pos="23000">
                <a:schemeClr val="accent1">
                  <a:lumMod val="90000"/>
                  <a:lumOff val="10000"/>
                  <a:alpha val="70667"/>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2025</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1223279"/>
            <a:chOff x="690334" y="6167857"/>
            <a:chExt cx="5562175" cy="1223279"/>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4668509" y="6170730"/>
              <a:ext cx="1584000" cy="1081814"/>
              <a:chOff x="4624263" y="6170730"/>
              <a:chExt cx="1584000" cy="1081814"/>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felipe.bveiga@xpi.com.br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Felipe Veiga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Equity Strategist</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13035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research@xpi.com.br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XP Research</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2704288" y="6170730"/>
              <a:ext cx="1734615" cy="1220406"/>
              <a:chOff x="2654374" y="6170730"/>
              <a:chExt cx="1734615" cy="1220406"/>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raphael.sfigueredo@xpi.com.br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Raphael Figueredo</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Equity Strategist</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lucas.vrosa@xpi.com.br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Rosa</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1223279"/>
              <a:chOff x="690334" y="6167857"/>
              <a:chExt cx="1728765" cy="1223279"/>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julia.aquino@xpi.com.br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Júlia Aquino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a:t>
                </a:r>
              </a:p>
            </p:txBody>
          </p:sp>
        </p:grpSp>
      </p:grpSp>
      <p:pic>
        <p:nvPicPr>
          <p:cNvPr id="18" name="Graphic 17">
            <a:extLst>
              <a:ext uri="{FF2B5EF4-FFF2-40B4-BE49-F238E27FC236}">
                <a16:creationId xmlns:a16="http://schemas.microsoft.com/office/drawing/2014/main" id="{7A413B33-9A54-DEF9-7501-533CE882357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64177"/>
            <a:ext cx="3886200" cy="952500"/>
          </a:xfrm>
          <a:prstGeom prst="rect">
            <a:avLst/>
          </a:prstGeom>
        </p:spPr>
      </p:pic>
    </p:spTree>
    <p:extLst>
      <p:ext uri="{BB962C8B-B14F-4D97-AF65-F5344CB8AC3E}">
        <p14:creationId xmlns:p14="http://schemas.microsoft.com/office/powerpoint/2010/main" val="1936898019"/>
      </p:ext>
    </p:extLst>
  </p:cSld>
  <p:clrMapOvr>
    <a:masterClrMapping/>
  </p:clrMapOvr>
  <p:extLst>
    <p:ext uri="{DCECCB84-F9BA-43D5-87BE-67443E8EF086}">
      <p15:sldGuideLst xmlns:p15="http://schemas.microsoft.com/office/powerpoint/2012/main">
        <p15:guide id="1" pos="436" userDrawn="1">
          <p15:clr>
            <a:srgbClr val="FBAE40"/>
          </p15:clr>
        </p15:guide>
        <p15:guide id="2" pos="3861" userDrawn="1">
          <p15:clr>
            <a:srgbClr val="FBAE40"/>
          </p15:clr>
        </p15:guide>
        <p15:guide id="3" orient="horz" pos="56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09024188"/>
      </p:ext>
    </p:extLst>
  </p:cSld>
  <p:clrMapOvr>
    <a:masterClrMapping/>
  </p:clrMapOvr>
  <p:extLst>
    <p:ext uri="{DCECCB84-F9BA-43D5-87BE-67443E8EF086}">
      <p15:sldGuideLst xmlns:p15="http://schemas.microsoft.com/office/powerpoint/2012/main">
        <p15:guide id="0" pos="2228" userDrawn="1">
          <p15:clr>
            <a:srgbClr val="FBAE40"/>
          </p15:clr>
        </p15:guide>
        <p15:guide id="1" pos="20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30300284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6475646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85697767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271603771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9158793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408308523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8327980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8218337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75132220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30531609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96976356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3967573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3717197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73597992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1867260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884321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51886037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9995273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4136522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A14C112E-6DCA-347F-EE5D-94BD1FF4690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266E850E-7816-E3FB-7226-A8CEE21A4F5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A19085B0-E61E-AC5E-FDC5-AA0B2FF285FE}"/>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3" name="Rectangle 32">
            <a:extLst>
              <a:ext uri="{FF2B5EF4-FFF2-40B4-BE49-F238E27FC236}">
                <a16:creationId xmlns:a16="http://schemas.microsoft.com/office/drawing/2014/main" id="{87A6E124-C454-3CB2-445A-4AF1960A1BA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77A0EA1E-B1C6-89A3-CA3F-DBA7725D0861}"/>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4355ED90-9BB0-9B47-3D12-3994341D7F5E}"/>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B4CAC0FC-6CB6-396E-D603-01B7C63AEBAB}"/>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93640F19-A573-6591-D881-F7514B92A0EC}"/>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980A1C3B-BDD6-1624-9D56-F61461366687}"/>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ACB0653D-D9CE-184D-870B-0AF98AAF0011}"/>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B1EBF33D-BB2A-5D47-B614-77FEC291A0B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B827DE25-E39B-23AF-347D-00DD1BE6296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A30F8FB0-7C17-CC2E-8551-19F64F34E9F6}"/>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67257BAD-B632-E55E-00DD-D18DB6D1847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1AD43897-A594-3DAC-1F4A-264F898BF90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1" name="Freeform: Shape 49">
                <a:extLst>
                  <a:ext uri="{FF2B5EF4-FFF2-40B4-BE49-F238E27FC236}">
                    <a16:creationId xmlns:a16="http://schemas.microsoft.com/office/drawing/2014/main" id="{031F5F64-E36B-432B-EB75-281EF5EF779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042E2818-2681-CC77-2A2E-5C0F5876E115}"/>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Date Placeholder 1">
            <a:extLst>
              <a:ext uri="{FF2B5EF4-FFF2-40B4-BE49-F238E27FC236}">
                <a16:creationId xmlns:a16="http://schemas.microsoft.com/office/drawing/2014/main" id="{DF3A696C-8363-F4F9-A4F9-E35C8C06A8D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55" name="Espaço Reservado para Texto 6">
            <a:extLst>
              <a:ext uri="{FF2B5EF4-FFF2-40B4-BE49-F238E27FC236}">
                <a16:creationId xmlns:a16="http://schemas.microsoft.com/office/drawing/2014/main" id="{BE80DB58-0BEF-DBD0-C931-338EC79821A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6" name="Espaço Reservado para Texto 6">
            <a:extLst>
              <a:ext uri="{FF2B5EF4-FFF2-40B4-BE49-F238E27FC236}">
                <a16:creationId xmlns:a16="http://schemas.microsoft.com/office/drawing/2014/main" id="{882E17B6-41EA-9697-2836-56691F98857A}"/>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17934329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4152858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4511461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4896756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6450536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48209156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12110653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sp>
        <p:nvSpPr>
          <p:cNvPr id="126" name="Freeform: Shape 125">
            <a:extLst>
              <a:ext uri="{FF2B5EF4-FFF2-40B4-BE49-F238E27FC236}">
                <a16:creationId xmlns:a16="http://schemas.microsoft.com/office/drawing/2014/main" id="{3FC77C66-38F9-4F02-B9BC-6AEE180B4F4B}"/>
              </a:ext>
            </a:extLst>
          </p:cNvPr>
          <p:cNvSpPr/>
          <p:nvPr userDrawn="1"/>
        </p:nvSpPr>
        <p:spPr>
          <a:xfrm>
            <a:off x="4738916" y="4"/>
            <a:ext cx="2119084" cy="9905999"/>
          </a:xfrm>
          <a:custGeom>
            <a:avLst/>
            <a:gdLst>
              <a:gd name="connsiteX0" fmla="*/ 0 w 2119084"/>
              <a:gd name="connsiteY0" fmla="*/ 0 h 9905999"/>
              <a:gd name="connsiteX1" fmla="*/ 2119084 w 2119084"/>
              <a:gd name="connsiteY1" fmla="*/ 0 h 9905999"/>
              <a:gd name="connsiteX2" fmla="*/ 2119084 w 2119084"/>
              <a:gd name="connsiteY2" fmla="*/ 9905999 h 9905999"/>
              <a:gd name="connsiteX3" fmla="*/ 0 w 2119084"/>
              <a:gd name="connsiteY3" fmla="*/ 9905999 h 9905999"/>
            </a:gdLst>
            <a:ahLst/>
            <a:cxnLst>
              <a:cxn ang="0">
                <a:pos x="connsiteX0" y="connsiteY0"/>
              </a:cxn>
              <a:cxn ang="0">
                <a:pos x="connsiteX1" y="connsiteY1"/>
              </a:cxn>
              <a:cxn ang="0">
                <a:pos x="connsiteX2" y="connsiteY2"/>
              </a:cxn>
              <a:cxn ang="0">
                <a:pos x="connsiteX3" y="connsiteY3"/>
              </a:cxn>
            </a:cxnLst>
            <a:rect l="l" t="t" r="r" b="b"/>
            <a:pathLst>
              <a:path w="2119084" h="9905999">
                <a:moveTo>
                  <a:pt x="0" y="0"/>
                </a:moveTo>
                <a:lnTo>
                  <a:pt x="2119084" y="0"/>
                </a:lnTo>
                <a:lnTo>
                  <a:pt x="2119084" y="9905999"/>
                </a:lnTo>
                <a:lnTo>
                  <a:pt x="0" y="9905999"/>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125" name="Picture 124" descr="A picture containing dark, night sky&#10;&#10;Description automatically generated">
            <a:extLst>
              <a:ext uri="{FF2B5EF4-FFF2-40B4-BE49-F238E27FC236}">
                <a16:creationId xmlns:a16="http://schemas.microsoft.com/office/drawing/2014/main" id="{C3A5B707-C3CA-48F1-A65F-A0F1B5E937CC}"/>
              </a:ext>
            </a:extLst>
          </p:cNvPr>
          <p:cNvPicPr>
            <a:picLocks noChangeAspect="1"/>
          </p:cNvPicPr>
          <p:nvPr userDrawn="1"/>
        </p:nvPicPr>
        <p:blipFill rotWithShape="1">
          <a:blip r:embed="rId3">
            <a:alphaModFix amt="60000"/>
          </a:blip>
          <a:srcRect l="1608" t="46598" b="23299"/>
          <a:stretch/>
        </p:blipFill>
        <p:spPr>
          <a:xfrm rot="5400000" flipH="1" flipV="1">
            <a:off x="845461" y="3893458"/>
            <a:ext cx="9905993" cy="2119084"/>
          </a:xfrm>
          <a:prstGeom prst="rect">
            <a:avLst/>
          </a:prstGeom>
          <a:noFill/>
        </p:spPr>
      </p:pic>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Summary</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grpSp>
        <p:nvGrpSpPr>
          <p:cNvPr id="58" name="Group 57">
            <a:extLst>
              <a:ext uri="{FF2B5EF4-FFF2-40B4-BE49-F238E27FC236}">
                <a16:creationId xmlns:a16="http://schemas.microsoft.com/office/drawing/2014/main" id="{21EC4E3C-94FF-4DEE-BCA5-6C69C79BF726}"/>
              </a:ext>
            </a:extLst>
          </p:cNvPr>
          <p:cNvGrpSpPr/>
          <p:nvPr userDrawn="1"/>
        </p:nvGrpSpPr>
        <p:grpSpPr>
          <a:xfrm>
            <a:off x="0" y="8408987"/>
            <a:ext cx="6858000" cy="1497013"/>
            <a:chOff x="-2701533" y="4131759"/>
            <a:chExt cx="8821930" cy="2757656"/>
          </a:xfrm>
        </p:grpSpPr>
        <p:cxnSp>
          <p:nvCxnSpPr>
            <p:cNvPr id="59" name="Conector reto 7">
              <a:extLst>
                <a:ext uri="{FF2B5EF4-FFF2-40B4-BE49-F238E27FC236}">
                  <a16:creationId xmlns:a16="http://schemas.microsoft.com/office/drawing/2014/main" id="{36127AE7-5949-4D77-9612-72EB21196D4A}"/>
                </a:ext>
              </a:extLst>
            </p:cNvPr>
            <p:cNvCxnSpPr>
              <a:cxnSpLocks/>
            </p:cNvCxnSpPr>
            <p:nvPr userDrawn="1"/>
          </p:nvCxnSpPr>
          <p:spPr>
            <a:xfrm>
              <a:off x="-2701533" y="5750250"/>
              <a:ext cx="882193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0" name="Conector reto 2">
              <a:extLst>
                <a:ext uri="{FF2B5EF4-FFF2-40B4-BE49-F238E27FC236}">
                  <a16:creationId xmlns:a16="http://schemas.microsoft.com/office/drawing/2014/main" id="{4CE8B0B8-0AF5-462B-9CCC-6E9CFFF38D98}"/>
                </a:ext>
              </a:extLst>
            </p:cNvPr>
            <p:cNvCxnSpPr>
              <a:cxnSpLocks/>
            </p:cNvCxnSpPr>
            <p:nvPr userDrawn="1"/>
          </p:nvCxnSpPr>
          <p:spPr>
            <a:xfrm flipH="1">
              <a:off x="4033407" y="4131759"/>
              <a:ext cx="2086990" cy="2757656"/>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spTree>
    <p:extLst>
      <p:ext uri="{BB962C8B-B14F-4D97-AF65-F5344CB8AC3E}">
        <p14:creationId xmlns:p14="http://schemas.microsoft.com/office/powerpoint/2010/main" val="317496185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ivisória">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004B1B-6C67-4C40-BA3A-400177C1EF88}"/>
              </a:ext>
            </a:extLst>
          </p:cNvPr>
          <p:cNvSpPr/>
          <p:nvPr userDrawn="1"/>
        </p:nvSpPr>
        <p:spPr>
          <a:xfrm>
            <a:off x="-1" y="0"/>
            <a:ext cx="6858001" cy="20034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F8C7BC6E-B42D-4416-8608-21682D8920A8}"/>
              </a:ext>
            </a:extLst>
          </p:cNvPr>
          <p:cNvGrpSpPr/>
          <p:nvPr userDrawn="1"/>
        </p:nvGrpSpPr>
        <p:grpSpPr>
          <a:xfrm>
            <a:off x="0" y="1188728"/>
            <a:ext cx="6858000" cy="8726315"/>
            <a:chOff x="0" y="-1859272"/>
            <a:chExt cx="6858000" cy="8726315"/>
          </a:xfrm>
        </p:grpSpPr>
        <p:sp>
          <p:nvSpPr>
            <p:cNvPr id="40" name="Rectangle 39">
              <a:extLst>
                <a:ext uri="{FF2B5EF4-FFF2-40B4-BE49-F238E27FC236}">
                  <a16:creationId xmlns:a16="http://schemas.microsoft.com/office/drawing/2014/main" id="{8213840C-2C06-4CAA-815E-6052211F6CA0}"/>
                </a:ext>
              </a:extLst>
            </p:cNvPr>
            <p:cNvSpPr/>
            <p:nvPr userDrawn="1"/>
          </p:nvSpPr>
          <p:spPr>
            <a:xfrm flipH="1" flipV="1">
              <a:off x="0" y="-1859272"/>
              <a:ext cx="6858000" cy="871727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pic>
          <p:nvPicPr>
            <p:cNvPr id="41" name="Picture 40" descr="A picture containing dark, night sky&#10;&#10;Description automatically generated">
              <a:extLst>
                <a:ext uri="{FF2B5EF4-FFF2-40B4-BE49-F238E27FC236}">
                  <a16:creationId xmlns:a16="http://schemas.microsoft.com/office/drawing/2014/main" id="{AACBCC8B-613D-4802-AE5F-7D7D5FE3F250}"/>
                </a:ext>
              </a:extLst>
            </p:cNvPr>
            <p:cNvPicPr>
              <a:picLocks noChangeAspect="1"/>
            </p:cNvPicPr>
            <p:nvPr userDrawn="1"/>
          </p:nvPicPr>
          <p:blipFill rotWithShape="1">
            <a:blip r:embed="rId3">
              <a:alphaModFix amt="49000"/>
            </a:blip>
            <a:srcRect l="11124"/>
            <a:stretch/>
          </p:blipFill>
          <p:spPr>
            <a:xfrm rot="16200000" flipV="1">
              <a:off x="-929638" y="-920592"/>
              <a:ext cx="8717273" cy="6857998"/>
            </a:xfrm>
            <a:prstGeom prst="rect">
              <a:avLst/>
            </a:prstGeom>
          </p:spPr>
        </p:pic>
      </p:gr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accent6"/>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7" name="Rectangle 86">
            <a:extLst>
              <a:ext uri="{FF2B5EF4-FFF2-40B4-BE49-F238E27FC236}">
                <a16:creationId xmlns:a16="http://schemas.microsoft.com/office/drawing/2014/main" id="{07C5F37B-60FC-4C36-9DD3-0AB5A17A75AB}"/>
              </a:ext>
            </a:extLst>
          </p:cNvPr>
          <p:cNvSpPr/>
          <p:nvPr userDrawn="1"/>
        </p:nvSpPr>
        <p:spPr>
          <a:xfrm>
            <a:off x="4086054" y="0"/>
            <a:ext cx="2771946" cy="1188728"/>
          </a:xfrm>
          <a:custGeom>
            <a:avLst/>
            <a:gdLst>
              <a:gd name="connsiteX0" fmla="*/ 0 w 2771946"/>
              <a:gd name="connsiteY0" fmla="*/ 0 h 1188728"/>
              <a:gd name="connsiteX1" fmla="*/ 2771946 w 2771946"/>
              <a:gd name="connsiteY1" fmla="*/ 0 h 1188728"/>
              <a:gd name="connsiteX2" fmla="*/ 2771946 w 2771946"/>
              <a:gd name="connsiteY2" fmla="*/ 1188728 h 1188728"/>
              <a:gd name="connsiteX3" fmla="*/ 0 w 2771946"/>
              <a:gd name="connsiteY3" fmla="*/ 11887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1104900 w 2771946"/>
              <a:gd name="connsiteY3" fmla="*/ 9093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971550 w 2771946"/>
              <a:gd name="connsiteY3" fmla="*/ 1188728 h 1188728"/>
              <a:gd name="connsiteX4" fmla="*/ 0 w 2771946"/>
              <a:gd name="connsiteY4" fmla="*/ 0 h 1188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1946" h="1188728">
                <a:moveTo>
                  <a:pt x="0" y="0"/>
                </a:moveTo>
                <a:lnTo>
                  <a:pt x="2771946" y="0"/>
                </a:lnTo>
                <a:lnTo>
                  <a:pt x="2771946" y="1188728"/>
                </a:lnTo>
                <a:lnTo>
                  <a:pt x="971550" y="1188728"/>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68" name="Group 67">
            <a:extLst>
              <a:ext uri="{FF2B5EF4-FFF2-40B4-BE49-F238E27FC236}">
                <a16:creationId xmlns:a16="http://schemas.microsoft.com/office/drawing/2014/main" id="{17DB0CED-EB9B-40B9-950A-5942CEE89D15}"/>
              </a:ext>
            </a:extLst>
          </p:cNvPr>
          <p:cNvGrpSpPr/>
          <p:nvPr userDrawn="1"/>
        </p:nvGrpSpPr>
        <p:grpSpPr>
          <a:xfrm>
            <a:off x="0" y="0"/>
            <a:ext cx="6858000" cy="3415894"/>
            <a:chOff x="-2701533" y="4114034"/>
            <a:chExt cx="8821930" cy="4701783"/>
          </a:xfrm>
        </p:grpSpPr>
        <p:cxnSp>
          <p:nvCxnSpPr>
            <p:cNvPr id="69" name="Conector reto 7">
              <a:extLst>
                <a:ext uri="{FF2B5EF4-FFF2-40B4-BE49-F238E27FC236}">
                  <a16:creationId xmlns:a16="http://schemas.microsoft.com/office/drawing/2014/main" id="{7C215890-47CA-4535-A28E-F0D8639CAF52}"/>
                </a:ext>
              </a:extLst>
            </p:cNvPr>
            <p:cNvCxnSpPr>
              <a:cxnSpLocks/>
            </p:cNvCxnSpPr>
            <p:nvPr userDrawn="1"/>
          </p:nvCxnSpPr>
          <p:spPr>
            <a:xfrm>
              <a:off x="-2701533" y="5741510"/>
              <a:ext cx="882193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1" name="Conector reto 2">
              <a:extLst>
                <a:ext uri="{FF2B5EF4-FFF2-40B4-BE49-F238E27FC236}">
                  <a16:creationId xmlns:a16="http://schemas.microsoft.com/office/drawing/2014/main" id="{C9C6FAA6-86BF-4151-9C12-9A001DB12D56}"/>
                </a:ext>
              </a:extLst>
            </p:cNvPr>
            <p:cNvCxnSpPr>
              <a:cxnSpLocks/>
            </p:cNvCxnSpPr>
            <p:nvPr userDrawn="1"/>
          </p:nvCxnSpPr>
          <p:spPr>
            <a:xfrm flipH="1" flipV="1">
              <a:off x="2562094" y="4114034"/>
              <a:ext cx="3558302" cy="4701783"/>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9" name="Text Placeholder 40">
            <a:extLst>
              <a:ext uri="{FF2B5EF4-FFF2-40B4-BE49-F238E27FC236}">
                <a16:creationId xmlns:a16="http://schemas.microsoft.com/office/drawing/2014/main" id="{91D72DC1-72BB-4D90-888F-230C2490908D}"/>
              </a:ext>
            </a:extLst>
          </p:cNvPr>
          <p:cNvSpPr>
            <a:spLocks noGrp="1"/>
          </p:cNvSpPr>
          <p:nvPr>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73293050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 name="Date Placeholder 6">
            <a:extLst>
              <a:ext uri="{FF2B5EF4-FFF2-40B4-BE49-F238E27FC236}">
                <a16:creationId xmlns:a16="http://schemas.microsoft.com/office/drawing/2014/main" id="{ABC290B6-06C0-D618-F1C8-136467B3F1EB}"/>
              </a:ext>
            </a:extLst>
          </p:cNvPr>
          <p:cNvSpPr>
            <a:spLocks noGrp="1"/>
          </p:cNvSpPr>
          <p:nvPr>
            <p:ph type="dt" sz="half" idx="2"/>
          </p:nvPr>
        </p:nvSpPr>
        <p:spPr>
          <a:xfrm>
            <a:off x="3957639" y="438763"/>
            <a:ext cx="2532062" cy="184666"/>
          </a:xfrm>
          <a:prstGeom prst="rect">
            <a:avLst/>
          </a:prstGeom>
        </p:spPr>
        <p:txBody>
          <a:bodyPr/>
          <a:lstStyle/>
          <a:p>
            <a:r>
              <a:rPr lang="en-US" dirty="0"/>
              <a:t>August 2024</a:t>
            </a:r>
          </a:p>
        </p:txBody>
      </p:sp>
      <p:pic>
        <p:nvPicPr>
          <p:cNvPr id="3" name="Graphic 2" descr="Home outline">
            <a:hlinkClick r:id="rId3" action="ppaction://hlinksldjump"/>
            <a:extLst>
              <a:ext uri="{FF2B5EF4-FFF2-40B4-BE49-F238E27FC236}">
                <a16:creationId xmlns:a16="http://schemas.microsoft.com/office/drawing/2014/main" id="{3D7A87B0-F938-BF24-5559-949B1AB3E9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21399" y="9569081"/>
            <a:ext cx="152400" cy="152400"/>
          </a:xfrm>
          <a:prstGeom prst="rect">
            <a:avLst/>
          </a:prstGeom>
        </p:spPr>
      </p:pic>
    </p:spTree>
    <p:extLst>
      <p:ext uri="{BB962C8B-B14F-4D97-AF65-F5344CB8AC3E}">
        <p14:creationId xmlns:p14="http://schemas.microsoft.com/office/powerpoint/2010/main" val="10473443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0984482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146196615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7274909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79514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20186970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22990777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6498569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94903445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334782"/>
            <a:ext cx="6858000" cy="3811729"/>
          </a:xfrm>
          <a:prstGeom prst="rect">
            <a:avLst/>
          </a:prstGeom>
          <a:gradFill flip="none" rotWithShape="1">
            <a:gsLst>
              <a:gs pos="100000">
                <a:srgbClr val="000000"/>
              </a:gs>
              <a:gs pos="23000">
                <a:schemeClr val="accent1">
                  <a:lumMod val="90000"/>
                  <a:lumOff val="10000"/>
                  <a:alpha val="44583"/>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2026 </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2812007"/>
            <a:chOff x="690334" y="6167857"/>
            <a:chExt cx="5562175" cy="2812007"/>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2700103" y="6170730"/>
              <a:ext cx="3552406" cy="2805906"/>
              <a:chOff x="2655857" y="6170730"/>
              <a:chExt cx="3552406" cy="2805906"/>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danniela.eiger@xpi.com.br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Danniela Eiger, CFA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Retail </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lucas.laghi@xpi.com.br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Laghi</a:t>
                </a:r>
              </a:p>
            </p:txBody>
          </p:sp>
          <p:sp>
            <p:nvSpPr>
              <p:cNvPr id="100" name="Text Placeholder 40">
                <a:extLst>
                  <a:ext uri="{FF2B5EF4-FFF2-40B4-BE49-F238E27FC236}">
                    <a16:creationId xmlns:a16="http://schemas.microsoft.com/office/drawing/2014/main" id="{84EBE237-557B-36DF-1D51-2763CFE9AD6E}"/>
                  </a:ext>
                </a:extLst>
              </p:cNvPr>
              <p:cNvSpPr txBox="1">
                <a:spLocks/>
              </p:cNvSpPr>
              <p:nvPr userDrawn="1"/>
            </p:nvSpPr>
            <p:spPr>
              <a:xfrm>
                <a:off x="4624263"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M&amp;M, P&amp;P and Capital Goods</a:t>
                </a:r>
              </a:p>
            </p:txBody>
          </p:sp>
          <p:sp>
            <p:nvSpPr>
              <p:cNvPr id="101" name="Text Placeholder 40">
                <a:extLst>
                  <a:ext uri="{FF2B5EF4-FFF2-40B4-BE49-F238E27FC236}">
                    <a16:creationId xmlns:a16="http://schemas.microsoft.com/office/drawing/2014/main" id="{3DA42E84-0A44-9963-8D53-A44FECA3A150}"/>
                  </a:ext>
                </a:extLst>
              </p:cNvPr>
              <p:cNvSpPr txBox="1">
                <a:spLocks/>
              </p:cNvSpPr>
              <p:nvPr/>
            </p:nvSpPr>
            <p:spPr>
              <a:xfrm>
                <a:off x="2655857" y="88544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ygor.altero@xpi.com.br</a:t>
                </a:r>
              </a:p>
            </p:txBody>
          </p:sp>
          <p:sp>
            <p:nvSpPr>
              <p:cNvPr id="102" name="Text Placeholder 40">
                <a:extLst>
                  <a:ext uri="{FF2B5EF4-FFF2-40B4-BE49-F238E27FC236}">
                    <a16:creationId xmlns:a16="http://schemas.microsoft.com/office/drawing/2014/main" id="{0D6151C3-43C0-8734-54A3-EA863B11FC46}"/>
                  </a:ext>
                </a:extLst>
              </p:cNvPr>
              <p:cNvSpPr txBox="1">
                <a:spLocks/>
              </p:cNvSpPr>
              <p:nvPr/>
            </p:nvSpPr>
            <p:spPr>
              <a:xfrm>
                <a:off x="2655857"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Ygor Altero</a:t>
                </a:r>
              </a:p>
            </p:txBody>
          </p:sp>
          <p:sp>
            <p:nvSpPr>
              <p:cNvPr id="103" name="Text Placeholder 40">
                <a:extLst>
                  <a:ext uri="{FF2B5EF4-FFF2-40B4-BE49-F238E27FC236}">
                    <a16:creationId xmlns:a16="http://schemas.microsoft.com/office/drawing/2014/main" id="{FADD56D8-9C9B-A458-02E5-7BC6132052A1}"/>
                  </a:ext>
                </a:extLst>
              </p:cNvPr>
              <p:cNvSpPr txBox="1">
                <a:spLocks/>
              </p:cNvSpPr>
              <p:nvPr/>
            </p:nvSpPr>
            <p:spPr>
              <a:xfrm>
                <a:off x="2655857" y="87158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Real Estate</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690334" y="6170730"/>
              <a:ext cx="5562175" cy="2809134"/>
              <a:chOff x="640420" y="6170730"/>
              <a:chExt cx="5562175" cy="2809134"/>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bernardo.guttmann@xpi.com.br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Bernardo Guttmann</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TMT, Banks &amp; Non-Bank Financials</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leonardo.alencar@xpi.com.br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Leonardo Alencar</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Agri, Food and Beverages</a:t>
                </a:r>
              </a:p>
            </p:txBody>
          </p:sp>
          <p:sp>
            <p:nvSpPr>
              <p:cNvPr id="47" name="Text Placeholder 40">
                <a:extLst>
                  <a:ext uri="{FF2B5EF4-FFF2-40B4-BE49-F238E27FC236}">
                    <a16:creationId xmlns:a16="http://schemas.microsoft.com/office/drawing/2014/main" id="{512DE68A-FDFE-7D87-805D-74CD2C2C5CA5}"/>
                  </a:ext>
                </a:extLst>
              </p:cNvPr>
              <p:cNvSpPr txBox="1">
                <a:spLocks/>
              </p:cNvSpPr>
              <p:nvPr/>
            </p:nvSpPr>
            <p:spPr>
              <a:xfrm>
                <a:off x="2654374" y="806170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pedro.bruno@xpi.com.br</a:t>
                </a:r>
              </a:p>
            </p:txBody>
          </p:sp>
          <p:sp>
            <p:nvSpPr>
              <p:cNvPr id="48" name="Text Placeholder 40">
                <a:extLst>
                  <a:ext uri="{FF2B5EF4-FFF2-40B4-BE49-F238E27FC236}">
                    <a16:creationId xmlns:a16="http://schemas.microsoft.com/office/drawing/2014/main" id="{7678BDCB-4457-63A3-857C-C81637AA836D}"/>
                  </a:ext>
                </a:extLst>
              </p:cNvPr>
              <p:cNvSpPr txBox="1">
                <a:spLocks/>
              </p:cNvSpPr>
              <p:nvPr/>
            </p:nvSpPr>
            <p:spPr>
              <a:xfrm>
                <a:off x="265437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Pedro Bruno</a:t>
                </a:r>
              </a:p>
            </p:txBody>
          </p:sp>
          <p:sp>
            <p:nvSpPr>
              <p:cNvPr id="49" name="Text Placeholder 40">
                <a:extLst>
                  <a:ext uri="{FF2B5EF4-FFF2-40B4-BE49-F238E27FC236}">
                    <a16:creationId xmlns:a16="http://schemas.microsoft.com/office/drawing/2014/main" id="{967C79C3-AD5B-4EA5-4C37-B0B84D1658F9}"/>
                  </a:ext>
                </a:extLst>
              </p:cNvPr>
              <p:cNvSpPr txBox="1">
                <a:spLocks/>
              </p:cNvSpPr>
              <p:nvPr/>
            </p:nvSpPr>
            <p:spPr>
              <a:xfrm>
                <a:off x="2654374" y="792310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Transportation</a:t>
                </a:r>
              </a:p>
            </p:txBody>
          </p:sp>
          <p:sp>
            <p:nvSpPr>
              <p:cNvPr id="50" name="Text Placeholder 40">
                <a:extLst>
                  <a:ext uri="{FF2B5EF4-FFF2-40B4-BE49-F238E27FC236}">
                    <a16:creationId xmlns:a16="http://schemas.microsoft.com/office/drawing/2014/main" id="{5DEC57DD-D426-8AD4-B531-4263A27E06C4}"/>
                  </a:ext>
                </a:extLst>
              </p:cNvPr>
              <p:cNvSpPr txBox="1">
                <a:spLocks/>
              </p:cNvSpPr>
              <p:nvPr/>
            </p:nvSpPr>
            <p:spPr>
              <a:xfrm>
                <a:off x="640420" y="885767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regis.cardoso@xpi.com.br</a:t>
                </a:r>
              </a:p>
            </p:txBody>
          </p:sp>
          <p:sp>
            <p:nvSpPr>
              <p:cNvPr id="51" name="Text Placeholder 40">
                <a:extLst>
                  <a:ext uri="{FF2B5EF4-FFF2-40B4-BE49-F238E27FC236}">
                    <a16:creationId xmlns:a16="http://schemas.microsoft.com/office/drawing/2014/main" id="{49C7A915-39A6-DEDB-772E-85472EC1063D}"/>
                  </a:ext>
                </a:extLst>
              </p:cNvPr>
              <p:cNvSpPr txBox="1">
                <a:spLocks/>
              </p:cNvSpPr>
              <p:nvPr/>
            </p:nvSpPr>
            <p:spPr>
              <a:xfrm>
                <a:off x="640420"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Regis Cardoso, CFA</a:t>
                </a:r>
              </a:p>
            </p:txBody>
          </p:sp>
          <p:sp>
            <p:nvSpPr>
              <p:cNvPr id="52" name="Text Placeholder 40">
                <a:extLst>
                  <a:ext uri="{FF2B5EF4-FFF2-40B4-BE49-F238E27FC236}">
                    <a16:creationId xmlns:a16="http://schemas.microsoft.com/office/drawing/2014/main" id="{4833A01E-4ED1-62B4-0181-A3A2F7856B55}"/>
                  </a:ext>
                </a:extLst>
              </p:cNvPr>
              <p:cNvSpPr txBox="1">
                <a:spLocks/>
              </p:cNvSpPr>
              <p:nvPr/>
            </p:nvSpPr>
            <p:spPr>
              <a:xfrm>
                <a:off x="640420" y="871908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Oil, Gas &amp; Petrochemicals</a:t>
                </a:r>
              </a:p>
            </p:txBody>
          </p:sp>
          <p:sp>
            <p:nvSpPr>
              <p:cNvPr id="84" name="Text Placeholder 40">
                <a:extLst>
                  <a:ext uri="{FF2B5EF4-FFF2-40B4-BE49-F238E27FC236}">
                    <a16:creationId xmlns:a16="http://schemas.microsoft.com/office/drawing/2014/main" id="{259F3F8B-8C62-84D3-58AF-A8983C8F3F6C}"/>
                  </a:ext>
                </a:extLst>
              </p:cNvPr>
              <p:cNvSpPr txBox="1">
                <a:spLocks/>
              </p:cNvSpPr>
              <p:nvPr userDrawn="1"/>
            </p:nvSpPr>
            <p:spPr>
              <a:xfrm>
                <a:off x="4618595" y="8060365"/>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raul.cavendish@xpi.com.br</a:t>
                </a:r>
              </a:p>
            </p:txBody>
          </p:sp>
          <p:sp>
            <p:nvSpPr>
              <p:cNvPr id="85" name="Text Placeholder 40">
                <a:extLst>
                  <a:ext uri="{FF2B5EF4-FFF2-40B4-BE49-F238E27FC236}">
                    <a16:creationId xmlns:a16="http://schemas.microsoft.com/office/drawing/2014/main" id="{7FC81C72-4AD9-902F-10AF-491D9E0E7F2C}"/>
                  </a:ext>
                </a:extLst>
              </p:cNvPr>
              <p:cNvSpPr txBox="1">
                <a:spLocks/>
              </p:cNvSpPr>
              <p:nvPr userDrawn="1"/>
            </p:nvSpPr>
            <p:spPr>
              <a:xfrm>
                <a:off x="4618595" y="776751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US" sz="900" dirty="0"/>
                  <a:t>Raul Cavendish</a:t>
                </a:r>
                <a:endParaRPr lang="en-029" sz="900" dirty="0"/>
              </a:p>
            </p:txBody>
          </p:sp>
          <p:sp>
            <p:nvSpPr>
              <p:cNvPr id="86" name="Text Placeholder 40">
                <a:extLst>
                  <a:ext uri="{FF2B5EF4-FFF2-40B4-BE49-F238E27FC236}">
                    <a16:creationId xmlns:a16="http://schemas.microsoft.com/office/drawing/2014/main" id="{A1D1DD3D-4DFD-FB52-4592-4D67EE714005}"/>
                  </a:ext>
                </a:extLst>
              </p:cNvPr>
              <p:cNvSpPr txBox="1">
                <a:spLocks/>
              </p:cNvSpPr>
              <p:nvPr userDrawn="1"/>
            </p:nvSpPr>
            <p:spPr>
              <a:xfrm>
                <a:off x="4618595" y="7921773"/>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Utilities</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2019257"/>
              <a:chOff x="690334" y="6167857"/>
              <a:chExt cx="1728765" cy="2019257"/>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gustavo.tiseo@xpi.com.br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Gustavo Tiseo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Healthcare &amp; Education </a:t>
                </a:r>
              </a:p>
            </p:txBody>
          </p:sp>
          <p:sp>
            <p:nvSpPr>
              <p:cNvPr id="35" name="Text Placeholder 40">
                <a:extLst>
                  <a:ext uri="{FF2B5EF4-FFF2-40B4-BE49-F238E27FC236}">
                    <a16:creationId xmlns:a16="http://schemas.microsoft.com/office/drawing/2014/main" id="{CCC4812A-9CF2-1EA4-EE1A-A99EDBDA6042}"/>
                  </a:ext>
                </a:extLst>
              </p:cNvPr>
              <p:cNvSpPr txBox="1">
                <a:spLocks/>
              </p:cNvSpPr>
              <p:nvPr/>
            </p:nvSpPr>
            <p:spPr>
              <a:xfrm>
                <a:off x="690334" y="806492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marcella.ungaretti@xpi.com.br</a:t>
                </a:r>
              </a:p>
            </p:txBody>
          </p:sp>
          <p:sp>
            <p:nvSpPr>
              <p:cNvPr id="36" name="Text Placeholder 40">
                <a:extLst>
                  <a:ext uri="{FF2B5EF4-FFF2-40B4-BE49-F238E27FC236}">
                    <a16:creationId xmlns:a16="http://schemas.microsoft.com/office/drawing/2014/main" id="{9E5B5D5D-401B-44B6-97E4-FEA442A8F0C9}"/>
                  </a:ext>
                </a:extLst>
              </p:cNvPr>
              <p:cNvSpPr txBox="1">
                <a:spLocks/>
              </p:cNvSpPr>
              <p:nvPr/>
            </p:nvSpPr>
            <p:spPr>
              <a:xfrm>
                <a:off x="69033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Marcella Ungaretti</a:t>
                </a:r>
              </a:p>
            </p:txBody>
          </p:sp>
          <p:sp>
            <p:nvSpPr>
              <p:cNvPr id="37" name="Text Placeholder 40">
                <a:extLst>
                  <a:ext uri="{FF2B5EF4-FFF2-40B4-BE49-F238E27FC236}">
                    <a16:creationId xmlns:a16="http://schemas.microsoft.com/office/drawing/2014/main" id="{DC51C26E-A699-E20E-0BB2-94C6F9F8A429}"/>
                  </a:ext>
                </a:extLst>
              </p:cNvPr>
              <p:cNvSpPr txBox="1">
                <a:spLocks/>
              </p:cNvSpPr>
              <p:nvPr/>
            </p:nvSpPr>
            <p:spPr>
              <a:xfrm>
                <a:off x="690334" y="792633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Research ESG</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 &amp; Head of Research</a:t>
                </a:r>
              </a:p>
            </p:txBody>
          </p:sp>
        </p:grpSp>
      </p:grpSp>
      <p:pic>
        <p:nvPicPr>
          <p:cNvPr id="19" name="Graphic 18">
            <a:extLst>
              <a:ext uri="{FF2B5EF4-FFF2-40B4-BE49-F238E27FC236}">
                <a16:creationId xmlns:a16="http://schemas.microsoft.com/office/drawing/2014/main" id="{A5AE8D2B-C1EF-9E23-E643-103EF20FCC6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36782"/>
            <a:ext cx="3720831" cy="844531"/>
          </a:xfrm>
          <a:prstGeom prst="rect">
            <a:avLst/>
          </a:prstGeom>
        </p:spPr>
      </p:pic>
    </p:spTree>
    <p:extLst>
      <p:ext uri="{BB962C8B-B14F-4D97-AF65-F5344CB8AC3E}">
        <p14:creationId xmlns:p14="http://schemas.microsoft.com/office/powerpoint/2010/main" val="2967101053"/>
      </p:ext>
    </p:extLst>
  </p:cSld>
  <p:clrMapOvr>
    <a:masterClrMapping/>
  </p:clrMapOvr>
  <p:extLst>
    <p:ext uri="{DCECCB84-F9BA-43D5-87BE-67443E8EF086}">
      <p15:sldGuideLst xmlns:p15="http://schemas.microsoft.com/office/powerpoint/2012/main">
        <p15:guide id="1" pos="436">
          <p15:clr>
            <a:srgbClr val="FBAE40"/>
          </p15:clr>
        </p15:guide>
        <p15:guide id="2" pos="3861">
          <p15:clr>
            <a:srgbClr val="FBAE40"/>
          </p15:clr>
        </p15:guide>
        <p15:guide id="3" orient="horz" pos="5637">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55739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0709829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2114430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57266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167244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78943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8325001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77340905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0927455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5556782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43580377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27479299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60376765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9212223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6654615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380492278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528700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38201896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328701954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227040304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Relationship Id="rId15" Type="http://schemas.openxmlformats.org/officeDocument/2006/relationships/slideLayout" Target="../slideLayouts/slideLayout37.xml"/><Relationship Id="rId16" Type="http://schemas.openxmlformats.org/officeDocument/2006/relationships/slideLayout" Target="../slideLayouts/slideLayout38.xml"/><Relationship Id="rId17" Type="http://schemas.openxmlformats.org/officeDocument/2006/relationships/slideLayout" Target="../slideLayouts/slideLayout39.xml"/><Relationship Id="rId18"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slideLayout" Target="../slideLayouts/slideLayout57.xml"/><Relationship Id="rId19" Type="http://schemas.openxmlformats.org/officeDocument/2006/relationships/slideLayout" Target="../slideLayouts/slideLayout58.xml"/><Relationship Id="rId20" Type="http://schemas.openxmlformats.org/officeDocument/2006/relationships/slideLayout" Target="../slideLayouts/slideLayout59.xml"/><Relationship Id="rId21" Type="http://schemas.openxmlformats.org/officeDocument/2006/relationships/slideLayout" Target="../slideLayouts/slideLayout60.xml"/><Relationship Id="rId2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552666448"/>
      </p:ext>
    </p:extLst>
  </p:cSld>
  <p:clrMap bg1="lt1" tx1="dk1" bg2="lt2" tx2="dk2" accent1="accent1" accent2="accent2" accent3="accent3" accent4="accent4" accent5="accent5" accent6="accent6" hlink="hlink" folHlink="folHlink"/>
  <p:sldLayoutIdLst>
    <p:sldLayoutId id="2147483743" r:id="rId1"/>
    <p:sldLayoutId id="2147483676" r:id="rId2"/>
    <p:sldLayoutId id="2147483700" r:id="rId3"/>
    <p:sldLayoutId id="2147483706" r:id="rId4"/>
    <p:sldLayoutId id="2147483707" r:id="rId5"/>
    <p:sldLayoutId id="2147483708" r:id="rId6"/>
    <p:sldLayoutId id="2147483709" r:id="rId7"/>
    <p:sldLayoutId id="2147483744" r:id="rId8"/>
    <p:sldLayoutId id="2147483745" r:id="rId9"/>
    <p:sldLayoutId id="2147483746" r:id="rId10"/>
    <p:sldLayoutId id="2147483747" r:id="rId11"/>
    <p:sldLayoutId id="2147483699" r:id="rId12"/>
    <p:sldLayoutId id="2147483697" r:id="rId13"/>
    <p:sldLayoutId id="2147483695" r:id="rId14"/>
    <p:sldLayoutId id="2147483696" r:id="rId15"/>
    <p:sldLayoutId id="2147483694" r:id="rId16"/>
    <p:sldLayoutId id="2147483698" r:id="rId17"/>
    <p:sldLayoutId id="2147483710" r:id="rId18"/>
    <p:sldLayoutId id="2147483702" r:id="rId19"/>
    <p:sldLayoutId id="2147483701" r:id="rId20"/>
    <p:sldLayoutId id="2147483748" r:id="rId21"/>
    <p:sldLayoutId id="2147483749" r:id="rId22"/>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32" userDrawn="1">
          <p15:clr>
            <a:srgbClr val="F26B43"/>
          </p15:clr>
        </p15:guide>
        <p15:guide id="3" pos="4088" userDrawn="1">
          <p15:clr>
            <a:srgbClr val="F26B43"/>
          </p15:clr>
        </p15:guide>
        <p15:guide id="4" orient="horz" pos="262" userDrawn="1">
          <p15:clr>
            <a:srgbClr val="F26B43"/>
          </p15:clr>
        </p15:guide>
        <p15:guide id="5" orient="horz" pos="5955" userDrawn="1">
          <p15:clr>
            <a:srgbClr val="F26B43"/>
          </p15:clr>
        </p15:guide>
        <p15:guide id="6" pos="2160" userDrawn="1">
          <p15:clr>
            <a:srgbClr val="F26B43"/>
          </p15:clr>
        </p15:guide>
        <p15:guide id="7" orient="horz" pos="466" userDrawn="1">
          <p15:clr>
            <a:srgbClr val="F26B43"/>
          </p15:clr>
        </p15:guide>
        <p15:guide id="8" orient="horz" pos="943"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r>
              <a:rPr lang="en-US" dirty="0"/>
              <a:t>August 2024</a:t>
            </a:r>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4207476649"/>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377910073"/>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 id="2147483768" r:id="rId18"/>
    <p:sldLayoutId id="2147483769" r:id="rId19"/>
    <p:sldLayoutId id="2147483770" r:id="rId20"/>
    <p:sldLayoutId id="2147483771" r:id="rId21"/>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 Target="slide5.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26.xml"/><Relationship Id="rId7" Type="http://schemas.openxmlformats.org/officeDocument/2006/relationships/slide" Target="slide15.xml"/><Relationship Id="rId8" Type="http://schemas.openxmlformats.org/officeDocument/2006/relationships/slide" Target="slide24.xml"/><Relationship Id="rId9" Type="http://schemas.openxmlformats.org/officeDocument/2006/relationships/slide" Target="slide11.xml"/><Relationship Id="rId10" Type="http://schemas.openxmlformats.org/officeDocument/2006/relationships/slide" Target="slide13.xml"/><Relationship Id="rId11" Type="http://schemas.openxmlformats.org/officeDocument/2006/relationships/slide" Target="slide8.xml"/><Relationship Id="rId12" Type="http://schemas.openxmlformats.org/officeDocument/2006/relationships/slide" Target="slide12.xml"/><Relationship Id="rId13" Type="http://schemas.openxmlformats.org/officeDocument/2006/relationships/slide" Target="slide14.xml"/><Relationship Id="rId14" Type="http://schemas.openxmlformats.org/officeDocument/2006/relationships/slide" Target="slide9.xml"/><Relationship Id="rId15" Type="http://schemas.openxmlformats.org/officeDocument/2006/relationships/slide" Target="slide10.xml"/><Relationship Id="rId16" Type="http://schemas.openxmlformats.org/officeDocument/2006/relationships/slide" Target="slide2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hyperlink" Target="https://researchxp1.s3.sa-east-1.amazonaws.com/20250807_XP+Pulp+%26+Paper+Weekly+Tracker.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1F11C30-02BA-8F3F-FF3D-F4C01C54F8AE}"/>
              </a:ext>
            </a:extLst>
          </p:cNvPr>
          <p:cNvSpPr>
            <a:spLocks noGrp="1"/>
          </p:cNvSpPr>
          <p:nvPr>
            <p:ph type="body" sz="quarter" idx="12"/>
          </p:nvPr>
        </p:nvSpPr>
        <p:spPr>
          <a:xfrm>
            <a:off x="571489" y="5116934"/>
            <a:ext cx="5337375" cy="458908"/>
          </a:xfrm>
        </p:spPr>
        <p:txBody>
          <a:bodyPr/>
          <a:lstStyle/>
          <a:p>
            <a:r>
              <a:rPr lang="pt-BR" dirty="0"/>
              <a:t>Feedback</a:t>
            </a:r>
          </a:p>
        </p:txBody>
      </p:sp>
    </p:spTree>
    <p:extLst>
      <p:ext uri="{BB962C8B-B14F-4D97-AF65-F5344CB8AC3E}">
        <p14:creationId xmlns:p14="http://schemas.microsoft.com/office/powerpoint/2010/main" val="1363233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89C7A-01A2-EE9C-C3A2-17FF9D88F893}"/>
            </a:ext>
          </a:extLst>
        </p:cNvPr>
        <p:cNvGrpSpPr/>
        <p:nvPr/>
      </p:nvGrpSpPr>
      <p:grpSpPr>
        <a:xfrm>
          <a:off x="0" y="0"/>
          <a:ext cx="0" cy="0"/>
          <a:chOff x="0" y="0"/>
          <a:chExt cx="0" cy="0"/>
        </a:xfrm>
      </p:grpSpPr>
      <p:sp>
        <p:nvSpPr>
          <p:cNvPr id="46" name="Text Placeholder 45">
            <a:extLst>
              <a:ext uri="{FF2B5EF4-FFF2-40B4-BE49-F238E27FC236}">
                <a16:creationId xmlns:a16="http://schemas.microsoft.com/office/drawing/2014/main" id="{2166C17B-07B8-8297-2D23-FFBF6C1797BF}"/>
              </a:ext>
            </a:extLst>
          </p:cNvPr>
          <p:cNvSpPr>
            <a:spLocks noGrp="1"/>
          </p:cNvSpPr>
          <p:nvPr>
            <p:ph type="body" sz="quarter" idx="26"/>
          </p:nvPr>
        </p:nvSpPr>
        <p:spPr/>
        <p:txBody>
          <a:bodyPr/>
          <a:lstStyle/>
          <a:p>
            <a:endParaRPr lang="pt-BR"/>
          </a:p>
        </p:txBody>
      </p:sp>
      <p:sp>
        <p:nvSpPr>
          <p:cNvPr id="45" name="Text Placeholder 44">
            <a:extLst>
              <a:ext uri="{FF2B5EF4-FFF2-40B4-BE49-F238E27FC236}">
                <a16:creationId xmlns:a16="http://schemas.microsoft.com/office/drawing/2014/main" id="{C4F1405C-EDBB-FD65-32B5-3F800B23D450}"/>
              </a:ext>
            </a:extLst>
          </p:cNvPr>
          <p:cNvSpPr>
            <a:spLocks noGrp="1"/>
          </p:cNvSpPr>
          <p:nvPr>
            <p:ph type="body" sz="quarter" idx="23"/>
          </p:nvPr>
        </p:nvSpPr>
        <p:spPr>
          <a:xfrm>
            <a:off x="390154" y="3692523"/>
            <a:ext cx="3734170" cy="5761039"/>
          </a:xfrm>
        </p:spPr>
        <p:txBody>
          <a:bodyPr/>
          <a:lstStyle/>
          <a:p>
            <a:r>
              <a:rPr lang="en-US" b="1" dirty="0"/>
              <a:t>The 2</a:t>
            </a:r>
            <a:r>
              <a:rPr lang="en-US" b="1" baseline="30000" dirty="0"/>
              <a:t>nd</a:t>
            </a:r>
            <a:r>
              <a:rPr lang="en-US" b="1" dirty="0"/>
              <a:t> edition of our Brazil CEO Conference</a:t>
            </a:r>
            <a:endParaRPr lang="pt-BR" dirty="0"/>
          </a:p>
          <a:p>
            <a:r>
              <a:rPr lang="en-US" dirty="0"/>
              <a:t>We just finished the 2</a:t>
            </a:r>
            <a:r>
              <a:rPr lang="en-US" baseline="30000" dirty="0"/>
              <a:t>nd</a:t>
            </a:r>
            <a:r>
              <a:rPr lang="en-US" dirty="0"/>
              <a:t> edition of our Brazil CEO Conference in Rio de Janeiro, hosting over 80 corporates and 400 investors, in nearly 500 one-on-one and group meetings. In this report, we gather all the feedback from our sector analyst teams, on a consolidated format. </a:t>
            </a:r>
            <a:endParaRPr lang="pt-BR" dirty="0"/>
          </a:p>
          <a:p>
            <a:r>
              <a:rPr lang="en-US" b="1" dirty="0"/>
              <a:t>A more mixed investor feedback</a:t>
            </a:r>
            <a:endParaRPr lang="pt-BR" dirty="0"/>
          </a:p>
          <a:p>
            <a:r>
              <a:rPr lang="en-US" dirty="0"/>
              <a:t>In late May, our XP Sentiment Indicator reached extreme optimism levels, at 100 (from 0-100), after the strong rally seen in Brazil. Since then, a lot has happened, but the key development was the 50% tariff announcement to Brazil from the US in early July, and the tension escalations between the two governments since. This included the removal of visas to Brazilian authorities and the inclusion of a Brazilian Justice on the Magnitsky law, enacting US sanctions. As a result, we’ve seen increased volatility on Brazilian assets, and our Sentiment Indicator retraced to Neutral levels at 36 currently. </a:t>
            </a:r>
            <a:endParaRPr lang="pt-BR" dirty="0"/>
          </a:p>
          <a:p>
            <a:r>
              <a:rPr lang="en-US" dirty="0"/>
              <a:t>The key driver behind the strong rally in H1 for Brazilian equities were foreign inflows, which reached over R$30bn until June. Since then, we’ve seen nearly R$24bn of outflows on the cash and futures markets from foreigners, which has nearly zeroed the foreign inflows in 2025. </a:t>
            </a:r>
          </a:p>
          <a:p>
            <a:r>
              <a:rPr lang="en-US" dirty="0"/>
              <a:t>As a result, we observed that this was one of the key discussion topics amongst investors during the conference. </a:t>
            </a:r>
          </a:p>
          <a:p>
            <a:r>
              <a:rPr lang="pt-BR" b="1" dirty="0" err="1"/>
              <a:t>An</a:t>
            </a:r>
            <a:r>
              <a:rPr lang="pt-BR" b="1" dirty="0"/>
              <a:t> </a:t>
            </a:r>
            <a:r>
              <a:rPr lang="pt-BR" b="1" dirty="0" err="1"/>
              <a:t>economic</a:t>
            </a:r>
            <a:r>
              <a:rPr lang="pt-BR" b="1" dirty="0"/>
              <a:t> </a:t>
            </a:r>
            <a:r>
              <a:rPr lang="pt-BR" b="1" dirty="0" err="1"/>
              <a:t>slowdown</a:t>
            </a:r>
            <a:r>
              <a:rPr lang="pt-BR" b="1" dirty="0"/>
              <a:t> in H2 – a positive </a:t>
            </a:r>
            <a:r>
              <a:rPr lang="pt-BR" b="1" dirty="0" err="1"/>
              <a:t>or</a:t>
            </a:r>
            <a:r>
              <a:rPr lang="pt-BR" b="1" dirty="0"/>
              <a:t> negative for </a:t>
            </a:r>
            <a:r>
              <a:rPr lang="pt-BR" b="1" dirty="0" err="1"/>
              <a:t>equities</a:t>
            </a:r>
            <a:r>
              <a:rPr lang="pt-BR" b="1" dirty="0"/>
              <a:t>?</a:t>
            </a:r>
          </a:p>
          <a:p>
            <a:r>
              <a:rPr lang="en-US" dirty="0"/>
              <a:t>Amongst the corporates, the key discussion point was the potential for an economic slowdown in H2 impacting earnings. In addition, as interest rates still remain high, highly levered companies and/or companies that rely on credit still seem to be suffering more. We saw some sectors still firing on all cylinders (low-income homebuilders), while others with still a positive message but with some caution ahead (banks, retailers) and others sectors more dependent on credit or sensitive to rates (transportation). </a:t>
            </a:r>
          </a:p>
          <a:p>
            <a:endParaRPr lang="pt-BR" dirty="0"/>
          </a:p>
          <a:p>
            <a:endParaRPr lang="pt-BR" dirty="0"/>
          </a:p>
          <a:p>
            <a:endParaRPr lang="pt-BR" dirty="0"/>
          </a:p>
        </p:txBody>
      </p:sp>
      <p:sp>
        <p:nvSpPr>
          <p:cNvPr id="43" name="Text Placeholder 42">
            <a:extLst>
              <a:ext uri="{FF2B5EF4-FFF2-40B4-BE49-F238E27FC236}">
                <a16:creationId xmlns:a16="http://schemas.microsoft.com/office/drawing/2014/main" id="{38ACA1BA-BE2A-01E2-EA9E-5408B6B7019F}"/>
              </a:ext>
            </a:extLst>
          </p:cNvPr>
          <p:cNvSpPr>
            <a:spLocks noGrp="1"/>
          </p:cNvSpPr>
          <p:nvPr>
            <p:ph type="body" sz="quarter" idx="20"/>
          </p:nvPr>
        </p:nvSpPr>
        <p:spPr/>
        <p:txBody>
          <a:bodyPr/>
          <a:lstStyle/>
          <a:p>
            <a:r>
              <a:rPr lang="en-US" dirty="0"/>
              <a:t>We just finished the 2</a:t>
            </a:r>
            <a:r>
              <a:rPr lang="en-US" baseline="30000" dirty="0"/>
              <a:t>nd</a:t>
            </a:r>
            <a:r>
              <a:rPr lang="en-US" dirty="0"/>
              <a:t> edition of our Brazil CEO Conference in Rio de Janeiro, hosting over 80 corporates and 400 investors, in nearly 500 one-on-one and group meetings. The mood was still optimistic amongst investors, though definitely more cautious relative to a few months ago, especially considering the recent escalations with the US and how it’s impacting investor sentiment and flows. On the corporate side, we also saw more nuanced feedback, with some sectors still firing on all cylinders (low-income homebuilders), while others with still a positive message but with some caution ahead (banks, retailers) and other sectors more dependent on credit or sensitive to rates (transportation).  </a:t>
            </a:r>
            <a:endParaRPr lang="pt-BR" dirty="0"/>
          </a:p>
          <a:p>
            <a:endParaRPr lang="pt-BR" dirty="0"/>
          </a:p>
        </p:txBody>
      </p:sp>
      <p:sp>
        <p:nvSpPr>
          <p:cNvPr id="41" name="Text Placeholder 40">
            <a:extLst>
              <a:ext uri="{FF2B5EF4-FFF2-40B4-BE49-F238E27FC236}">
                <a16:creationId xmlns:a16="http://schemas.microsoft.com/office/drawing/2014/main" id="{366ABCAD-9E65-0650-EAE0-702410CE0F91}"/>
              </a:ext>
            </a:extLst>
          </p:cNvPr>
          <p:cNvSpPr>
            <a:spLocks noGrp="1"/>
          </p:cNvSpPr>
          <p:nvPr>
            <p:ph type="body" sz="quarter" idx="16"/>
          </p:nvPr>
        </p:nvSpPr>
        <p:spPr/>
        <p:txBody>
          <a:bodyPr/>
          <a:lstStyle/>
          <a:p>
            <a:r>
              <a:rPr lang="en-US" dirty="0"/>
              <a:t>XP’s Brazil CEO Conference feedback</a:t>
            </a:r>
            <a:endParaRPr lang="pt-BR" dirty="0"/>
          </a:p>
        </p:txBody>
      </p:sp>
      <p:sp>
        <p:nvSpPr>
          <p:cNvPr id="42" name="Text Placeholder 41">
            <a:extLst>
              <a:ext uri="{FF2B5EF4-FFF2-40B4-BE49-F238E27FC236}">
                <a16:creationId xmlns:a16="http://schemas.microsoft.com/office/drawing/2014/main" id="{A7D62C62-9BCD-D908-FA06-E2F3011A88DA}"/>
              </a:ext>
            </a:extLst>
          </p:cNvPr>
          <p:cNvSpPr>
            <a:spLocks noGrp="1"/>
          </p:cNvSpPr>
          <p:nvPr>
            <p:ph type="body" sz="quarter" idx="19"/>
          </p:nvPr>
        </p:nvSpPr>
        <p:spPr/>
        <p:txBody>
          <a:bodyPr/>
          <a:lstStyle/>
          <a:p>
            <a:endParaRPr lang="pt-BR"/>
          </a:p>
        </p:txBody>
      </p:sp>
      <p:sp>
        <p:nvSpPr>
          <p:cNvPr id="5" name="Date Placeholder 4">
            <a:extLst>
              <a:ext uri="{FF2B5EF4-FFF2-40B4-BE49-F238E27FC236}">
                <a16:creationId xmlns:a16="http://schemas.microsoft.com/office/drawing/2014/main" id="{3EFC0E7B-02FE-79E8-C7F7-E93455694894}"/>
              </a:ext>
            </a:extLst>
          </p:cNvPr>
          <p:cNvSpPr>
            <a:spLocks noGrp="1"/>
          </p:cNvSpPr>
          <p:nvPr>
            <p:ph type="dt" sz="half" idx="2"/>
          </p:nvPr>
        </p:nvSpPr>
        <p:spPr>
          <a:xfrm>
            <a:off x="3371691" y="438763"/>
            <a:ext cx="3132139" cy="184666"/>
          </a:xfrm>
        </p:spPr>
        <p:txBody>
          <a:bodyPr/>
          <a:lstStyle/>
          <a:p>
            <a:fld id="{7C15C50E-5CAF-4D73-A24B-0338FF2E9F05}" type="datetime4">
              <a:rPr lang="en-US" smtClean="0"/>
              <a:pPr/>
              <a:t>August 18, 2026</a:t>
            </a:fld>
            <a:endParaRPr lang="en-US" dirty="0"/>
          </a:p>
        </p:txBody>
      </p:sp>
      <p:sp>
        <p:nvSpPr>
          <p:cNvPr id="56" name="Text Placeholder 55">
            <a:extLst>
              <a:ext uri="{FF2B5EF4-FFF2-40B4-BE49-F238E27FC236}">
                <a16:creationId xmlns:a16="http://schemas.microsoft.com/office/drawing/2014/main" id="{A1599F00-A597-FA62-C376-2C68689FB5AC}"/>
              </a:ext>
            </a:extLst>
          </p:cNvPr>
          <p:cNvSpPr>
            <a:spLocks noGrp="1"/>
          </p:cNvSpPr>
          <p:nvPr>
            <p:ph type="body" sz="quarter" idx="36"/>
          </p:nvPr>
        </p:nvSpPr>
        <p:spPr/>
        <p:txBody>
          <a:bodyPr/>
          <a:lstStyle/>
          <a:p>
            <a:r>
              <a:rPr lang="pt-BR" dirty="0"/>
              <a:t>US </a:t>
            </a:r>
            <a:r>
              <a:rPr lang="pt-BR" dirty="0" err="1"/>
              <a:t>sanctions</a:t>
            </a:r>
            <a:r>
              <a:rPr lang="pt-BR" dirty="0"/>
              <a:t> </a:t>
            </a:r>
            <a:r>
              <a:rPr lang="pt-BR" dirty="0" err="1"/>
              <a:t>and</a:t>
            </a:r>
            <a:r>
              <a:rPr lang="pt-BR" dirty="0"/>
              <a:t> </a:t>
            </a:r>
            <a:r>
              <a:rPr lang="pt-BR" dirty="0" err="1"/>
              <a:t>concerns</a:t>
            </a:r>
            <a:r>
              <a:rPr lang="pt-BR" dirty="0"/>
              <a:t> </a:t>
            </a:r>
            <a:r>
              <a:rPr lang="pt-BR" dirty="0" err="1"/>
              <a:t>on</a:t>
            </a:r>
            <a:r>
              <a:rPr lang="pt-BR" dirty="0"/>
              <a:t> H2 </a:t>
            </a:r>
            <a:r>
              <a:rPr lang="pt-BR" dirty="0" err="1"/>
              <a:t>slowdown</a:t>
            </a:r>
            <a:r>
              <a:rPr lang="pt-BR" dirty="0"/>
              <a:t> </a:t>
            </a:r>
            <a:r>
              <a:rPr lang="pt-BR" dirty="0" err="1"/>
              <a:t>were</a:t>
            </a:r>
            <a:r>
              <a:rPr lang="pt-BR" dirty="0"/>
              <a:t> </a:t>
            </a:r>
            <a:r>
              <a:rPr lang="pt-BR" dirty="0" err="1"/>
              <a:t>key</a:t>
            </a:r>
            <a:r>
              <a:rPr lang="pt-BR" dirty="0"/>
              <a:t> </a:t>
            </a:r>
            <a:r>
              <a:rPr lang="pt-BR" dirty="0" err="1"/>
              <a:t>concerns</a:t>
            </a:r>
            <a:endParaRPr lang="pt-BR" dirty="0"/>
          </a:p>
        </p:txBody>
      </p:sp>
      <p:sp>
        <p:nvSpPr>
          <p:cNvPr id="58" name="Text Placeholder 57">
            <a:extLst>
              <a:ext uri="{FF2B5EF4-FFF2-40B4-BE49-F238E27FC236}">
                <a16:creationId xmlns:a16="http://schemas.microsoft.com/office/drawing/2014/main" id="{FBD46A4C-0562-6146-5CEF-BF7F7D8B7F6A}"/>
              </a:ext>
            </a:extLst>
          </p:cNvPr>
          <p:cNvSpPr>
            <a:spLocks noGrp="1"/>
          </p:cNvSpPr>
          <p:nvPr>
            <p:ph type="body" sz="quarter" idx="38"/>
          </p:nvPr>
        </p:nvSpPr>
        <p:spPr>
          <a:xfrm>
            <a:off x="372824" y="1395670"/>
            <a:ext cx="6112352" cy="187302"/>
          </a:xfrm>
        </p:spPr>
        <p:txBody>
          <a:bodyPr/>
          <a:lstStyle/>
          <a:p>
            <a:r>
              <a:rPr lang="en-US" dirty="0"/>
              <a:t>A more nuanced view from corporates and investors</a:t>
            </a:r>
            <a:endParaRPr lang="pt-BR" dirty="0"/>
          </a:p>
        </p:txBody>
      </p:sp>
      <p:pic>
        <p:nvPicPr>
          <p:cNvPr id="2" name="Picture 1" descr="A speedometer with different colors&#10;&#10;AI-generated content may be incorrect.">
            <a:extLst>
              <a:ext uri="{FF2B5EF4-FFF2-40B4-BE49-F238E27FC236}">
                <a16:creationId xmlns:a16="http://schemas.microsoft.com/office/drawing/2014/main" id="{72C71BD7-D6F0-1542-89A4-176E4D669D8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255322" y="6975839"/>
            <a:ext cx="2486220" cy="1524379"/>
          </a:xfrm>
          <a:prstGeom prst="rect">
            <a:avLst/>
          </a:prstGeom>
          <a:noFill/>
          <a:ln>
            <a:noFill/>
          </a:ln>
        </p:spPr>
      </p:pic>
      <p:sp>
        <p:nvSpPr>
          <p:cNvPr id="3" name="Text Placeholder 7">
            <a:extLst>
              <a:ext uri="{FF2B5EF4-FFF2-40B4-BE49-F238E27FC236}">
                <a16:creationId xmlns:a16="http://schemas.microsoft.com/office/drawing/2014/main" id="{BE1C4884-8C57-E924-72B5-1ADA7C8F2666}"/>
              </a:ext>
            </a:extLst>
          </p:cNvPr>
          <p:cNvSpPr>
            <a:spLocks noGrp="1"/>
          </p:cNvSpPr>
          <p:nvPr>
            <p:ph type="body" sz="quarter" idx="27"/>
          </p:nvPr>
        </p:nvSpPr>
        <p:spPr>
          <a:xfrm>
            <a:off x="4330593" y="3813981"/>
            <a:ext cx="2159105" cy="133094"/>
          </a:xfrm>
        </p:spPr>
        <p:txBody>
          <a:bodyPr/>
          <a:lstStyle/>
          <a:p>
            <a:r>
              <a:rPr lang="en-US" noProof="0"/>
              <a:t>Fernando Ferreira, CFA</a:t>
            </a:r>
          </a:p>
        </p:txBody>
      </p:sp>
      <p:sp>
        <p:nvSpPr>
          <p:cNvPr id="4" name="Text Placeholder 8">
            <a:extLst>
              <a:ext uri="{FF2B5EF4-FFF2-40B4-BE49-F238E27FC236}">
                <a16:creationId xmlns:a16="http://schemas.microsoft.com/office/drawing/2014/main" id="{30E44BC1-6174-BCE5-C70C-5339285DC3EA}"/>
              </a:ext>
            </a:extLst>
          </p:cNvPr>
          <p:cNvSpPr>
            <a:spLocks noGrp="1"/>
          </p:cNvSpPr>
          <p:nvPr>
            <p:ph type="body" sz="quarter" idx="28"/>
          </p:nvPr>
        </p:nvSpPr>
        <p:spPr>
          <a:xfrm>
            <a:off x="4330593" y="3975778"/>
            <a:ext cx="2159105" cy="96950"/>
          </a:xfrm>
        </p:spPr>
        <p:txBody>
          <a:bodyPr/>
          <a:lstStyle/>
          <a:p>
            <a:r>
              <a:rPr lang="en-US" noProof="0"/>
              <a:t>Chief Strategist and Head of Research</a:t>
            </a:r>
          </a:p>
        </p:txBody>
      </p:sp>
      <p:sp>
        <p:nvSpPr>
          <p:cNvPr id="6" name="Text Placeholder 9">
            <a:extLst>
              <a:ext uri="{FF2B5EF4-FFF2-40B4-BE49-F238E27FC236}">
                <a16:creationId xmlns:a16="http://schemas.microsoft.com/office/drawing/2014/main" id="{EA478D21-7BE7-F6C0-8F8E-32D2B9E4679E}"/>
              </a:ext>
            </a:extLst>
          </p:cNvPr>
          <p:cNvSpPr>
            <a:spLocks noGrp="1"/>
          </p:cNvSpPr>
          <p:nvPr>
            <p:ph type="body" sz="quarter" idx="29"/>
          </p:nvPr>
        </p:nvSpPr>
        <p:spPr>
          <a:xfrm>
            <a:off x="4330593" y="4102650"/>
            <a:ext cx="2159105" cy="110800"/>
          </a:xfrm>
        </p:spPr>
        <p:txBody>
          <a:bodyPr/>
          <a:lstStyle/>
          <a:p>
            <a:r>
              <a:rPr lang="en-US" noProof="0"/>
              <a:t>fernando.f.ferreira@xpi.com.br</a:t>
            </a:r>
          </a:p>
        </p:txBody>
      </p:sp>
      <p:sp>
        <p:nvSpPr>
          <p:cNvPr id="7" name="Content Placeholder 8">
            <a:extLst>
              <a:ext uri="{FF2B5EF4-FFF2-40B4-BE49-F238E27FC236}">
                <a16:creationId xmlns:a16="http://schemas.microsoft.com/office/drawing/2014/main" id="{63F20CDC-9685-7652-66F2-023D7D7D1F0E}"/>
              </a:ext>
            </a:extLst>
          </p:cNvPr>
          <p:cNvSpPr txBox="1">
            <a:spLocks/>
          </p:cNvSpPr>
          <p:nvPr/>
        </p:nvSpPr>
        <p:spPr>
          <a:xfrm>
            <a:off x="4330593" y="6676548"/>
            <a:ext cx="2335678" cy="199355"/>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rPr>
              <a:t>Chart 1: </a:t>
            </a:r>
            <a:r>
              <a:rPr lang="en-US" noProof="0"/>
              <a:t>XP Sentiment Indicator</a:t>
            </a:r>
            <a:endPar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endParaRPr>
          </a:p>
        </p:txBody>
      </p:sp>
      <p:cxnSp>
        <p:nvCxnSpPr>
          <p:cNvPr id="8" name="Straight Connector 7">
            <a:extLst>
              <a:ext uri="{FF2B5EF4-FFF2-40B4-BE49-F238E27FC236}">
                <a16:creationId xmlns:a16="http://schemas.microsoft.com/office/drawing/2014/main" id="{83A7C8DC-B5AC-0D5E-B0EE-8C2669D4B9F1}"/>
              </a:ext>
            </a:extLst>
          </p:cNvPr>
          <p:cNvCxnSpPr>
            <a:cxnSpLocks/>
          </p:cNvCxnSpPr>
          <p:nvPr/>
        </p:nvCxnSpPr>
        <p:spPr>
          <a:xfrm>
            <a:off x="4330593" y="6866298"/>
            <a:ext cx="2335678" cy="0"/>
          </a:xfrm>
          <a:prstGeom prst="line">
            <a:avLst/>
          </a:prstGeom>
          <a:noFill/>
          <a:ln w="6350" cap="flat" cmpd="sng" algn="ctr">
            <a:solidFill>
              <a:srgbClr val="000000"/>
            </a:solidFill>
            <a:prstDash val="solid"/>
            <a:miter lim="800000"/>
          </a:ln>
          <a:effectLst/>
        </p:spPr>
      </p:cxnSp>
      <p:sp>
        <p:nvSpPr>
          <p:cNvPr id="9" name="Text Placeholder 10">
            <a:extLst>
              <a:ext uri="{FF2B5EF4-FFF2-40B4-BE49-F238E27FC236}">
                <a16:creationId xmlns:a16="http://schemas.microsoft.com/office/drawing/2014/main" id="{8CC85353-1487-CE6C-2F5B-3FE9630C3F24}"/>
              </a:ext>
            </a:extLst>
          </p:cNvPr>
          <p:cNvSpPr>
            <a:spLocks noGrp="1"/>
          </p:cNvSpPr>
          <p:nvPr>
            <p:ph type="body" sz="quarter" idx="30"/>
          </p:nvPr>
        </p:nvSpPr>
        <p:spPr>
          <a:xfrm>
            <a:off x="4330593" y="4289430"/>
            <a:ext cx="2159105" cy="133094"/>
          </a:xfrm>
        </p:spPr>
        <p:txBody>
          <a:bodyPr/>
          <a:lstStyle/>
          <a:p>
            <a:r>
              <a:rPr lang="pt-BR" dirty="0"/>
              <a:t>Felipe Veiga</a:t>
            </a:r>
          </a:p>
        </p:txBody>
      </p:sp>
      <p:sp>
        <p:nvSpPr>
          <p:cNvPr id="10" name="Text Placeholder 11">
            <a:extLst>
              <a:ext uri="{FF2B5EF4-FFF2-40B4-BE49-F238E27FC236}">
                <a16:creationId xmlns:a16="http://schemas.microsoft.com/office/drawing/2014/main" id="{E45CD44A-A54D-922D-6B2F-E0391FBFC212}"/>
              </a:ext>
            </a:extLst>
          </p:cNvPr>
          <p:cNvSpPr>
            <a:spLocks noGrp="1"/>
          </p:cNvSpPr>
          <p:nvPr>
            <p:ph type="body" sz="quarter" idx="31"/>
          </p:nvPr>
        </p:nvSpPr>
        <p:spPr>
          <a:xfrm>
            <a:off x="4330593" y="4451227"/>
            <a:ext cx="2159105" cy="96950"/>
          </a:xfrm>
        </p:spPr>
        <p:txBody>
          <a:bodyPr/>
          <a:lstStyle/>
          <a:p>
            <a:r>
              <a:rPr lang="pt-BR" dirty="0" err="1"/>
              <a:t>Equity</a:t>
            </a:r>
            <a:r>
              <a:rPr lang="pt-BR" dirty="0"/>
              <a:t> </a:t>
            </a:r>
            <a:r>
              <a:rPr lang="pt-BR" dirty="0" err="1"/>
              <a:t>Strategist</a:t>
            </a:r>
            <a:endParaRPr lang="en-US" dirty="0"/>
          </a:p>
        </p:txBody>
      </p:sp>
      <p:sp>
        <p:nvSpPr>
          <p:cNvPr id="11" name="Text Placeholder 12">
            <a:extLst>
              <a:ext uri="{FF2B5EF4-FFF2-40B4-BE49-F238E27FC236}">
                <a16:creationId xmlns:a16="http://schemas.microsoft.com/office/drawing/2014/main" id="{E9C2772D-3333-87C2-5089-A95C4B949A1A}"/>
              </a:ext>
            </a:extLst>
          </p:cNvPr>
          <p:cNvSpPr>
            <a:spLocks noGrp="1"/>
          </p:cNvSpPr>
          <p:nvPr>
            <p:ph type="body" sz="quarter" idx="32"/>
          </p:nvPr>
        </p:nvSpPr>
        <p:spPr>
          <a:xfrm>
            <a:off x="4330593" y="4578099"/>
            <a:ext cx="2159105" cy="110800"/>
          </a:xfrm>
        </p:spPr>
        <p:txBody>
          <a:bodyPr/>
          <a:lstStyle/>
          <a:p>
            <a:r>
              <a:rPr lang="en-US" dirty="0"/>
              <a:t>felipe.bveiga@xpi.com.br</a:t>
            </a:r>
          </a:p>
        </p:txBody>
      </p:sp>
      <p:sp>
        <p:nvSpPr>
          <p:cNvPr id="12" name="Text Placeholder 8">
            <a:extLst>
              <a:ext uri="{FF2B5EF4-FFF2-40B4-BE49-F238E27FC236}">
                <a16:creationId xmlns:a16="http://schemas.microsoft.com/office/drawing/2014/main" id="{010526DE-2BFC-45D1-2CD1-8B001D78E4E4}"/>
              </a:ext>
            </a:extLst>
          </p:cNvPr>
          <p:cNvSpPr txBox="1">
            <a:spLocks/>
          </p:cNvSpPr>
          <p:nvPr/>
        </p:nvSpPr>
        <p:spPr>
          <a:xfrm>
            <a:off x="4330595" y="5262565"/>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Júlia Aquino</a:t>
            </a:r>
          </a:p>
        </p:txBody>
      </p:sp>
      <p:sp>
        <p:nvSpPr>
          <p:cNvPr id="13" name="Text Placeholder 9">
            <a:extLst>
              <a:ext uri="{FF2B5EF4-FFF2-40B4-BE49-F238E27FC236}">
                <a16:creationId xmlns:a16="http://schemas.microsoft.com/office/drawing/2014/main" id="{047AA931-5363-1ED4-363B-05AFD81F3BAF}"/>
              </a:ext>
            </a:extLst>
          </p:cNvPr>
          <p:cNvSpPr txBox="1">
            <a:spLocks/>
          </p:cNvSpPr>
          <p:nvPr/>
        </p:nvSpPr>
        <p:spPr>
          <a:xfrm>
            <a:off x="4330595" y="5424362"/>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4" name="Text Placeholder 22">
            <a:extLst>
              <a:ext uri="{FF2B5EF4-FFF2-40B4-BE49-F238E27FC236}">
                <a16:creationId xmlns:a16="http://schemas.microsoft.com/office/drawing/2014/main" id="{D83CC1B7-3400-B176-FFAA-CAF7799CB17A}"/>
              </a:ext>
            </a:extLst>
          </p:cNvPr>
          <p:cNvSpPr txBox="1">
            <a:spLocks/>
          </p:cNvSpPr>
          <p:nvPr/>
        </p:nvSpPr>
        <p:spPr>
          <a:xfrm>
            <a:off x="4330595" y="555123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julia.aquino@xpi.com.br</a:t>
            </a:r>
          </a:p>
        </p:txBody>
      </p:sp>
      <p:sp>
        <p:nvSpPr>
          <p:cNvPr id="15" name="Text Placeholder 8">
            <a:extLst>
              <a:ext uri="{FF2B5EF4-FFF2-40B4-BE49-F238E27FC236}">
                <a16:creationId xmlns:a16="http://schemas.microsoft.com/office/drawing/2014/main" id="{90AE68F2-1C3C-C1E6-9915-CA13BA4AAE5C}"/>
              </a:ext>
            </a:extLst>
          </p:cNvPr>
          <p:cNvSpPr txBox="1">
            <a:spLocks/>
          </p:cNvSpPr>
          <p:nvPr/>
        </p:nvSpPr>
        <p:spPr>
          <a:xfrm>
            <a:off x="4330595" y="573443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 Rosa, CQF</a:t>
            </a:r>
          </a:p>
        </p:txBody>
      </p:sp>
      <p:sp>
        <p:nvSpPr>
          <p:cNvPr id="16" name="Text Placeholder 9">
            <a:extLst>
              <a:ext uri="{FF2B5EF4-FFF2-40B4-BE49-F238E27FC236}">
                <a16:creationId xmlns:a16="http://schemas.microsoft.com/office/drawing/2014/main" id="{30C94353-8A22-86F7-5203-51F8BB962705}"/>
              </a:ext>
            </a:extLst>
          </p:cNvPr>
          <p:cNvSpPr txBox="1">
            <a:spLocks/>
          </p:cNvSpPr>
          <p:nvPr/>
        </p:nvSpPr>
        <p:spPr>
          <a:xfrm>
            <a:off x="4330595" y="5896234"/>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7" name="Text Placeholder 22">
            <a:extLst>
              <a:ext uri="{FF2B5EF4-FFF2-40B4-BE49-F238E27FC236}">
                <a16:creationId xmlns:a16="http://schemas.microsoft.com/office/drawing/2014/main" id="{FA6AAD47-0B82-E608-4E19-1CF9860427EA}"/>
              </a:ext>
            </a:extLst>
          </p:cNvPr>
          <p:cNvSpPr txBox="1">
            <a:spLocks/>
          </p:cNvSpPr>
          <p:nvPr/>
        </p:nvSpPr>
        <p:spPr>
          <a:xfrm>
            <a:off x="4330595" y="602310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lucas.vrosa@xpi.com.br</a:t>
            </a:r>
          </a:p>
        </p:txBody>
      </p:sp>
      <p:sp>
        <p:nvSpPr>
          <p:cNvPr id="18" name="Text Placeholder 10">
            <a:extLst>
              <a:ext uri="{FF2B5EF4-FFF2-40B4-BE49-F238E27FC236}">
                <a16:creationId xmlns:a16="http://schemas.microsoft.com/office/drawing/2014/main" id="{1F5B5A3D-1997-A704-CC56-49E8F1736A79}"/>
              </a:ext>
            </a:extLst>
          </p:cNvPr>
          <p:cNvSpPr txBox="1">
            <a:spLocks/>
          </p:cNvSpPr>
          <p:nvPr/>
        </p:nvSpPr>
        <p:spPr>
          <a:xfrm>
            <a:off x="4338801" y="478393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 Figueredo</a:t>
            </a:r>
          </a:p>
        </p:txBody>
      </p:sp>
      <p:sp>
        <p:nvSpPr>
          <p:cNvPr id="19" name="Text Placeholder 11">
            <a:extLst>
              <a:ext uri="{FF2B5EF4-FFF2-40B4-BE49-F238E27FC236}">
                <a16:creationId xmlns:a16="http://schemas.microsoft.com/office/drawing/2014/main" id="{490B0F6E-19F2-F749-5655-8B1CBE8AA958}"/>
              </a:ext>
            </a:extLst>
          </p:cNvPr>
          <p:cNvSpPr txBox="1">
            <a:spLocks/>
          </p:cNvSpPr>
          <p:nvPr/>
        </p:nvSpPr>
        <p:spPr>
          <a:xfrm>
            <a:off x="4338801" y="4945735"/>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a:t>Equity Strategist</a:t>
            </a:r>
            <a:endParaRPr lang="pt-BR" dirty="0"/>
          </a:p>
        </p:txBody>
      </p:sp>
      <p:sp>
        <p:nvSpPr>
          <p:cNvPr id="20" name="Text Placeholder 12">
            <a:extLst>
              <a:ext uri="{FF2B5EF4-FFF2-40B4-BE49-F238E27FC236}">
                <a16:creationId xmlns:a16="http://schemas.microsoft.com/office/drawing/2014/main" id="{6DF4B747-9580-70F8-7D27-52E7E07050F8}"/>
              </a:ext>
            </a:extLst>
          </p:cNvPr>
          <p:cNvSpPr txBox="1">
            <a:spLocks/>
          </p:cNvSpPr>
          <p:nvPr/>
        </p:nvSpPr>
        <p:spPr>
          <a:xfrm>
            <a:off x="4338801" y="50437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raphael.sfigueredo@xpi.com.br</a:t>
            </a:r>
          </a:p>
        </p:txBody>
      </p:sp>
      <p:sp>
        <p:nvSpPr>
          <p:cNvPr id="21" name="Text Placeholder 8">
            <a:extLst>
              <a:ext uri="{FF2B5EF4-FFF2-40B4-BE49-F238E27FC236}">
                <a16:creationId xmlns:a16="http://schemas.microsoft.com/office/drawing/2014/main" id="{04B963A5-ABBE-148B-5875-EB4FFE79BCEA}"/>
              </a:ext>
            </a:extLst>
          </p:cNvPr>
          <p:cNvSpPr txBox="1">
            <a:spLocks/>
          </p:cNvSpPr>
          <p:nvPr/>
        </p:nvSpPr>
        <p:spPr>
          <a:xfrm>
            <a:off x="4330595" y="618465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XP Research</a:t>
            </a:r>
          </a:p>
        </p:txBody>
      </p:sp>
      <p:sp>
        <p:nvSpPr>
          <p:cNvPr id="23" name="Text Placeholder 22">
            <a:extLst>
              <a:ext uri="{FF2B5EF4-FFF2-40B4-BE49-F238E27FC236}">
                <a16:creationId xmlns:a16="http://schemas.microsoft.com/office/drawing/2014/main" id="{76321694-8D09-647A-E663-FC5E80B687E6}"/>
              </a:ext>
            </a:extLst>
          </p:cNvPr>
          <p:cNvSpPr txBox="1">
            <a:spLocks/>
          </p:cNvSpPr>
          <p:nvPr/>
        </p:nvSpPr>
        <p:spPr>
          <a:xfrm>
            <a:off x="4330595" y="633453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research@xpi.com.br</a:t>
            </a:r>
          </a:p>
        </p:txBody>
      </p:sp>
      <p:sp>
        <p:nvSpPr>
          <p:cNvPr id="22" name="Rectangle 21">
            <a:extLst>
              <a:ext uri="{FF2B5EF4-FFF2-40B4-BE49-F238E27FC236}">
                <a16:creationId xmlns:a16="http://schemas.microsoft.com/office/drawing/2014/main" id="{FB88DC07-A528-225A-9987-39DFBF68A3A4}"/>
              </a:ext>
            </a:extLst>
          </p:cNvPr>
          <p:cNvSpPr/>
          <p:nvPr/>
        </p:nvSpPr>
        <p:spPr>
          <a:xfrm>
            <a:off x="162838" y="1851660"/>
            <a:ext cx="6335068" cy="6991715"/>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dirty="0">
                <a:solidFill>
                  <a:schemeClr val="bg1"/>
                </a:solidFill>
                <a:latin typeface="Roboto" panose="02000000000000000000" pitchFamily="2" charset="0"/>
                <a:ea typeface="Roboto" panose="02000000000000000000" pitchFamily="2" charset="0"/>
                <a:cs typeface="Roboto" panose="02000000000000000000" pitchFamily="2" charset="0"/>
              </a:rPr>
              <a:t>ATUALIZAR</a:t>
            </a:r>
          </a:p>
        </p:txBody>
      </p:sp>
    </p:spTree>
    <p:extLst>
      <p:ext uri="{BB962C8B-B14F-4D97-AF65-F5344CB8AC3E}">
        <p14:creationId xmlns:p14="http://schemas.microsoft.com/office/powerpoint/2010/main" val="19551721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9C5E58A-DD28-2AE4-F475-E9BF93E18C65}"/>
              </a:ext>
            </a:extLst>
          </p:cNvPr>
          <p:cNvSpPr>
            <a:spLocks noGrp="1"/>
          </p:cNvSpPr>
          <p:nvPr>
            <p:ph type="body" idx="4294967295"/>
          </p:nvPr>
        </p:nvSpPr>
        <p:spPr>
          <a:xfrm>
            <a:off x="368300" y="745804"/>
            <a:ext cx="6121400" cy="336050"/>
          </a:xfrm>
          <a:prstGeom prst="rect">
            <a:avLst/>
          </a:prstGeom>
        </p:spPr>
        <p:txBody>
          <a:bodyPr/>
          <a:lstStyle/>
          <a:p>
            <a:pPr algn="ctr">
              <a:lnSpc>
                <a:spcPct val="100000"/>
              </a:lnSpc>
              <a:spcBef>
                <a:spcPts val="600"/>
              </a:spcBef>
              <a:buNone/>
            </a:pPr>
            <a:r>
              <a:rPr sz="1600" b="1" dirty="0">
                <a:solidFill>
                  <a:schemeClr val="bg1"/>
                </a:solidFill>
              </a:rPr>
              <a:t>CONFIRMED COMPANIES </a:t>
            </a:r>
          </a:p>
        </p:txBody>
      </p:sp>
      <p:sp>
        <p:nvSpPr>
          <p:cNvPr id="5" name="TextBox 4">
            <a:extLst>
              <a:ext uri="{FF2B5EF4-FFF2-40B4-BE49-F238E27FC236}">
                <a16:creationId xmlns:a16="http://schemas.microsoft.com/office/drawing/2014/main" id="{9894061F-ECC4-0743-1A90-68B7C52ABE46}"/>
              </a:ext>
            </a:extLst>
          </p:cNvPr>
          <p:cNvSpPr>
            <a:spLocks noGrp="1"/>
          </p:cNvSpPr>
          <p:nvPr/>
        </p:nvSpPr>
        <p:spPr>
          <a:xfrm>
            <a:off x="365760" y="1188720"/>
            <a:ext cx="2658679" cy="338554"/>
          </a:xfrm>
          <a:prstGeom prst="rect">
            <a:avLst/>
          </a:prstGeom>
          <a:noFill/>
        </p:spPr>
        <p:txBody>
          <a:bodyPr wrap="square">
            <a:spAutoFit/>
          </a:bodyPr>
          <a:lstStyle/>
          <a:p>
            <a:r>
              <a:rPr sz="1600" b="1" dirty="0">
                <a:solidFill>
                  <a:srgbClr val="8EB3DF"/>
                </a:solidFill>
                <a:latin typeface="+mj-lt"/>
                <a:ea typeface="+mj-lt"/>
                <a:cs typeface="+mj-lt"/>
              </a:rPr>
              <a:t>Agri, Food &amp; Beverage</a:t>
            </a:r>
          </a:p>
        </p:txBody>
      </p:sp>
      <p:sp>
        <p:nvSpPr>
          <p:cNvPr id="6" name="TextBox 5">
            <a:extLst>
              <a:ext uri="{FF2B5EF4-FFF2-40B4-BE49-F238E27FC236}">
                <a16:creationId xmlns:a16="http://schemas.microsoft.com/office/drawing/2014/main" id="{C07BF4F6-D250-28DC-1280-0653CD83F1C3}"/>
              </a:ext>
            </a:extLst>
          </p:cNvPr>
          <p:cNvSpPr>
            <a:spLocks noGrp="1"/>
          </p:cNvSpPr>
          <p:nvPr/>
        </p:nvSpPr>
        <p:spPr>
          <a:xfrm>
            <a:off x="365760" y="3920490"/>
            <a:ext cx="2008717" cy="338554"/>
          </a:xfrm>
          <a:prstGeom prst="rect">
            <a:avLst/>
          </a:prstGeom>
          <a:noFill/>
        </p:spPr>
        <p:txBody>
          <a:bodyPr wrap="square">
            <a:spAutoFit/>
          </a:bodyPr>
          <a:lstStyle/>
          <a:p>
            <a:r>
              <a:rPr sz="1600" b="1" dirty="0">
                <a:solidFill>
                  <a:srgbClr val="8EB3DF"/>
                </a:solidFill>
                <a:latin typeface="+mj-lt"/>
                <a:ea typeface="+mj-lt"/>
                <a:cs typeface="+mj-lt"/>
              </a:rPr>
              <a:t>Education</a:t>
            </a:r>
          </a:p>
        </p:txBody>
      </p:sp>
      <p:sp>
        <p:nvSpPr>
          <p:cNvPr id="9" name="TextBox 8">
            <a:extLst>
              <a:ext uri="{FF2B5EF4-FFF2-40B4-BE49-F238E27FC236}">
                <a16:creationId xmlns:a16="http://schemas.microsoft.com/office/drawing/2014/main" id="{01DBFD07-AD00-29F7-2A45-10A5FA686A3B}"/>
              </a:ext>
            </a:extLst>
          </p:cNvPr>
          <p:cNvSpPr>
            <a:spLocks noGrp="1"/>
          </p:cNvSpPr>
          <p:nvPr/>
        </p:nvSpPr>
        <p:spPr>
          <a:xfrm>
            <a:off x="36576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3Tentos</a:t>
            </a:r>
          </a:p>
        </p:txBody>
      </p:sp>
      <p:sp>
        <p:nvSpPr>
          <p:cNvPr id="10" name="TextBox 9">
            <a:extLst>
              <a:ext uri="{FF2B5EF4-FFF2-40B4-BE49-F238E27FC236}">
                <a16:creationId xmlns:a16="http://schemas.microsoft.com/office/drawing/2014/main" id="{3AD47163-42BA-A3C0-2C82-4A26912C6B04}"/>
              </a:ext>
            </a:extLst>
          </p:cNvPr>
          <p:cNvSpPr>
            <a:spLocks noGrp="1"/>
          </p:cNvSpPr>
          <p:nvPr/>
        </p:nvSpPr>
        <p:spPr>
          <a:xfrm>
            <a:off x="36576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Ambev</a:t>
            </a:r>
          </a:p>
        </p:txBody>
      </p:sp>
      <p:sp>
        <p:nvSpPr>
          <p:cNvPr id="11" name="TextBox 10">
            <a:extLst>
              <a:ext uri="{FF2B5EF4-FFF2-40B4-BE49-F238E27FC236}">
                <a16:creationId xmlns:a16="http://schemas.microsoft.com/office/drawing/2014/main" id="{C1194A34-D787-1DA9-4305-C8D9D271D9DE}"/>
              </a:ext>
            </a:extLst>
          </p:cNvPr>
          <p:cNvSpPr>
            <a:spLocks noGrp="1"/>
          </p:cNvSpPr>
          <p:nvPr/>
        </p:nvSpPr>
        <p:spPr>
          <a:xfrm>
            <a:off x="365760" y="1787651"/>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Boa Safra</a:t>
            </a:r>
          </a:p>
        </p:txBody>
      </p:sp>
      <p:sp>
        <p:nvSpPr>
          <p:cNvPr id="12" name="TextBox 11">
            <a:extLst>
              <a:ext uri="{FF2B5EF4-FFF2-40B4-BE49-F238E27FC236}">
                <a16:creationId xmlns:a16="http://schemas.microsoft.com/office/drawing/2014/main" id="{0371286B-8D12-1AAE-03AE-79A704CD6E71}"/>
              </a:ext>
            </a:extLst>
          </p:cNvPr>
          <p:cNvSpPr>
            <a:spLocks noGrp="1"/>
          </p:cNvSpPr>
          <p:nvPr/>
        </p:nvSpPr>
        <p:spPr>
          <a:xfrm>
            <a:off x="365760" y="193395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Brasil Agro</a:t>
            </a:r>
          </a:p>
        </p:txBody>
      </p:sp>
      <p:sp>
        <p:nvSpPr>
          <p:cNvPr id="13" name="TextBox 12">
            <a:extLst>
              <a:ext uri="{FF2B5EF4-FFF2-40B4-BE49-F238E27FC236}">
                <a16:creationId xmlns:a16="http://schemas.microsoft.com/office/drawing/2014/main" id="{96C8B3AB-9289-0D64-ED6A-41DC5763ED58}"/>
              </a:ext>
            </a:extLst>
          </p:cNvPr>
          <p:cNvSpPr>
            <a:spLocks noGrp="1"/>
          </p:cNvSpPr>
          <p:nvPr/>
        </p:nvSpPr>
        <p:spPr>
          <a:xfrm>
            <a:off x="365760" y="208026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Camil</a:t>
            </a:r>
          </a:p>
        </p:txBody>
      </p:sp>
      <p:sp>
        <p:nvSpPr>
          <p:cNvPr id="14" name="TextBox 13">
            <a:extLst>
              <a:ext uri="{FF2B5EF4-FFF2-40B4-BE49-F238E27FC236}">
                <a16:creationId xmlns:a16="http://schemas.microsoft.com/office/drawing/2014/main" id="{1773C050-0CEF-BB6F-D597-6DCFC4CC5F02}"/>
              </a:ext>
            </a:extLst>
          </p:cNvPr>
          <p:cNvSpPr>
            <a:spLocks noGrp="1"/>
          </p:cNvSpPr>
          <p:nvPr/>
        </p:nvSpPr>
        <p:spPr>
          <a:xfrm>
            <a:off x="365760" y="222656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Jalles</a:t>
            </a:r>
          </a:p>
        </p:txBody>
      </p:sp>
      <p:sp>
        <p:nvSpPr>
          <p:cNvPr id="15" name="TextBox 14">
            <a:extLst>
              <a:ext uri="{FF2B5EF4-FFF2-40B4-BE49-F238E27FC236}">
                <a16:creationId xmlns:a16="http://schemas.microsoft.com/office/drawing/2014/main" id="{3B65C74C-969E-74A7-59E8-B0C48013CE36}"/>
              </a:ext>
            </a:extLst>
          </p:cNvPr>
          <p:cNvSpPr>
            <a:spLocks noGrp="1"/>
          </p:cNvSpPr>
          <p:nvPr/>
        </p:nvSpPr>
        <p:spPr>
          <a:xfrm>
            <a:off x="365760" y="237286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JBS</a:t>
            </a:r>
          </a:p>
        </p:txBody>
      </p:sp>
      <p:sp>
        <p:nvSpPr>
          <p:cNvPr id="16" name="TextBox 15">
            <a:extLst>
              <a:ext uri="{FF2B5EF4-FFF2-40B4-BE49-F238E27FC236}">
                <a16:creationId xmlns:a16="http://schemas.microsoft.com/office/drawing/2014/main" id="{B7A69670-3ACB-4A7D-8AA4-D5FDB5C444D9}"/>
              </a:ext>
            </a:extLst>
          </p:cNvPr>
          <p:cNvSpPr>
            <a:spLocks noGrp="1"/>
          </p:cNvSpPr>
          <p:nvPr/>
        </p:nvSpPr>
        <p:spPr>
          <a:xfrm>
            <a:off x="365760" y="251917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 Dias Branco</a:t>
            </a:r>
          </a:p>
        </p:txBody>
      </p:sp>
      <p:sp>
        <p:nvSpPr>
          <p:cNvPr id="17" name="TextBox 16">
            <a:extLst>
              <a:ext uri="{FF2B5EF4-FFF2-40B4-BE49-F238E27FC236}">
                <a16:creationId xmlns:a16="http://schemas.microsoft.com/office/drawing/2014/main" id="{BBDFF9F5-9B58-C9BD-9C3C-ED94081EDD2F}"/>
              </a:ext>
            </a:extLst>
          </p:cNvPr>
          <p:cNvSpPr>
            <a:spLocks noGrp="1"/>
          </p:cNvSpPr>
          <p:nvPr/>
        </p:nvSpPr>
        <p:spPr>
          <a:xfrm>
            <a:off x="365760" y="26654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MBRF</a:t>
            </a:r>
          </a:p>
        </p:txBody>
      </p:sp>
      <p:sp>
        <p:nvSpPr>
          <p:cNvPr id="18" name="TextBox 17">
            <a:extLst>
              <a:ext uri="{FF2B5EF4-FFF2-40B4-BE49-F238E27FC236}">
                <a16:creationId xmlns:a16="http://schemas.microsoft.com/office/drawing/2014/main" id="{720A33CD-2B85-2E8B-557F-928FBED8D1D1}"/>
              </a:ext>
            </a:extLst>
          </p:cNvPr>
          <p:cNvSpPr>
            <a:spLocks noGrp="1"/>
          </p:cNvSpPr>
          <p:nvPr/>
        </p:nvSpPr>
        <p:spPr>
          <a:xfrm>
            <a:off x="365760" y="5286375"/>
            <a:ext cx="2008717" cy="338554"/>
          </a:xfrm>
          <a:prstGeom prst="rect">
            <a:avLst/>
          </a:prstGeom>
          <a:noFill/>
        </p:spPr>
        <p:txBody>
          <a:bodyPr wrap="square">
            <a:spAutoFit/>
          </a:bodyPr>
          <a:lstStyle/>
          <a:p>
            <a:r>
              <a:rPr sz="1600" b="1" dirty="0">
                <a:solidFill>
                  <a:srgbClr val="8EB3DF"/>
                </a:solidFill>
                <a:latin typeface="+mj-lt"/>
                <a:ea typeface="+mj-lt"/>
                <a:cs typeface="+mj-lt"/>
              </a:rPr>
              <a:t>Financials</a:t>
            </a:r>
          </a:p>
        </p:txBody>
      </p:sp>
      <p:sp>
        <p:nvSpPr>
          <p:cNvPr id="19" name="TextBox 18">
            <a:extLst>
              <a:ext uri="{FF2B5EF4-FFF2-40B4-BE49-F238E27FC236}">
                <a16:creationId xmlns:a16="http://schemas.microsoft.com/office/drawing/2014/main" id="{EA2010E7-F1AA-9420-CAED-9AB11E018642}"/>
              </a:ext>
            </a:extLst>
          </p:cNvPr>
          <p:cNvSpPr>
            <a:spLocks noGrp="1"/>
          </p:cNvSpPr>
          <p:nvPr/>
        </p:nvSpPr>
        <p:spPr>
          <a:xfrm>
            <a:off x="365760" y="281178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Minerva</a:t>
            </a:r>
          </a:p>
        </p:txBody>
      </p:sp>
      <p:sp>
        <p:nvSpPr>
          <p:cNvPr id="20" name="TextBox 19">
            <a:extLst>
              <a:ext uri="{FF2B5EF4-FFF2-40B4-BE49-F238E27FC236}">
                <a16:creationId xmlns:a16="http://schemas.microsoft.com/office/drawing/2014/main" id="{A956658B-2C0D-35E6-4E7B-CF83E902C754}"/>
              </a:ext>
            </a:extLst>
          </p:cNvPr>
          <p:cNvSpPr>
            <a:spLocks noGrp="1"/>
          </p:cNvSpPr>
          <p:nvPr/>
        </p:nvSpPr>
        <p:spPr>
          <a:xfrm>
            <a:off x="365760" y="29580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SLC</a:t>
            </a:r>
          </a:p>
        </p:txBody>
      </p:sp>
      <p:sp>
        <p:nvSpPr>
          <p:cNvPr id="21" name="TextBox 20">
            <a:extLst>
              <a:ext uri="{FF2B5EF4-FFF2-40B4-BE49-F238E27FC236}">
                <a16:creationId xmlns:a16="http://schemas.microsoft.com/office/drawing/2014/main" id="{35F937FD-0E9B-70C2-55BB-8CC141206B17}"/>
              </a:ext>
            </a:extLst>
          </p:cNvPr>
          <p:cNvSpPr>
            <a:spLocks noGrp="1"/>
          </p:cNvSpPr>
          <p:nvPr/>
        </p:nvSpPr>
        <p:spPr>
          <a:xfrm>
            <a:off x="365760" y="7676388"/>
            <a:ext cx="2008717" cy="338554"/>
          </a:xfrm>
          <a:prstGeom prst="rect">
            <a:avLst/>
          </a:prstGeom>
          <a:noFill/>
        </p:spPr>
        <p:txBody>
          <a:bodyPr wrap="square">
            <a:spAutoFit/>
          </a:bodyPr>
          <a:lstStyle/>
          <a:p>
            <a:r>
              <a:rPr sz="1600" b="1">
                <a:solidFill>
                  <a:srgbClr val="8EB3DF"/>
                </a:solidFill>
                <a:latin typeface="+mj-lt"/>
                <a:ea typeface="+mj-lt"/>
                <a:cs typeface="+mj-lt"/>
              </a:rPr>
              <a:t>Healthcare</a:t>
            </a:r>
          </a:p>
        </p:txBody>
      </p:sp>
      <p:sp>
        <p:nvSpPr>
          <p:cNvPr id="22" name="TextBox 21">
            <a:extLst>
              <a:ext uri="{FF2B5EF4-FFF2-40B4-BE49-F238E27FC236}">
                <a16:creationId xmlns:a16="http://schemas.microsoft.com/office/drawing/2014/main" id="{3B8C69D6-B594-525E-CECD-298311DF1D54}"/>
              </a:ext>
            </a:extLst>
          </p:cNvPr>
          <p:cNvSpPr>
            <a:spLocks noGrp="1"/>
          </p:cNvSpPr>
          <p:nvPr/>
        </p:nvSpPr>
        <p:spPr>
          <a:xfrm>
            <a:off x="365760" y="4226814"/>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Ânima</a:t>
            </a:r>
            <a:endParaRPr sz="900" b="1" dirty="0">
              <a:solidFill>
                <a:schemeClr val="bg1"/>
              </a:solidFill>
              <a:latin typeface="+mj-lt"/>
              <a:ea typeface="+mj-lt"/>
              <a:cs typeface="+mj-lt"/>
            </a:endParaRPr>
          </a:p>
        </p:txBody>
      </p:sp>
      <p:sp>
        <p:nvSpPr>
          <p:cNvPr id="23" name="TextBox 22">
            <a:extLst>
              <a:ext uri="{FF2B5EF4-FFF2-40B4-BE49-F238E27FC236}">
                <a16:creationId xmlns:a16="http://schemas.microsoft.com/office/drawing/2014/main" id="{1C155C5E-2EF1-FF18-6697-DCAD2BE2653A}"/>
              </a:ext>
            </a:extLst>
          </p:cNvPr>
          <p:cNvSpPr>
            <a:spLocks noGrp="1"/>
          </p:cNvSpPr>
          <p:nvPr/>
        </p:nvSpPr>
        <p:spPr>
          <a:xfrm>
            <a:off x="365760" y="4373118"/>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Cogna </a:t>
            </a:r>
            <a:r>
              <a:rPr sz="900" b="1" dirty="0" err="1">
                <a:solidFill>
                  <a:schemeClr val="bg1"/>
                </a:solidFill>
                <a:latin typeface="+mj-lt"/>
                <a:ea typeface="+mj-lt"/>
                <a:cs typeface="+mj-lt"/>
              </a:rPr>
              <a:t>Educação</a:t>
            </a:r>
            <a:endParaRPr sz="900" b="1" dirty="0">
              <a:solidFill>
                <a:schemeClr val="bg1"/>
              </a:solidFill>
              <a:latin typeface="+mj-lt"/>
              <a:ea typeface="+mj-lt"/>
              <a:cs typeface="+mj-lt"/>
            </a:endParaRPr>
          </a:p>
        </p:txBody>
      </p:sp>
      <p:sp>
        <p:nvSpPr>
          <p:cNvPr id="24" name="TextBox 23">
            <a:extLst>
              <a:ext uri="{FF2B5EF4-FFF2-40B4-BE49-F238E27FC236}">
                <a16:creationId xmlns:a16="http://schemas.microsoft.com/office/drawing/2014/main" id="{3021C88D-7BEA-8727-57C8-D52F6F6EF354}"/>
              </a:ext>
            </a:extLst>
          </p:cNvPr>
          <p:cNvSpPr>
            <a:spLocks noGrp="1"/>
          </p:cNvSpPr>
          <p:nvPr/>
        </p:nvSpPr>
        <p:spPr>
          <a:xfrm>
            <a:off x="365760" y="451942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Cruzeiro do Sul Educacional</a:t>
            </a:r>
          </a:p>
        </p:txBody>
      </p:sp>
      <p:sp>
        <p:nvSpPr>
          <p:cNvPr id="25" name="TextBox 24">
            <a:extLst>
              <a:ext uri="{FF2B5EF4-FFF2-40B4-BE49-F238E27FC236}">
                <a16:creationId xmlns:a16="http://schemas.microsoft.com/office/drawing/2014/main" id="{96BD2B1F-3564-865E-9E0B-A5EFF321BD5B}"/>
              </a:ext>
            </a:extLst>
          </p:cNvPr>
          <p:cNvSpPr>
            <a:spLocks noGrp="1"/>
          </p:cNvSpPr>
          <p:nvPr/>
        </p:nvSpPr>
        <p:spPr>
          <a:xfrm>
            <a:off x="365760" y="3286125"/>
            <a:ext cx="2008717" cy="338554"/>
          </a:xfrm>
          <a:prstGeom prst="rect">
            <a:avLst/>
          </a:prstGeom>
          <a:noFill/>
        </p:spPr>
        <p:txBody>
          <a:bodyPr wrap="square">
            <a:spAutoFit/>
          </a:bodyPr>
          <a:lstStyle/>
          <a:p>
            <a:r>
              <a:rPr sz="1600" b="1" dirty="0">
                <a:solidFill>
                  <a:srgbClr val="8EB3DF"/>
                </a:solidFill>
                <a:latin typeface="+mj-lt"/>
                <a:ea typeface="+mj-lt"/>
                <a:cs typeface="+mj-lt"/>
              </a:rPr>
              <a:t>Capital Goods</a:t>
            </a:r>
          </a:p>
        </p:txBody>
      </p:sp>
      <p:sp>
        <p:nvSpPr>
          <p:cNvPr id="26" name="TextBox 25">
            <a:extLst>
              <a:ext uri="{FF2B5EF4-FFF2-40B4-BE49-F238E27FC236}">
                <a16:creationId xmlns:a16="http://schemas.microsoft.com/office/drawing/2014/main" id="{ABF60356-B4B7-6CED-DF60-FD873AF00AE3}"/>
              </a:ext>
            </a:extLst>
          </p:cNvPr>
          <p:cNvSpPr>
            <a:spLocks noGrp="1"/>
          </p:cNvSpPr>
          <p:nvPr/>
        </p:nvSpPr>
        <p:spPr>
          <a:xfrm>
            <a:off x="365760" y="4665726"/>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Salta</a:t>
            </a:r>
          </a:p>
        </p:txBody>
      </p:sp>
      <p:sp>
        <p:nvSpPr>
          <p:cNvPr id="27" name="TextBox 26">
            <a:extLst>
              <a:ext uri="{FF2B5EF4-FFF2-40B4-BE49-F238E27FC236}">
                <a16:creationId xmlns:a16="http://schemas.microsoft.com/office/drawing/2014/main" id="{79D73DFD-9BB6-F4A0-CB05-F3651EFFF364}"/>
              </a:ext>
            </a:extLst>
          </p:cNvPr>
          <p:cNvSpPr>
            <a:spLocks noGrp="1"/>
          </p:cNvSpPr>
          <p:nvPr/>
        </p:nvSpPr>
        <p:spPr>
          <a:xfrm>
            <a:off x="365760" y="481203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Vitru Educação</a:t>
            </a:r>
          </a:p>
        </p:txBody>
      </p:sp>
      <p:sp>
        <p:nvSpPr>
          <p:cNvPr id="28" name="TextBox 27">
            <a:extLst>
              <a:ext uri="{FF2B5EF4-FFF2-40B4-BE49-F238E27FC236}">
                <a16:creationId xmlns:a16="http://schemas.microsoft.com/office/drawing/2014/main" id="{B555EA56-0B60-BF37-301F-B69720ADEC03}"/>
              </a:ext>
            </a:extLst>
          </p:cNvPr>
          <p:cNvSpPr>
            <a:spLocks noGrp="1"/>
          </p:cNvSpPr>
          <p:nvPr/>
        </p:nvSpPr>
        <p:spPr>
          <a:xfrm>
            <a:off x="365760" y="495833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Yduqs</a:t>
            </a:r>
          </a:p>
        </p:txBody>
      </p:sp>
      <p:sp>
        <p:nvSpPr>
          <p:cNvPr id="29" name="TextBox 28">
            <a:extLst>
              <a:ext uri="{FF2B5EF4-FFF2-40B4-BE49-F238E27FC236}">
                <a16:creationId xmlns:a16="http://schemas.microsoft.com/office/drawing/2014/main" id="{950BADC2-D72A-2BB7-BDE3-E83F0D809A36}"/>
              </a:ext>
            </a:extLst>
          </p:cNvPr>
          <p:cNvSpPr>
            <a:spLocks noGrp="1"/>
          </p:cNvSpPr>
          <p:nvPr/>
        </p:nvSpPr>
        <p:spPr>
          <a:xfrm>
            <a:off x="365760" y="559269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Agibank</a:t>
            </a:r>
          </a:p>
        </p:txBody>
      </p:sp>
      <p:sp>
        <p:nvSpPr>
          <p:cNvPr id="30" name="TextBox 29">
            <a:extLst>
              <a:ext uri="{FF2B5EF4-FFF2-40B4-BE49-F238E27FC236}">
                <a16:creationId xmlns:a16="http://schemas.microsoft.com/office/drawing/2014/main" id="{F4B428C1-BEB1-2677-45BA-2C5CBC495E8D}"/>
              </a:ext>
            </a:extLst>
          </p:cNvPr>
          <p:cNvSpPr>
            <a:spLocks noGrp="1"/>
          </p:cNvSpPr>
          <p:nvPr/>
        </p:nvSpPr>
        <p:spPr>
          <a:xfrm>
            <a:off x="365760" y="573900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B3</a:t>
            </a:r>
          </a:p>
        </p:txBody>
      </p:sp>
      <p:sp>
        <p:nvSpPr>
          <p:cNvPr id="31" name="TextBox 30">
            <a:extLst>
              <a:ext uri="{FF2B5EF4-FFF2-40B4-BE49-F238E27FC236}">
                <a16:creationId xmlns:a16="http://schemas.microsoft.com/office/drawing/2014/main" id="{961707D9-0C41-F2B7-7D73-A1DD384860D8}"/>
              </a:ext>
            </a:extLst>
          </p:cNvPr>
          <p:cNvSpPr>
            <a:spLocks noGrp="1"/>
          </p:cNvSpPr>
          <p:nvPr/>
        </p:nvSpPr>
        <p:spPr>
          <a:xfrm>
            <a:off x="365760" y="588530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Banco do Brasil</a:t>
            </a:r>
          </a:p>
        </p:txBody>
      </p:sp>
      <p:sp>
        <p:nvSpPr>
          <p:cNvPr id="32" name="TextBox 31">
            <a:extLst>
              <a:ext uri="{FF2B5EF4-FFF2-40B4-BE49-F238E27FC236}">
                <a16:creationId xmlns:a16="http://schemas.microsoft.com/office/drawing/2014/main" id="{D1072C92-9EF3-51EC-9FA8-C812EB5B2B65}"/>
              </a:ext>
            </a:extLst>
          </p:cNvPr>
          <p:cNvSpPr>
            <a:spLocks noGrp="1"/>
          </p:cNvSpPr>
          <p:nvPr/>
        </p:nvSpPr>
        <p:spPr>
          <a:xfrm>
            <a:off x="365760" y="603161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BB Seguridade</a:t>
            </a:r>
          </a:p>
        </p:txBody>
      </p:sp>
      <p:sp>
        <p:nvSpPr>
          <p:cNvPr id="33" name="TextBox 32">
            <a:extLst>
              <a:ext uri="{FF2B5EF4-FFF2-40B4-BE49-F238E27FC236}">
                <a16:creationId xmlns:a16="http://schemas.microsoft.com/office/drawing/2014/main" id="{4537E35B-0594-2A2D-8580-FB9BA8CE0C84}"/>
              </a:ext>
            </a:extLst>
          </p:cNvPr>
          <p:cNvSpPr>
            <a:spLocks noGrp="1"/>
          </p:cNvSpPr>
          <p:nvPr/>
        </p:nvSpPr>
        <p:spPr>
          <a:xfrm>
            <a:off x="365760" y="617791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 Partners</a:t>
            </a:r>
          </a:p>
        </p:txBody>
      </p:sp>
      <p:sp>
        <p:nvSpPr>
          <p:cNvPr id="34" name="TextBox 33">
            <a:extLst>
              <a:ext uri="{FF2B5EF4-FFF2-40B4-BE49-F238E27FC236}">
                <a16:creationId xmlns:a16="http://schemas.microsoft.com/office/drawing/2014/main" id="{DEE225E4-03FF-ECB9-3BC2-C341FFC6A41F}"/>
              </a:ext>
            </a:extLst>
          </p:cNvPr>
          <p:cNvSpPr>
            <a:spLocks noGrp="1"/>
          </p:cNvSpPr>
          <p:nvPr/>
        </p:nvSpPr>
        <p:spPr>
          <a:xfrm>
            <a:off x="365760" y="632421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Bradesco</a:t>
            </a:r>
          </a:p>
        </p:txBody>
      </p:sp>
      <p:sp>
        <p:nvSpPr>
          <p:cNvPr id="35" name="TextBox 34">
            <a:extLst>
              <a:ext uri="{FF2B5EF4-FFF2-40B4-BE49-F238E27FC236}">
                <a16:creationId xmlns:a16="http://schemas.microsoft.com/office/drawing/2014/main" id="{14BD61E1-ABC1-D38E-0AFF-1C350E6F84EE}"/>
              </a:ext>
            </a:extLst>
          </p:cNvPr>
          <p:cNvSpPr>
            <a:spLocks noGrp="1"/>
          </p:cNvSpPr>
          <p:nvPr/>
        </p:nvSpPr>
        <p:spPr>
          <a:xfrm>
            <a:off x="365760" y="647052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Caixa Seguridade</a:t>
            </a:r>
          </a:p>
        </p:txBody>
      </p:sp>
      <p:sp>
        <p:nvSpPr>
          <p:cNvPr id="37" name="TextBox 36">
            <a:extLst>
              <a:ext uri="{FF2B5EF4-FFF2-40B4-BE49-F238E27FC236}">
                <a16:creationId xmlns:a16="http://schemas.microsoft.com/office/drawing/2014/main" id="{20F4021F-9AB6-2B31-D039-A86D6F726CF6}"/>
              </a:ext>
            </a:extLst>
          </p:cNvPr>
          <p:cNvSpPr>
            <a:spLocks noGrp="1"/>
          </p:cNvSpPr>
          <p:nvPr/>
        </p:nvSpPr>
        <p:spPr>
          <a:xfrm>
            <a:off x="4846320" y="4873752"/>
            <a:ext cx="2008717" cy="338554"/>
          </a:xfrm>
          <a:prstGeom prst="rect">
            <a:avLst/>
          </a:prstGeom>
          <a:noFill/>
        </p:spPr>
        <p:txBody>
          <a:bodyPr wrap="square">
            <a:spAutoFit/>
          </a:bodyPr>
          <a:lstStyle/>
          <a:p>
            <a:r>
              <a:rPr sz="1600" b="1" dirty="0">
                <a:solidFill>
                  <a:srgbClr val="8EB3DF"/>
                </a:solidFill>
                <a:latin typeface="+mj-lt"/>
                <a:ea typeface="+mj-lt"/>
                <a:cs typeface="+mj-lt"/>
              </a:rPr>
              <a:t>Utilities</a:t>
            </a:r>
          </a:p>
        </p:txBody>
      </p:sp>
      <p:sp>
        <p:nvSpPr>
          <p:cNvPr id="38" name="TextBox 37">
            <a:extLst>
              <a:ext uri="{FF2B5EF4-FFF2-40B4-BE49-F238E27FC236}">
                <a16:creationId xmlns:a16="http://schemas.microsoft.com/office/drawing/2014/main" id="{4FAE4773-DE61-286F-159E-33AFC3914DA8}"/>
              </a:ext>
            </a:extLst>
          </p:cNvPr>
          <p:cNvSpPr>
            <a:spLocks noGrp="1"/>
          </p:cNvSpPr>
          <p:nvPr/>
        </p:nvSpPr>
        <p:spPr>
          <a:xfrm>
            <a:off x="365760" y="661682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IRB(Re)</a:t>
            </a:r>
          </a:p>
        </p:txBody>
      </p:sp>
      <p:sp>
        <p:nvSpPr>
          <p:cNvPr id="39" name="TextBox 38">
            <a:extLst>
              <a:ext uri="{FF2B5EF4-FFF2-40B4-BE49-F238E27FC236}">
                <a16:creationId xmlns:a16="http://schemas.microsoft.com/office/drawing/2014/main" id="{81F5A239-ABD4-120B-E111-69060F3BCC79}"/>
              </a:ext>
            </a:extLst>
          </p:cNvPr>
          <p:cNvSpPr>
            <a:spLocks noGrp="1"/>
          </p:cNvSpPr>
          <p:nvPr/>
        </p:nvSpPr>
        <p:spPr>
          <a:xfrm>
            <a:off x="365760" y="676313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Itaú</a:t>
            </a:r>
          </a:p>
        </p:txBody>
      </p:sp>
      <p:sp>
        <p:nvSpPr>
          <p:cNvPr id="40" name="TextBox 39">
            <a:extLst>
              <a:ext uri="{FF2B5EF4-FFF2-40B4-BE49-F238E27FC236}">
                <a16:creationId xmlns:a16="http://schemas.microsoft.com/office/drawing/2014/main" id="{FDD7C58A-36F6-D8B4-03EA-4DD38AF48535}"/>
              </a:ext>
            </a:extLst>
          </p:cNvPr>
          <p:cNvSpPr>
            <a:spLocks noGrp="1"/>
          </p:cNvSpPr>
          <p:nvPr/>
        </p:nvSpPr>
        <p:spPr>
          <a:xfrm>
            <a:off x="365760" y="690943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Mercantil</a:t>
            </a:r>
          </a:p>
        </p:txBody>
      </p:sp>
      <p:sp>
        <p:nvSpPr>
          <p:cNvPr id="41" name="TextBox 40">
            <a:extLst>
              <a:ext uri="{FF2B5EF4-FFF2-40B4-BE49-F238E27FC236}">
                <a16:creationId xmlns:a16="http://schemas.microsoft.com/office/drawing/2014/main" id="{79D68C34-0FDA-2851-7228-B7F2FBB5136E}"/>
              </a:ext>
            </a:extLst>
          </p:cNvPr>
          <p:cNvSpPr>
            <a:spLocks noGrp="1"/>
          </p:cNvSpPr>
          <p:nvPr/>
        </p:nvSpPr>
        <p:spPr>
          <a:xfrm>
            <a:off x="365760" y="705573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Pine</a:t>
            </a:r>
          </a:p>
        </p:txBody>
      </p:sp>
      <p:sp>
        <p:nvSpPr>
          <p:cNvPr id="42" name="TextBox 41">
            <a:extLst>
              <a:ext uri="{FF2B5EF4-FFF2-40B4-BE49-F238E27FC236}">
                <a16:creationId xmlns:a16="http://schemas.microsoft.com/office/drawing/2014/main" id="{BC26BA4A-77CB-FCEC-D73D-42ECA5DA3803}"/>
              </a:ext>
            </a:extLst>
          </p:cNvPr>
          <p:cNvSpPr>
            <a:spLocks noGrp="1"/>
          </p:cNvSpPr>
          <p:nvPr/>
        </p:nvSpPr>
        <p:spPr>
          <a:xfrm>
            <a:off x="365760" y="720204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Stone</a:t>
            </a:r>
          </a:p>
        </p:txBody>
      </p:sp>
      <p:sp>
        <p:nvSpPr>
          <p:cNvPr id="43" name="TextBox 42">
            <a:extLst>
              <a:ext uri="{FF2B5EF4-FFF2-40B4-BE49-F238E27FC236}">
                <a16:creationId xmlns:a16="http://schemas.microsoft.com/office/drawing/2014/main" id="{B7755E2D-8C3C-F449-2397-7DA1E32E3222}"/>
              </a:ext>
            </a:extLst>
          </p:cNvPr>
          <p:cNvSpPr>
            <a:spLocks noGrp="1"/>
          </p:cNvSpPr>
          <p:nvPr/>
        </p:nvSpPr>
        <p:spPr>
          <a:xfrm>
            <a:off x="365760" y="734834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XP Inc.</a:t>
            </a:r>
          </a:p>
        </p:txBody>
      </p:sp>
      <p:sp>
        <p:nvSpPr>
          <p:cNvPr id="46" name="TextBox 45">
            <a:extLst>
              <a:ext uri="{FF2B5EF4-FFF2-40B4-BE49-F238E27FC236}">
                <a16:creationId xmlns:a16="http://schemas.microsoft.com/office/drawing/2014/main" id="{45FB9832-7730-D360-40BA-056BEE45A07B}"/>
              </a:ext>
            </a:extLst>
          </p:cNvPr>
          <p:cNvSpPr>
            <a:spLocks noGrp="1"/>
          </p:cNvSpPr>
          <p:nvPr/>
        </p:nvSpPr>
        <p:spPr>
          <a:xfrm>
            <a:off x="365760" y="79827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BradSaúde</a:t>
            </a:r>
          </a:p>
        </p:txBody>
      </p:sp>
      <p:sp>
        <p:nvSpPr>
          <p:cNvPr id="47" name="TextBox 46">
            <a:extLst>
              <a:ext uri="{FF2B5EF4-FFF2-40B4-BE49-F238E27FC236}">
                <a16:creationId xmlns:a16="http://schemas.microsoft.com/office/drawing/2014/main" id="{97C4C4F2-8102-AE62-5E12-499314A79C03}"/>
              </a:ext>
            </a:extLst>
          </p:cNvPr>
          <p:cNvSpPr>
            <a:spLocks noGrp="1"/>
          </p:cNvSpPr>
          <p:nvPr/>
        </p:nvSpPr>
        <p:spPr>
          <a:xfrm>
            <a:off x="2606040" y="1188720"/>
            <a:ext cx="2008717" cy="338554"/>
          </a:xfrm>
          <a:prstGeom prst="rect">
            <a:avLst/>
          </a:prstGeom>
          <a:noFill/>
        </p:spPr>
        <p:txBody>
          <a:bodyPr wrap="square">
            <a:spAutoFit/>
          </a:bodyPr>
          <a:lstStyle/>
          <a:p>
            <a:r>
              <a:rPr sz="1600" b="1" dirty="0">
                <a:solidFill>
                  <a:srgbClr val="8EB3DF"/>
                </a:solidFill>
                <a:latin typeface="+mj-lt"/>
                <a:ea typeface="+mj-lt"/>
                <a:cs typeface="+mj-lt"/>
              </a:rPr>
              <a:t>Metals &amp; Mining</a:t>
            </a:r>
          </a:p>
        </p:txBody>
      </p:sp>
      <p:sp>
        <p:nvSpPr>
          <p:cNvPr id="48" name="TextBox 47">
            <a:extLst>
              <a:ext uri="{FF2B5EF4-FFF2-40B4-BE49-F238E27FC236}">
                <a16:creationId xmlns:a16="http://schemas.microsoft.com/office/drawing/2014/main" id="{2203C2D9-09F9-415C-F1A2-02C03B51AA0D}"/>
              </a:ext>
            </a:extLst>
          </p:cNvPr>
          <p:cNvSpPr>
            <a:spLocks noGrp="1"/>
          </p:cNvSpPr>
          <p:nvPr/>
        </p:nvSpPr>
        <p:spPr>
          <a:xfrm>
            <a:off x="365760" y="81290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Dasa</a:t>
            </a:r>
          </a:p>
        </p:txBody>
      </p:sp>
      <p:sp>
        <p:nvSpPr>
          <p:cNvPr id="49" name="TextBox 48">
            <a:extLst>
              <a:ext uri="{FF2B5EF4-FFF2-40B4-BE49-F238E27FC236}">
                <a16:creationId xmlns:a16="http://schemas.microsoft.com/office/drawing/2014/main" id="{D6FA801E-46C8-E7CF-721A-DDF8A3BBBCB6}"/>
              </a:ext>
            </a:extLst>
          </p:cNvPr>
          <p:cNvSpPr>
            <a:spLocks noGrp="1"/>
          </p:cNvSpPr>
          <p:nvPr/>
        </p:nvSpPr>
        <p:spPr>
          <a:xfrm>
            <a:off x="365760" y="82753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Fleury</a:t>
            </a:r>
          </a:p>
        </p:txBody>
      </p:sp>
      <p:sp>
        <p:nvSpPr>
          <p:cNvPr id="50" name="TextBox 49">
            <a:extLst>
              <a:ext uri="{FF2B5EF4-FFF2-40B4-BE49-F238E27FC236}">
                <a16:creationId xmlns:a16="http://schemas.microsoft.com/office/drawing/2014/main" id="{170CE230-2736-A2D6-318C-0502E01DB632}"/>
              </a:ext>
            </a:extLst>
          </p:cNvPr>
          <p:cNvSpPr>
            <a:spLocks noGrp="1"/>
          </p:cNvSpPr>
          <p:nvPr/>
        </p:nvSpPr>
        <p:spPr>
          <a:xfrm>
            <a:off x="365760" y="84216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Hapvida</a:t>
            </a:r>
          </a:p>
        </p:txBody>
      </p:sp>
      <p:sp>
        <p:nvSpPr>
          <p:cNvPr id="51" name="TextBox 50">
            <a:extLst>
              <a:ext uri="{FF2B5EF4-FFF2-40B4-BE49-F238E27FC236}">
                <a16:creationId xmlns:a16="http://schemas.microsoft.com/office/drawing/2014/main" id="{D8ABE4C8-B2A8-CAEB-E6CA-E3F643298A11}"/>
              </a:ext>
            </a:extLst>
          </p:cNvPr>
          <p:cNvSpPr>
            <a:spLocks noGrp="1"/>
          </p:cNvSpPr>
          <p:nvPr/>
        </p:nvSpPr>
        <p:spPr>
          <a:xfrm>
            <a:off x="365760" y="856792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Hypera</a:t>
            </a:r>
          </a:p>
        </p:txBody>
      </p:sp>
      <p:sp>
        <p:nvSpPr>
          <p:cNvPr id="52" name="TextBox 51">
            <a:extLst>
              <a:ext uri="{FF2B5EF4-FFF2-40B4-BE49-F238E27FC236}">
                <a16:creationId xmlns:a16="http://schemas.microsoft.com/office/drawing/2014/main" id="{6B9DCC3B-61F7-FEA1-2B9C-A9F5145E947F}"/>
              </a:ext>
            </a:extLst>
          </p:cNvPr>
          <p:cNvSpPr>
            <a:spLocks noGrp="1"/>
          </p:cNvSpPr>
          <p:nvPr/>
        </p:nvSpPr>
        <p:spPr>
          <a:xfrm>
            <a:off x="365760" y="871423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Mater Dei</a:t>
            </a:r>
          </a:p>
        </p:txBody>
      </p:sp>
      <p:sp>
        <p:nvSpPr>
          <p:cNvPr id="54" name="TextBox 53">
            <a:extLst>
              <a:ext uri="{FF2B5EF4-FFF2-40B4-BE49-F238E27FC236}">
                <a16:creationId xmlns:a16="http://schemas.microsoft.com/office/drawing/2014/main" id="{74B916A4-C080-535A-49F3-9445317E7104}"/>
              </a:ext>
            </a:extLst>
          </p:cNvPr>
          <p:cNvSpPr>
            <a:spLocks noGrp="1"/>
          </p:cNvSpPr>
          <p:nvPr/>
        </p:nvSpPr>
        <p:spPr>
          <a:xfrm>
            <a:off x="2606040" y="1888010"/>
            <a:ext cx="2008717" cy="338554"/>
          </a:xfrm>
          <a:prstGeom prst="rect">
            <a:avLst/>
          </a:prstGeom>
          <a:noFill/>
        </p:spPr>
        <p:txBody>
          <a:bodyPr wrap="square">
            <a:spAutoFit/>
          </a:bodyPr>
          <a:lstStyle/>
          <a:p>
            <a:r>
              <a:rPr sz="1600" b="1">
                <a:solidFill>
                  <a:srgbClr val="8EB3DF"/>
                </a:solidFill>
                <a:latin typeface="+mj-lt"/>
                <a:ea typeface="+mj-lt"/>
                <a:cs typeface="+mj-lt"/>
              </a:rPr>
              <a:t>Oil &amp; Gas</a:t>
            </a:r>
          </a:p>
        </p:txBody>
      </p:sp>
      <p:sp>
        <p:nvSpPr>
          <p:cNvPr id="55" name="TextBox 54">
            <a:extLst>
              <a:ext uri="{FF2B5EF4-FFF2-40B4-BE49-F238E27FC236}">
                <a16:creationId xmlns:a16="http://schemas.microsoft.com/office/drawing/2014/main" id="{4DB670CA-E9B1-BA9F-6215-0BEFAB767ED9}"/>
              </a:ext>
            </a:extLst>
          </p:cNvPr>
          <p:cNvSpPr>
            <a:spLocks noGrp="1"/>
          </p:cNvSpPr>
          <p:nvPr/>
        </p:nvSpPr>
        <p:spPr>
          <a:xfrm>
            <a:off x="365760" y="886053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Rede D'Or</a:t>
            </a:r>
          </a:p>
        </p:txBody>
      </p:sp>
      <p:sp>
        <p:nvSpPr>
          <p:cNvPr id="56" name="TextBox 55">
            <a:extLst>
              <a:ext uri="{FF2B5EF4-FFF2-40B4-BE49-F238E27FC236}">
                <a16:creationId xmlns:a16="http://schemas.microsoft.com/office/drawing/2014/main" id="{B45D8185-381D-3841-650D-3B3BEDAAD35D}"/>
              </a:ext>
            </a:extLst>
          </p:cNvPr>
          <p:cNvSpPr>
            <a:spLocks noGrp="1"/>
          </p:cNvSpPr>
          <p:nvPr/>
        </p:nvSpPr>
        <p:spPr>
          <a:xfrm>
            <a:off x="365760" y="900684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União Química</a:t>
            </a:r>
          </a:p>
        </p:txBody>
      </p:sp>
      <p:sp>
        <p:nvSpPr>
          <p:cNvPr id="60" name="TextBox 59">
            <a:extLst>
              <a:ext uri="{FF2B5EF4-FFF2-40B4-BE49-F238E27FC236}">
                <a16:creationId xmlns:a16="http://schemas.microsoft.com/office/drawing/2014/main" id="{E378122B-D268-E2E4-95D5-829AD1E7C9F7}"/>
              </a:ext>
            </a:extLst>
          </p:cNvPr>
          <p:cNvSpPr>
            <a:spLocks noGrp="1"/>
          </p:cNvSpPr>
          <p:nvPr/>
        </p:nvSpPr>
        <p:spPr>
          <a:xfrm>
            <a:off x="365760" y="359244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WEG</a:t>
            </a:r>
          </a:p>
        </p:txBody>
      </p:sp>
      <p:sp>
        <p:nvSpPr>
          <p:cNvPr id="61" name="TextBox 60">
            <a:extLst>
              <a:ext uri="{FF2B5EF4-FFF2-40B4-BE49-F238E27FC236}">
                <a16:creationId xmlns:a16="http://schemas.microsoft.com/office/drawing/2014/main" id="{2E2E103C-618D-7F3A-7EE8-9E4E5782C5E0}"/>
              </a:ext>
            </a:extLst>
          </p:cNvPr>
          <p:cNvSpPr>
            <a:spLocks noGrp="1"/>
          </p:cNvSpPr>
          <p:nvPr/>
        </p:nvSpPr>
        <p:spPr>
          <a:xfrm>
            <a:off x="4846320" y="51800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Aegea</a:t>
            </a:r>
          </a:p>
        </p:txBody>
      </p:sp>
      <p:sp>
        <p:nvSpPr>
          <p:cNvPr id="62" name="TextBox 61">
            <a:extLst>
              <a:ext uri="{FF2B5EF4-FFF2-40B4-BE49-F238E27FC236}">
                <a16:creationId xmlns:a16="http://schemas.microsoft.com/office/drawing/2014/main" id="{5DC76699-C7B0-B654-FF40-4A4E41368E6C}"/>
              </a:ext>
            </a:extLst>
          </p:cNvPr>
          <p:cNvSpPr>
            <a:spLocks noGrp="1"/>
          </p:cNvSpPr>
          <p:nvPr/>
        </p:nvSpPr>
        <p:spPr>
          <a:xfrm>
            <a:off x="4846320" y="5326380"/>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Auren</a:t>
            </a:r>
          </a:p>
        </p:txBody>
      </p:sp>
      <p:sp>
        <p:nvSpPr>
          <p:cNvPr id="63" name="TextBox 62">
            <a:extLst>
              <a:ext uri="{FF2B5EF4-FFF2-40B4-BE49-F238E27FC236}">
                <a16:creationId xmlns:a16="http://schemas.microsoft.com/office/drawing/2014/main" id="{B1C7FAA4-CD9A-2895-15CA-9D9DF3BA393E}"/>
              </a:ext>
            </a:extLst>
          </p:cNvPr>
          <p:cNvSpPr>
            <a:spLocks noGrp="1"/>
          </p:cNvSpPr>
          <p:nvPr/>
        </p:nvSpPr>
        <p:spPr>
          <a:xfrm>
            <a:off x="4846320" y="54726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a:t>
            </a:r>
            <a:r>
              <a:rPr lang="pt-BR" sz="900" b="1" dirty="0" err="1">
                <a:solidFill>
                  <a:schemeClr val="bg1"/>
                </a:solidFill>
                <a:latin typeface="+mj-lt"/>
                <a:ea typeface="+mj-lt"/>
                <a:cs typeface="+mj-lt"/>
              </a:rPr>
              <a:t>xia</a:t>
            </a:r>
            <a:r>
              <a:rPr lang="pt-BR" sz="900" b="1" dirty="0">
                <a:solidFill>
                  <a:schemeClr val="bg1"/>
                </a:solidFill>
                <a:latin typeface="+mj-lt"/>
                <a:ea typeface="+mj-lt"/>
                <a:cs typeface="+mj-lt"/>
              </a:rPr>
              <a:t> Energia</a:t>
            </a:r>
            <a:endParaRPr sz="900" b="1" dirty="0">
              <a:solidFill>
                <a:schemeClr val="bg1"/>
              </a:solidFill>
              <a:latin typeface="+mj-lt"/>
              <a:ea typeface="+mj-lt"/>
              <a:cs typeface="+mj-lt"/>
            </a:endParaRPr>
          </a:p>
        </p:txBody>
      </p:sp>
      <p:sp>
        <p:nvSpPr>
          <p:cNvPr id="2" name="TextBox 1">
            <a:extLst>
              <a:ext uri="{FF2B5EF4-FFF2-40B4-BE49-F238E27FC236}">
                <a16:creationId xmlns:a16="http://schemas.microsoft.com/office/drawing/2014/main" id="{B7FE9BD1-D3D6-EAFC-355A-83F004C9F4AF}"/>
              </a:ext>
            </a:extLst>
          </p:cNvPr>
          <p:cNvSpPr>
            <a:spLocks noGrp="1"/>
          </p:cNvSpPr>
          <p:nvPr/>
        </p:nvSpPr>
        <p:spPr>
          <a:xfrm>
            <a:off x="2606040" y="3286125"/>
            <a:ext cx="2008717" cy="338554"/>
          </a:xfrm>
          <a:prstGeom prst="rect">
            <a:avLst/>
          </a:prstGeom>
          <a:noFill/>
        </p:spPr>
        <p:txBody>
          <a:bodyPr wrap="square">
            <a:spAutoFit/>
          </a:bodyPr>
          <a:lstStyle/>
          <a:p>
            <a:r>
              <a:rPr sz="1600" b="1">
                <a:solidFill>
                  <a:srgbClr val="8EB3DF"/>
                </a:solidFill>
                <a:latin typeface="+mj-lt"/>
                <a:ea typeface="+mj-lt"/>
                <a:cs typeface="+mj-lt"/>
              </a:rPr>
              <a:t>Pulp &amp; Paper</a:t>
            </a:r>
          </a:p>
        </p:txBody>
      </p:sp>
      <p:sp>
        <p:nvSpPr>
          <p:cNvPr id="4" name="TextBox 3">
            <a:extLst>
              <a:ext uri="{FF2B5EF4-FFF2-40B4-BE49-F238E27FC236}">
                <a16:creationId xmlns:a16="http://schemas.microsoft.com/office/drawing/2014/main" id="{3FC7AB02-EB46-1E65-A5CC-457F57C003FF}"/>
              </a:ext>
            </a:extLst>
          </p:cNvPr>
          <p:cNvSpPr>
            <a:spLocks noGrp="1"/>
          </p:cNvSpPr>
          <p:nvPr/>
        </p:nvSpPr>
        <p:spPr>
          <a:xfrm>
            <a:off x="4846320" y="5618988"/>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Cemig</a:t>
            </a:r>
            <a:endParaRPr sz="900" b="1" dirty="0">
              <a:solidFill>
                <a:schemeClr val="bg1"/>
              </a:solidFill>
              <a:latin typeface="+mj-lt"/>
              <a:ea typeface="+mj-lt"/>
              <a:cs typeface="+mj-lt"/>
            </a:endParaRPr>
          </a:p>
        </p:txBody>
      </p:sp>
      <p:sp>
        <p:nvSpPr>
          <p:cNvPr id="53" name="TextBox 52">
            <a:extLst>
              <a:ext uri="{FF2B5EF4-FFF2-40B4-BE49-F238E27FC236}">
                <a16:creationId xmlns:a16="http://schemas.microsoft.com/office/drawing/2014/main" id="{8693FCA1-33DA-2389-A407-9268B379F67F}"/>
              </a:ext>
            </a:extLst>
          </p:cNvPr>
          <p:cNvSpPr>
            <a:spLocks noGrp="1"/>
          </p:cNvSpPr>
          <p:nvPr/>
        </p:nvSpPr>
        <p:spPr>
          <a:xfrm>
            <a:off x="2606040" y="3955426"/>
            <a:ext cx="2008717" cy="338554"/>
          </a:xfrm>
          <a:prstGeom prst="rect">
            <a:avLst/>
          </a:prstGeom>
          <a:noFill/>
        </p:spPr>
        <p:txBody>
          <a:bodyPr wrap="square">
            <a:spAutoFit/>
          </a:bodyPr>
          <a:lstStyle/>
          <a:p>
            <a:r>
              <a:rPr sz="1600" b="1">
                <a:solidFill>
                  <a:srgbClr val="8EB3DF"/>
                </a:solidFill>
                <a:latin typeface="+mj-lt"/>
                <a:ea typeface="+mj-lt"/>
                <a:cs typeface="+mj-lt"/>
              </a:rPr>
              <a:t>Real Estate</a:t>
            </a:r>
          </a:p>
        </p:txBody>
      </p:sp>
      <p:sp>
        <p:nvSpPr>
          <p:cNvPr id="58" name="TextBox 57">
            <a:extLst>
              <a:ext uri="{FF2B5EF4-FFF2-40B4-BE49-F238E27FC236}">
                <a16:creationId xmlns:a16="http://schemas.microsoft.com/office/drawing/2014/main" id="{49E6FB3C-C061-4CD1-DFB0-3FA8969CBB99}"/>
              </a:ext>
            </a:extLst>
          </p:cNvPr>
          <p:cNvSpPr>
            <a:spLocks noGrp="1"/>
          </p:cNvSpPr>
          <p:nvPr/>
        </p:nvSpPr>
        <p:spPr>
          <a:xfrm>
            <a:off x="4846320" y="591159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Copasa</a:t>
            </a:r>
          </a:p>
        </p:txBody>
      </p:sp>
      <p:sp>
        <p:nvSpPr>
          <p:cNvPr id="59" name="TextBox 58">
            <a:extLst>
              <a:ext uri="{FF2B5EF4-FFF2-40B4-BE49-F238E27FC236}">
                <a16:creationId xmlns:a16="http://schemas.microsoft.com/office/drawing/2014/main" id="{A4645B2A-0B5C-628D-46D6-03F0EE2CD46B}"/>
              </a:ext>
            </a:extLst>
          </p:cNvPr>
          <p:cNvSpPr>
            <a:spLocks noGrp="1"/>
          </p:cNvSpPr>
          <p:nvPr/>
        </p:nvSpPr>
        <p:spPr>
          <a:xfrm>
            <a:off x="4846320" y="605790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Copel</a:t>
            </a:r>
          </a:p>
        </p:txBody>
      </p:sp>
      <p:sp>
        <p:nvSpPr>
          <p:cNvPr id="64" name="TextBox 63">
            <a:extLst>
              <a:ext uri="{FF2B5EF4-FFF2-40B4-BE49-F238E27FC236}">
                <a16:creationId xmlns:a16="http://schemas.microsoft.com/office/drawing/2014/main" id="{3C3080D9-0C55-0798-37A9-609183CE5DB5}"/>
              </a:ext>
            </a:extLst>
          </p:cNvPr>
          <p:cNvSpPr>
            <a:spLocks noGrp="1"/>
          </p:cNvSpPr>
          <p:nvPr/>
        </p:nvSpPr>
        <p:spPr>
          <a:xfrm>
            <a:off x="4846320" y="620420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Energisa</a:t>
            </a:r>
          </a:p>
        </p:txBody>
      </p:sp>
      <p:sp>
        <p:nvSpPr>
          <p:cNvPr id="65" name="TextBox 64">
            <a:extLst>
              <a:ext uri="{FF2B5EF4-FFF2-40B4-BE49-F238E27FC236}">
                <a16:creationId xmlns:a16="http://schemas.microsoft.com/office/drawing/2014/main" id="{72896531-3244-9CC7-73E6-3973171B0F33}"/>
              </a:ext>
            </a:extLst>
          </p:cNvPr>
          <p:cNvSpPr>
            <a:spLocks noGrp="1"/>
          </p:cNvSpPr>
          <p:nvPr/>
        </p:nvSpPr>
        <p:spPr>
          <a:xfrm>
            <a:off x="4846320" y="635050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Engie</a:t>
            </a:r>
          </a:p>
        </p:txBody>
      </p:sp>
      <p:sp>
        <p:nvSpPr>
          <p:cNvPr id="66" name="TextBox 65">
            <a:extLst>
              <a:ext uri="{FF2B5EF4-FFF2-40B4-BE49-F238E27FC236}">
                <a16:creationId xmlns:a16="http://schemas.microsoft.com/office/drawing/2014/main" id="{89138027-E87B-8D88-BDB5-C92598B62E1D}"/>
              </a:ext>
            </a:extLst>
          </p:cNvPr>
          <p:cNvSpPr>
            <a:spLocks noGrp="1"/>
          </p:cNvSpPr>
          <p:nvPr/>
        </p:nvSpPr>
        <p:spPr>
          <a:xfrm>
            <a:off x="4846320" y="64968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Equatorial</a:t>
            </a:r>
          </a:p>
        </p:txBody>
      </p:sp>
      <p:sp>
        <p:nvSpPr>
          <p:cNvPr id="67" name="TextBox 66">
            <a:extLst>
              <a:ext uri="{FF2B5EF4-FFF2-40B4-BE49-F238E27FC236}">
                <a16:creationId xmlns:a16="http://schemas.microsoft.com/office/drawing/2014/main" id="{F00CE533-F996-B427-2E1D-D9A8E8C045EF}"/>
              </a:ext>
            </a:extLst>
          </p:cNvPr>
          <p:cNvSpPr>
            <a:spLocks noGrp="1"/>
          </p:cNvSpPr>
          <p:nvPr/>
        </p:nvSpPr>
        <p:spPr>
          <a:xfrm>
            <a:off x="4846320" y="66431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Light</a:t>
            </a:r>
          </a:p>
        </p:txBody>
      </p:sp>
      <p:sp>
        <p:nvSpPr>
          <p:cNvPr id="68" name="TextBox 67">
            <a:extLst>
              <a:ext uri="{FF2B5EF4-FFF2-40B4-BE49-F238E27FC236}">
                <a16:creationId xmlns:a16="http://schemas.microsoft.com/office/drawing/2014/main" id="{B0DFA29A-D090-8777-7E6F-814419912EB5}"/>
              </a:ext>
            </a:extLst>
          </p:cNvPr>
          <p:cNvSpPr>
            <a:spLocks noGrp="1"/>
          </p:cNvSpPr>
          <p:nvPr/>
        </p:nvSpPr>
        <p:spPr>
          <a:xfrm>
            <a:off x="4846320" y="67894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Orizon</a:t>
            </a:r>
          </a:p>
        </p:txBody>
      </p:sp>
      <p:sp>
        <p:nvSpPr>
          <p:cNvPr id="69" name="TextBox 68">
            <a:extLst>
              <a:ext uri="{FF2B5EF4-FFF2-40B4-BE49-F238E27FC236}">
                <a16:creationId xmlns:a16="http://schemas.microsoft.com/office/drawing/2014/main" id="{5E395965-B5B6-318A-DF93-7F68D6233802}"/>
              </a:ext>
            </a:extLst>
          </p:cNvPr>
          <p:cNvSpPr>
            <a:spLocks noGrp="1"/>
          </p:cNvSpPr>
          <p:nvPr/>
        </p:nvSpPr>
        <p:spPr>
          <a:xfrm>
            <a:off x="4846320" y="69357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Taesa</a:t>
            </a:r>
          </a:p>
        </p:txBody>
      </p:sp>
      <p:sp>
        <p:nvSpPr>
          <p:cNvPr id="70" name="TextBox 69">
            <a:extLst>
              <a:ext uri="{FF2B5EF4-FFF2-40B4-BE49-F238E27FC236}">
                <a16:creationId xmlns:a16="http://schemas.microsoft.com/office/drawing/2014/main" id="{17232527-EEBE-B07D-9BC4-26FE4264472F}"/>
              </a:ext>
            </a:extLst>
          </p:cNvPr>
          <p:cNvSpPr>
            <a:spLocks noGrp="1"/>
          </p:cNvSpPr>
          <p:nvPr/>
        </p:nvSpPr>
        <p:spPr>
          <a:xfrm>
            <a:off x="260604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CSN</a:t>
            </a:r>
          </a:p>
        </p:txBody>
      </p:sp>
      <p:sp>
        <p:nvSpPr>
          <p:cNvPr id="72" name="TextBox 71">
            <a:extLst>
              <a:ext uri="{FF2B5EF4-FFF2-40B4-BE49-F238E27FC236}">
                <a16:creationId xmlns:a16="http://schemas.microsoft.com/office/drawing/2014/main" id="{EF8467F2-80DC-373D-8287-706E25BCADB0}"/>
              </a:ext>
            </a:extLst>
          </p:cNvPr>
          <p:cNvSpPr>
            <a:spLocks noGrp="1"/>
          </p:cNvSpPr>
          <p:nvPr/>
        </p:nvSpPr>
        <p:spPr>
          <a:xfrm>
            <a:off x="2606040" y="6115214"/>
            <a:ext cx="2008717" cy="338554"/>
          </a:xfrm>
          <a:prstGeom prst="rect">
            <a:avLst/>
          </a:prstGeom>
          <a:noFill/>
        </p:spPr>
        <p:txBody>
          <a:bodyPr wrap="square">
            <a:spAutoFit/>
          </a:bodyPr>
          <a:lstStyle/>
          <a:p>
            <a:r>
              <a:rPr sz="1600" b="1">
                <a:solidFill>
                  <a:srgbClr val="8EB3DF"/>
                </a:solidFill>
                <a:latin typeface="+mj-lt"/>
                <a:ea typeface="+mj-lt"/>
                <a:cs typeface="+mj-lt"/>
              </a:rPr>
              <a:t>Retail</a:t>
            </a:r>
          </a:p>
        </p:txBody>
      </p:sp>
      <p:sp>
        <p:nvSpPr>
          <p:cNvPr id="73" name="TextBox 72">
            <a:extLst>
              <a:ext uri="{FF2B5EF4-FFF2-40B4-BE49-F238E27FC236}">
                <a16:creationId xmlns:a16="http://schemas.microsoft.com/office/drawing/2014/main" id="{058BA303-48E7-7D53-B5F6-32E67216E08E}"/>
              </a:ext>
            </a:extLst>
          </p:cNvPr>
          <p:cNvSpPr>
            <a:spLocks noGrp="1"/>
          </p:cNvSpPr>
          <p:nvPr/>
        </p:nvSpPr>
        <p:spPr>
          <a:xfrm>
            <a:off x="260604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Vale</a:t>
            </a:r>
          </a:p>
        </p:txBody>
      </p:sp>
      <p:sp>
        <p:nvSpPr>
          <p:cNvPr id="74" name="TextBox 73">
            <a:extLst>
              <a:ext uri="{FF2B5EF4-FFF2-40B4-BE49-F238E27FC236}">
                <a16:creationId xmlns:a16="http://schemas.microsoft.com/office/drawing/2014/main" id="{EFD498B7-42B9-8C40-F340-AB48FCE47799}"/>
              </a:ext>
            </a:extLst>
          </p:cNvPr>
          <p:cNvSpPr>
            <a:spLocks noGrp="1"/>
          </p:cNvSpPr>
          <p:nvPr/>
        </p:nvSpPr>
        <p:spPr>
          <a:xfrm>
            <a:off x="2606040" y="219433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Brava</a:t>
            </a:r>
          </a:p>
        </p:txBody>
      </p:sp>
      <p:sp>
        <p:nvSpPr>
          <p:cNvPr id="76" name="TextBox 75">
            <a:extLst>
              <a:ext uri="{FF2B5EF4-FFF2-40B4-BE49-F238E27FC236}">
                <a16:creationId xmlns:a16="http://schemas.microsoft.com/office/drawing/2014/main" id="{C851A0A4-C990-FFA4-A6DE-B137D96102F9}"/>
              </a:ext>
            </a:extLst>
          </p:cNvPr>
          <p:cNvSpPr>
            <a:spLocks noGrp="1"/>
          </p:cNvSpPr>
          <p:nvPr/>
        </p:nvSpPr>
        <p:spPr>
          <a:xfrm>
            <a:off x="2606040" y="23406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Origem</a:t>
            </a:r>
          </a:p>
        </p:txBody>
      </p:sp>
      <p:sp>
        <p:nvSpPr>
          <p:cNvPr id="77" name="TextBox 76">
            <a:extLst>
              <a:ext uri="{FF2B5EF4-FFF2-40B4-BE49-F238E27FC236}">
                <a16:creationId xmlns:a16="http://schemas.microsoft.com/office/drawing/2014/main" id="{CFE7F5A9-CF19-A968-5974-31ECABAF1AC9}"/>
              </a:ext>
            </a:extLst>
          </p:cNvPr>
          <p:cNvSpPr>
            <a:spLocks noGrp="1"/>
          </p:cNvSpPr>
          <p:nvPr/>
        </p:nvSpPr>
        <p:spPr>
          <a:xfrm>
            <a:off x="2606040" y="24869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Petrobras</a:t>
            </a:r>
          </a:p>
        </p:txBody>
      </p:sp>
      <p:sp>
        <p:nvSpPr>
          <p:cNvPr id="78" name="TextBox 77">
            <a:extLst>
              <a:ext uri="{FF2B5EF4-FFF2-40B4-BE49-F238E27FC236}">
                <a16:creationId xmlns:a16="http://schemas.microsoft.com/office/drawing/2014/main" id="{0B8DDF99-977B-E8B7-5F87-9C2DF5202137}"/>
              </a:ext>
            </a:extLst>
          </p:cNvPr>
          <p:cNvSpPr>
            <a:spLocks noGrp="1"/>
          </p:cNvSpPr>
          <p:nvPr/>
        </p:nvSpPr>
        <p:spPr>
          <a:xfrm>
            <a:off x="2606040" y="26332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PetroRecôncavo</a:t>
            </a:r>
          </a:p>
        </p:txBody>
      </p:sp>
      <p:sp>
        <p:nvSpPr>
          <p:cNvPr id="79" name="TextBox 78">
            <a:extLst>
              <a:ext uri="{FF2B5EF4-FFF2-40B4-BE49-F238E27FC236}">
                <a16:creationId xmlns:a16="http://schemas.microsoft.com/office/drawing/2014/main" id="{C233E533-673B-AD43-284D-57A00772691F}"/>
              </a:ext>
            </a:extLst>
          </p:cNvPr>
          <p:cNvSpPr>
            <a:spLocks noGrp="1"/>
          </p:cNvSpPr>
          <p:nvPr/>
        </p:nvSpPr>
        <p:spPr>
          <a:xfrm>
            <a:off x="2606040" y="27795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PRIO</a:t>
            </a:r>
          </a:p>
        </p:txBody>
      </p:sp>
      <p:sp>
        <p:nvSpPr>
          <p:cNvPr id="80" name="TextBox 79">
            <a:extLst>
              <a:ext uri="{FF2B5EF4-FFF2-40B4-BE49-F238E27FC236}">
                <a16:creationId xmlns:a16="http://schemas.microsoft.com/office/drawing/2014/main" id="{714A9E72-719B-08B3-D493-F8BC1E423C60}"/>
              </a:ext>
            </a:extLst>
          </p:cNvPr>
          <p:cNvSpPr>
            <a:spLocks noGrp="1"/>
          </p:cNvSpPr>
          <p:nvPr/>
        </p:nvSpPr>
        <p:spPr>
          <a:xfrm>
            <a:off x="2606040" y="29258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Ultra</a:t>
            </a:r>
          </a:p>
        </p:txBody>
      </p:sp>
      <p:sp>
        <p:nvSpPr>
          <p:cNvPr id="81" name="TextBox 80">
            <a:extLst>
              <a:ext uri="{FF2B5EF4-FFF2-40B4-BE49-F238E27FC236}">
                <a16:creationId xmlns:a16="http://schemas.microsoft.com/office/drawing/2014/main" id="{CA18C3C5-A413-494D-DA5F-137BD2C592B3}"/>
              </a:ext>
            </a:extLst>
          </p:cNvPr>
          <p:cNvSpPr>
            <a:spLocks noGrp="1"/>
          </p:cNvSpPr>
          <p:nvPr/>
        </p:nvSpPr>
        <p:spPr>
          <a:xfrm>
            <a:off x="2606040" y="30721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Vibra</a:t>
            </a:r>
          </a:p>
        </p:txBody>
      </p:sp>
      <p:sp>
        <p:nvSpPr>
          <p:cNvPr id="82" name="TextBox 81">
            <a:extLst>
              <a:ext uri="{FF2B5EF4-FFF2-40B4-BE49-F238E27FC236}">
                <a16:creationId xmlns:a16="http://schemas.microsoft.com/office/drawing/2014/main" id="{F879602E-D67B-2D39-D270-FE957939CA23}"/>
              </a:ext>
            </a:extLst>
          </p:cNvPr>
          <p:cNvSpPr>
            <a:spLocks noGrp="1"/>
          </p:cNvSpPr>
          <p:nvPr/>
        </p:nvSpPr>
        <p:spPr>
          <a:xfrm>
            <a:off x="2606040" y="3592449"/>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Klabin</a:t>
            </a:r>
          </a:p>
        </p:txBody>
      </p:sp>
      <p:sp>
        <p:nvSpPr>
          <p:cNvPr id="83" name="TextBox 82">
            <a:extLst>
              <a:ext uri="{FF2B5EF4-FFF2-40B4-BE49-F238E27FC236}">
                <a16:creationId xmlns:a16="http://schemas.microsoft.com/office/drawing/2014/main" id="{2C7B66D0-5298-0B63-A4F1-5DF002440421}"/>
              </a:ext>
            </a:extLst>
          </p:cNvPr>
          <p:cNvSpPr>
            <a:spLocks noGrp="1"/>
          </p:cNvSpPr>
          <p:nvPr/>
        </p:nvSpPr>
        <p:spPr>
          <a:xfrm>
            <a:off x="2606040" y="373875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Suzano</a:t>
            </a:r>
          </a:p>
        </p:txBody>
      </p:sp>
      <p:sp>
        <p:nvSpPr>
          <p:cNvPr id="84" name="TextBox 83">
            <a:extLst>
              <a:ext uri="{FF2B5EF4-FFF2-40B4-BE49-F238E27FC236}">
                <a16:creationId xmlns:a16="http://schemas.microsoft.com/office/drawing/2014/main" id="{49E4E2B0-973D-D93B-8B5F-0617BDFF3355}"/>
              </a:ext>
            </a:extLst>
          </p:cNvPr>
          <p:cNvSpPr>
            <a:spLocks noGrp="1"/>
          </p:cNvSpPr>
          <p:nvPr/>
        </p:nvSpPr>
        <p:spPr>
          <a:xfrm>
            <a:off x="2606040" y="42617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Allos</a:t>
            </a:r>
          </a:p>
        </p:txBody>
      </p:sp>
      <p:sp>
        <p:nvSpPr>
          <p:cNvPr id="85" name="TextBox 84">
            <a:extLst>
              <a:ext uri="{FF2B5EF4-FFF2-40B4-BE49-F238E27FC236}">
                <a16:creationId xmlns:a16="http://schemas.microsoft.com/office/drawing/2014/main" id="{A3BBB7B1-7A1C-A8FD-A973-F6B5496F4F82}"/>
              </a:ext>
            </a:extLst>
          </p:cNvPr>
          <p:cNvSpPr>
            <a:spLocks noGrp="1"/>
          </p:cNvSpPr>
          <p:nvPr/>
        </p:nvSpPr>
        <p:spPr>
          <a:xfrm>
            <a:off x="2606040" y="44080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Cury</a:t>
            </a:r>
          </a:p>
        </p:txBody>
      </p:sp>
      <p:sp>
        <p:nvSpPr>
          <p:cNvPr id="86" name="TextBox 85">
            <a:extLst>
              <a:ext uri="{FF2B5EF4-FFF2-40B4-BE49-F238E27FC236}">
                <a16:creationId xmlns:a16="http://schemas.microsoft.com/office/drawing/2014/main" id="{0397B395-7C6E-8796-41AB-D950F4CD046C}"/>
              </a:ext>
            </a:extLst>
          </p:cNvPr>
          <p:cNvSpPr>
            <a:spLocks noGrp="1"/>
          </p:cNvSpPr>
          <p:nvPr/>
        </p:nvSpPr>
        <p:spPr>
          <a:xfrm>
            <a:off x="4846320" y="1188720"/>
            <a:ext cx="2008717" cy="338554"/>
          </a:xfrm>
          <a:prstGeom prst="rect">
            <a:avLst/>
          </a:prstGeom>
          <a:noFill/>
        </p:spPr>
        <p:txBody>
          <a:bodyPr wrap="square">
            <a:spAutoFit/>
          </a:bodyPr>
          <a:lstStyle/>
          <a:p>
            <a:r>
              <a:rPr sz="1600" b="1" dirty="0">
                <a:solidFill>
                  <a:srgbClr val="8EB3DF"/>
                </a:solidFill>
                <a:latin typeface="+mj-lt"/>
                <a:ea typeface="+mj-lt"/>
                <a:cs typeface="+mj-lt"/>
              </a:rPr>
              <a:t>TMT</a:t>
            </a:r>
          </a:p>
        </p:txBody>
      </p:sp>
      <p:sp>
        <p:nvSpPr>
          <p:cNvPr id="87" name="TextBox 86">
            <a:extLst>
              <a:ext uri="{FF2B5EF4-FFF2-40B4-BE49-F238E27FC236}">
                <a16:creationId xmlns:a16="http://schemas.microsoft.com/office/drawing/2014/main" id="{41D30E5F-F79A-4BA6-D6D8-126051331A43}"/>
              </a:ext>
            </a:extLst>
          </p:cNvPr>
          <p:cNvSpPr>
            <a:spLocks noGrp="1"/>
          </p:cNvSpPr>
          <p:nvPr/>
        </p:nvSpPr>
        <p:spPr>
          <a:xfrm>
            <a:off x="2606040" y="45543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Cyrela</a:t>
            </a:r>
          </a:p>
        </p:txBody>
      </p:sp>
      <p:sp>
        <p:nvSpPr>
          <p:cNvPr id="88" name="TextBox 87">
            <a:extLst>
              <a:ext uri="{FF2B5EF4-FFF2-40B4-BE49-F238E27FC236}">
                <a16:creationId xmlns:a16="http://schemas.microsoft.com/office/drawing/2014/main" id="{A6D41F3C-6C2E-CEAA-7340-7B94498C9852}"/>
              </a:ext>
            </a:extLst>
          </p:cNvPr>
          <p:cNvSpPr>
            <a:spLocks noGrp="1"/>
          </p:cNvSpPr>
          <p:nvPr/>
        </p:nvSpPr>
        <p:spPr>
          <a:xfrm>
            <a:off x="2606040" y="47006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Direcional</a:t>
            </a:r>
          </a:p>
        </p:txBody>
      </p:sp>
      <p:sp>
        <p:nvSpPr>
          <p:cNvPr id="89" name="TextBox 88">
            <a:extLst>
              <a:ext uri="{FF2B5EF4-FFF2-40B4-BE49-F238E27FC236}">
                <a16:creationId xmlns:a16="http://schemas.microsoft.com/office/drawing/2014/main" id="{FF2EF6C5-87FC-71E4-3D25-3CE0DA2EA389}"/>
              </a:ext>
            </a:extLst>
          </p:cNvPr>
          <p:cNvSpPr>
            <a:spLocks noGrp="1"/>
          </p:cNvSpPr>
          <p:nvPr/>
        </p:nvSpPr>
        <p:spPr>
          <a:xfrm>
            <a:off x="2606040" y="48469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Even</a:t>
            </a:r>
          </a:p>
        </p:txBody>
      </p:sp>
      <p:sp>
        <p:nvSpPr>
          <p:cNvPr id="90" name="TextBox 89">
            <a:extLst>
              <a:ext uri="{FF2B5EF4-FFF2-40B4-BE49-F238E27FC236}">
                <a16:creationId xmlns:a16="http://schemas.microsoft.com/office/drawing/2014/main" id="{0ABC273B-F528-62AF-7094-05A0F437C606}"/>
              </a:ext>
            </a:extLst>
          </p:cNvPr>
          <p:cNvSpPr>
            <a:spLocks noGrp="1"/>
          </p:cNvSpPr>
          <p:nvPr/>
        </p:nvSpPr>
        <p:spPr>
          <a:xfrm>
            <a:off x="2606040" y="499327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Iguatemi</a:t>
            </a:r>
          </a:p>
        </p:txBody>
      </p:sp>
      <p:sp>
        <p:nvSpPr>
          <p:cNvPr id="91" name="TextBox 90">
            <a:extLst>
              <a:ext uri="{FF2B5EF4-FFF2-40B4-BE49-F238E27FC236}">
                <a16:creationId xmlns:a16="http://schemas.microsoft.com/office/drawing/2014/main" id="{0754098A-51C2-807F-56F4-DE52B01A7083}"/>
              </a:ext>
            </a:extLst>
          </p:cNvPr>
          <p:cNvSpPr>
            <a:spLocks noGrp="1"/>
          </p:cNvSpPr>
          <p:nvPr/>
        </p:nvSpPr>
        <p:spPr>
          <a:xfrm>
            <a:off x="2606040" y="513957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JHSF</a:t>
            </a:r>
          </a:p>
        </p:txBody>
      </p:sp>
      <p:sp>
        <p:nvSpPr>
          <p:cNvPr id="100" name="TextBox 99">
            <a:extLst>
              <a:ext uri="{FF2B5EF4-FFF2-40B4-BE49-F238E27FC236}">
                <a16:creationId xmlns:a16="http://schemas.microsoft.com/office/drawing/2014/main" id="{BFC50985-3DD3-744E-7A73-43DDCAD107B0}"/>
              </a:ext>
            </a:extLst>
          </p:cNvPr>
          <p:cNvSpPr>
            <a:spLocks noGrp="1"/>
          </p:cNvSpPr>
          <p:nvPr/>
        </p:nvSpPr>
        <p:spPr>
          <a:xfrm>
            <a:off x="4846320" y="2884932"/>
            <a:ext cx="2008717" cy="338554"/>
          </a:xfrm>
          <a:prstGeom prst="rect">
            <a:avLst/>
          </a:prstGeom>
          <a:noFill/>
        </p:spPr>
        <p:txBody>
          <a:bodyPr wrap="square">
            <a:spAutoFit/>
          </a:bodyPr>
          <a:lstStyle/>
          <a:p>
            <a:r>
              <a:rPr sz="1600" b="1">
                <a:solidFill>
                  <a:srgbClr val="8EB3DF"/>
                </a:solidFill>
                <a:latin typeface="+mj-lt"/>
                <a:ea typeface="+mj-lt"/>
                <a:cs typeface="+mj-lt"/>
              </a:rPr>
              <a:t>Transportation</a:t>
            </a:r>
          </a:p>
        </p:txBody>
      </p:sp>
      <p:sp>
        <p:nvSpPr>
          <p:cNvPr id="101" name="TextBox 100">
            <a:extLst>
              <a:ext uri="{FF2B5EF4-FFF2-40B4-BE49-F238E27FC236}">
                <a16:creationId xmlns:a16="http://schemas.microsoft.com/office/drawing/2014/main" id="{86887FB9-CCF9-D644-2775-E0B8AE9A705D}"/>
              </a:ext>
            </a:extLst>
          </p:cNvPr>
          <p:cNvSpPr>
            <a:spLocks noGrp="1"/>
          </p:cNvSpPr>
          <p:nvPr/>
        </p:nvSpPr>
        <p:spPr>
          <a:xfrm>
            <a:off x="2606040" y="528587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Lavvi</a:t>
            </a:r>
          </a:p>
        </p:txBody>
      </p:sp>
      <p:sp>
        <p:nvSpPr>
          <p:cNvPr id="102" name="TextBox 101">
            <a:extLst>
              <a:ext uri="{FF2B5EF4-FFF2-40B4-BE49-F238E27FC236}">
                <a16:creationId xmlns:a16="http://schemas.microsoft.com/office/drawing/2014/main" id="{1EC7AAEC-C726-83BB-A802-EB8C3A07755B}"/>
              </a:ext>
            </a:extLst>
          </p:cNvPr>
          <p:cNvSpPr>
            <a:spLocks noGrp="1"/>
          </p:cNvSpPr>
          <p:nvPr/>
        </p:nvSpPr>
        <p:spPr>
          <a:xfrm>
            <a:off x="2606040" y="543218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Moura Dubeux</a:t>
            </a:r>
          </a:p>
        </p:txBody>
      </p:sp>
      <p:sp>
        <p:nvSpPr>
          <p:cNvPr id="103" name="TextBox 102">
            <a:extLst>
              <a:ext uri="{FF2B5EF4-FFF2-40B4-BE49-F238E27FC236}">
                <a16:creationId xmlns:a16="http://schemas.microsoft.com/office/drawing/2014/main" id="{5BF9A98D-376D-D659-404C-7C04BB1EA920}"/>
              </a:ext>
            </a:extLst>
          </p:cNvPr>
          <p:cNvSpPr>
            <a:spLocks noGrp="1"/>
          </p:cNvSpPr>
          <p:nvPr/>
        </p:nvSpPr>
        <p:spPr>
          <a:xfrm>
            <a:off x="2606040" y="557848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MRV</a:t>
            </a:r>
          </a:p>
        </p:txBody>
      </p:sp>
      <p:sp>
        <p:nvSpPr>
          <p:cNvPr id="104" name="TextBox 103">
            <a:extLst>
              <a:ext uri="{FF2B5EF4-FFF2-40B4-BE49-F238E27FC236}">
                <a16:creationId xmlns:a16="http://schemas.microsoft.com/office/drawing/2014/main" id="{5F034A05-B0B3-3392-B4EB-256016146EC7}"/>
              </a:ext>
            </a:extLst>
          </p:cNvPr>
          <p:cNvSpPr>
            <a:spLocks noGrp="1"/>
          </p:cNvSpPr>
          <p:nvPr/>
        </p:nvSpPr>
        <p:spPr>
          <a:xfrm>
            <a:off x="2606040" y="572479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Multiplan</a:t>
            </a:r>
          </a:p>
        </p:txBody>
      </p:sp>
      <p:sp>
        <p:nvSpPr>
          <p:cNvPr id="105" name="TextBox 104">
            <a:extLst>
              <a:ext uri="{FF2B5EF4-FFF2-40B4-BE49-F238E27FC236}">
                <a16:creationId xmlns:a16="http://schemas.microsoft.com/office/drawing/2014/main" id="{936CC832-23B8-12DB-2A45-427E4EEDC8F2}"/>
              </a:ext>
            </a:extLst>
          </p:cNvPr>
          <p:cNvSpPr>
            <a:spLocks noGrp="1"/>
          </p:cNvSpPr>
          <p:nvPr/>
        </p:nvSpPr>
        <p:spPr>
          <a:xfrm>
            <a:off x="2606040" y="587109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Plano&amp;Plano</a:t>
            </a:r>
          </a:p>
        </p:txBody>
      </p:sp>
      <p:sp>
        <p:nvSpPr>
          <p:cNvPr id="112" name="TextBox 111">
            <a:extLst>
              <a:ext uri="{FF2B5EF4-FFF2-40B4-BE49-F238E27FC236}">
                <a16:creationId xmlns:a16="http://schemas.microsoft.com/office/drawing/2014/main" id="{CC015CBD-3E58-1D58-58ED-F680CB26E47A}"/>
              </a:ext>
            </a:extLst>
          </p:cNvPr>
          <p:cNvSpPr>
            <a:spLocks noGrp="1"/>
          </p:cNvSpPr>
          <p:nvPr/>
        </p:nvSpPr>
        <p:spPr>
          <a:xfrm>
            <a:off x="2606040" y="64215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Alpargatas</a:t>
            </a:r>
          </a:p>
        </p:txBody>
      </p:sp>
      <p:sp>
        <p:nvSpPr>
          <p:cNvPr id="113" name="TextBox 112">
            <a:extLst>
              <a:ext uri="{FF2B5EF4-FFF2-40B4-BE49-F238E27FC236}">
                <a16:creationId xmlns:a16="http://schemas.microsoft.com/office/drawing/2014/main" id="{393A987D-B5EC-76AA-0CC0-DF5BB0AA5EB5}"/>
              </a:ext>
            </a:extLst>
          </p:cNvPr>
          <p:cNvSpPr>
            <a:spLocks noGrp="1"/>
          </p:cNvSpPr>
          <p:nvPr/>
        </p:nvSpPr>
        <p:spPr>
          <a:xfrm>
            <a:off x="2606040" y="65678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Assaí</a:t>
            </a:r>
          </a:p>
        </p:txBody>
      </p:sp>
      <p:sp>
        <p:nvSpPr>
          <p:cNvPr id="114" name="TextBox 113">
            <a:extLst>
              <a:ext uri="{FF2B5EF4-FFF2-40B4-BE49-F238E27FC236}">
                <a16:creationId xmlns:a16="http://schemas.microsoft.com/office/drawing/2014/main" id="{E977F5D8-B614-3EBB-2A0C-792037C6449E}"/>
              </a:ext>
            </a:extLst>
          </p:cNvPr>
          <p:cNvSpPr>
            <a:spLocks noGrp="1"/>
          </p:cNvSpPr>
          <p:nvPr/>
        </p:nvSpPr>
        <p:spPr>
          <a:xfrm>
            <a:off x="2606040" y="67141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Azzas 2154</a:t>
            </a:r>
          </a:p>
        </p:txBody>
      </p:sp>
      <p:sp>
        <p:nvSpPr>
          <p:cNvPr id="115" name="TextBox 114">
            <a:extLst>
              <a:ext uri="{FF2B5EF4-FFF2-40B4-BE49-F238E27FC236}">
                <a16:creationId xmlns:a16="http://schemas.microsoft.com/office/drawing/2014/main" id="{FD273B7A-1543-7557-355D-52D803529B64}"/>
              </a:ext>
            </a:extLst>
          </p:cNvPr>
          <p:cNvSpPr>
            <a:spLocks noGrp="1"/>
          </p:cNvSpPr>
          <p:nvPr/>
        </p:nvSpPr>
        <p:spPr>
          <a:xfrm>
            <a:off x="2606040" y="68604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C&amp;A</a:t>
            </a:r>
          </a:p>
        </p:txBody>
      </p:sp>
      <p:sp>
        <p:nvSpPr>
          <p:cNvPr id="118" name="TextBox 117">
            <a:extLst>
              <a:ext uri="{FF2B5EF4-FFF2-40B4-BE49-F238E27FC236}">
                <a16:creationId xmlns:a16="http://schemas.microsoft.com/office/drawing/2014/main" id="{F68C5564-7AD3-A7C8-54D0-530E7A959DD6}"/>
              </a:ext>
            </a:extLst>
          </p:cNvPr>
          <p:cNvSpPr>
            <a:spLocks noGrp="1"/>
          </p:cNvSpPr>
          <p:nvPr/>
        </p:nvSpPr>
        <p:spPr>
          <a:xfrm>
            <a:off x="2606040" y="70067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Grupo SBF</a:t>
            </a:r>
          </a:p>
        </p:txBody>
      </p:sp>
      <p:sp>
        <p:nvSpPr>
          <p:cNvPr id="119" name="TextBox 118">
            <a:extLst>
              <a:ext uri="{FF2B5EF4-FFF2-40B4-BE49-F238E27FC236}">
                <a16:creationId xmlns:a16="http://schemas.microsoft.com/office/drawing/2014/main" id="{5F9FAA32-2495-A805-B67B-C10D433055FF}"/>
              </a:ext>
            </a:extLst>
          </p:cNvPr>
          <p:cNvSpPr>
            <a:spLocks noGrp="1"/>
          </p:cNvSpPr>
          <p:nvPr/>
        </p:nvSpPr>
        <p:spPr>
          <a:xfrm>
            <a:off x="2606040" y="71530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Live!</a:t>
            </a:r>
          </a:p>
        </p:txBody>
      </p:sp>
      <p:sp>
        <p:nvSpPr>
          <p:cNvPr id="120" name="TextBox 119">
            <a:extLst>
              <a:ext uri="{FF2B5EF4-FFF2-40B4-BE49-F238E27FC236}">
                <a16:creationId xmlns:a16="http://schemas.microsoft.com/office/drawing/2014/main" id="{A0D7B750-58A9-F833-65A3-680157040C1C}"/>
              </a:ext>
            </a:extLst>
          </p:cNvPr>
          <p:cNvSpPr>
            <a:spLocks noGrp="1"/>
          </p:cNvSpPr>
          <p:nvPr/>
        </p:nvSpPr>
        <p:spPr>
          <a:xfrm>
            <a:off x="2606040" y="72993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Magalu</a:t>
            </a:r>
          </a:p>
        </p:txBody>
      </p:sp>
      <p:sp>
        <p:nvSpPr>
          <p:cNvPr id="121" name="TextBox 120">
            <a:extLst>
              <a:ext uri="{FF2B5EF4-FFF2-40B4-BE49-F238E27FC236}">
                <a16:creationId xmlns:a16="http://schemas.microsoft.com/office/drawing/2014/main" id="{E4772F84-9E1F-89BE-FDA5-4082C053C19B}"/>
              </a:ext>
            </a:extLst>
          </p:cNvPr>
          <p:cNvSpPr>
            <a:spLocks noGrp="1"/>
          </p:cNvSpPr>
          <p:nvPr/>
        </p:nvSpPr>
        <p:spPr>
          <a:xfrm>
            <a:off x="2606040" y="74456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Mercado Libre</a:t>
            </a:r>
          </a:p>
        </p:txBody>
      </p:sp>
      <p:sp>
        <p:nvSpPr>
          <p:cNvPr id="123" name="TextBox 8 2026 copy 1">
            <a:extLst>
              <a:ext uri="{FF2B5EF4-FFF2-40B4-BE49-F238E27FC236}">
                <a16:creationId xmlns:a16="http://schemas.microsoft.com/office/drawing/2014/main" id="{94CA0D84-2DC6-41D5-B31A-B866BD0A23ED}"/>
              </a:ext>
            </a:extLst>
          </p:cNvPr>
          <p:cNvSpPr>
            <a:spLocks noGrp="1"/>
          </p:cNvSpPr>
          <p:nvPr/>
        </p:nvSpPr>
        <p:spPr>
          <a:xfrm>
            <a:off x="2606040" y="759625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dirty="0">
                <a:solidFill>
                  <a:srgbClr val="FFFFFF"/>
                </a:solidFill>
                <a:latin typeface="+mj-lt"/>
                <a:ea typeface="+mj-lt"/>
                <a:cs typeface="+mj-lt"/>
              </a:rPr>
              <a:t>Pague Menos</a:t>
            </a:r>
          </a:p>
        </p:txBody>
      </p:sp>
      <p:sp>
        <p:nvSpPr>
          <p:cNvPr id="124" name="TextBox 8 2026 copy 2">
            <a:extLst>
              <a:ext uri="{FF2B5EF4-FFF2-40B4-BE49-F238E27FC236}">
                <a16:creationId xmlns:a16="http://schemas.microsoft.com/office/drawing/2014/main" id="{8DD75E7C-0C31-45F5-8BD4-F30CEDF54379}"/>
              </a:ext>
            </a:extLst>
          </p:cNvPr>
          <p:cNvSpPr>
            <a:spLocks noGrp="1"/>
          </p:cNvSpPr>
          <p:nvPr/>
        </p:nvSpPr>
        <p:spPr>
          <a:xfrm>
            <a:off x="2606040" y="774255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Panvel</a:t>
            </a:r>
          </a:p>
        </p:txBody>
      </p:sp>
      <p:sp>
        <p:nvSpPr>
          <p:cNvPr id="125" name="TextBox 8 2026 copy 3">
            <a:extLst>
              <a:ext uri="{FF2B5EF4-FFF2-40B4-BE49-F238E27FC236}">
                <a16:creationId xmlns:a16="http://schemas.microsoft.com/office/drawing/2014/main" id="{D658FF67-1500-464F-B5E3-D1FADFCF3329}"/>
              </a:ext>
            </a:extLst>
          </p:cNvPr>
          <p:cNvSpPr>
            <a:spLocks noGrp="1"/>
          </p:cNvSpPr>
          <p:nvPr/>
        </p:nvSpPr>
        <p:spPr>
          <a:xfrm>
            <a:off x="2606040" y="788885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Petlove</a:t>
            </a:r>
          </a:p>
        </p:txBody>
      </p:sp>
      <p:sp>
        <p:nvSpPr>
          <p:cNvPr id="126" name="TextBox 8 2026 copy 4">
            <a:extLst>
              <a:ext uri="{FF2B5EF4-FFF2-40B4-BE49-F238E27FC236}">
                <a16:creationId xmlns:a16="http://schemas.microsoft.com/office/drawing/2014/main" id="{CE8817F6-CACB-4079-B990-4B2C5AB8B274}"/>
              </a:ext>
            </a:extLst>
          </p:cNvPr>
          <p:cNvSpPr>
            <a:spLocks noGrp="1"/>
          </p:cNvSpPr>
          <p:nvPr/>
        </p:nvSpPr>
        <p:spPr>
          <a:xfrm>
            <a:off x="2606040" y="803516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Petz Cobasi</a:t>
            </a:r>
          </a:p>
        </p:txBody>
      </p:sp>
      <p:sp>
        <p:nvSpPr>
          <p:cNvPr id="127" name="TextBox 8 2026 copy 5">
            <a:extLst>
              <a:ext uri="{FF2B5EF4-FFF2-40B4-BE49-F238E27FC236}">
                <a16:creationId xmlns:a16="http://schemas.microsoft.com/office/drawing/2014/main" id="{0FB2747A-251D-406A-ABA1-1D76B46EDC06}"/>
              </a:ext>
            </a:extLst>
          </p:cNvPr>
          <p:cNvSpPr>
            <a:spLocks noGrp="1"/>
          </p:cNvSpPr>
          <p:nvPr/>
        </p:nvSpPr>
        <p:spPr>
          <a:xfrm>
            <a:off x="2606040" y="818146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Profarma</a:t>
            </a:r>
          </a:p>
        </p:txBody>
      </p:sp>
      <p:sp>
        <p:nvSpPr>
          <p:cNvPr id="128" name="TextBox 8 2026 copy 6">
            <a:extLst>
              <a:ext uri="{FF2B5EF4-FFF2-40B4-BE49-F238E27FC236}">
                <a16:creationId xmlns:a16="http://schemas.microsoft.com/office/drawing/2014/main" id="{8234993C-E1BB-47CD-960D-DDFC87BCAA19}"/>
              </a:ext>
            </a:extLst>
          </p:cNvPr>
          <p:cNvSpPr>
            <a:spLocks noGrp="1"/>
          </p:cNvSpPr>
          <p:nvPr/>
        </p:nvSpPr>
        <p:spPr>
          <a:xfrm>
            <a:off x="2606040" y="832777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RD Saúde</a:t>
            </a:r>
          </a:p>
        </p:txBody>
      </p:sp>
      <p:sp>
        <p:nvSpPr>
          <p:cNvPr id="129" name="TextBox 8 2026 copy 7">
            <a:extLst>
              <a:ext uri="{FF2B5EF4-FFF2-40B4-BE49-F238E27FC236}">
                <a16:creationId xmlns:a16="http://schemas.microsoft.com/office/drawing/2014/main" id="{F39A989C-D964-46B3-949E-8BCF7699B70A}"/>
              </a:ext>
            </a:extLst>
          </p:cNvPr>
          <p:cNvSpPr>
            <a:spLocks noGrp="1"/>
          </p:cNvSpPr>
          <p:nvPr/>
        </p:nvSpPr>
        <p:spPr>
          <a:xfrm>
            <a:off x="2606040" y="847407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Renner</a:t>
            </a:r>
          </a:p>
        </p:txBody>
      </p:sp>
      <p:sp>
        <p:nvSpPr>
          <p:cNvPr id="130" name="TextBox 8 2026 copy 8">
            <a:extLst>
              <a:ext uri="{FF2B5EF4-FFF2-40B4-BE49-F238E27FC236}">
                <a16:creationId xmlns:a16="http://schemas.microsoft.com/office/drawing/2014/main" id="{7C98FF11-21D0-4CA2-BC8F-225115C7DE7E}"/>
              </a:ext>
            </a:extLst>
          </p:cNvPr>
          <p:cNvSpPr>
            <a:spLocks noGrp="1"/>
          </p:cNvSpPr>
          <p:nvPr/>
        </p:nvSpPr>
        <p:spPr>
          <a:xfrm>
            <a:off x="2606040" y="862037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Riachuelo</a:t>
            </a:r>
          </a:p>
        </p:txBody>
      </p:sp>
      <p:sp>
        <p:nvSpPr>
          <p:cNvPr id="131" name="TextBox 8 2026 copy 9">
            <a:extLst>
              <a:ext uri="{FF2B5EF4-FFF2-40B4-BE49-F238E27FC236}">
                <a16:creationId xmlns:a16="http://schemas.microsoft.com/office/drawing/2014/main" id="{52AE936B-792C-4267-9ADF-D7B4E185CE76}"/>
              </a:ext>
            </a:extLst>
          </p:cNvPr>
          <p:cNvSpPr>
            <a:spLocks noGrp="1"/>
          </p:cNvSpPr>
          <p:nvPr/>
        </p:nvSpPr>
        <p:spPr>
          <a:xfrm>
            <a:off x="2606040" y="876668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Smartfit</a:t>
            </a:r>
          </a:p>
        </p:txBody>
      </p:sp>
      <p:sp>
        <p:nvSpPr>
          <p:cNvPr id="132" name="TextBox 8 2026 copy 10">
            <a:extLst>
              <a:ext uri="{FF2B5EF4-FFF2-40B4-BE49-F238E27FC236}">
                <a16:creationId xmlns:a16="http://schemas.microsoft.com/office/drawing/2014/main" id="{AE26F871-8665-4985-9C70-D18EF0B53E0A}"/>
              </a:ext>
            </a:extLst>
          </p:cNvPr>
          <p:cNvSpPr>
            <a:spLocks noGrp="1"/>
          </p:cNvSpPr>
          <p:nvPr/>
        </p:nvSpPr>
        <p:spPr>
          <a:xfrm>
            <a:off x="2606040" y="891298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Vivara</a:t>
            </a:r>
          </a:p>
        </p:txBody>
      </p:sp>
      <p:sp>
        <p:nvSpPr>
          <p:cNvPr id="133" name="TextBox 8 2026 copy 11">
            <a:extLst>
              <a:ext uri="{FF2B5EF4-FFF2-40B4-BE49-F238E27FC236}">
                <a16:creationId xmlns:a16="http://schemas.microsoft.com/office/drawing/2014/main" id="{9482CD38-74A7-4FF6-876D-F7AFC9546CEE}"/>
              </a:ext>
            </a:extLst>
          </p:cNvPr>
          <p:cNvSpPr>
            <a:spLocks noGrp="1"/>
          </p:cNvSpPr>
          <p:nvPr/>
        </p:nvSpPr>
        <p:spPr>
          <a:xfrm>
            <a:off x="2606040" y="905929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Vulcabras</a:t>
            </a:r>
          </a:p>
        </p:txBody>
      </p:sp>
      <p:sp>
        <p:nvSpPr>
          <p:cNvPr id="134" name="TextBox 8 2026 copy 12">
            <a:extLst>
              <a:ext uri="{FF2B5EF4-FFF2-40B4-BE49-F238E27FC236}">
                <a16:creationId xmlns:a16="http://schemas.microsoft.com/office/drawing/2014/main" id="{9D342569-57D2-4C89-ACFD-D2CA83CF61D3}"/>
              </a:ext>
            </a:extLst>
          </p:cNvPr>
          <p:cNvSpPr>
            <a:spLocks noGrp="1"/>
          </p:cNvSpPr>
          <p:nvPr/>
        </p:nvSpPr>
        <p:spPr>
          <a:xfrm>
            <a:off x="4846320" y="149504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Bemobi</a:t>
            </a:r>
          </a:p>
        </p:txBody>
      </p:sp>
      <p:sp>
        <p:nvSpPr>
          <p:cNvPr id="135" name="TextBox 8 2026 copy 13">
            <a:extLst>
              <a:ext uri="{FF2B5EF4-FFF2-40B4-BE49-F238E27FC236}">
                <a16:creationId xmlns:a16="http://schemas.microsoft.com/office/drawing/2014/main" id="{7B08D8F9-D299-4159-9EE6-E738E35A7BC2}"/>
              </a:ext>
            </a:extLst>
          </p:cNvPr>
          <p:cNvSpPr>
            <a:spLocks noGrp="1"/>
          </p:cNvSpPr>
          <p:nvPr/>
        </p:nvSpPr>
        <p:spPr>
          <a:xfrm>
            <a:off x="4846320" y="164134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Intelbras</a:t>
            </a:r>
          </a:p>
        </p:txBody>
      </p:sp>
      <p:sp>
        <p:nvSpPr>
          <p:cNvPr id="136" name="TextBox 8 2026 copy 14">
            <a:extLst>
              <a:ext uri="{FF2B5EF4-FFF2-40B4-BE49-F238E27FC236}">
                <a16:creationId xmlns:a16="http://schemas.microsoft.com/office/drawing/2014/main" id="{E1D50D8C-DF4E-4570-9D7B-66DD660ED0B5}"/>
              </a:ext>
            </a:extLst>
          </p:cNvPr>
          <p:cNvSpPr>
            <a:spLocks noGrp="1"/>
          </p:cNvSpPr>
          <p:nvPr/>
        </p:nvSpPr>
        <p:spPr>
          <a:xfrm>
            <a:off x="4846320" y="1787651"/>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Livemode</a:t>
            </a:r>
          </a:p>
        </p:txBody>
      </p:sp>
      <p:sp>
        <p:nvSpPr>
          <p:cNvPr id="137" name="TextBox 8 2026 copy 15">
            <a:extLst>
              <a:ext uri="{FF2B5EF4-FFF2-40B4-BE49-F238E27FC236}">
                <a16:creationId xmlns:a16="http://schemas.microsoft.com/office/drawing/2014/main" id="{4F992CC8-E948-4B49-B8A2-D9E1B72660B8}"/>
              </a:ext>
            </a:extLst>
          </p:cNvPr>
          <p:cNvSpPr>
            <a:spLocks noGrp="1"/>
          </p:cNvSpPr>
          <p:nvPr/>
        </p:nvSpPr>
        <p:spPr>
          <a:xfrm>
            <a:off x="4846320" y="1933955"/>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LWSA</a:t>
            </a:r>
          </a:p>
        </p:txBody>
      </p:sp>
      <p:sp>
        <p:nvSpPr>
          <p:cNvPr id="138" name="TextBox 8 2026 copy 16">
            <a:extLst>
              <a:ext uri="{FF2B5EF4-FFF2-40B4-BE49-F238E27FC236}">
                <a16:creationId xmlns:a16="http://schemas.microsoft.com/office/drawing/2014/main" id="{457E02CA-0005-44D3-96D5-5C9DA3BFE0D8}"/>
              </a:ext>
            </a:extLst>
          </p:cNvPr>
          <p:cNvSpPr>
            <a:spLocks noGrp="1"/>
          </p:cNvSpPr>
          <p:nvPr/>
        </p:nvSpPr>
        <p:spPr>
          <a:xfrm>
            <a:off x="4846320" y="20802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Senior Sistemas</a:t>
            </a:r>
          </a:p>
        </p:txBody>
      </p:sp>
      <p:sp>
        <p:nvSpPr>
          <p:cNvPr id="139" name="TextBox 8 2026 copy 17">
            <a:extLst>
              <a:ext uri="{FF2B5EF4-FFF2-40B4-BE49-F238E27FC236}">
                <a16:creationId xmlns:a16="http://schemas.microsoft.com/office/drawing/2014/main" id="{05B31B0B-6263-4AA9-B596-244B757EAB40}"/>
              </a:ext>
            </a:extLst>
          </p:cNvPr>
          <p:cNvSpPr>
            <a:spLocks noGrp="1"/>
          </p:cNvSpPr>
          <p:nvPr/>
        </p:nvSpPr>
        <p:spPr>
          <a:xfrm>
            <a:off x="4846320" y="22265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Telefônica Vivo</a:t>
            </a:r>
          </a:p>
        </p:txBody>
      </p:sp>
      <p:sp>
        <p:nvSpPr>
          <p:cNvPr id="140" name="TextBox 8 2026 copy 18">
            <a:extLst>
              <a:ext uri="{FF2B5EF4-FFF2-40B4-BE49-F238E27FC236}">
                <a16:creationId xmlns:a16="http://schemas.microsoft.com/office/drawing/2014/main" id="{E831E858-9E6F-4A8C-A0DB-FCA426000943}"/>
              </a:ext>
            </a:extLst>
          </p:cNvPr>
          <p:cNvSpPr>
            <a:spLocks noGrp="1"/>
          </p:cNvSpPr>
          <p:nvPr/>
        </p:nvSpPr>
        <p:spPr>
          <a:xfrm>
            <a:off x="4846320" y="23728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TIM</a:t>
            </a:r>
          </a:p>
        </p:txBody>
      </p:sp>
      <p:sp>
        <p:nvSpPr>
          <p:cNvPr id="141" name="TextBox 8 2026 copy 19">
            <a:extLst>
              <a:ext uri="{FF2B5EF4-FFF2-40B4-BE49-F238E27FC236}">
                <a16:creationId xmlns:a16="http://schemas.microsoft.com/office/drawing/2014/main" id="{30A7E063-5386-476A-956A-3DD2AFE92052}"/>
              </a:ext>
            </a:extLst>
          </p:cNvPr>
          <p:cNvSpPr>
            <a:spLocks noGrp="1"/>
          </p:cNvSpPr>
          <p:nvPr/>
        </p:nvSpPr>
        <p:spPr>
          <a:xfrm>
            <a:off x="4846320" y="25191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TOTVS</a:t>
            </a:r>
          </a:p>
        </p:txBody>
      </p:sp>
      <p:sp>
        <p:nvSpPr>
          <p:cNvPr id="142" name="TextBox 8 2026 copy 20">
            <a:extLst>
              <a:ext uri="{FF2B5EF4-FFF2-40B4-BE49-F238E27FC236}">
                <a16:creationId xmlns:a16="http://schemas.microsoft.com/office/drawing/2014/main" id="{756A8A78-2BE7-48F0-8E25-9344CF6441BE}"/>
              </a:ext>
            </a:extLst>
          </p:cNvPr>
          <p:cNvSpPr>
            <a:spLocks noGrp="1"/>
          </p:cNvSpPr>
          <p:nvPr/>
        </p:nvSpPr>
        <p:spPr>
          <a:xfrm>
            <a:off x="4846320" y="319125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Armac</a:t>
            </a:r>
          </a:p>
        </p:txBody>
      </p:sp>
      <p:sp>
        <p:nvSpPr>
          <p:cNvPr id="143" name="TextBox 8 2026 copy 21">
            <a:extLst>
              <a:ext uri="{FF2B5EF4-FFF2-40B4-BE49-F238E27FC236}">
                <a16:creationId xmlns:a16="http://schemas.microsoft.com/office/drawing/2014/main" id="{B6BBE8CF-4D6B-49DF-9222-5855A4272659}"/>
              </a:ext>
            </a:extLst>
          </p:cNvPr>
          <p:cNvSpPr>
            <a:spLocks noGrp="1"/>
          </p:cNvSpPr>
          <p:nvPr/>
        </p:nvSpPr>
        <p:spPr>
          <a:xfrm>
            <a:off x="4846320" y="33375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Automob</a:t>
            </a:r>
          </a:p>
        </p:txBody>
      </p:sp>
      <p:sp>
        <p:nvSpPr>
          <p:cNvPr id="144" name="TextBox 8 2026 copy 22">
            <a:extLst>
              <a:ext uri="{FF2B5EF4-FFF2-40B4-BE49-F238E27FC236}">
                <a16:creationId xmlns:a16="http://schemas.microsoft.com/office/drawing/2014/main" id="{C9EF63C5-B8A5-4C56-A0EC-EFAF0D1F9683}"/>
              </a:ext>
            </a:extLst>
          </p:cNvPr>
          <p:cNvSpPr>
            <a:spLocks noGrp="1"/>
          </p:cNvSpPr>
          <p:nvPr/>
        </p:nvSpPr>
        <p:spPr>
          <a:xfrm>
            <a:off x="4846320" y="34838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Ecorodovias</a:t>
            </a:r>
          </a:p>
        </p:txBody>
      </p:sp>
      <p:sp>
        <p:nvSpPr>
          <p:cNvPr id="145" name="TextBox 8 2026 copy 23">
            <a:extLst>
              <a:ext uri="{FF2B5EF4-FFF2-40B4-BE49-F238E27FC236}">
                <a16:creationId xmlns:a16="http://schemas.microsoft.com/office/drawing/2014/main" id="{8584CD6A-AC9C-4233-BC87-0BF66B54601E}"/>
              </a:ext>
            </a:extLst>
          </p:cNvPr>
          <p:cNvSpPr>
            <a:spLocks noGrp="1"/>
          </p:cNvSpPr>
          <p:nvPr/>
        </p:nvSpPr>
        <p:spPr>
          <a:xfrm>
            <a:off x="4846320" y="36301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GPS</a:t>
            </a:r>
          </a:p>
        </p:txBody>
      </p:sp>
      <p:sp>
        <p:nvSpPr>
          <p:cNvPr id="146" name="TextBox 8 2026 copy 24">
            <a:extLst>
              <a:ext uri="{FF2B5EF4-FFF2-40B4-BE49-F238E27FC236}">
                <a16:creationId xmlns:a16="http://schemas.microsoft.com/office/drawing/2014/main" id="{B08049AC-F0D0-4C0D-92F3-0F830E2752EB}"/>
              </a:ext>
            </a:extLst>
          </p:cNvPr>
          <p:cNvSpPr>
            <a:spLocks noGrp="1"/>
          </p:cNvSpPr>
          <p:nvPr/>
        </p:nvSpPr>
        <p:spPr>
          <a:xfrm>
            <a:off x="4846320" y="37764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Motiva</a:t>
            </a:r>
          </a:p>
        </p:txBody>
      </p:sp>
      <p:sp>
        <p:nvSpPr>
          <p:cNvPr id="147" name="TextBox 8 2026 copy 25">
            <a:extLst>
              <a:ext uri="{FF2B5EF4-FFF2-40B4-BE49-F238E27FC236}">
                <a16:creationId xmlns:a16="http://schemas.microsoft.com/office/drawing/2014/main" id="{3A67DDD3-1F67-46A6-9B89-B9F73ACFDE38}"/>
              </a:ext>
            </a:extLst>
          </p:cNvPr>
          <p:cNvSpPr>
            <a:spLocks noGrp="1"/>
          </p:cNvSpPr>
          <p:nvPr/>
        </p:nvSpPr>
        <p:spPr>
          <a:xfrm>
            <a:off x="4846320" y="392277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Movida</a:t>
            </a:r>
          </a:p>
        </p:txBody>
      </p:sp>
      <p:sp>
        <p:nvSpPr>
          <p:cNvPr id="148" name="TextBox 8 2026 copy 26">
            <a:extLst>
              <a:ext uri="{FF2B5EF4-FFF2-40B4-BE49-F238E27FC236}">
                <a16:creationId xmlns:a16="http://schemas.microsoft.com/office/drawing/2014/main" id="{F6262BE8-BD2A-4A5E-935E-87AAF50BC183}"/>
              </a:ext>
            </a:extLst>
          </p:cNvPr>
          <p:cNvSpPr>
            <a:spLocks noGrp="1"/>
          </p:cNvSpPr>
          <p:nvPr/>
        </p:nvSpPr>
        <p:spPr>
          <a:xfrm>
            <a:off x="4846320" y="406908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Priner</a:t>
            </a:r>
          </a:p>
        </p:txBody>
      </p:sp>
      <p:sp>
        <p:nvSpPr>
          <p:cNvPr id="149" name="TextBox 8 2026 copy 27">
            <a:extLst>
              <a:ext uri="{FF2B5EF4-FFF2-40B4-BE49-F238E27FC236}">
                <a16:creationId xmlns:a16="http://schemas.microsoft.com/office/drawing/2014/main" id="{4E3CBE27-7393-4DD1-9436-C00F8E291690}"/>
              </a:ext>
            </a:extLst>
          </p:cNvPr>
          <p:cNvSpPr>
            <a:spLocks noGrp="1"/>
          </p:cNvSpPr>
          <p:nvPr/>
        </p:nvSpPr>
        <p:spPr>
          <a:xfrm>
            <a:off x="4846320" y="421538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Rumo</a:t>
            </a:r>
          </a:p>
        </p:txBody>
      </p:sp>
      <p:sp>
        <p:nvSpPr>
          <p:cNvPr id="150" name="TextBox 8 2026 copy 28">
            <a:extLst>
              <a:ext uri="{FF2B5EF4-FFF2-40B4-BE49-F238E27FC236}">
                <a16:creationId xmlns:a16="http://schemas.microsoft.com/office/drawing/2014/main" id="{FF345CF7-ABE5-419F-976F-997D5639AC79}"/>
              </a:ext>
            </a:extLst>
          </p:cNvPr>
          <p:cNvSpPr>
            <a:spLocks noGrp="1"/>
          </p:cNvSpPr>
          <p:nvPr/>
        </p:nvSpPr>
        <p:spPr>
          <a:xfrm>
            <a:off x="4846320" y="436168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Simpar</a:t>
            </a:r>
          </a:p>
        </p:txBody>
      </p:sp>
      <p:sp>
        <p:nvSpPr>
          <p:cNvPr id="151" name="TextBox 8 2026 copy 29">
            <a:extLst>
              <a:ext uri="{FF2B5EF4-FFF2-40B4-BE49-F238E27FC236}">
                <a16:creationId xmlns:a16="http://schemas.microsoft.com/office/drawing/2014/main" id="{E6EDFD60-8FF1-4FFF-B196-843F0C3678FF}"/>
              </a:ext>
            </a:extLst>
          </p:cNvPr>
          <p:cNvSpPr>
            <a:spLocks noGrp="1"/>
          </p:cNvSpPr>
          <p:nvPr/>
        </p:nvSpPr>
        <p:spPr>
          <a:xfrm>
            <a:off x="4846320" y="450799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Vamos</a:t>
            </a:r>
          </a:p>
        </p:txBody>
      </p:sp>
      <p:sp>
        <p:nvSpPr>
          <p:cNvPr id="8" name="TextBox 3">
            <a:extLst>
              <a:ext uri="{FF2B5EF4-FFF2-40B4-BE49-F238E27FC236}">
                <a16:creationId xmlns:a16="http://schemas.microsoft.com/office/drawing/2014/main" id="{DF831856-B7A3-4A12-8461-275210DF6AE9}"/>
              </a:ext>
            </a:extLst>
          </p:cNvPr>
          <p:cNvSpPr>
            <a:spLocks noGrp="1"/>
          </p:cNvSpPr>
          <p:nvPr/>
        </p:nvSpPr>
        <p:spPr>
          <a:xfrm>
            <a:off x="4846320" y="5765292"/>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a:t>
            </a:r>
            <a:r>
              <a:rPr lang="pt-BR" sz="900" b="1" dirty="0" err="1">
                <a:solidFill>
                  <a:schemeClr val="bg1"/>
                </a:solidFill>
                <a:latin typeface="+mj-lt"/>
                <a:ea typeface="+mj-lt"/>
                <a:cs typeface="+mj-lt"/>
              </a:rPr>
              <a:t>ompass</a:t>
            </a:r>
            <a:endParaRPr sz="900" b="1" dirty="0">
              <a:solidFill>
                <a:schemeClr val="bg1"/>
              </a:solidFill>
              <a:latin typeface="+mj-lt"/>
              <a:ea typeface="+mj-lt"/>
              <a:cs typeface="+mj-lt"/>
            </a:endParaRPr>
          </a:p>
        </p:txBody>
      </p:sp>
    </p:spTree>
    <p:extLst>
      <p:ext uri="{BB962C8B-B14F-4D97-AF65-F5344CB8AC3E}">
        <p14:creationId xmlns:p14="http://schemas.microsoft.com/office/powerpoint/2010/main" val="4164885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1">
            <a:extLst>
              <a:ext uri="{FF2B5EF4-FFF2-40B4-BE49-F238E27FC236}">
                <a16:creationId xmlns:a16="http://schemas.microsoft.com/office/drawing/2014/main" id="{3723A2CF-BA37-28E2-15FE-6BC4BF12AD0A}"/>
              </a:ext>
            </a:extLst>
          </p:cNvPr>
          <p:cNvSpPr txBox="1">
            <a:spLocks/>
          </p:cNvSpPr>
          <p:nvPr/>
        </p:nvSpPr>
        <p:spPr>
          <a:xfrm>
            <a:off x="2551077" y="9315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solidFill>
                  <a:schemeClr val="accent3"/>
                </a:solidFill>
                <a:hlinkClick r:id="rId2" action="ppaction://hlinksldjump">
                  <a:extLst>
                    <a:ext uri="{A12FA001-AC4F-418D-AE19-62706E023703}">
                      <ahyp:hlinkClr xmlns:ahyp="http://schemas.microsoft.com/office/drawing/2018/hyperlinkcolor" val="tx"/>
                    </a:ext>
                  </a:extLst>
                </a:hlinkClick>
              </a:rPr>
              <a:t>ESG</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2" name="Text Placeholder 1">
            <a:extLst>
              <a:ext uri="{FF2B5EF4-FFF2-40B4-BE49-F238E27FC236}">
                <a16:creationId xmlns:a16="http://schemas.microsoft.com/office/drawing/2014/main" id="{CDA169A5-1B03-0D6B-43B5-C4737043A376}"/>
              </a:ext>
            </a:extLst>
          </p:cNvPr>
          <p:cNvSpPr txBox="1">
            <a:spLocks/>
          </p:cNvSpPr>
          <p:nvPr/>
        </p:nvSpPr>
        <p:spPr>
          <a:xfrm>
            <a:off x="2551077" y="13277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lgn="just"/>
            <a:r>
              <a:rPr lang="en-US" dirty="0">
                <a:solidFill>
                  <a:schemeClr val="accent3"/>
                </a:solidFill>
                <a:hlinkClick r:id="rId4" action="ppaction://hlinksldjump">
                  <a:extLst>
                    <a:ext uri="{A12FA001-AC4F-418D-AE19-62706E023703}">
                      <ahyp:hlinkClr xmlns:ahyp="http://schemas.microsoft.com/office/drawing/2018/hyperlinkcolor" val="tx"/>
                    </a:ext>
                  </a:extLst>
                </a:hlinkClick>
              </a:rPr>
              <a:t>Sector Highlights</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7" name="Text Placeholder 34">
            <a:extLst>
              <a:ext uri="{FF2B5EF4-FFF2-40B4-BE49-F238E27FC236}">
                <a16:creationId xmlns:a16="http://schemas.microsoft.com/office/drawing/2014/main" id="{C4536C6A-639B-A5ED-F3EC-B98C64258CD7}"/>
              </a:ext>
            </a:extLst>
          </p:cNvPr>
          <p:cNvSpPr txBox="1">
            <a:spLocks/>
          </p:cNvSpPr>
          <p:nvPr/>
        </p:nvSpPr>
        <p:spPr>
          <a:xfrm>
            <a:off x="2551077" y="473244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5" action="ppaction://hlinksldjump">
                  <a:extLst>
                    <a:ext uri="{A12FA001-AC4F-418D-AE19-62706E023703}">
                      <ahyp:hlinkClr xmlns:ahyp="http://schemas.microsoft.com/office/drawing/2018/hyperlinkcolor" val="tx"/>
                    </a:ext>
                  </a:extLst>
                </a:hlinkClick>
              </a:rPr>
              <a:t>Retail</a:t>
            </a:r>
            <a:endParaRPr lang="en-US" sz="1400" dirty="0">
              <a:solidFill>
                <a:schemeClr val="bg1"/>
              </a:solidFill>
            </a:endParaRPr>
          </a:p>
        </p:txBody>
      </p:sp>
      <p:sp>
        <p:nvSpPr>
          <p:cNvPr id="38" name="Text Placeholder 38">
            <a:extLst>
              <a:ext uri="{FF2B5EF4-FFF2-40B4-BE49-F238E27FC236}">
                <a16:creationId xmlns:a16="http://schemas.microsoft.com/office/drawing/2014/main" id="{A2AFF076-4B02-DED1-688E-4BA1E34B5878}"/>
              </a:ext>
            </a:extLst>
          </p:cNvPr>
          <p:cNvSpPr txBox="1">
            <a:spLocks/>
          </p:cNvSpPr>
          <p:nvPr/>
        </p:nvSpPr>
        <p:spPr>
          <a:xfrm>
            <a:off x="2551075" y="5695304"/>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6" action="ppaction://hlinksldjump">
                  <a:extLst>
                    <a:ext uri="{A12FA001-AC4F-418D-AE19-62706E023703}">
                      <ahyp:hlinkClr xmlns:ahyp="http://schemas.microsoft.com/office/drawing/2018/hyperlinkcolor" val="tx"/>
                    </a:ext>
                  </a:extLst>
                </a:hlinkClick>
              </a:rPr>
              <a:t>Utilities</a:t>
            </a:r>
            <a:endParaRPr lang="en-US" sz="1400" dirty="0">
              <a:solidFill>
                <a:schemeClr val="bg1"/>
              </a:solidFill>
            </a:endParaRPr>
          </a:p>
        </p:txBody>
      </p:sp>
      <p:sp>
        <p:nvSpPr>
          <p:cNvPr id="43" name="Text Placeholder 30">
            <a:extLst>
              <a:ext uri="{FF2B5EF4-FFF2-40B4-BE49-F238E27FC236}">
                <a16:creationId xmlns:a16="http://schemas.microsoft.com/office/drawing/2014/main" id="{00094B9A-49E7-D3AC-97B1-44960E213EC5}"/>
              </a:ext>
            </a:extLst>
          </p:cNvPr>
          <p:cNvSpPr txBox="1">
            <a:spLocks/>
          </p:cNvSpPr>
          <p:nvPr/>
        </p:nvSpPr>
        <p:spPr>
          <a:xfrm>
            <a:off x="2551077" y="440489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7" action="ppaction://hlinksldjump">
                  <a:extLst>
                    <a:ext uri="{A12FA001-AC4F-418D-AE19-62706E023703}">
                      <ahyp:hlinkClr xmlns:ahyp="http://schemas.microsoft.com/office/drawing/2018/hyperlinkcolor" val="tx"/>
                    </a:ext>
                  </a:extLst>
                </a:hlinkClick>
              </a:rPr>
              <a:t>Real Estate</a:t>
            </a:r>
            <a:endParaRPr lang="en-US" sz="1400" dirty="0">
              <a:solidFill>
                <a:schemeClr val="bg1"/>
              </a:solidFill>
            </a:endParaRPr>
          </a:p>
        </p:txBody>
      </p:sp>
      <p:sp>
        <p:nvSpPr>
          <p:cNvPr id="44" name="Text Placeholder 34">
            <a:extLst>
              <a:ext uri="{FF2B5EF4-FFF2-40B4-BE49-F238E27FC236}">
                <a16:creationId xmlns:a16="http://schemas.microsoft.com/office/drawing/2014/main" id="{126272F2-2604-F999-4052-51E6432DA8CD}"/>
              </a:ext>
            </a:extLst>
          </p:cNvPr>
          <p:cNvSpPr txBox="1">
            <a:spLocks/>
          </p:cNvSpPr>
          <p:nvPr/>
        </p:nvSpPr>
        <p:spPr>
          <a:xfrm>
            <a:off x="2551077" y="508768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8" action="ppaction://hlinksldjump">
                  <a:extLst>
                    <a:ext uri="{A12FA001-AC4F-418D-AE19-62706E023703}">
                      <ahyp:hlinkClr xmlns:ahyp="http://schemas.microsoft.com/office/drawing/2018/hyperlinkcolor" val="tx"/>
                    </a:ext>
                  </a:extLst>
                </a:hlinkClick>
              </a:rPr>
              <a:t>TMT</a:t>
            </a:r>
            <a:endParaRPr lang="en-US" sz="1400" dirty="0">
              <a:solidFill>
                <a:schemeClr val="bg1"/>
              </a:solidFill>
            </a:endParaRPr>
          </a:p>
        </p:txBody>
      </p:sp>
      <p:sp>
        <p:nvSpPr>
          <p:cNvPr id="2" name="Text Placeholder 34">
            <a:extLst>
              <a:ext uri="{FF2B5EF4-FFF2-40B4-BE49-F238E27FC236}">
                <a16:creationId xmlns:a16="http://schemas.microsoft.com/office/drawing/2014/main" id="{1F31319B-C5BE-6B36-8340-85C1242D186C}"/>
              </a:ext>
            </a:extLst>
          </p:cNvPr>
          <p:cNvSpPr txBox="1">
            <a:spLocks/>
          </p:cNvSpPr>
          <p:nvPr/>
        </p:nvSpPr>
        <p:spPr>
          <a:xfrm>
            <a:off x="2551077" y="303932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9" action="ppaction://hlinksldjump">
                  <a:extLst>
                    <a:ext uri="{A12FA001-AC4F-418D-AE19-62706E023703}">
                      <ahyp:hlinkClr xmlns:ahyp="http://schemas.microsoft.com/office/drawing/2018/hyperlinkcolor" val="tx"/>
                    </a:ext>
                  </a:extLst>
                </a:hlinkClick>
              </a:rPr>
              <a:t>Health Care</a:t>
            </a:r>
            <a:endParaRPr lang="en-US" sz="1400" dirty="0">
              <a:solidFill>
                <a:schemeClr val="bg1"/>
              </a:solidFill>
            </a:endParaRPr>
          </a:p>
        </p:txBody>
      </p:sp>
      <p:sp>
        <p:nvSpPr>
          <p:cNvPr id="4" name="Text Placeholder 38">
            <a:extLst>
              <a:ext uri="{FF2B5EF4-FFF2-40B4-BE49-F238E27FC236}">
                <a16:creationId xmlns:a16="http://schemas.microsoft.com/office/drawing/2014/main" id="{5DECD76E-92A7-6EBA-AA65-946D420EB342}"/>
              </a:ext>
            </a:extLst>
          </p:cNvPr>
          <p:cNvSpPr txBox="1">
            <a:spLocks/>
          </p:cNvSpPr>
          <p:nvPr/>
        </p:nvSpPr>
        <p:spPr>
          <a:xfrm>
            <a:off x="2551077" y="3722109"/>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0" action="ppaction://hlinksldjump">
                  <a:extLst>
                    <a:ext uri="{A12FA001-AC4F-418D-AE19-62706E023703}">
                      <ahyp:hlinkClr xmlns:ahyp="http://schemas.microsoft.com/office/drawing/2018/hyperlinkcolor" val="tx"/>
                    </a:ext>
                  </a:extLst>
                </a:hlinkClick>
              </a:rPr>
              <a:t>Oil, Gas and Petrochemicals</a:t>
            </a:r>
            <a:endParaRPr lang="en-US" sz="1400" dirty="0">
              <a:solidFill>
                <a:schemeClr val="bg1"/>
              </a:solidFill>
            </a:endParaRPr>
          </a:p>
        </p:txBody>
      </p:sp>
      <p:sp>
        <p:nvSpPr>
          <p:cNvPr id="6" name="Text Placeholder 30">
            <a:extLst>
              <a:ext uri="{FF2B5EF4-FFF2-40B4-BE49-F238E27FC236}">
                <a16:creationId xmlns:a16="http://schemas.microsoft.com/office/drawing/2014/main" id="{06263A0B-F6B7-9BC6-E223-813A76AD1E58}"/>
              </a:ext>
            </a:extLst>
          </p:cNvPr>
          <p:cNvSpPr txBox="1">
            <a:spLocks/>
          </p:cNvSpPr>
          <p:nvPr/>
        </p:nvSpPr>
        <p:spPr>
          <a:xfrm>
            <a:off x="2551077" y="2028989"/>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1" action="ppaction://hlinksldjump">
                  <a:extLst>
                    <a:ext uri="{A12FA001-AC4F-418D-AE19-62706E023703}">
                      <ahyp:hlinkClr xmlns:ahyp="http://schemas.microsoft.com/office/drawing/2018/hyperlinkcolor" val="tx"/>
                    </a:ext>
                  </a:extLst>
                </a:hlinkClick>
              </a:rPr>
              <a:t>Banks &amp; Non-Bank Financials</a:t>
            </a:r>
            <a:endParaRPr lang="en-US" sz="1400" dirty="0">
              <a:solidFill>
                <a:schemeClr val="bg1"/>
              </a:solidFill>
            </a:endParaRPr>
          </a:p>
        </p:txBody>
      </p:sp>
      <p:sp>
        <p:nvSpPr>
          <p:cNvPr id="7" name="Text Placeholder 34">
            <a:extLst>
              <a:ext uri="{FF2B5EF4-FFF2-40B4-BE49-F238E27FC236}">
                <a16:creationId xmlns:a16="http://schemas.microsoft.com/office/drawing/2014/main" id="{AC14EBF5-8FE6-72E6-546F-BF9217AC771C}"/>
              </a:ext>
            </a:extLst>
          </p:cNvPr>
          <p:cNvSpPr txBox="1">
            <a:spLocks/>
          </p:cNvSpPr>
          <p:nvPr/>
        </p:nvSpPr>
        <p:spPr>
          <a:xfrm>
            <a:off x="2551077" y="339456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2" action="ppaction://hlinksldjump">
                  <a:extLst>
                    <a:ext uri="{A12FA001-AC4F-418D-AE19-62706E023703}">
                      <ahyp:hlinkClr xmlns:ahyp="http://schemas.microsoft.com/office/drawing/2018/hyperlinkcolor" val="tx"/>
                    </a:ext>
                  </a:extLst>
                </a:hlinkClick>
              </a:rPr>
              <a:t>Metals &amp; Mining</a:t>
            </a:r>
            <a:endParaRPr lang="en-US" sz="1400" dirty="0">
              <a:solidFill>
                <a:schemeClr val="bg1"/>
              </a:solidFill>
            </a:endParaRPr>
          </a:p>
        </p:txBody>
      </p:sp>
      <p:sp>
        <p:nvSpPr>
          <p:cNvPr id="8" name="Text Placeholder 34">
            <a:extLst>
              <a:ext uri="{FF2B5EF4-FFF2-40B4-BE49-F238E27FC236}">
                <a16:creationId xmlns:a16="http://schemas.microsoft.com/office/drawing/2014/main" id="{6658A036-5109-FF40-A3A7-6F6221FD69A9}"/>
              </a:ext>
            </a:extLst>
          </p:cNvPr>
          <p:cNvSpPr txBox="1">
            <a:spLocks/>
          </p:cNvSpPr>
          <p:nvPr/>
        </p:nvSpPr>
        <p:spPr>
          <a:xfrm>
            <a:off x="2551076" y="4077353"/>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3" action="ppaction://hlinksldjump">
                  <a:extLst>
                    <a:ext uri="{A12FA001-AC4F-418D-AE19-62706E023703}">
                      <ahyp:hlinkClr xmlns:ahyp="http://schemas.microsoft.com/office/drawing/2018/hyperlinkcolor" val="tx"/>
                    </a:ext>
                  </a:extLst>
                </a:hlinkClick>
              </a:rPr>
              <a:t>Pulp &amp; Paper</a:t>
            </a:r>
            <a:endParaRPr lang="en-US" sz="1400" dirty="0">
              <a:solidFill>
                <a:schemeClr val="bg1"/>
              </a:solidFill>
            </a:endParaRPr>
          </a:p>
        </p:txBody>
      </p:sp>
      <p:sp>
        <p:nvSpPr>
          <p:cNvPr id="9" name="Text Placeholder 34">
            <a:extLst>
              <a:ext uri="{FF2B5EF4-FFF2-40B4-BE49-F238E27FC236}">
                <a16:creationId xmlns:a16="http://schemas.microsoft.com/office/drawing/2014/main" id="{D60E3809-1277-5B30-3027-402F0C842CC8}"/>
              </a:ext>
            </a:extLst>
          </p:cNvPr>
          <p:cNvSpPr txBox="1">
            <a:spLocks/>
          </p:cNvSpPr>
          <p:nvPr/>
        </p:nvSpPr>
        <p:spPr>
          <a:xfrm>
            <a:off x="2551077" y="2356533"/>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a:solidFill>
                  <a:schemeClr val="bg1"/>
                </a:solidFill>
                <a:hlinkClick r:id="rId14" action="ppaction://hlinksldjump">
                  <a:extLst>
                    <a:ext uri="{A12FA001-AC4F-418D-AE19-62706E023703}">
                      <ahyp:hlinkClr xmlns:ahyp="http://schemas.microsoft.com/office/drawing/2018/hyperlinkcolor" val="tx"/>
                    </a:ext>
                  </a:extLst>
                </a:hlinkClick>
              </a:rPr>
              <a:t>Capital </a:t>
            </a:r>
            <a:r>
              <a:rPr lang="pt-BR" sz="1400" dirty="0" err="1">
                <a:solidFill>
                  <a:schemeClr val="bg1"/>
                </a:solidFill>
                <a:hlinkClick r:id="rId14" action="ppaction://hlinksldjump">
                  <a:extLst>
                    <a:ext uri="{A12FA001-AC4F-418D-AE19-62706E023703}">
                      <ahyp:hlinkClr xmlns:ahyp="http://schemas.microsoft.com/office/drawing/2018/hyperlinkcolor" val="tx"/>
                    </a:ext>
                  </a:extLst>
                </a:hlinkClick>
              </a:rPr>
              <a:t>Goods</a:t>
            </a:r>
            <a:endParaRPr lang="en-US" sz="1400" dirty="0">
              <a:solidFill>
                <a:schemeClr val="bg1"/>
              </a:solidFill>
            </a:endParaRPr>
          </a:p>
        </p:txBody>
      </p:sp>
      <p:sp>
        <p:nvSpPr>
          <p:cNvPr id="10" name="Text Placeholder 30">
            <a:extLst>
              <a:ext uri="{FF2B5EF4-FFF2-40B4-BE49-F238E27FC236}">
                <a16:creationId xmlns:a16="http://schemas.microsoft.com/office/drawing/2014/main" id="{69BFC188-1F11-95CC-244C-031BC92633E5}"/>
              </a:ext>
            </a:extLst>
          </p:cNvPr>
          <p:cNvSpPr txBox="1">
            <a:spLocks/>
          </p:cNvSpPr>
          <p:nvPr/>
        </p:nvSpPr>
        <p:spPr>
          <a:xfrm>
            <a:off x="2551077" y="170144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err="1">
                <a:solidFill>
                  <a:schemeClr val="bg1"/>
                </a:solidFill>
                <a:hlinkClick r:id="rId4" action="ppaction://hlinksldjump">
                  <a:extLst>
                    <a:ext uri="{A12FA001-AC4F-418D-AE19-62706E023703}">
                      <ahyp:hlinkClr xmlns:ahyp="http://schemas.microsoft.com/office/drawing/2018/hyperlinkcolor" val="tx"/>
                    </a:ext>
                  </a:extLst>
                </a:hlinkClick>
              </a:rPr>
              <a:t>Agri</a:t>
            </a:r>
            <a:r>
              <a:rPr lang="pt-BR" sz="1400" dirty="0">
                <a:solidFill>
                  <a:schemeClr val="bg1"/>
                </a:solidFill>
                <a:hlinkClick r:id="rId4" action="ppaction://hlinksldjump">
                  <a:extLst>
                    <a:ext uri="{A12FA001-AC4F-418D-AE19-62706E023703}">
                      <ahyp:hlinkClr xmlns:ahyp="http://schemas.microsoft.com/office/drawing/2018/hyperlinkcolor" val="tx"/>
                    </a:ext>
                  </a:extLst>
                </a:hlinkClick>
              </a:rPr>
              <a:t>, Food &amp; </a:t>
            </a:r>
            <a:r>
              <a:rPr lang="pt-BR" sz="1400" dirty="0" err="1">
                <a:solidFill>
                  <a:schemeClr val="bg1"/>
                </a:solidFill>
                <a:hlinkClick r:id="rId4" action="ppaction://hlinksldjump">
                  <a:extLst>
                    <a:ext uri="{A12FA001-AC4F-418D-AE19-62706E023703}">
                      <ahyp:hlinkClr xmlns:ahyp="http://schemas.microsoft.com/office/drawing/2018/hyperlinkcolor" val="tx"/>
                    </a:ext>
                  </a:extLst>
                </a:hlinkClick>
              </a:rPr>
              <a:t>Beverages</a:t>
            </a:r>
            <a:r>
              <a:rPr lang="pt-BR" sz="1400" dirty="0">
                <a:solidFill>
                  <a:schemeClr val="bg1"/>
                </a:solidFill>
                <a:hlinkClick r:id="rId4" action="ppaction://hlinksldjump">
                  <a:extLst>
                    <a:ext uri="{A12FA001-AC4F-418D-AE19-62706E023703}">
                      <ahyp:hlinkClr xmlns:ahyp="http://schemas.microsoft.com/office/drawing/2018/hyperlinkcolor" val="tx"/>
                    </a:ext>
                  </a:extLst>
                </a:hlinkClick>
              </a:rPr>
              <a:t> </a:t>
            </a:r>
            <a:endParaRPr lang="pt-BR" sz="1400" dirty="0">
              <a:solidFill>
                <a:schemeClr val="bg1"/>
              </a:solidFill>
            </a:endParaRPr>
          </a:p>
        </p:txBody>
      </p:sp>
      <p:sp>
        <p:nvSpPr>
          <p:cNvPr id="11" name="Text Placeholder 34">
            <a:extLst>
              <a:ext uri="{FF2B5EF4-FFF2-40B4-BE49-F238E27FC236}">
                <a16:creationId xmlns:a16="http://schemas.microsoft.com/office/drawing/2014/main" id="{6D00D9F1-33E2-F085-FBC2-D839C6316B7E}"/>
              </a:ext>
            </a:extLst>
          </p:cNvPr>
          <p:cNvSpPr txBox="1">
            <a:spLocks/>
          </p:cNvSpPr>
          <p:nvPr/>
        </p:nvSpPr>
        <p:spPr>
          <a:xfrm>
            <a:off x="2551077" y="271177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spcBef>
                <a:spcPts val="400"/>
              </a:spcBef>
            </a:pPr>
            <a:r>
              <a:rPr lang="pt-BR" sz="1400" dirty="0" err="1">
                <a:solidFill>
                  <a:schemeClr val="bg1"/>
                </a:solidFill>
                <a:hlinkClick r:id="rId15" action="ppaction://hlinksldjump">
                  <a:extLst>
                    <a:ext uri="{A12FA001-AC4F-418D-AE19-62706E023703}">
                      <ahyp:hlinkClr xmlns:ahyp="http://schemas.microsoft.com/office/drawing/2018/hyperlinkcolor" val="tx"/>
                    </a:ext>
                  </a:extLst>
                </a:hlinkClick>
              </a:rPr>
              <a:t>Education</a:t>
            </a:r>
            <a:endParaRPr lang="en-US" sz="1400" dirty="0">
              <a:solidFill>
                <a:schemeClr val="bg1"/>
              </a:solidFill>
            </a:endParaRPr>
          </a:p>
        </p:txBody>
      </p:sp>
      <p:sp>
        <p:nvSpPr>
          <p:cNvPr id="3" name="Text Placeholder 34">
            <a:extLst>
              <a:ext uri="{FF2B5EF4-FFF2-40B4-BE49-F238E27FC236}">
                <a16:creationId xmlns:a16="http://schemas.microsoft.com/office/drawing/2014/main" id="{BD41FC9D-4324-E9B0-C649-D51423FACFE2}"/>
              </a:ext>
            </a:extLst>
          </p:cNvPr>
          <p:cNvSpPr txBox="1">
            <a:spLocks/>
          </p:cNvSpPr>
          <p:nvPr/>
        </p:nvSpPr>
        <p:spPr>
          <a:xfrm>
            <a:off x="2551077" y="5409072"/>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6" action="ppaction://hlinksldjump">
                  <a:extLst>
                    <a:ext uri="{A12FA001-AC4F-418D-AE19-62706E023703}">
                      <ahyp:hlinkClr xmlns:ahyp="http://schemas.microsoft.com/office/drawing/2018/hyperlinkcolor" val="tx"/>
                    </a:ext>
                  </a:extLst>
                </a:hlinkClick>
              </a:rPr>
              <a:t>Transportation</a:t>
            </a:r>
            <a:endParaRPr lang="en-US" sz="1400" dirty="0">
              <a:solidFill>
                <a:schemeClr val="bg1"/>
              </a:solidFill>
            </a:endParaRPr>
          </a:p>
        </p:txBody>
      </p:sp>
    </p:spTree>
    <p:extLst>
      <p:ext uri="{BB962C8B-B14F-4D97-AF65-F5344CB8AC3E}">
        <p14:creationId xmlns:p14="http://schemas.microsoft.com/office/powerpoint/2010/main" val="1666828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E881F-E00D-00DF-99A4-5A1EFD2F8BF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82BE20C-0645-8ECA-D737-9EE498F9AC9F}"/>
              </a:ext>
            </a:extLst>
          </p:cNvPr>
          <p:cNvSpPr>
            <a:spLocks noGrp="1"/>
          </p:cNvSpPr>
          <p:nvPr>
            <p:ph type="body" sz="quarter" idx="20"/>
          </p:nvPr>
        </p:nvSpPr>
        <p:spPr>
          <a:xfrm>
            <a:off x="382829" y="1500035"/>
            <a:ext cx="6106870" cy="7953528"/>
          </a:xfrm>
          <a:noFill/>
        </p:spPr>
        <p:txBody>
          <a:bodyPr/>
          <a:lstStyle/>
          <a:p>
            <a:pPr algn="r"/>
            <a:r>
              <a:rPr lang="pt-BR" i="1" dirty="0" err="1">
                <a:solidFill>
                  <a:schemeClr val="tx1"/>
                </a:solidFill>
              </a:rPr>
              <a:t>by</a:t>
            </a:r>
            <a:r>
              <a:rPr lang="pt-BR" i="1" dirty="0">
                <a:solidFill>
                  <a:schemeClr val="tx1"/>
                </a:solidFill>
              </a:rPr>
              <a:t> Marcella Ungaretti, Luiza Aguiar</a:t>
            </a:r>
          </a:p>
          <a:p>
            <a:r>
              <a:rPr lang="en-US" b="1" dirty="0"/>
              <a:t>JBS (JBSS3)</a:t>
            </a:r>
            <a:r>
              <a:rPr lang="en-US" dirty="0"/>
              <a:t>: Dual listing process in focus. The completion of JBS’s dual listing strategy was a key topic in the company’s meetings. With shares now traded on both the NYSE and Brazil’s B3 via BDRs, the move highlights JBS’s global scale and is expected to expand its shareholder base, with potential inclusion in the Russell 1000 and, over time, eligibility for the S&amp;P 500¹. Following the US listing, JBS emphasized two major changes: (</a:t>
            </a:r>
            <a:r>
              <a:rPr lang="en-US" dirty="0" err="1"/>
              <a:t>i</a:t>
            </a:r>
            <a:r>
              <a:rPr lang="en-US" dirty="0"/>
              <a:t>) financial reporting obligations: JBS reaffirmed its commitment to improved transparency for investors, with the goal to not only comply with IFRS but also US GAAP, aiming to enhance clarity and comparability; and (ii) dividend policy: no longer subject to Brazil’s 25% minimum payout rule, JBS will now base dividend payments on free cash flow, better reflecting the inherent cyclicality of the protein sector – while management does not commit to a formal policy, JBS has distributed US$1bn in 2024, and intends to sustain this level in 2025 and beyond, with potential upside in stronger earnings cycles. </a:t>
            </a:r>
          </a:p>
          <a:p>
            <a:r>
              <a:rPr lang="en-US" b="1" dirty="0" err="1"/>
              <a:t>Localiza</a:t>
            </a:r>
            <a:r>
              <a:rPr lang="en-US" b="1" dirty="0"/>
              <a:t> (RENT3) and Movida (MOVI3):</a:t>
            </a:r>
            <a:r>
              <a:rPr lang="en-US" dirty="0"/>
              <a:t> Strengthening resilience, preserving optionality. Both </a:t>
            </a:r>
            <a:r>
              <a:rPr lang="en-US" dirty="0" err="1"/>
              <a:t>Localiza</a:t>
            </a:r>
            <a:r>
              <a:rPr lang="en-US" dirty="0"/>
              <a:t> and Movida underscored a cautious and efficiency-driven strategy, prioritizing operational resilience and returns over volume expansion, particularly in a context of high-interest rate environment. </a:t>
            </a:r>
            <a:r>
              <a:rPr lang="en-US" dirty="0" err="1"/>
              <a:t>Localiza</a:t>
            </a:r>
            <a:r>
              <a:rPr lang="en-US" dirty="0"/>
              <a:t> highlighted the implementation of significant efficiency measures, with a strong focus on tighter cost discipline across operations. Movida echoed a similar approach, emphasizing cost control while also focusing on price passthrough and deleveraging. On fleet electrification, both management teams were aligned: hybrid vehicles are gaining traction, while full electric adoption in Brazil remains limited due to weak charging infrastructure, higher depreciation, and affordability constraints. As a result, adoption is still slow, with any acceleration dependent on future shifts in consumer demand.</a:t>
            </a:r>
          </a:p>
          <a:p>
            <a:r>
              <a:rPr lang="en-US" b="1" dirty="0"/>
              <a:t>WEG (WEGE3):</a:t>
            </a:r>
            <a:r>
              <a:rPr lang="en-US" dirty="0"/>
              <a:t> Positioned to capture secular shifts in energy transition and electrical mobility. WEG reinforced its positioning as a diversified player in electrification. In the near term, momentum is supported by an accretive backlog in transmission and distribution (T&amp;D), particularly by transformers’ demand in the United States. Looking ahead, three opportunities stand out: (</a:t>
            </a:r>
            <a:r>
              <a:rPr lang="en-US" dirty="0" err="1"/>
              <a:t>i</a:t>
            </a:r>
            <a:r>
              <a:rPr lang="en-US" dirty="0"/>
              <a:t>) electric mobility, where progress in Brazil remains gradual, limiting near-term volumes, WEG is well positioned to capture upside as adoption accelerates, especially in charging infrastructure and powertrains; (ii) energy storage, with Brazil’s upcoming battery auction potentially unlocking new contracts, contingent on regulatory developments; and (iii) synchronous condensers, an increasingly key solution for grids with high renewable penetration and growing demand across multiple geographies². On the risk side, US tariffs were a recurring topic. The key risk lies in potential demand erosion, rather than supply chain constraints or price, as WEG is mitigating impacts by diversifying production routes (notably via Mexico). Overall, WEG remains exposed to multiple secular growth vectors, though the pace of monetization is likely to hinge on regulatory clarity and broader macro demand trends. </a:t>
            </a:r>
          </a:p>
          <a:p>
            <a:pPr algn="ctr"/>
            <a:endParaRPr lang="en-US" i="1" dirty="0"/>
          </a:p>
        </p:txBody>
      </p:sp>
      <p:sp>
        <p:nvSpPr>
          <p:cNvPr id="13" name="Text Placeholder 12">
            <a:extLst>
              <a:ext uri="{FF2B5EF4-FFF2-40B4-BE49-F238E27FC236}">
                <a16:creationId xmlns:a16="http://schemas.microsoft.com/office/drawing/2014/main" id="{A5A4FC4C-EE1A-6BC9-0619-B00519C4F1FA}"/>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D493D917-0D2A-F213-C41D-D263FE7F787D}"/>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0815913B-3BE7-747E-6D97-9787826A1B89}"/>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4A40FB78-16A4-946D-A4D8-C2C135D0B5C0}"/>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86623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CB94A-F7CD-A9C1-E851-A4B5283D890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2D2972-2383-CC81-94E1-D24B433B6ECB}"/>
              </a:ext>
            </a:extLst>
          </p:cNvPr>
          <p:cNvSpPr>
            <a:spLocks noGrp="1"/>
          </p:cNvSpPr>
          <p:nvPr>
            <p:ph type="body" sz="quarter" idx="20"/>
          </p:nvPr>
        </p:nvSpPr>
        <p:spPr>
          <a:xfrm>
            <a:off x="382829" y="1500035"/>
            <a:ext cx="6106870" cy="7953528"/>
          </a:xfrm>
          <a:noFill/>
        </p:spPr>
        <p:txBody>
          <a:bodyPr/>
          <a:lstStyle/>
          <a:p>
            <a:r>
              <a:rPr lang="en-US" b="1" dirty="0" err="1">
                <a:solidFill>
                  <a:schemeClr val="tx1"/>
                </a:solidFill>
              </a:rPr>
              <a:t>Vibra</a:t>
            </a:r>
            <a:r>
              <a:rPr lang="en-US" b="1" dirty="0">
                <a:solidFill>
                  <a:schemeClr val="tx1"/>
                </a:solidFill>
              </a:rPr>
              <a:t> (VBBR3):</a:t>
            </a:r>
            <a:r>
              <a:rPr lang="en-US" dirty="0">
                <a:solidFill>
                  <a:schemeClr val="tx1"/>
                </a:solidFill>
              </a:rPr>
              <a:t> Focus on </a:t>
            </a:r>
            <a:r>
              <a:rPr lang="en-US" dirty="0" err="1">
                <a:solidFill>
                  <a:schemeClr val="tx1"/>
                </a:solidFill>
              </a:rPr>
              <a:t>Comerc</a:t>
            </a:r>
            <a:r>
              <a:rPr lang="en-US" dirty="0">
                <a:solidFill>
                  <a:schemeClr val="tx1"/>
                </a:solidFill>
              </a:rPr>
              <a:t> integration and CBIO regulation. </a:t>
            </a:r>
            <a:r>
              <a:rPr lang="en-US" dirty="0" err="1">
                <a:solidFill>
                  <a:schemeClr val="tx1"/>
                </a:solidFill>
              </a:rPr>
              <a:t>Vibra's</a:t>
            </a:r>
            <a:r>
              <a:rPr lang="en-US" dirty="0">
                <a:solidFill>
                  <a:schemeClr val="tx1"/>
                </a:solidFill>
              </a:rPr>
              <a:t> strategy following the acquisition of </a:t>
            </a:r>
            <a:r>
              <a:rPr lang="en-US" dirty="0" err="1">
                <a:solidFill>
                  <a:schemeClr val="tx1"/>
                </a:solidFill>
              </a:rPr>
              <a:t>Comerc</a:t>
            </a:r>
            <a:r>
              <a:rPr lang="en-US" dirty="0">
                <a:solidFill>
                  <a:schemeClr val="tx1"/>
                </a:solidFill>
              </a:rPr>
              <a:t> was a key topic during discussions. Although the sector has deteriorated since the transaction, management reaffirmed that </a:t>
            </a:r>
            <a:r>
              <a:rPr lang="en-US" dirty="0" err="1">
                <a:solidFill>
                  <a:schemeClr val="tx1"/>
                </a:solidFill>
              </a:rPr>
              <a:t>Comerc</a:t>
            </a:r>
            <a:r>
              <a:rPr lang="en-US" dirty="0">
                <a:solidFill>
                  <a:schemeClr val="tx1"/>
                </a:solidFill>
              </a:rPr>
              <a:t> remains a </a:t>
            </a:r>
            <a:r>
              <a:rPr lang="en-US" dirty="0" err="1">
                <a:solidFill>
                  <a:schemeClr val="tx1"/>
                </a:solidFill>
              </a:rPr>
              <a:t>highquality</a:t>
            </a:r>
            <a:r>
              <a:rPr lang="en-US" dirty="0">
                <a:solidFill>
                  <a:schemeClr val="tx1"/>
                </a:solidFill>
              </a:rPr>
              <a:t> asset, backed by strong leadership and SG&amp;A efficiencies that help mitigate (though not fully offset) the impact of curtailment, that remains a problem. Addressing market speculation around a potential divestment, while </a:t>
            </a:r>
            <a:r>
              <a:rPr lang="en-US" dirty="0" err="1">
                <a:solidFill>
                  <a:schemeClr val="tx1"/>
                </a:solidFill>
              </a:rPr>
              <a:t>Vibra</a:t>
            </a:r>
            <a:r>
              <a:rPr lang="en-US" dirty="0">
                <a:solidFill>
                  <a:schemeClr val="tx1"/>
                </a:solidFill>
              </a:rPr>
              <a:t> emphasized that the company is not facing leverage or profitability pressures, the management acknowledged that asset sales - including </a:t>
            </a:r>
            <a:r>
              <a:rPr lang="en-US" dirty="0" err="1">
                <a:solidFill>
                  <a:schemeClr val="tx1"/>
                </a:solidFill>
              </a:rPr>
              <a:t>Comerc</a:t>
            </a:r>
            <a:r>
              <a:rPr lang="en-US" dirty="0">
                <a:solidFill>
                  <a:schemeClr val="tx1"/>
                </a:solidFill>
              </a:rPr>
              <a:t> - remain an ongoing possibility, as part of a broader approach to opportunistic portfolio optimization and disciplined capital allocation. On the regulatory front, </a:t>
            </a:r>
            <a:r>
              <a:rPr lang="en-US" dirty="0" err="1">
                <a:solidFill>
                  <a:schemeClr val="tx1"/>
                </a:solidFill>
              </a:rPr>
              <a:t>Vibra</a:t>
            </a:r>
            <a:r>
              <a:rPr lang="en-US" dirty="0">
                <a:solidFill>
                  <a:schemeClr val="tx1"/>
                </a:solidFill>
              </a:rPr>
              <a:t> highlighted the implementation of the new CBIO legislation, which aims to close loopholes in the previous framework and enhance compliance. Management expects the market to adapt by year-end, with all obligated parties required to purchase CBIOs in 2025 and stricter penalties - including suspension of non-compliant distributors – effective January 2026. While current CBIO prices do not yet reflect these forthcoming measures, the new framework is expected to support prices going forward. </a:t>
            </a:r>
          </a:p>
          <a:p>
            <a:r>
              <a:rPr lang="en-US" b="1" dirty="0">
                <a:solidFill>
                  <a:schemeClr val="tx1"/>
                </a:solidFill>
              </a:rPr>
              <a:t>Vale (VALE3):</a:t>
            </a:r>
            <a:r>
              <a:rPr lang="en-US" dirty="0">
                <a:solidFill>
                  <a:schemeClr val="tx1"/>
                </a:solidFill>
              </a:rPr>
              <a:t> Operational turnaround in base metals; a tempered but solid view on decarbonization-linked premiums. Conveying a constructive outlook, Vale emphasized its base metals segment as a core operational focus, highlighting increased copper and nickel production alongside declining costs. In nickel, although not Vale’s top priority within the base metals division, the company remains committed to its operational turnaround and capex optimization efforts. Copper, in turn, is viewed as a key growth driver, supported by the </a:t>
            </a:r>
            <a:r>
              <a:rPr lang="en-US" dirty="0" err="1">
                <a:solidFill>
                  <a:schemeClr val="tx1"/>
                </a:solidFill>
              </a:rPr>
              <a:t>Carajás</a:t>
            </a:r>
            <a:r>
              <a:rPr lang="en-US" dirty="0">
                <a:solidFill>
                  <a:schemeClr val="tx1"/>
                </a:solidFill>
              </a:rPr>
              <a:t> projects targeting 700kt capacity, while future international expansion is not ruled out, albeit cautiously. On decarbonization, Vale reaffirmed that demand for high-quality iron ore is likely to command a long-term price premium. However, the pace has moderated, with current premiums at US$17/t (down from a peak of US$40/t), reflecting weaker global momentum toward decarbonization, weighing on iron ore premiums. </a:t>
            </a:r>
          </a:p>
          <a:p>
            <a:r>
              <a:rPr lang="en-US" b="1" dirty="0">
                <a:solidFill>
                  <a:schemeClr val="tx1"/>
                </a:solidFill>
              </a:rPr>
              <a:t>Petrobras (PETR4):</a:t>
            </a:r>
            <a:r>
              <a:rPr lang="en-US" dirty="0">
                <a:solidFill>
                  <a:schemeClr val="tx1"/>
                </a:solidFill>
              </a:rPr>
              <a:t> Ethanol as a potential optionality, though no concrete plans at this stage. Amid questions regarding potential M&amp;A transactions in adjacent sectors, Petrobras highlighted the potential return to ethanol as an area of interest, though clarifying that no concrete investments or partnerships are currently planned. According to the company, any re-entry into the ethanol space would likely involve minority stakes, similar to Petrobras’ past approach. On capital discipline, the company reinforced that any new M&amp;A needs to meet the company's minimum required return targets. Finally, 2026 will be a pivotal year, with ongoing cost-cutting initiatives helping to ensure expenditures remain controlled in an environment of lower Brent prices. </a:t>
            </a:r>
            <a:endParaRPr lang="pt-BR" dirty="0">
              <a:solidFill>
                <a:schemeClr val="tx1"/>
              </a:solidFill>
            </a:endParaRPr>
          </a:p>
        </p:txBody>
      </p:sp>
      <p:sp>
        <p:nvSpPr>
          <p:cNvPr id="13" name="Text Placeholder 12">
            <a:extLst>
              <a:ext uri="{FF2B5EF4-FFF2-40B4-BE49-F238E27FC236}">
                <a16:creationId xmlns:a16="http://schemas.microsoft.com/office/drawing/2014/main" id="{8CE1E03B-89F2-9E59-051D-3F5C77ABB253}"/>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C860CC31-A678-9325-816E-E187EBB668F2}"/>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E2211315-47F6-5C6B-12FB-FDF6435CE823}"/>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82F820EB-8074-F4EF-1B91-B3AB4687485B}"/>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4882856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9E63-DFFD-4046-4D16-59BBE59D11C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pPr algn="r"/>
            <a:r>
              <a:rPr lang="en-US" i="1" dirty="0"/>
              <a:t>by Leonardo Alencar, Leonardo Paiva</a:t>
            </a:r>
          </a:p>
          <a:p>
            <a:r>
              <a:rPr lang="en-US" dirty="0"/>
              <a:t>On August 17-18, we hosted the XP CEO Conference, bringing together nearly all Agri &amp; Food companies under our coverage. Overall, investor sentiment was broadly constructive, reflecting improving fundamentals across several sectors and a generally more positive outlook from management teams.</a:t>
            </a:r>
          </a:p>
          <a:p>
            <a:r>
              <a:rPr lang="en-US" b="1" dirty="0"/>
              <a:t>Beverages.</a:t>
            </a:r>
            <a:r>
              <a:rPr lang="en-US" dirty="0"/>
              <a:t> AmBev reinforced a more rational competitive environment in Brazil, with profitability taking precedence over volume growth. Combined with a strong net cash position, this supports a stable operating outlook and continued shareholder remuneration through IoC/dividends and buybacks, though the latter we expect a future announcement.</a:t>
            </a:r>
          </a:p>
          <a:p>
            <a:r>
              <a:rPr lang="en-US" b="1" dirty="0"/>
              <a:t>Proteins.</a:t>
            </a:r>
            <a:r>
              <a:rPr lang="en-US" dirty="0"/>
              <a:t> Sentiment remains constructive, particularly around JBS and MBRF, as management teams reinforced the view that the worst of the US cattle cycle is behind us. Mexican cattle imports, herd rebuilding, and capacity rationalization should support a more favorable outlook for US beef in 2027-28, while strong domestic demand and alternative export markets continue to offset temporary China-related disruptions in Brazil. Minerva remains the outlier, with discussions still largely centered on leverage and the pace of deleveraging.</a:t>
            </a:r>
          </a:p>
          <a:p>
            <a:r>
              <a:rPr lang="en-US" b="1" dirty="0"/>
              <a:t>Food.</a:t>
            </a:r>
            <a:r>
              <a:rPr lang="en-US" dirty="0"/>
              <a:t> Sentiment has improved, although consumer demand remains somewhat challenging. Camil highlighted a more constructive outlook for rice and deleveraging, while M. Dias Branco emphasized execution, market share gains, and efficiency initiatives.</a:t>
            </a:r>
          </a:p>
          <a:p>
            <a:r>
              <a:rPr lang="en-US" b="1" dirty="0"/>
              <a:t>Farming.</a:t>
            </a:r>
            <a:r>
              <a:rPr lang="en-US" dirty="0"/>
              <a:t> Discussions centered on risk management, hedging, and operational execution. SLC and BrasilAgro highlighted stronger commercial positions, disciplined capital allocation, and greater resilience to weather volatility, which should help mitigate potential El Niño impacts.</a:t>
            </a:r>
          </a:p>
          <a:p>
            <a:r>
              <a:rPr lang="en-US" b="1" dirty="0"/>
              <a:t>Farm Services.</a:t>
            </a:r>
            <a:r>
              <a:rPr lang="en-US" dirty="0"/>
              <a:t> Discussions were more focused on execution and capturing growth opportunities. Boa Safra is now prioritizing scale gains, efficiency improvements, and cash generation following its recent expansion cycle, while 3Tentos remains investor's preferred name, supported by the corn ethanol ramp-up, improving ethanol fundamentals, and the expected normalization of biodiesel dynamics.</a:t>
            </a:r>
          </a:p>
          <a:p>
            <a:r>
              <a:rPr lang="en-US" b="1" dirty="0"/>
              <a:t>Sugar &amp; Ethanol.</a:t>
            </a:r>
            <a:r>
              <a:rPr lang="en-US" dirty="0"/>
              <a:t> Jalles highlighted solid operational recovery and an above-average hedge position, which continues to mitigate the impact of lower sugar prices. Management also pointed to improving ethanol and sugar fundamentals and expects leverage to decline going forward.</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9625255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BF097-380C-57C3-F2B2-E96C445186D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pPr algn="r"/>
            <a:r>
              <a:rPr lang="en-US" i="1" dirty="0"/>
              <a:t>by Bernardo Guttmann, Matheus Guimarães</a:t>
            </a:r>
          </a:p>
          <a:p>
            <a:r>
              <a:rPr lang="en-US" b="1" dirty="0"/>
              <a:t>Assessing Investors’ Demand. </a:t>
            </a:r>
            <a:r>
              <a:rPr lang="en-US" dirty="0"/>
              <a:t>Companies that attended our conference were in high demand by investors, with incumbent banks receiving approximately 60 client requests on average, while other companies received around 30.</a:t>
            </a:r>
          </a:p>
          <a:p>
            <a:r>
              <a:rPr lang="en-US" b="1" dirty="0"/>
              <a:t>Mixed Moods. </a:t>
            </a:r>
            <a:r>
              <a:rPr lang="en-US" dirty="0"/>
              <a:t>Incumbent banks have brought mixed views. Bradesco shared an optimistic outlook, stating that its loan portfolio is maintaining a solid growth pace without worsening asset quality. For Banco do </a:t>
            </a:r>
            <a:r>
              <a:rPr lang="en-US" dirty="0" err="1"/>
              <a:t>Brasil</a:t>
            </a:r>
            <a:r>
              <a:rPr lang="en-US" dirty="0"/>
              <a:t>, however, the overall tone was more cautious. Although the restated guidance suggests a gradual recovery in the second half compared to the first half, the worsening of NPLs in July led investors to question whether this guidance is feasible.</a:t>
            </a:r>
          </a:p>
          <a:p>
            <a:r>
              <a:rPr lang="en-US" b="1" dirty="0"/>
              <a:t>Efficiency in the Spotlight. </a:t>
            </a:r>
            <a:r>
              <a:rPr lang="en-US" dirty="0"/>
              <a:t>In a scenario of higher interest rates, the pace of portfolio growth slows and funding costs come under pressure in the short term. As a result, banks have focused on improving margins on liabilities and enhancing efficiency, with the latter being a theme that is increasingly attracting investors' interest.</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Tree>
    <p:extLst>
      <p:ext uri="{BB962C8B-B14F-4D97-AF65-F5344CB8AC3E}">
        <p14:creationId xmlns:p14="http://schemas.microsoft.com/office/powerpoint/2010/main" val="926397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F3A99-220C-1FAC-3E74-4058EFA598B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37572D-825D-9F6A-D92B-60DDFECF2CCD}"/>
              </a:ext>
            </a:extLst>
          </p:cNvPr>
          <p:cNvSpPr>
            <a:spLocks noGrp="1"/>
          </p:cNvSpPr>
          <p:nvPr>
            <p:ph type="body" sz="quarter" idx="20"/>
          </p:nvPr>
        </p:nvSpPr>
        <p:spPr>
          <a:xfrm>
            <a:off x="382828" y="1497015"/>
            <a:ext cx="6106871" cy="7956548"/>
          </a:xfrm>
          <a:noFill/>
        </p:spPr>
        <p:txBody>
          <a:bodyPr/>
          <a:lstStyle/>
          <a:p>
            <a:pPr algn="r"/>
            <a:r>
              <a:rPr lang="en-US" i="1" dirty="0"/>
              <a:t>by Lucas Laghi, Fernanda Urbano</a:t>
            </a:r>
          </a:p>
          <a:p>
            <a:r>
              <a:rPr lang="en-US" dirty="0"/>
              <a:t>Yesterday at our 2026 XP CEO Conference in Rio de Janeiro we met with WEG's IR team, represented by Mr. André Salgueiro and Mr. Felipe Hoffmann to discuss the company's outlook and key business trends. Discussions around growth and profitability were, in our view, consistent with recent company indications, reinforcing our expectation of a gradual growth acceleration and a resilient margin profile despite ongoing tariff-related headwinds. Overall, while we continue to see a clear path for growth across multiple end-markets, we believe much of this favorable outlook is already reflected in current valuation levels, thus our Neutral rating.</a:t>
            </a:r>
          </a:p>
          <a:p>
            <a:r>
              <a:rPr lang="en-US" b="1" dirty="0"/>
              <a:t>Capacity additions remain a gradual story.</a:t>
            </a:r>
            <a:r>
              <a:rPr lang="en-US" dirty="0"/>
              <a:t> While Betim has started production, we expect a full ramp up to last up to ~12-18 months, implying a more meaningful revenue contribution in 2027E onwards. On margins, despite several moving parts, we continue to see pricing actions and operational improvements offsetting part of the tariff headwinds, leaving the overall message largely unchanged, in our view and suggesting short-term profitability closer to 2Q26's levels.</a:t>
            </a:r>
          </a:p>
          <a:p>
            <a:r>
              <a:rPr lang="en-US" b="1" dirty="0"/>
              <a:t>Increasing direct and indirect data center exposure.</a:t>
            </a:r>
            <a:r>
              <a:rPr lang="en-US" dirty="0"/>
              <a:t> In external markets, we see WEG's data-center exposure as a key talking point. While alternators remain the most visible link, management highlighted growing exposure across multiple product lines, including transformers and motors used in cooling and ventilation systems. We note that ~20% of current U.S. transformer order intake is already linked to DCs, while a significant portion of Marathon's demand is tied to backup-power applications. We continue to see room for alternators to gain relevance within Marathon's portfolio, supporting profitability through operating leverage, synergies and, especially, the adoption of WEG's verticalized operating model.</a:t>
            </a:r>
          </a:p>
          <a:p>
            <a:r>
              <a:rPr lang="en-US" b="1" dirty="0"/>
              <a:t>What stood out to us regarding domestic market.</a:t>
            </a:r>
            <a:r>
              <a:rPr lang="en-US" dirty="0"/>
              <a:t> (i) In T&amp;D, we see WEG's competitive position strengthening as global peers remain focused on export opportunities and U.S. demand, creating room for market-share gains in Brazil. Management suggested the company now holds leading positions across most major transmission transformer categories. (ii) We also note increasing concerns around Brazil's macro backdrop heading into 2027E - while shorter-cycle businesses would react first, long-cycle operations remain supported by healthy backlogs. We agree with WEG's view that the current setup differs from 2015-16, when Brazil's recession coincided with a global commodity downturn, while a weaker BRL could partly offset a softer domestic environment given WEG's export profile.</a:t>
            </a:r>
          </a:p>
          <a:p>
            <a:r>
              <a:rPr lang="en-US" b="1" dirty="0"/>
              <a:t>A word on BESS.</a:t>
            </a:r>
            <a:r>
              <a:rPr lang="en-US" dirty="0"/>
              <a:t> We continue to see management's stance as constructive ahead of the planned commissioning of the new 2GWh Itajaí facility in 2028E. While increasing competition from Chinese players remains a key concern, WEG's strategy appears more focused on execution, quality and long-standing utility relationships than on competing solely on price. Importantly, the project was designed with operational flexibility, allowing capacity adjustments should market conditions become more competitive than expected. Management also highlighted demand already emerging outside large-scale auctions, including C&amp;I, agribusiness and isolated-grid applications.</a:t>
            </a:r>
          </a:p>
        </p:txBody>
      </p:sp>
      <p:sp>
        <p:nvSpPr>
          <p:cNvPr id="7" name="Text Placeholder 6">
            <a:extLst>
              <a:ext uri="{FF2B5EF4-FFF2-40B4-BE49-F238E27FC236}">
                <a16:creationId xmlns:a16="http://schemas.microsoft.com/office/drawing/2014/main" id="{2314217F-0D01-B894-A55A-CBD38C45B7FD}"/>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109FC52-71FB-E7EF-675B-41335E8C10F7}"/>
              </a:ext>
            </a:extLst>
          </p:cNvPr>
          <p:cNvSpPr>
            <a:spLocks noGrp="1"/>
          </p:cNvSpPr>
          <p:nvPr>
            <p:ph type="body" sz="quarter" idx="17"/>
          </p:nvPr>
        </p:nvSpPr>
        <p:spPr/>
        <p:txBody>
          <a:bodyPr/>
          <a:lstStyle/>
          <a:p>
            <a:r>
              <a:rPr lang="pt-BR" dirty="0"/>
              <a:t>Capital </a:t>
            </a:r>
            <a:r>
              <a:rPr lang="pt-BR" dirty="0" err="1"/>
              <a:t>Goods</a:t>
            </a:r>
            <a:endParaRPr lang="pt-BR" dirty="0"/>
          </a:p>
        </p:txBody>
      </p:sp>
      <p:sp>
        <p:nvSpPr>
          <p:cNvPr id="9" name="Text Placeholder 8">
            <a:extLst>
              <a:ext uri="{FF2B5EF4-FFF2-40B4-BE49-F238E27FC236}">
                <a16:creationId xmlns:a16="http://schemas.microsoft.com/office/drawing/2014/main" id="{51AC0844-F4BF-9F87-A7A1-DB08FACC353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0401D7-052F-52C7-8745-F6BD53DC5A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199156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FA584-AF30-5702-1178-B35DA8A15F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dirty="0"/>
              <a:t>We hosted XP's CEO Conference on August 17-18 in Rio de Janeiro, bringing together investors, C-level executives, and senior management from across the Brazilian education sector. Meetings featured Cogna, Ânima, Yduqs, Vitru, Cruzeiro do Sul, and Grupo Salta, with discussions spanning the main strategic, operational and financial themes currently shaping each company. In this report, we summarize the key takeaways from our conversations with management teams.</a:t>
            </a:r>
          </a:p>
          <a:p>
            <a:r>
              <a:rPr lang="en-US" b="1" dirty="0"/>
              <a:t>The new distance learning regulatory framework remains a key topic across all higher education companies.</a:t>
            </a:r>
            <a:r>
              <a:rPr lang="en-US" dirty="0"/>
              <a:t> Companies are moving from regulatory planning into implementation, adapting physical footprints ahead of the new rules. While the magnitude and timing differ across players, higher in-person requirements should bring incremental costs and investments, while potentially supporting a more rational competitive and pricing environment over time.</a:t>
            </a:r>
          </a:p>
          <a:p>
            <a:r>
              <a:rPr lang="en-US" b="1" dirty="0"/>
              <a:t>A still-challenging intake environment, with greater focus on value over volume.</a:t>
            </a:r>
            <a:r>
              <a:rPr lang="en-US" dirty="0"/>
              <a:t> Competitive intensity remains high, keeping pressure on intake volumes and pricing. Across our conversations, however, companies increasingly emphasized student quality, engagement, retention, and ticket levels rather than intake growth alone.</a:t>
            </a:r>
          </a:p>
          <a:p>
            <a:r>
              <a:rPr lang="en-US" b="1" dirty="0"/>
              <a:t>Growth is increasingly tied to mix, maturation, and execution.</a:t>
            </a:r>
            <a:r>
              <a:rPr lang="en-US" dirty="0"/>
              <a:t> Medical and Healthcare programs remain important growth and margin drivers, while premium education, hybrid offerings and the maturation of recently opened units provide additional avenues for growth. In K-12, expansion remains supported by a combination of M&amp;A and organic growth, with integration capabilities playing an important role.</a:t>
            </a:r>
          </a:p>
          <a:p>
            <a:r>
              <a:rPr lang="en-US" b="1" dirty="0"/>
              <a:t>Efficiency and capital discipline remain high on the agenda.</a:t>
            </a:r>
            <a:r>
              <a:rPr lang="en-US" dirty="0"/>
              <a:t> Management teams continue to focus on operating leverage, better asset utilization and technology-driven efficiencies. At the same time, deleveraging remains an important priority for several companies, although improving balance sheets are gradually opening room for greater shareholder distributions and selective M&amp;A.</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7873103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31DF5-429E-6016-753E-4139C4DD7F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dirty="0"/>
              <a:t>We hosted XP's CEO Conference on August 17-18 in Rio de Janeiro, bringing together investors, C-level executives, and senior management from across the Brazilian healthcare sector. Meetings featured Rede D'Or, BradSaúde, Hapvida, Hypera, Fleury, Mater Dei, Dasa, and Profarma, with discussions spanning the main strategic, operational and financial themes currently shaping each company. In this report, we summarize the key takeaways from our conversations with management teams.</a:t>
            </a:r>
          </a:p>
          <a:p>
            <a:r>
              <a:rPr lang="en-US" b="1" dirty="0"/>
              <a:t>Health plans: profitability and underwriting discipline remain key.</a:t>
            </a:r>
            <a:r>
              <a:rPr lang="en-US" dirty="0"/>
              <a:t> SulA continues to prioritize profitability, supported by a positive MLR trajectory, while BradSaúde sees SMEs as its main growth avenue after restoring profitability. Hapvida also reinforced its profitability-first approach, with medical cost management, SG&amp;A efficiencies and hospital repricing among the key earnings levers.</a:t>
            </a:r>
          </a:p>
          <a:p>
            <a:r>
              <a:rPr lang="en-US" b="1" dirty="0"/>
              <a:t>Hospitals: efficiency, asset utilization and higher-complexity services remain key growth levers.</a:t>
            </a:r>
            <a:r>
              <a:rPr lang="en-US" dirty="0"/>
              <a:t> Rede D'Or continues to see healthy hospital volumes and remains constructive on oncology, while maintaining a largely brownfield-focused expansion pipeline. Mater Dei expects margin expansion to benefit from the maturation of recently opened hospitals and sees oncology as an important growth avenue. BradSaúde also sees room to expand its hospital footprint, with Atlantica expected to become a more relevant earnings contributor.</a:t>
            </a:r>
          </a:p>
          <a:p>
            <a:r>
              <a:rPr lang="en-US" b="1" dirty="0"/>
              <a:t>Diagnostics: premium positioning, productivity and B2B opportunities support growth.</a:t>
            </a:r>
            <a:r>
              <a:rPr lang="en-US" dirty="0"/>
              <a:t> Fleury is focused on extracting more growth from its existing asset base through higher utilization, mobile services and technology, with AI already contributing to productivity gains. Dasa highlighted premium and B2B as important growth avenues following the operational simplification of recent years, while deleveraging remains a priority.</a:t>
            </a:r>
          </a:p>
          <a:p>
            <a:r>
              <a:rPr lang="en-US" b="1" dirty="0"/>
              <a:t>Pharma/Distributor: new growth avenues alongside greater cash generation.</a:t>
            </a:r>
            <a:r>
              <a:rPr lang="en-US" dirty="0"/>
              <a:t> Hypera sees Semavy and the broader GLP-1 market as an important opportunity, with a more significant revenue contribution expected from 2027 onward, while cash generation supports deleveraging. Profarma sees 4Bio as a meaningful opportunity through tax and logistics synergies, specialty-pharma expansion and margin improvement.</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3325827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ECA9-CF26-08F2-6A40-D604BBD9145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4DACA05-8A12-6F91-0DF3-D9420FAE8820}"/>
              </a:ext>
            </a:extLst>
          </p:cNvPr>
          <p:cNvSpPr>
            <a:spLocks noGrp="1"/>
          </p:cNvSpPr>
          <p:nvPr>
            <p:ph type="body" sz="quarter" idx="20"/>
          </p:nvPr>
        </p:nvSpPr>
        <p:spPr>
          <a:xfrm>
            <a:off x="382828" y="1497015"/>
            <a:ext cx="6106871" cy="7956548"/>
          </a:xfrm>
          <a:noFill/>
        </p:spPr>
        <p:txBody>
          <a:bodyPr/>
          <a:lstStyle/>
          <a:p>
            <a:pPr algn="r">
              <a:lnSpc>
                <a:spcPct val="122000"/>
              </a:lnSpc>
            </a:pPr>
            <a:r>
              <a:rPr lang="en-US" i="1" dirty="0"/>
              <a:t>by Lucas Laghi, Guilherme Nippes</a:t>
            </a:r>
          </a:p>
          <a:p>
            <a:pPr>
              <a:lnSpc>
                <a:spcPct val="122000"/>
              </a:lnSpc>
            </a:pPr>
            <a:r>
              <a:rPr lang="en-US" b="1" dirty="0"/>
              <a:t>Vale (VALE3):</a:t>
            </a:r>
            <a:r>
              <a:rPr lang="en-US" dirty="0"/>
              <a:t> We note a constructive operational outlook supported by ongoing project ramp-ups and greater product flexibility. The ramp-up of </a:t>
            </a:r>
            <a:r>
              <a:rPr lang="en-US" dirty="0" err="1"/>
              <a:t>Vargem</a:t>
            </a:r>
            <a:r>
              <a:rPr lang="en-US" dirty="0"/>
              <a:t> Grande and Capanema, along with the upcoming S11D expansion (to be concluded by 2H26E), should contribute to higher volumes and improved average grade, while enhancing the company’s ability to align its product mix with market demand. Additionally, we note a positive view for further cost improvements in 2025–26E, driven by (a) lower C1 costs from </a:t>
            </a:r>
            <a:r>
              <a:rPr lang="en-US" dirty="0" err="1"/>
              <a:t>Vargem</a:t>
            </a:r>
            <a:r>
              <a:rPr lang="en-US" dirty="0"/>
              <a:t> Grande and Capanema, and (b) reduced exposure to spot freight. On capital allocation, Vale remains focused on advancing its iron ore and copper strategy - particularly accelerating copper projects - while maintaining flexibility for extraordinary dividends and/or buybacks. Overall, we see the company balancing near-term cost discipline with long-term growth in base metals, while continuing to benefit from its diversified portfolio in iron ore. </a:t>
            </a:r>
          </a:p>
          <a:p>
            <a:pPr>
              <a:lnSpc>
                <a:spcPct val="122000"/>
              </a:lnSpc>
            </a:pPr>
            <a:r>
              <a:rPr lang="en-US" b="1" dirty="0"/>
              <a:t>CSN (CSNA3) and CSN </a:t>
            </a:r>
            <a:r>
              <a:rPr lang="en-US" b="1" dirty="0" err="1"/>
              <a:t>Mineração</a:t>
            </a:r>
            <a:r>
              <a:rPr lang="en-US" b="1" dirty="0"/>
              <a:t> (CMIN3):</a:t>
            </a:r>
            <a:r>
              <a:rPr lang="en-US" dirty="0"/>
              <a:t> we note a cautious tone on the steel division amid fiercer import competition, while the outlook for mining remains constructive with iron ore prices holding at ~US$100/t. For Steel, the company expects import competition to weigh on prices in 3Q25E, although current parity suggest lower import volumes by 4Q25E, as carryover cargoes arrive in Brazilian ports in the coming months. For Mining, with C1 costs expected to remain at low levels, performance will hinge on iron ore prices, with potential upside to results if prices stay at ~US$100/t. For Cement, results are expected to improve QoQ in 3Q25E, supported by stable prices, seasonally higher sales volumes, and lower costs. Finally, the company reinforced its focus on deleveraging, with a potential minority stake sale in infrastructure and logistics assets - mostly concentrated in the Southeastern cluster - seen as a near-term option. </a:t>
            </a:r>
          </a:p>
          <a:p>
            <a:pPr>
              <a:lnSpc>
                <a:spcPct val="122000"/>
              </a:lnSpc>
            </a:pPr>
            <a:r>
              <a:rPr lang="en-US" b="1" dirty="0"/>
              <a:t>Aura (AURA33):</a:t>
            </a:r>
            <a:r>
              <a:rPr lang="en-US" dirty="0"/>
              <a:t> We highlight the solid advancement of ongoing projects, with several sources of upside potential ahead, in our view. The company remains strongly focused on </a:t>
            </a:r>
            <a:r>
              <a:rPr lang="en-US" dirty="0" err="1"/>
              <a:t>Borborema</a:t>
            </a:r>
            <a:r>
              <a:rPr lang="en-US" dirty="0"/>
              <a:t>, targeting commercial production in 3Q25 and full production next year, with an additional upside potential once the road relocation is approved. At Serra Grande, closing is expected in 3Q25E, with expectations for improved volumes and lower costs next year as overall efficiencies are deployed and processing strategies are optimized. For Era Dorada, attention remains on securing the social license - underground mining is already licensed - with a final investment decision anticipated in 2026E. Lastly, we note the company’s ongoing efforts to develop new initiatives, including underground mining at Almas and exploration of new deposits at </a:t>
            </a:r>
            <a:r>
              <a:rPr lang="en-US" dirty="0" err="1"/>
              <a:t>Apoena</a:t>
            </a:r>
            <a:r>
              <a:rPr lang="en-US" dirty="0"/>
              <a:t>, which further reinforce its commitment to expanding its reserve base.</a:t>
            </a:r>
            <a:endParaRPr lang="en-US" i="1" dirty="0"/>
          </a:p>
        </p:txBody>
      </p:sp>
      <p:sp>
        <p:nvSpPr>
          <p:cNvPr id="7" name="Text Placeholder 6">
            <a:extLst>
              <a:ext uri="{FF2B5EF4-FFF2-40B4-BE49-F238E27FC236}">
                <a16:creationId xmlns:a16="http://schemas.microsoft.com/office/drawing/2014/main" id="{7479473E-1E0E-B137-F4C8-05F71B80DB3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DC2B5B5-2F16-1E19-CCCE-A56DA1F97E75}"/>
              </a:ext>
            </a:extLst>
          </p:cNvPr>
          <p:cNvSpPr>
            <a:spLocks noGrp="1"/>
          </p:cNvSpPr>
          <p:nvPr>
            <p:ph type="body" sz="quarter" idx="17"/>
          </p:nvPr>
        </p:nvSpPr>
        <p:spPr/>
        <p:txBody>
          <a:bodyPr/>
          <a:lstStyle/>
          <a:p>
            <a:r>
              <a:rPr lang="pt-BR" dirty="0" err="1"/>
              <a:t>Metals</a:t>
            </a:r>
            <a:r>
              <a:rPr lang="pt-BR" dirty="0"/>
              <a:t> &amp; Mining</a:t>
            </a:r>
          </a:p>
        </p:txBody>
      </p:sp>
      <p:sp>
        <p:nvSpPr>
          <p:cNvPr id="9" name="Text Placeholder 8">
            <a:extLst>
              <a:ext uri="{FF2B5EF4-FFF2-40B4-BE49-F238E27FC236}">
                <a16:creationId xmlns:a16="http://schemas.microsoft.com/office/drawing/2014/main" id="{04A3A495-003C-2A76-429C-4A5B5A55100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01DA15-B221-401C-99E5-5A499B59B8EE}"/>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58704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5D0DB9-E370-33CC-AA90-1962539AA018}"/>
              </a:ext>
            </a:extLst>
          </p:cNvPr>
          <p:cNvSpPr>
            <a:spLocks noGrp="1"/>
          </p:cNvSpPr>
          <p:nvPr>
            <p:ph type="body" sz="quarter" idx="20"/>
          </p:nvPr>
        </p:nvSpPr>
        <p:spPr>
          <a:xfrm>
            <a:off x="382828" y="1497015"/>
            <a:ext cx="6106871" cy="7956548"/>
          </a:xfrm>
          <a:noFill/>
        </p:spPr>
        <p:txBody>
          <a:bodyPr/>
          <a:lstStyle/>
          <a:p>
            <a:pPr algn="r"/>
            <a:r>
              <a:rPr lang="en-US" i="1" dirty="0"/>
              <a:t>by Regis Cardoso, Enzo Sozzi</a:t>
            </a:r>
          </a:p>
          <a:p>
            <a:r>
              <a:rPr lang="en-US" dirty="0"/>
              <a:t>While overall investor sentiment with Brazilian equities remained challenged amid high cost of capital, the Oil &amp; Gas sector stood out as more constructive.</a:t>
            </a:r>
          </a:p>
          <a:p>
            <a:r>
              <a:rPr lang="en-US" dirty="0"/>
              <a:t>The higher oil price environment favors E&amp;P names and should sustain solid free cash flow generation in the short term. We left the conference optimistic on perspectives for both production growth and FCFE generation, especially for Petrobras and PRIO.</a:t>
            </a:r>
          </a:p>
          <a:p>
            <a:r>
              <a:rPr lang="en-US" dirty="0"/>
              <a:t>Fuel distribution momentum is also very positive. The current environment favors structural suppliers (such as VBBR and UGPA) as domestic refinery-gate prices remain discounted vs. import parity. Companies also expect a structurally better market ahead, supported by a reduction in unfair competition.</a:t>
            </a:r>
          </a:p>
        </p:txBody>
      </p:sp>
      <p:sp>
        <p:nvSpPr>
          <p:cNvPr id="7" name="Text Placeholder 6">
            <a:extLst>
              <a:ext uri="{FF2B5EF4-FFF2-40B4-BE49-F238E27FC236}">
                <a16:creationId xmlns:a16="http://schemas.microsoft.com/office/drawing/2014/main" id="{A535F394-AE43-5597-C158-EB6E17A2AB3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78A4EB2B-E414-B4F2-AA2D-4BF6DD517EE9}"/>
              </a:ext>
            </a:extLst>
          </p:cNvPr>
          <p:cNvSpPr>
            <a:spLocks noGrp="1"/>
          </p:cNvSpPr>
          <p:nvPr>
            <p:ph type="body" sz="quarter" idx="17"/>
          </p:nvPr>
        </p:nvSpPr>
        <p:spPr/>
        <p:txBody>
          <a:bodyPr/>
          <a:lstStyle/>
          <a:p>
            <a:r>
              <a:rPr lang="pt-BR" dirty="0" err="1"/>
              <a:t>Oil</a:t>
            </a:r>
            <a:r>
              <a:rPr lang="pt-BR" dirty="0"/>
              <a:t>, </a:t>
            </a:r>
            <a:r>
              <a:rPr lang="pt-BR" dirty="0" err="1"/>
              <a:t>Gas</a:t>
            </a:r>
            <a:r>
              <a:rPr lang="pt-BR" dirty="0"/>
              <a:t> &amp; </a:t>
            </a:r>
            <a:r>
              <a:rPr lang="pt-BR" dirty="0" err="1"/>
              <a:t>Petrochemicals</a:t>
            </a:r>
            <a:endParaRPr lang="pt-BR" dirty="0"/>
          </a:p>
        </p:txBody>
      </p:sp>
      <p:sp>
        <p:nvSpPr>
          <p:cNvPr id="9" name="Text Placeholder 8">
            <a:extLst>
              <a:ext uri="{FF2B5EF4-FFF2-40B4-BE49-F238E27FC236}">
                <a16:creationId xmlns:a16="http://schemas.microsoft.com/office/drawing/2014/main" id="{48117103-FB91-09D0-3B6C-EC6C2E46008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0581A2-46AB-C3EC-1738-E1B9D1463A3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19113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0E39A-B727-EF12-56A9-B3E7404866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2492490-F7C0-1CA6-F508-491B422705BD}"/>
              </a:ext>
            </a:extLst>
          </p:cNvPr>
          <p:cNvSpPr>
            <a:spLocks noGrp="1"/>
          </p:cNvSpPr>
          <p:nvPr>
            <p:ph type="body" sz="quarter" idx="20"/>
          </p:nvPr>
        </p:nvSpPr>
        <p:spPr>
          <a:xfrm>
            <a:off x="382828" y="1497015"/>
            <a:ext cx="6106871" cy="7956548"/>
          </a:xfrm>
          <a:noFill/>
        </p:spPr>
        <p:txBody>
          <a:bodyPr/>
          <a:lstStyle/>
          <a:p>
            <a:pPr algn="r"/>
            <a:r>
              <a:rPr lang="en-US" i="1" dirty="0"/>
              <a:t>by Lucas Laghi, Guilherme Nippes</a:t>
            </a:r>
          </a:p>
          <a:p>
            <a:r>
              <a:rPr lang="en-US" b="1" dirty="0"/>
              <a:t>Suzano (SUZB3):</a:t>
            </a:r>
            <a:r>
              <a:rPr lang="en-US" dirty="0"/>
              <a:t> We note a positive tone regarding the short-term outlook for market pulp demand, with the recent </a:t>
            </a:r>
            <a:r>
              <a:rPr lang="en-US" dirty="0">
                <a:hlinkClick r:id="rId2"/>
              </a:rPr>
              <a:t>announced price hike in Asia</a:t>
            </a:r>
            <a:r>
              <a:rPr lang="en-US" dirty="0"/>
              <a:t> as likely to be implemented, in our view, given (a) strong sales volumes in Jul’25 and a seasonally better demand in the upcoming months, (b) decreasing producers’ pulp port inventories, (c) Bracell’s DWP campaign, and (d) the return of </a:t>
            </a:r>
            <a:r>
              <a:rPr lang="en-US" dirty="0" err="1"/>
              <a:t>Chenming’s</a:t>
            </a:r>
            <a:r>
              <a:rPr lang="en-US" dirty="0"/>
              <a:t> capacity as still unclear going forward. On the other hand, we do not see new rounds of price increases as trivial, as continued integration in China (benefiting from the high availability of low-cost domestic and imported wood) remains a headwind. Regarding capital allocation, Suzano remains focused on integrating KC’s assets and capturing the benefits from the Eldorado deal (with a nominal IRR of 20%), while also deleveraging over the coming years (potentially limiting further appetite on buying back shares in the short-term). Moreover, opportunities in increasing competitiveness were a recurring topic, with room for further efficiency gains related to logistics, industrial and forestry operations’ optimization.</a:t>
            </a:r>
          </a:p>
        </p:txBody>
      </p:sp>
      <p:sp>
        <p:nvSpPr>
          <p:cNvPr id="7" name="Text Placeholder 6">
            <a:extLst>
              <a:ext uri="{FF2B5EF4-FFF2-40B4-BE49-F238E27FC236}">
                <a16:creationId xmlns:a16="http://schemas.microsoft.com/office/drawing/2014/main" id="{8CBA6CF5-8437-18E6-FA38-7B865C2D08EC}"/>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B04557F-2423-ACB2-72D5-BE4E28CA0811}"/>
              </a:ext>
            </a:extLst>
          </p:cNvPr>
          <p:cNvSpPr>
            <a:spLocks noGrp="1"/>
          </p:cNvSpPr>
          <p:nvPr>
            <p:ph type="body" sz="quarter" idx="17"/>
          </p:nvPr>
        </p:nvSpPr>
        <p:spPr/>
        <p:txBody>
          <a:bodyPr/>
          <a:lstStyle/>
          <a:p>
            <a:r>
              <a:rPr lang="pt-BR" dirty="0"/>
              <a:t>Pulp &amp; </a:t>
            </a:r>
            <a:r>
              <a:rPr lang="pt-BR" dirty="0" err="1"/>
              <a:t>Paper</a:t>
            </a:r>
            <a:endParaRPr lang="pt-BR" dirty="0"/>
          </a:p>
        </p:txBody>
      </p:sp>
      <p:sp>
        <p:nvSpPr>
          <p:cNvPr id="9" name="Text Placeholder 8">
            <a:extLst>
              <a:ext uri="{FF2B5EF4-FFF2-40B4-BE49-F238E27FC236}">
                <a16:creationId xmlns:a16="http://schemas.microsoft.com/office/drawing/2014/main" id="{204A99D6-2354-6404-8119-96685D4DBEF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3CBE6CD-AE80-A5FD-192F-E02E52E6BAE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4465296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011D4-DDD9-0ABF-0DCA-8E7AB146994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098578-D7B1-B3D7-0AB6-EACD91BB2FA8}"/>
              </a:ext>
            </a:extLst>
          </p:cNvPr>
          <p:cNvSpPr>
            <a:spLocks noGrp="1"/>
          </p:cNvSpPr>
          <p:nvPr>
            <p:ph type="body" sz="quarter" idx="20"/>
          </p:nvPr>
        </p:nvSpPr>
        <p:spPr>
          <a:xfrm>
            <a:off x="382828" y="1497015"/>
            <a:ext cx="6106871" cy="7956548"/>
          </a:xfrm>
          <a:noFill/>
        </p:spPr>
        <p:txBody>
          <a:bodyPr/>
          <a:lstStyle/>
          <a:p>
            <a:pPr algn="r"/>
            <a:r>
              <a:rPr lang="en-US" i="1" dirty="0"/>
              <a:t>by Ygor Altero, Ruan Argenton</a:t>
            </a:r>
          </a:p>
          <a:p>
            <a:r>
              <a:rPr lang="en-US" b="1" dirty="0" err="1"/>
              <a:t>Allos</a:t>
            </a:r>
            <a:r>
              <a:rPr lang="en-US" b="1" dirty="0"/>
              <a:t> (ALOS3): </a:t>
            </a:r>
            <a:r>
              <a:rPr lang="en-US" dirty="0"/>
              <a:t>July seem to be resilient month for </a:t>
            </a:r>
            <a:r>
              <a:rPr lang="en-US" dirty="0" err="1"/>
              <a:t>Allos</a:t>
            </a:r>
            <a:r>
              <a:rPr lang="en-US" dirty="0"/>
              <a:t>, with mid-single-digit growth driven by strong apparel performance despite tougher comparisons in leisure. Tenant financial health is solid, and while rents are rising due to IGP-M and contract step-ups, efficient cost management is keeping occupancy costs stable. Lower costs from vacant areas, as occupancy exceeds 97%, should sustain solid NOI margins. The high-interest rate environment is discouraging new projects, and 2025 capex may trend toward the low end of guidance, with ERP unification expected to reduce future investments.</a:t>
            </a:r>
          </a:p>
          <a:p>
            <a:r>
              <a:rPr lang="en-US" b="1" dirty="0"/>
              <a:t>Cury (CURY3):</a:t>
            </a:r>
            <a:r>
              <a:rPr lang="en-US" dirty="0"/>
              <a:t> Following a strong 1H25, Cury is positioned for a launch volume near R$8.5bn in 2025, exceeding expectations. Strong margins are supported by the delivery of older projects while new ones benefit from favorable land acquisition, high SoS, and rapid transfers, which should maintain margins around 39%. Reduced competition for land and controlled labor costs are also positive factors. Supported by a positive FCF outlook, dividend distributions are expected to continue, with potential for higher payouts due to possible tax changes.</a:t>
            </a:r>
          </a:p>
          <a:p>
            <a:r>
              <a:rPr lang="en-US" b="1" dirty="0" err="1"/>
              <a:t>Cyrela</a:t>
            </a:r>
            <a:r>
              <a:rPr lang="en-US" b="1" dirty="0"/>
              <a:t> (CYRE3):</a:t>
            </a:r>
            <a:r>
              <a:rPr lang="en-US" dirty="0"/>
              <a:t> </a:t>
            </a:r>
            <a:r>
              <a:rPr lang="en-US" dirty="0" err="1"/>
              <a:t>Cyrela's</a:t>
            </a:r>
            <a:r>
              <a:rPr lang="en-US" dirty="0"/>
              <a:t> launches should continue increasing in 2025 and 2026, driven by strong growth from its Vivaz segment in São Paulo. Profitability and ROE metrics are also improving as new, higher-margin projects gain relevance. Cash generation expectations for 2025 have been lowered due to reduced sales of older inventory and growth in the direct financing portfolio. The potential for extraordinary dividends remains, though the company should maintain a conservative leverage position. </a:t>
            </a:r>
          </a:p>
          <a:p>
            <a:r>
              <a:rPr lang="en-US" b="1" dirty="0"/>
              <a:t>Moura </a:t>
            </a:r>
            <a:r>
              <a:rPr lang="en-US" b="1" dirty="0" err="1"/>
              <a:t>Dubeux</a:t>
            </a:r>
            <a:r>
              <a:rPr lang="en-US" b="1" dirty="0"/>
              <a:t> (MDNE3):</a:t>
            </a:r>
            <a:r>
              <a:rPr lang="en-US" dirty="0"/>
              <a:t> Strong outlook for 3Q with potential new launches of R$1.3bn. Demand remains favorable, with solid sales performance for key launches. The development of </a:t>
            </a:r>
            <a:r>
              <a:rPr lang="en-US" dirty="0" err="1"/>
              <a:t>Única</a:t>
            </a:r>
            <a:r>
              <a:rPr lang="en-US" dirty="0"/>
              <a:t> is a focus, with planned launch growth through 2027 to reach R$1bn in annual volume. Despite accelerated launch growth, the company aims to maintain a R$100mn dividend pipeline in 2025, with leverage kept below 20% net debt to equity.</a:t>
            </a:r>
          </a:p>
          <a:p>
            <a:r>
              <a:rPr lang="en-US" b="1" dirty="0" err="1"/>
              <a:t>Plano&amp;Plano</a:t>
            </a:r>
            <a:r>
              <a:rPr lang="en-US" b="1" dirty="0"/>
              <a:t> (PLPL3):</a:t>
            </a:r>
            <a:r>
              <a:rPr lang="en-US" dirty="0"/>
              <a:t> </a:t>
            </a:r>
            <a:r>
              <a:rPr lang="en-US" dirty="0" err="1"/>
              <a:t>Plano&amp;Plano's</a:t>
            </a:r>
            <a:r>
              <a:rPr lang="en-US" dirty="0"/>
              <a:t> launch growth plan for 2025 remains strong, with expectations to surpass R$4bn amid a positive sales environment. The company's engineering expertise is a key competitive advantage, and its focus on larger land parcels results in less acquisition competition. Despite a cash burn in 1H25 due to extended construction timelines and specific project disbursements, the FCF outlook for 2H25 is more positive. A dividend payout ratio close to 50% still seems feasible going forward.</a:t>
            </a:r>
          </a:p>
          <a:p>
            <a:endParaRPr lang="en-US" dirty="0"/>
          </a:p>
        </p:txBody>
      </p:sp>
      <p:sp>
        <p:nvSpPr>
          <p:cNvPr id="7" name="Text Placeholder 6">
            <a:extLst>
              <a:ext uri="{FF2B5EF4-FFF2-40B4-BE49-F238E27FC236}">
                <a16:creationId xmlns:a16="http://schemas.microsoft.com/office/drawing/2014/main" id="{9A739FF9-F97F-033D-E49F-BE309A8BE20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6C69D68-47A9-D4B1-103A-DDB2FCC0A0B2}"/>
              </a:ext>
            </a:extLst>
          </p:cNvPr>
          <p:cNvSpPr>
            <a:spLocks noGrp="1"/>
          </p:cNvSpPr>
          <p:nvPr>
            <p:ph type="body" sz="quarter" idx="17"/>
          </p:nvPr>
        </p:nvSpPr>
        <p:spPr/>
        <p:txBody>
          <a:bodyPr/>
          <a:lstStyle/>
          <a:p>
            <a:r>
              <a:rPr lang="pt-BR" dirty="0"/>
              <a:t>Real </a:t>
            </a:r>
            <a:r>
              <a:rPr lang="pt-BR" dirty="0" err="1"/>
              <a:t>Estate</a:t>
            </a:r>
            <a:endParaRPr lang="pt-BR" dirty="0"/>
          </a:p>
        </p:txBody>
      </p:sp>
      <p:sp>
        <p:nvSpPr>
          <p:cNvPr id="9" name="Text Placeholder 8">
            <a:extLst>
              <a:ext uri="{FF2B5EF4-FFF2-40B4-BE49-F238E27FC236}">
                <a16:creationId xmlns:a16="http://schemas.microsoft.com/office/drawing/2014/main" id="{90275A83-CECD-65C3-B97F-B95D0129877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4D091D4-1C6B-DD4C-1665-3192BDA3492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7431969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3708D-2AF0-F307-15FC-B1B1F6EC8F5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6FD0945-7593-991A-BFB5-3A40E9A7BEE0}"/>
              </a:ext>
            </a:extLst>
          </p:cNvPr>
          <p:cNvSpPr>
            <a:spLocks noGrp="1"/>
          </p:cNvSpPr>
          <p:nvPr>
            <p:ph type="body" sz="quarter" idx="20"/>
          </p:nvPr>
        </p:nvSpPr>
        <p:spPr>
          <a:xfrm>
            <a:off x="382828" y="1497015"/>
            <a:ext cx="6106871" cy="7956548"/>
          </a:xfrm>
          <a:noFill/>
        </p:spPr>
        <p:txBody>
          <a:bodyPr/>
          <a:lstStyle/>
          <a:p>
            <a:pPr algn="r"/>
            <a:r>
              <a:rPr lang="en-US" i="1" dirty="0"/>
              <a:t>by Danniela Eiger, Pedro Caravina, Laryssa Sumer</a:t>
            </a:r>
          </a:p>
          <a:p>
            <a:r>
              <a:rPr lang="en-US" dirty="0"/>
              <a:t>We held our XP CEO Conference 2026 in Rio de Janeiro, with C-levels and IR teams of 16 retailers participating. All in all, we've noted investors more concerned about the space, especially after a softer than expected Q2 and a challenging and uncertain macro/political outlook while companies remain focused on internal initiatives and Q4 strong seasonality's execution. From our coverage, RADL, PNVL, ALPA and MGLU had the most upbeat tones and SMFT retained a consistent speech. On the other side, we left more cautious about apparel retailers' top line trends in Q3 amid World Cup headwinds in July and a warmer weather given higher Q2 inventories.</a:t>
            </a:r>
          </a:p>
          <a:p>
            <a:r>
              <a:rPr lang="en-US" b="1" dirty="0"/>
              <a:t>Assessing investors' demand.</a:t>
            </a:r>
            <a:r>
              <a:rPr lang="en-US" dirty="0"/>
              <a:t> Companies that attended our conference were well demanded by investors, with ~60 client requests per company on average. Among the most demanded, SMFT stood as #1 for the third year in a row, followed by MELI and ASAI. We continue to see investors more cautious about the space as most Q2 results showed a consumption deceleration. Looking ahead, Q3 should be a milder quarter while companies are focused on Q4 execution given its strong seasonality.</a:t>
            </a:r>
          </a:p>
          <a:p>
            <a:r>
              <a:rPr lang="en-US" b="1" dirty="0"/>
              <a:t>Macro: recession watch mode.</a:t>
            </a:r>
            <a:r>
              <a:rPr lang="en-US" dirty="0"/>
              <a:t> Concerns over a potential 2027 recession dominated conversations, with investors focused on data points to read 2H26 dynamics amid signs of consumption deceleration. Companies broadly acknowledged the tougher backdrop, defensiveness and resilience of each business model became a central part of the stories presented.</a:t>
            </a:r>
          </a:p>
          <a:p>
            <a:r>
              <a:rPr lang="en-US" b="1" dirty="0"/>
              <a:t>Tax Reform: from threat to opportunity.</a:t>
            </a:r>
            <a:r>
              <a:rPr lang="en-US" dirty="0"/>
              <a:t> Companies are actively preparing for the changes taking effect next year, and the tone was more constructive than defensive: the reform is expected to level the playing field among players, curbing tax-driven distortions and informality. Beyond equalization, companies highlighted benefits from credit monetization and see the new framework as a potential catalyst for sector consolidation, favoring larger, more structured players over weakened independents. Still, there will be challenges, with split payment's cash flow impact and the adjustment's complexity being mentioned by several of them.</a:t>
            </a:r>
          </a:p>
          <a:p>
            <a:r>
              <a:rPr lang="en-US" b="1" dirty="0"/>
              <a:t>6x1: mitigation already underway.</a:t>
            </a:r>
            <a:r>
              <a:rPr lang="en-US" dirty="0"/>
              <a:t> Rather than waiting for a definition, companies are already taking measures to mitigate potential impacts from the end of the 6x1 work schedule, including adjustments to store operating hours and changes to store staffing structures, with price hikes as an available lever if the change materializes.</a:t>
            </a:r>
          </a:p>
          <a:p>
            <a:r>
              <a:rPr lang="en-US" b="1" dirty="0"/>
              <a:t>Marketplaces' pharma threat.</a:t>
            </a:r>
            <a:r>
              <a:rPr lang="en-US" dirty="0"/>
              <a:t> Another topic highly discussed in meetings with pharma companies, MELI and ASAI was Anvisa's recent regulatory change approving marketplaces to deliver pharma. We still see a lot of uncertainty around this topic but expect it to remain on investors' radar as a potential threat to pharmacies and opportunity for MELI.</a:t>
            </a:r>
          </a:p>
        </p:txBody>
      </p:sp>
      <p:sp>
        <p:nvSpPr>
          <p:cNvPr id="7" name="Text Placeholder 6">
            <a:extLst>
              <a:ext uri="{FF2B5EF4-FFF2-40B4-BE49-F238E27FC236}">
                <a16:creationId xmlns:a16="http://schemas.microsoft.com/office/drawing/2014/main" id="{8142A9E9-89B6-BFA0-201E-CC4FCCD44CC0}"/>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2A9AC0B-F215-47F5-6ED4-D6E774311E56}"/>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76EC8DDE-ACFF-FFE7-6A62-B54243DA1E28}"/>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519EC8-370E-FF46-24AD-EADB97E1C8E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2326054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BEE13-03AC-C63F-64BE-CA2EF68EA2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B2D1D94-F3B1-8152-5C1E-E11166C0300F}"/>
              </a:ext>
            </a:extLst>
          </p:cNvPr>
          <p:cNvSpPr>
            <a:spLocks noGrp="1"/>
          </p:cNvSpPr>
          <p:nvPr>
            <p:ph type="body" sz="quarter" idx="20"/>
          </p:nvPr>
        </p:nvSpPr>
        <p:spPr>
          <a:xfrm>
            <a:off x="382828" y="1497015"/>
            <a:ext cx="6106871" cy="7956548"/>
          </a:xfrm>
          <a:noFill/>
        </p:spPr>
        <p:txBody>
          <a:bodyPr/>
          <a:lstStyle/>
          <a:p>
            <a:r>
              <a:rPr lang="en-US" b="1" dirty="0"/>
              <a:t>Alpargatas (ALPA4)</a:t>
            </a:r>
          </a:p>
          <a:p>
            <a:r>
              <a:rPr lang="en-US" b="1" dirty="0"/>
              <a:t>Sell-out remains healthy on disciplined sell-in.</a:t>
            </a:r>
            <a:r>
              <a:rPr lang="en-US" dirty="0"/>
              <a:t> The sell-out at the ~13% levels seen in 1H26 is a tough comps for 2H26, as the World Cup provided a tailwind. Still, the company expects to continue gaining share across both retail and specialized channels, supported by more disciplined inventory management.</a:t>
            </a:r>
          </a:p>
          <a:p>
            <a:r>
              <a:rPr lang="en-US" b="1" dirty="0"/>
              <a:t>A lot of potential on International ops.</a:t>
            </a:r>
            <a:r>
              <a:rPr lang="en-US" dirty="0"/>
              <a:t> Mgmt. sees room for both growth and profitability across all three channels. Meanwhile, 2026 should remain a transition year for the new US model, with benefits expected to materialize more meaningfully from 2027 onwards.</a:t>
            </a:r>
          </a:p>
          <a:p>
            <a:r>
              <a:rPr lang="en-US" b="1" dirty="0"/>
              <a:t>Keeping an eye on the long term.</a:t>
            </a:r>
            <a:r>
              <a:rPr lang="en-US" dirty="0"/>
              <a:t> ALPA also noted it currently operates under a 5-year budget plan for both Brazil and international operations, with results tracking in line so far. Notably, 1H26 volumes came in even stronger than initially expected.</a:t>
            </a:r>
          </a:p>
          <a:p>
            <a:r>
              <a:rPr lang="en-US" b="1" dirty="0"/>
              <a:t>Assaí (ASAI3)</a:t>
            </a:r>
          </a:p>
          <a:p>
            <a:r>
              <a:rPr lang="en-US" b="1" dirty="0"/>
              <a:t>Pharma:</a:t>
            </a:r>
            <a:r>
              <a:rPr lang="en-US" dirty="0"/>
              <a:t> incremental growth on top of a fixed-cost base. The company just opened its 4th unit, with attractive economics: capex is low since store infrastructure already exists, ~40% of expenses are already in-house, and the ~100-120m² area came from simple repositioning rather than assortment cuts. The core advantage lies in existing store traffic, with solid prospects for 4-wall EBITDA margins ahead. The plan is to open 250 pharmacies, roughly costing 1/3 of a year’s maintenance capex.</a:t>
            </a:r>
          </a:p>
          <a:p>
            <a:r>
              <a:rPr lang="en-US" b="1" dirty="0"/>
              <a:t>Expenses:</a:t>
            </a:r>
            <a:r>
              <a:rPr lang="en-US" dirty="0"/>
              <a:t> structurally lower, with more to come. Expense control has been strong for a while now, and the pipeline of efficiency projects remains rich, enabling further headcount reallocation. Cash generation should continue to be the lever for deleveraging, with leverage expected to end the year below 2x.</a:t>
            </a:r>
          </a:p>
          <a:p>
            <a:r>
              <a:rPr lang="en-US" b="1" dirty="0"/>
              <a:t>Layering growth against a pressured consumer.</a:t>
            </a:r>
            <a:r>
              <a:rPr lang="en-US" dirty="0"/>
              <a:t> Against a backdrop of persistent macro pressure, new initiatives such as in&amp;out, pharma, financial services, and private label, are expected to drive incremental growth. For 2H, El Niño-driven in&amp;out should be sizable (100k air conditioners, 750k fans to be sold), while EV chargers are coming: low revenue on their own, but a traffic driver and low-price brand- awareness play, powered by surplus energy cheaper than residential rates. The company is also launching a cashback program usable across food retail, pharma, and energy. On financial services, the private label card is seen as the better-suited alternative for Assaí’s client base, expected to drive the sales uplift already proven by Passaí even under Itaú-era restrictions. Finally, private label brands still need traction, though bargaining power is already being deployed.</a:t>
            </a:r>
          </a:p>
        </p:txBody>
      </p:sp>
      <p:sp>
        <p:nvSpPr>
          <p:cNvPr id="7" name="Text Placeholder 6">
            <a:extLst>
              <a:ext uri="{FF2B5EF4-FFF2-40B4-BE49-F238E27FC236}">
                <a16:creationId xmlns:a16="http://schemas.microsoft.com/office/drawing/2014/main" id="{0BE87BB0-3DD3-074E-713E-E65515F720F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A3A72C7-DE16-155A-16B2-5E52B59E304D}"/>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B55D5CB4-D6AB-CDE4-BDAE-22379D7E289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C0DEAD01-1A90-90A9-C462-73DCE1C6CE8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646161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412F4-7177-8840-0DC5-548FDC787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F882B2D-EBB5-C6E1-32B6-016053841EB3}"/>
              </a:ext>
            </a:extLst>
          </p:cNvPr>
          <p:cNvSpPr>
            <a:spLocks noGrp="1"/>
          </p:cNvSpPr>
          <p:nvPr>
            <p:ph type="body" sz="quarter" idx="20"/>
          </p:nvPr>
        </p:nvSpPr>
        <p:spPr>
          <a:xfrm>
            <a:off x="382828" y="1497015"/>
            <a:ext cx="6106871" cy="7956548"/>
          </a:xfrm>
          <a:noFill/>
        </p:spPr>
        <p:txBody>
          <a:bodyPr/>
          <a:lstStyle/>
          <a:p>
            <a:r>
              <a:rPr lang="en-US" b="1" dirty="0"/>
              <a:t>Azzas 2154 (AZZA3)</a:t>
            </a:r>
          </a:p>
          <a:p>
            <a:r>
              <a:rPr lang="en-US" b="1" dirty="0"/>
              <a:t>No material updates on governance:</a:t>
            </a:r>
            <a:r>
              <a:rPr lang="en-US" dirty="0"/>
              <a:t> There were no material updates on governance matters. Management does not believe brand desirability has been affected, although executives acknowledged that a significant portion of the top mgmt.’s agenda has been consumed by the issue.</a:t>
            </a:r>
          </a:p>
          <a:p>
            <a:r>
              <a:rPr lang="en-US" b="1" dirty="0"/>
              <a:t>A more cautious stance on Farm:</a:t>
            </a:r>
            <a:r>
              <a:rPr lang="en-US" dirty="0"/>
              <a:t> Mgmt. entered 2026 already planning for softer growth, reflecting a more cautious approach to inventory levels. Meanwhile, no material updates were provided regarding a potential sale of Farm.</a:t>
            </a:r>
          </a:p>
          <a:p>
            <a:r>
              <a:rPr lang="en-US" b="1" dirty="0"/>
              <a:t>Hering’s turnaround on the spotlight.</a:t>
            </a:r>
            <a:r>
              <a:rPr lang="en-US" dirty="0"/>
              <a:t> While Q3 should remain a challenging quarter, the team expects growth to recover from Q4 onwards, supported by encouraging early signs from the new "made-to- order" model with franchisees. Efforts to bring B/C income consumers back to stores and drive volumes are also underway.</a:t>
            </a:r>
          </a:p>
          <a:p>
            <a:r>
              <a:rPr lang="en-US" b="1" dirty="0"/>
              <a:t>C&amp;A (CEAB3)</a:t>
            </a:r>
          </a:p>
          <a:p>
            <a:r>
              <a:rPr lang="en-US" b="1" dirty="0"/>
              <a:t>A tougher consumer backdrop.</a:t>
            </a:r>
            <a:r>
              <a:rPr lang="en-US" dirty="0"/>
              <a:t> Unlike prior editions, traffic was pressured throughout the entire World Cup period rather than only on match days, with a gradual recovery afterwards though still below pre- event levels. Mgmt. also sees consumers as more price sensitive than in May, with lower traffic no longer being offset by better conversion. Mgmt. also noted a heavier promotional environment on winter inventories from C&amp;A and other players.</a:t>
            </a:r>
          </a:p>
          <a:p>
            <a:r>
              <a:rPr lang="en-US" b="1" dirty="0"/>
              <a:t>Margin over inventory.</a:t>
            </a:r>
            <a:r>
              <a:rPr lang="en-US" dirty="0"/>
              <a:t> Inventory has been running ~15 days above last year since Q4, with normalization expected by Q4 and a milder improvement in Q3. Still, mgmt. reinforced gross margin remains the priority, noting the 60bps of extra investment in Q2 may not be repeated with more surgical promotions as possibility.</a:t>
            </a:r>
          </a:p>
          <a:p>
            <a:r>
              <a:rPr lang="en-US" b="1" dirty="0"/>
              <a:t>A busy productivity agenda.</a:t>
            </a:r>
            <a:r>
              <a:rPr lang="en-US" dirty="0"/>
              <a:t> Key levers for 2H include self-checkout expanding from 1/3 to 2/3 of stores, a collection bot already replacing manual labor, with recovery rates in line or better, and a granular review of third-party contracts. Capex should also be more disciplined, at ~7% of sales (vs. 8.5%), prioritizing refurbishments over expansion, with ~20 large stores (~10% of sales) to be completed by October.</a:t>
            </a:r>
          </a:p>
        </p:txBody>
      </p:sp>
      <p:sp>
        <p:nvSpPr>
          <p:cNvPr id="7" name="Text Placeholder 6">
            <a:extLst>
              <a:ext uri="{FF2B5EF4-FFF2-40B4-BE49-F238E27FC236}">
                <a16:creationId xmlns:a16="http://schemas.microsoft.com/office/drawing/2014/main" id="{D469436C-D40A-0047-88D5-49DE8B3DE3B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9E05B77-A6B1-6222-198E-64F4579809C8}"/>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4E3405A0-1A7F-EF4F-2194-94917ECF135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10024966-4465-7305-C327-64A724980D8D}"/>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8680509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B4EFB-A9C5-3F73-FCA4-8F8E02A05C3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6A9511-39C8-E59A-FA2F-884089D61229}"/>
              </a:ext>
            </a:extLst>
          </p:cNvPr>
          <p:cNvSpPr>
            <a:spLocks noGrp="1"/>
          </p:cNvSpPr>
          <p:nvPr>
            <p:ph type="body" sz="quarter" idx="20"/>
          </p:nvPr>
        </p:nvSpPr>
        <p:spPr>
          <a:xfrm>
            <a:off x="382828" y="1497015"/>
            <a:ext cx="6106871" cy="7956548"/>
          </a:xfrm>
          <a:noFill/>
        </p:spPr>
        <p:txBody>
          <a:bodyPr/>
          <a:lstStyle/>
          <a:p>
            <a:r>
              <a:rPr lang="en-US" b="1" dirty="0"/>
              <a:t>Grupo Petz Cobasi (AUAU3)</a:t>
            </a:r>
          </a:p>
          <a:p>
            <a:r>
              <a:rPr lang="en-US" b="1" dirty="0"/>
              <a:t>Reaffirming the R$200-260mn synergy range.</a:t>
            </a:r>
            <a:r>
              <a:rPr lang="en-US" dirty="0"/>
              <a:t> Mgmt. noted it remains on track to capture the planned M&amp;A synergies, with plans to consolidate the headquarters into Cobasi’s current office by November. Governance was also highlighted as a positive contributor, with strong alignment between the Board and the executive team supporting synergy capture.</a:t>
            </a:r>
          </a:p>
          <a:p>
            <a:r>
              <a:rPr lang="en-US" b="1" dirty="0"/>
              <a:t>Competition remains fierce.</a:t>
            </a:r>
            <a:r>
              <a:rPr lang="en-US" dirty="0"/>
              <a:t> Marketplace competition remains a challenge, but the company remains confident in its ability to offer a stronger value proposition through competitive yet profitable pricing, private label products, cross-selling opportunities between the two brands, and services.</a:t>
            </a:r>
          </a:p>
          <a:p>
            <a:r>
              <a:rPr lang="en-US" b="1" dirty="0"/>
              <a:t>Pet plans as a topic.</a:t>
            </a:r>
            <a:r>
              <a:rPr lang="en-US" dirty="0"/>
              <a:t> Another frequently discussed topic was the opportunity in the pet plans market, which management believes remains significantly underpenetrated in Brazil compared to more developed markets.</a:t>
            </a:r>
          </a:p>
          <a:p>
            <a:r>
              <a:rPr lang="en-US" b="1" dirty="0"/>
              <a:t>Grupo SBF (SBFG3)</a:t>
            </a:r>
          </a:p>
          <a:p>
            <a:r>
              <a:rPr lang="en-US" b="1" dirty="0"/>
              <a:t>2Q26 was not only about the World Cup.</a:t>
            </a:r>
            <a:r>
              <a:rPr lang="en-US" dirty="0"/>
              <a:t> Mgmt. (and investors) acknowledged a strong 2Q26 on the World Cup, but noted that running and other football categories also performed well on the many initiatives implemented in the past 2 years (e.g., Destrava). As such, we expect a deceleration going forward, though initial 3Q26 sales remain healthy.</a:t>
            </a:r>
          </a:p>
          <a:p>
            <a:r>
              <a:rPr lang="en-US" b="1" dirty="0"/>
              <a:t>Inventory mgmt.</a:t>
            </a:r>
            <a:r>
              <a:rPr lang="en-US" dirty="0"/>
              <a:t> and FX as tailwinds. From 3Q26, FX begins to contribute positively to gross mg, while the Conecta initiatives and DC services should support better inventory mgmt. for both Centauro and Fisia on the mid-term. Nonetheless, we expect an operational deleverage against World Cup sales.</a:t>
            </a:r>
          </a:p>
          <a:p>
            <a:r>
              <a:rPr lang="en-US" b="1" dirty="0"/>
              <a:t>Limited space for deleveraging for now.</a:t>
            </a:r>
            <a:r>
              <a:rPr lang="en-US" dirty="0"/>
              <a:t> Despite stronger 2026 sales, leverage should not come down in the near term, while we expect on lower WK needs amid a softer growth looking ahead.</a:t>
            </a:r>
          </a:p>
          <a:p>
            <a:r>
              <a:rPr lang="en-US" b="1" dirty="0"/>
              <a:t>Live! (Non-listed)</a:t>
            </a:r>
          </a:p>
          <a:p>
            <a:r>
              <a:rPr lang="en-US" b="1" dirty="0"/>
              <a:t>From activewear to a wellness ecosystem.</a:t>
            </a:r>
            <a:r>
              <a:rPr lang="en-US" dirty="0"/>
              <a:t> Four pillars: activewear (core), footwear (launched last November), sports care/beauty (Pink Cheeks M&amp;A) and nutrition (Welz). Mgmt. plans to be globally present across all four, addressing a R$38bn market in Brazil.</a:t>
            </a:r>
          </a:p>
          <a:p>
            <a:r>
              <a:rPr lang="en-US" b="1" dirty="0"/>
              <a:t>Franchisee-led expansion with an international leg.</a:t>
            </a:r>
            <a:r>
              <a:rPr lang="en-US" dirty="0"/>
              <a:t> Network should surpass 400 stores this year (~55 additions in 2026), with large amount franchised. Present in 5 countries, with a Southeast Asia agreement signed with a listed partner running 200+ stores.</a:t>
            </a:r>
          </a:p>
          <a:p>
            <a:r>
              <a:rPr lang="en-US" b="1" dirty="0"/>
              <a:t>Vertical industry as the moat.</a:t>
            </a:r>
            <a:r>
              <a:rPr lang="en-US" dirty="0"/>
              <a:t> 90% of apparel production is internal, anchored on an 85k sqm site in SC and a robotized DC. The company highlighted it controls from designs to POS in its core apparel business.</a:t>
            </a:r>
          </a:p>
        </p:txBody>
      </p:sp>
      <p:sp>
        <p:nvSpPr>
          <p:cNvPr id="7" name="Text Placeholder 6">
            <a:extLst>
              <a:ext uri="{FF2B5EF4-FFF2-40B4-BE49-F238E27FC236}">
                <a16:creationId xmlns:a16="http://schemas.microsoft.com/office/drawing/2014/main" id="{E241BE6E-7CBA-CF1C-1931-6437F201471B}"/>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EA53C7C-0D11-7E4E-765D-36AB7A1A5FC9}"/>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3302E881-DE04-245E-81FB-248ACA19E64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FB6B3ADD-9EB2-5F65-F2D7-07D5831D185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3986458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E111-1BCB-ADD4-1D0B-588C036C5C1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7B5E70-34C5-3252-0846-CBCF100DEA6F}"/>
              </a:ext>
            </a:extLst>
          </p:cNvPr>
          <p:cNvSpPr>
            <a:spLocks noGrp="1"/>
          </p:cNvSpPr>
          <p:nvPr>
            <p:ph type="body" sz="quarter" idx="20"/>
          </p:nvPr>
        </p:nvSpPr>
        <p:spPr>
          <a:xfrm>
            <a:off x="382828" y="1497015"/>
            <a:ext cx="6106871" cy="7956548"/>
          </a:xfrm>
          <a:noFill/>
        </p:spPr>
        <p:txBody>
          <a:bodyPr/>
          <a:lstStyle/>
          <a:p>
            <a:r>
              <a:rPr lang="en-US" b="1" dirty="0"/>
              <a:t>Lojas Renner (LREN3)</a:t>
            </a:r>
          </a:p>
          <a:p>
            <a:r>
              <a:rPr lang="en-US" b="1" dirty="0"/>
              <a:t>A conservative approach towards 2026.</a:t>
            </a:r>
            <a:r>
              <a:rPr lang="en-US" dirty="0"/>
              <a:t> The main topic discussed was the rationale behind the recent guidance cut. Mgmt. reaffirmed that the World Cup was the main negative driver, with performance tracking budget until early June, while late June and July became a drag. As results failed to materialize, the company opted for a more conservative outlook amid a challenging macro backdrop.</a:t>
            </a:r>
          </a:p>
          <a:p>
            <a:r>
              <a:rPr lang="en-US" b="1" dirty="0"/>
              <a:t>A likely flat gross mg.</a:t>
            </a:r>
            <a:r>
              <a:rPr lang="en-US" dirty="0"/>
              <a:t> in 2H. We believe better inventory coverage and FX trends should support gross margin in 2H26, although higher promotional activity on older inventory, following weaker June sales, could offset part of these gains. Still, mgmt. emphasized confidence in its gross margin trajectory, supported by an adequate pricing position. On SG&amp;A, despite softer-than-expected operating leverage, management still sees room for further dilution</a:t>
            </a:r>
          </a:p>
          <a:p>
            <a:r>
              <a:rPr lang="en-US" b="1" dirty="0"/>
              <a:t>Profit distribution guidance sustained.</a:t>
            </a:r>
            <a:r>
              <a:rPr lang="en-US" dirty="0"/>
              <a:t> The company highlighted that despite top-line deceleration, FCFE remains robust, supporting distributions through IOC and share buybacks, potentially even above the 50- 80% payout guidance. On expansion, the company remains on track, with the 2024 store cohorts outperforming the portfolio average and maturing faster than initially expected.</a:t>
            </a:r>
          </a:p>
          <a:p>
            <a:r>
              <a:rPr lang="en-US" b="1" dirty="0"/>
              <a:t>Magazine Luiza (MGLU3)</a:t>
            </a:r>
          </a:p>
          <a:p>
            <a:r>
              <a:rPr lang="en-US" b="1" dirty="0"/>
              <a:t>Share gains as the main growth driver.</a:t>
            </a:r>
            <a:r>
              <a:rPr lang="en-US" dirty="0"/>
              <a:t> B&amp;M sales 10% growth in Q2 benefited from World cup and white line and furniture as highlights, with positive trends in July and August. Looking ahead, El Niño should be a tailwind for white line in 2H, while its logistics edge in bulky items remains a key differentiator.</a:t>
            </a:r>
          </a:p>
          <a:p>
            <a:r>
              <a:rPr lang="en-US" b="1" dirty="0"/>
              <a:t>A relevant opportunity from BHIA's closures.</a:t>
            </a:r>
            <a:r>
              <a:rPr lang="en-US" dirty="0"/>
              <a:t> Mgmt. sees opportunities in capturing the GMV from the 298 stores closed by Bahia, with 95% overlapping with an existing Magalu store. In this sense, it may reflect in a boost to physical sales, with no incremental inventory, capex or fixed costs required. They also see a different dynamic than Americanas' case, given the offline nature of the sales, the local consumer profile and a distinct category mix.</a:t>
            </a:r>
          </a:p>
          <a:p>
            <a:r>
              <a:rPr lang="en-US" b="1" dirty="0"/>
              <a:t>Building stronger grounds for 1P and financial services.</a:t>
            </a:r>
            <a:r>
              <a:rPr lang="en-US" dirty="0"/>
              <a:t> Amazon’s Prime badge starts in October, with Magalu handling logistics, while additional partnerships could support 1P returning to growth in Q4. On credit, despite the restrictive scenario, the portfolio expanded to R$2bn from R$1.5bn in 12 months, with NPL ratios down, while new credit models should allow further CDC penetration on limited risk.</a:t>
            </a:r>
          </a:p>
        </p:txBody>
      </p:sp>
      <p:sp>
        <p:nvSpPr>
          <p:cNvPr id="7" name="Text Placeholder 6">
            <a:extLst>
              <a:ext uri="{FF2B5EF4-FFF2-40B4-BE49-F238E27FC236}">
                <a16:creationId xmlns:a16="http://schemas.microsoft.com/office/drawing/2014/main" id="{5595A5E6-2ED9-3C3F-E923-4F5A7E578E7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43C8D982-4273-E73A-B50A-D07A979F12E7}"/>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05E89DB5-8EA8-23B2-4F2F-AFB9174BE45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30ECC2E-099A-3969-CC68-747628AB826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422271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F25F4-9E50-9247-8EBD-32CCF5438D1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93DE56C-6444-E5A5-5494-A4E713150D49}"/>
              </a:ext>
            </a:extLst>
          </p:cNvPr>
          <p:cNvSpPr>
            <a:spLocks noGrp="1"/>
          </p:cNvSpPr>
          <p:nvPr>
            <p:ph type="body" sz="quarter" idx="20"/>
          </p:nvPr>
        </p:nvSpPr>
        <p:spPr>
          <a:xfrm>
            <a:off x="382828" y="1497015"/>
            <a:ext cx="6106871" cy="7956548"/>
          </a:xfrm>
          <a:noFill/>
        </p:spPr>
        <p:txBody>
          <a:bodyPr/>
          <a:lstStyle/>
          <a:p>
            <a:r>
              <a:rPr lang="en-US" b="1" dirty="0"/>
              <a:t>Mercado Libre (MELI)</a:t>
            </a:r>
          </a:p>
          <a:p>
            <a:r>
              <a:rPr lang="en-US" b="1" dirty="0"/>
              <a:t>Pharma opportunity.</a:t>
            </a:r>
            <a:r>
              <a:rPr lang="en-US" dirty="0"/>
              <a:t> The company reiterated that it prefers to operate in the pharma category through 3P, though regulation remains a challenge. 1P is currently being tested and may be scaled depending on how this plays out.</a:t>
            </a:r>
          </a:p>
          <a:p>
            <a:r>
              <a:rPr lang="en-US" b="1" dirty="0"/>
              <a:t>Shipping costs and quick commerce.</a:t>
            </a:r>
            <a:r>
              <a:rPr lang="en-US" dirty="0"/>
              <a:t> Shipping cost as a % of revenue rose on fewer items per shipment and fuel pressure and lower productivity in the fulfilment network, partially offset by a larger-than-usual mid-year fee increase in Brazil. On quick commerce, MELI currently operates a pilot in Argentina and did not confirm plans to replicate it in Brazil, as some news mentioned recently.</a:t>
            </a:r>
          </a:p>
          <a:p>
            <a:r>
              <a:rPr lang="en-US" b="1" dirty="0"/>
              <a:t>Credit remains with opportunity.</a:t>
            </a:r>
            <a:r>
              <a:rPr lang="en-US" dirty="0"/>
              <a:t> The company reiterated the opportunities in credit both on consumer loans and credit cards across all geographies. The under-analysis banking license in Argentina and strong economics for credit cards in Mexico were key topics.</a:t>
            </a:r>
          </a:p>
          <a:p>
            <a:r>
              <a:rPr lang="en-US" b="1" dirty="0"/>
              <a:t>Pague Menos (PGMN3)</a:t>
            </a:r>
          </a:p>
          <a:p>
            <a:r>
              <a:rPr lang="en-US" b="1" dirty="0"/>
              <a:t>GLP-1:</a:t>
            </a:r>
            <a:r>
              <a:rPr lang="en-US" dirty="0"/>
              <a:t> still a growing force. GLP-1 remained the key topic of our conversations, with significant potential still ahead as new launches and cross-sell opportunities emerge. Semaglutide already accounts for ~3% of sales (~R$540mn), while similar drugs still carry low margins, meaning new entrants should soon drive competition on cost. Incorporating 5p.p. of margin could add ~15bps to gross profit, with shelf space naturally limiting with how many brands they can operate.</a:t>
            </a:r>
          </a:p>
          <a:p>
            <a:r>
              <a:rPr lang="en-US" b="1" dirty="0"/>
              <a:t>Expansion:</a:t>
            </a:r>
            <a:r>
              <a:rPr lang="en-US" dirty="0"/>
              <a:t> assertive and already mapped. Openings remain a relevant, with management noting that the expansion model is robust and should continue to be rolled out, with ample room mapped, especially in the NO/NE regions. Next vintages should follow the recent pattern (~70% NE, slightly more Center- West) in a favorable market as weakened independents open room for consolidation. Meanwhile, logistics is keeping pace, with a major DC opened this year and another coming in 2027.</a:t>
            </a:r>
          </a:p>
          <a:p>
            <a:r>
              <a:rPr lang="en-US" b="1" dirty="0"/>
              <a:t>Customer experience:</a:t>
            </a:r>
            <a:r>
              <a:rPr lang="en-US" dirty="0"/>
              <a:t> the overall priority. Capital allocation is being redirected toward experience, with digital and CRM as key areas of focus. Improvement points have been mapped, and the same discipline is being extended to store operations, with unproductive inventory targeted to fall and drive better WK dynamics. On marketplace risks, customer experience is set to be a key advantage, as capillarity remains a moat that is hard to beat.</a:t>
            </a:r>
          </a:p>
        </p:txBody>
      </p:sp>
      <p:sp>
        <p:nvSpPr>
          <p:cNvPr id="7" name="Text Placeholder 6">
            <a:extLst>
              <a:ext uri="{FF2B5EF4-FFF2-40B4-BE49-F238E27FC236}">
                <a16:creationId xmlns:a16="http://schemas.microsoft.com/office/drawing/2014/main" id="{6EED6256-714B-7F47-772B-2D85E8F820A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6723D3A-DF20-6AF6-B16E-E38D1F9D4E4B}"/>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F9299260-6A5C-1F61-185C-E257A0A487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C7B84A-5D3D-1A3B-9234-23FF2B86F72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964948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374A4-86F3-8735-631E-5D54907F822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Panvel (PNVL3)</a:t>
            </a:r>
          </a:p>
          <a:p>
            <a:r>
              <a:rPr lang="en-US" b="1" dirty="0"/>
              <a:t>Still solid momentum.</a:t>
            </a:r>
            <a:r>
              <a:rPr lang="en-US" dirty="0"/>
              <a:t> The company flagged a still-solid near-term outlook, with GLP-1 remaining strong and an overall well-behaved mix, translating into improving profitability as expenses continue to dilute. On a longer term, higher avg. sales per store should drive more dilution, especially on selling expenses, while G&amp;A efficiency should also be sought via AI. PL is another margin lever, with gross mgs 4-6p.p. above average, rising to nearly 10p.p. for Lifar-sourced SKUs, with room to reach 10% of ex-GLP sales.</a:t>
            </a:r>
          </a:p>
          <a:p>
            <a:r>
              <a:rPr lang="en-US" b="1" dirty="0"/>
              <a:t>A lot more to come on GLP.</a:t>
            </a:r>
            <a:r>
              <a:rPr lang="en-US" dirty="0"/>
              <a:t> Semaglutide is gaining share within the category, up ~10p.p. since Ozivy’s arrival. Ahead, new entrants should also drive margins up for the category, while generics are expected to arrive in 2027, introducing a new phase of price declines and broader access. Importantly, the GLP-1 customer buys more items per ticket, runs a largely digital journey (PBM-driven) and drives strong cross- sell with other categories such as vitamins and supplements.</a:t>
            </a:r>
          </a:p>
          <a:p>
            <a:r>
              <a:rPr lang="en-US" b="1" dirty="0"/>
              <a:t>Marketplaces:</a:t>
            </a:r>
            <a:r>
              <a:rPr lang="en-US" dirty="0"/>
              <a:t> capillarity and PBM as the moat. The company operates on Shopee with HPC and on iFood, both with markups and through their own logistics. In this sense, capillarity and PBM remain strong moats against such players.</a:t>
            </a:r>
          </a:p>
          <a:p>
            <a:r>
              <a:rPr lang="en-US" b="1" dirty="0"/>
              <a:t>RD Saúde (RADL3)</a:t>
            </a:r>
          </a:p>
          <a:p>
            <a:r>
              <a:rPr lang="en-US" b="1" dirty="0"/>
              <a:t>Marketplace risk in the spotlight.</a:t>
            </a:r>
            <a:r>
              <a:rPr lang="en-US" dirty="0"/>
              <a:t> This was a heavily discussed topic, with RD noting that the currently approved regulatory model is no different from iFood’s. RD is already present in this channel, where margins are broadly similar to those of its digital operation, although relevance remains low (a mid- single-digit share of digital sales). In this context, a partnership with another player under a model similar to iFood’s is not ruled out.</a:t>
            </a:r>
          </a:p>
          <a:p>
            <a:r>
              <a:rPr lang="en-US" b="1" dirty="0"/>
              <a:t>A new normal in HPC.</a:t>
            </a:r>
            <a:r>
              <a:rPr lang="en-US" dirty="0"/>
              <a:t> The company estimates gross mg declined by up to ~100bps but with higher bonifications offsetting most of the impact. They see a new market dynamic in place as the industry understands and values the importance of physical retail to its brand building.</a:t>
            </a:r>
          </a:p>
          <a:p>
            <a:r>
              <a:rPr lang="en-US" b="1" dirty="0"/>
              <a:t>GLP-1 margin build.</a:t>
            </a:r>
            <a:r>
              <a:rPr lang="en-US" dirty="0"/>
              <a:t> Profitability is improving gradually, though a more robust margin expansion should take place in 1-1.5 years; informality remains a major market issue, with Eli Lilly actively supporting Anvisa’s efforts against informal channels alongside RD.</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4096081688"/>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Riachuelo (RIAA3)</a:t>
            </a:r>
          </a:p>
          <a:p>
            <a:r>
              <a:rPr lang="en-US" b="1" dirty="0"/>
              <a:t>Solid outlook ahead.</a:t>
            </a:r>
            <a:r>
              <a:rPr lang="en-US" dirty="0"/>
              <a:t> Traffic has normalized following the World Cup, and mgmt. sees no need for aggressive markdowns into 2H26. SSS trends remain solid, with improving momentum expected in the coming quarters.</a:t>
            </a:r>
          </a:p>
          <a:p>
            <a:r>
              <a:rPr lang="en-US" b="1" dirty="0"/>
              <a:t>Competitive landscape as a topic.</a:t>
            </a:r>
            <a:r>
              <a:rPr lang="en-US" dirty="0"/>
              <a:t> Mgmt. remains confident in its competitive positioning, with product innovation and an enhanced in-store experience standing out as key levers to continue outperforming peers.</a:t>
            </a:r>
          </a:p>
          <a:p>
            <a:r>
              <a:rPr lang="en-US" b="1" dirty="0"/>
              <a:t>Tax Reform as a potential tailwind.</a:t>
            </a:r>
            <a:r>
              <a:rPr lang="en-US" dirty="0"/>
              <a:t> Mgmt. highlighted constructive discussions aimed at preserving its benefits in RN, while the split payment mechanism should ensure a smooth pass-through to the retail operation.</a:t>
            </a:r>
          </a:p>
          <a:p>
            <a:r>
              <a:rPr lang="en-US" b="1" dirty="0"/>
              <a:t>Smart Fit (SMFT3)</a:t>
            </a:r>
          </a:p>
          <a:p>
            <a:r>
              <a:rPr lang="en-US" b="1" dirty="0"/>
              <a:t>A higher bar for capital allocation.</a:t>
            </a:r>
            <a:r>
              <a:rPr lang="en-US" dirty="0"/>
              <a:t> Mgmt. reinforced its disciplined approach to capital allocation, with greater selectivity toward projects at the upper end of its 35–40% cash-on-cash return range amid a more uncertain macro backdrop. Near-term expansion should not change given ~134 units under construction and 200+ contracts already signed, while Brazil remains the easiest market to adjust given more flexible leases. Abroad, Colombia is the main LatAm priority, with Argentina and Morocco gradually ramping up. Buybacks remain an option, though constrained by program limits.</a:t>
            </a:r>
          </a:p>
          <a:p>
            <a:r>
              <a:rPr lang="en-US" b="1" dirty="0"/>
              <a:t>Brazil margin reflects temporary and expansion-related effects.</a:t>
            </a:r>
            <a:r>
              <a:rPr lang="en-US" dirty="0"/>
              <a:t> Mgmt. explained that ~1/3 of Brazil's 350bps y/y margin compression in Q2 stems from a one-off (higher credit usage inflating last year's base), with the remaining ~2/3 driven by competitive environment, recent vintages' ramp-up and cannibalization, as 1H26's vintage is younger and follows record openings in 2025.</a:t>
            </a:r>
          </a:p>
          <a:p>
            <a:r>
              <a:rPr lang="en-US" b="1" dirty="0"/>
              <a:t>TotalPass now structural to unit economics.</a:t>
            </a:r>
            <a:r>
              <a:rPr lang="en-US" dirty="0"/>
              <a:t> TP has become an input to gyms' viability analysis, similar to balconys pricing tiers, with the migration from TP1+ (R$89.90) to TP2 (R$119.90) underway. A TP member remains less profitable than balcony one, while economics per visit remain below those of traditional memberships, the gap is expected to narrow as revenue per access evolves.</a:t>
            </a:r>
          </a:p>
          <a:p>
            <a:r>
              <a:rPr lang="en-US" b="1" dirty="0"/>
              <a:t>Vivara (VIVA3)</a:t>
            </a:r>
          </a:p>
          <a:p>
            <a:r>
              <a:rPr lang="en-US" b="1" dirty="0"/>
              <a:t>Life’s acceleration.</a:t>
            </a:r>
            <a:r>
              <a:rPr lang="en-US" dirty="0"/>
              <a:t> Mgmt. made a conscious decision to reduce promotions, which sacrificed short-term momentum. However, they have been working on a more intense launches pipeline that should drive SSS acceleration towards YE26/2027 while they reinforced that they did not see Pandora’s repositioning impacting the brand’s performance.</a:t>
            </a:r>
          </a:p>
          <a:p>
            <a:r>
              <a:rPr lang="en-US" b="1" dirty="0"/>
              <a:t>Vivara to focus on volume growth now.</a:t>
            </a:r>
            <a:r>
              <a:rPr lang="en-US" dirty="0"/>
              <a:t> Mgmt. is targeting volume-led growth as they see less price hike opportunities across categories. In this sense, Duo line emerges as a lever, with room to keep gaining penetration on sales.</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7645-8128-43BC-8FDD-1AEA665D857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pPr algn="r"/>
            <a:r>
              <a:rPr lang="en-US" i="1" dirty="0"/>
              <a:t>by Bernardo Guttmann, Luís Chagas</a:t>
            </a:r>
          </a:p>
          <a:p>
            <a:r>
              <a:rPr lang="en-US" dirty="0"/>
              <a:t>We came away from our meetings at XP's CEO Conference with a mixed-to-constructive view across the TMT universe.</a:t>
            </a:r>
          </a:p>
          <a:p>
            <a:r>
              <a:rPr lang="en-US" dirty="0"/>
              <a:t>In Telecom, competition remains intense and recent promotional activity continues to create pressure, although both Vivo and TIM pointed to some more constructive signs around prepaid monetization and pricing discipline. Vivo appears relatively better positioned, but we would still monitor how the competitive environment evolves over the coming quarters.</a:t>
            </a:r>
          </a:p>
          <a:p>
            <a:r>
              <a:rPr lang="en-US" dirty="0"/>
              <a:t>Intelbras highlighted that underlying growth remains healthier than headline figures suggest once the GPON phase-out and solar headwinds are excluded, with Security supported by newer categories such as connected cameras and access control, Energy sustaining double-digit growth, and ICT remaining resilient ex-GPON.</a:t>
            </a:r>
          </a:p>
          <a:p>
            <a:r>
              <a:rPr lang="en-US" dirty="0"/>
              <a:t>In software, TOTVS and Senior Sistemas reinforced a constructive view on AI, while Bemobi highlighted meaningful monetization opportunities within its existing client base and across newer verticals.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1347233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73267-9637-D48F-4105-31E6E3D0A25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E9A8F95-BFCD-B3C1-A7F3-F8D5BD7D6EE7}"/>
              </a:ext>
            </a:extLst>
          </p:cNvPr>
          <p:cNvSpPr>
            <a:spLocks noGrp="1"/>
          </p:cNvSpPr>
          <p:nvPr>
            <p:ph type="body" sz="quarter" idx="20"/>
          </p:nvPr>
        </p:nvSpPr>
        <p:spPr>
          <a:xfrm>
            <a:off x="382828" y="1497015"/>
            <a:ext cx="6106871" cy="7956548"/>
          </a:xfrm>
          <a:noFill/>
        </p:spPr>
        <p:txBody>
          <a:bodyPr/>
          <a:lstStyle/>
          <a:p>
            <a:pPr algn="r"/>
            <a:r>
              <a:rPr lang="pt-BR" i="1" dirty="0" err="1"/>
              <a:t>by</a:t>
            </a:r>
            <a:r>
              <a:rPr lang="pt-BR" i="1" dirty="0"/>
              <a:t> Pedro Bruno, Matheus Sant’anna, João Ramiro</a:t>
            </a:r>
          </a:p>
          <a:p>
            <a:r>
              <a:rPr lang="en-US" b="1" dirty="0"/>
              <a:t>Investor demand overview.</a:t>
            </a:r>
            <a:r>
              <a:rPr lang="en-US" dirty="0"/>
              <a:t> We observed strong investor interest in the companies that participated in our conference, with an average of ~30 client requests per company. In terms of sector-specific engagement, the highest levels of interest were ranked as follows: (</a:t>
            </a:r>
            <a:r>
              <a:rPr lang="en-US" dirty="0" err="1"/>
              <a:t>i</a:t>
            </a:r>
            <a:r>
              <a:rPr lang="en-US" dirty="0"/>
              <a:t>) Car Rental: </a:t>
            </a:r>
            <a:r>
              <a:rPr lang="en-US" dirty="0" err="1"/>
              <a:t>Localiza</a:t>
            </a:r>
            <a:r>
              <a:rPr lang="en-US" dirty="0"/>
              <a:t> (#1) and Movida (#2); (ii) Infrastructure: Motiva (#3) and </a:t>
            </a:r>
            <a:r>
              <a:rPr lang="en-US" dirty="0" err="1"/>
              <a:t>Ecorodovias</a:t>
            </a:r>
            <a:r>
              <a:rPr lang="en-US" dirty="0"/>
              <a:t> (#5); and (iii) Heavy Rental: Vamos (#4) and </a:t>
            </a:r>
            <a:r>
              <a:rPr lang="en-US" dirty="0" err="1"/>
              <a:t>Armac</a:t>
            </a:r>
            <a:r>
              <a:rPr lang="en-US" dirty="0"/>
              <a:t> (#6).</a:t>
            </a:r>
          </a:p>
          <a:p>
            <a:r>
              <a:rPr lang="en-US" b="1" dirty="0"/>
              <a:t>A macro slowdown in 2H is a worry, with Infra being a safe space.</a:t>
            </a:r>
            <a:r>
              <a:rPr lang="en-US" dirty="0"/>
              <a:t> Investors were more cautious towards names related with macro trends and that could be impacted by a reduction in economic activity. We highlight: (</a:t>
            </a:r>
            <a:r>
              <a:rPr lang="en-US" dirty="0" err="1"/>
              <a:t>i</a:t>
            </a:r>
            <a:r>
              <a:rPr lang="en-US" dirty="0"/>
              <a:t>) “retail” oriented operations like car rental players seem to be facing a tougher scenario for </a:t>
            </a:r>
            <a:r>
              <a:rPr lang="en-US" dirty="0" err="1"/>
              <a:t>RaC</a:t>
            </a:r>
            <a:r>
              <a:rPr lang="en-US" dirty="0"/>
              <a:t> expansion and </a:t>
            </a:r>
            <a:r>
              <a:rPr lang="en-US" dirty="0" err="1"/>
              <a:t>Seminovos</a:t>
            </a:r>
            <a:r>
              <a:rPr lang="en-US" dirty="0"/>
              <a:t> profitability; (ii) heavy rental cos focusing on portfolio return after higher default rates from clients imposed a growth and asset-return challenge in some cases. On the other hand, toll roads were a name being discussed as a safer play due to its top-line resilience and recently strong operational performance.</a:t>
            </a:r>
          </a:p>
          <a:p>
            <a:r>
              <a:rPr lang="en-US" b="1" dirty="0"/>
              <a:t>Focusing on cost efficiencies amid a potentially tougher macro scenario.</a:t>
            </a:r>
            <a:r>
              <a:rPr lang="en-US" dirty="0"/>
              <a:t> Companies in some cases showed a more cautious stance regarding the outlook ahead, mainly due to concerns over a potentially tougher macro environment. In an attempt to mitigate this more challenging scenario (at least partially), companies are increasingly focusing on cost reduction initiatives, in many cases through technological implementation. Below is a summary of the key topics by each company.</a:t>
            </a:r>
          </a:p>
          <a:p>
            <a:pPr marL="171450" indent="-171450">
              <a:buFont typeface="Arial" panose="020B0604020202020204" pitchFamily="34" charset="0"/>
              <a:buChar char="•"/>
            </a:pPr>
            <a:r>
              <a:rPr lang="en-US" dirty="0"/>
              <a:t>RENT: (</a:t>
            </a:r>
            <a:r>
              <a:rPr lang="en-US" dirty="0" err="1"/>
              <a:t>i</a:t>
            </a:r>
            <a:r>
              <a:rPr lang="en-US" dirty="0"/>
              <a:t>) </a:t>
            </a:r>
            <a:r>
              <a:rPr lang="en-US" dirty="0" err="1"/>
              <a:t>Seminovos</a:t>
            </a:r>
            <a:r>
              <a:rPr lang="en-US" dirty="0"/>
              <a:t>’ dynamic; (ii) cost efficiency; and (iii) rental tariffs;</a:t>
            </a:r>
          </a:p>
          <a:p>
            <a:pPr marL="171450" indent="-171450">
              <a:buFont typeface="Arial" panose="020B0604020202020204" pitchFamily="34" charset="0"/>
              <a:buChar char="•"/>
            </a:pPr>
            <a:r>
              <a:rPr lang="en-US" dirty="0"/>
              <a:t>MOVI: (</a:t>
            </a:r>
            <a:r>
              <a:rPr lang="en-US" dirty="0" err="1"/>
              <a:t>i</a:t>
            </a:r>
            <a:r>
              <a:rPr lang="en-US" dirty="0"/>
              <a:t>) fleet impairment; (ii) cost reduction; and (iii) capital allocation;</a:t>
            </a:r>
          </a:p>
          <a:p>
            <a:pPr marL="171450" indent="-171450">
              <a:buFont typeface="Arial" panose="020B0604020202020204" pitchFamily="34" charset="0"/>
              <a:buChar char="•"/>
            </a:pPr>
            <a:r>
              <a:rPr lang="en-US" dirty="0"/>
              <a:t>MOTV: (</a:t>
            </a:r>
            <a:r>
              <a:rPr lang="en-US" dirty="0" err="1"/>
              <a:t>i</a:t>
            </a:r>
            <a:r>
              <a:rPr lang="en-US" dirty="0"/>
              <a:t>) capital allocation; (ii) airports sale; and (iii) </a:t>
            </a:r>
            <a:r>
              <a:rPr lang="en-US" dirty="0" err="1"/>
              <a:t>opex</a:t>
            </a:r>
            <a:r>
              <a:rPr lang="en-US" dirty="0"/>
              <a:t>/capex efficiency;</a:t>
            </a:r>
          </a:p>
          <a:p>
            <a:pPr marL="171450" indent="-171450">
              <a:buFont typeface="Arial" panose="020B0604020202020204" pitchFamily="34" charset="0"/>
              <a:buChar char="•"/>
            </a:pPr>
            <a:r>
              <a:rPr lang="en-US" dirty="0"/>
              <a:t>ECOR: (</a:t>
            </a:r>
            <a:r>
              <a:rPr lang="en-US" dirty="0" err="1"/>
              <a:t>i</a:t>
            </a:r>
            <a:r>
              <a:rPr lang="en-US" dirty="0"/>
              <a:t>) capital allocation; (ii) debt refinancing; and (iii) capital structure;</a:t>
            </a:r>
          </a:p>
          <a:p>
            <a:pPr marL="171450" indent="-171450">
              <a:buFont typeface="Arial" panose="020B0604020202020204" pitchFamily="34" charset="0"/>
              <a:buChar char="•"/>
            </a:pPr>
            <a:r>
              <a:rPr lang="en-US" dirty="0"/>
              <a:t>VAMO: (</a:t>
            </a:r>
            <a:r>
              <a:rPr lang="en-US" dirty="0" err="1"/>
              <a:t>i</a:t>
            </a:r>
            <a:r>
              <a:rPr lang="en-US" dirty="0"/>
              <a:t>) asset repossessions/sales; (ii) </a:t>
            </a:r>
            <a:r>
              <a:rPr lang="en-US" i="1" dirty="0"/>
              <a:t>Sempre Novo </a:t>
            </a:r>
            <a:r>
              <a:rPr lang="en-US" dirty="0"/>
              <a:t>program; and (iii) guidance revision;</a:t>
            </a:r>
          </a:p>
          <a:p>
            <a:pPr marL="171450" indent="-171450">
              <a:buFont typeface="Arial" panose="020B0604020202020204" pitchFamily="34" charset="0"/>
              <a:buChar char="•"/>
            </a:pPr>
            <a:r>
              <a:rPr lang="en-US" dirty="0"/>
              <a:t>MILS: (</a:t>
            </a:r>
            <a:r>
              <a:rPr lang="en-US" dirty="0" err="1"/>
              <a:t>i</a:t>
            </a:r>
            <a:r>
              <a:rPr lang="en-US" dirty="0"/>
              <a:t>) Chinese OEM competition; (ii) growth opportunities; and (iii) asset life extension;</a:t>
            </a:r>
          </a:p>
          <a:p>
            <a:pPr marL="171450" indent="-171450">
              <a:buFont typeface="Arial" panose="020B0604020202020204" pitchFamily="34" charset="0"/>
              <a:buChar char="•"/>
            </a:pPr>
            <a:r>
              <a:rPr lang="en-US" dirty="0"/>
              <a:t>ARML: (</a:t>
            </a:r>
            <a:r>
              <a:rPr lang="en-US" dirty="0" err="1"/>
              <a:t>i</a:t>
            </a:r>
            <a:r>
              <a:rPr lang="en-US" dirty="0"/>
              <a:t>) operational restructuring; (ii) new focus post restructuring; and (iii) asset sales;</a:t>
            </a:r>
          </a:p>
          <a:p>
            <a:pPr marL="171450" indent="-171450">
              <a:buFont typeface="Arial" panose="020B0604020202020204" pitchFamily="34" charset="0"/>
              <a:buChar char="•"/>
            </a:pPr>
            <a:r>
              <a:rPr lang="en-US" dirty="0"/>
              <a:t>PRNR: (</a:t>
            </a:r>
            <a:r>
              <a:rPr lang="en-US" dirty="0" err="1"/>
              <a:t>i</a:t>
            </a:r>
            <a:r>
              <a:rPr lang="en-US" dirty="0"/>
              <a:t>) inorganic movements; (ii) operational improvement expectations; and (iii) growth plans.</a:t>
            </a:r>
          </a:p>
        </p:txBody>
      </p:sp>
      <p:sp>
        <p:nvSpPr>
          <p:cNvPr id="7" name="Text Placeholder 6">
            <a:extLst>
              <a:ext uri="{FF2B5EF4-FFF2-40B4-BE49-F238E27FC236}">
                <a16:creationId xmlns:a16="http://schemas.microsoft.com/office/drawing/2014/main" id="{41A2BF56-7BD7-1793-3B5E-6AD1E08565F4}"/>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14B61AC-4599-A460-DAB0-FD7BC68DF557}"/>
              </a:ext>
            </a:extLst>
          </p:cNvPr>
          <p:cNvSpPr>
            <a:spLocks noGrp="1"/>
          </p:cNvSpPr>
          <p:nvPr>
            <p:ph type="body" sz="quarter" idx="17"/>
          </p:nvPr>
        </p:nvSpPr>
        <p:spPr/>
        <p:txBody>
          <a:bodyPr/>
          <a:lstStyle/>
          <a:p>
            <a:r>
              <a:rPr lang="pt-BR" dirty="0"/>
              <a:t>Transportation</a:t>
            </a:r>
          </a:p>
        </p:txBody>
      </p:sp>
      <p:sp>
        <p:nvSpPr>
          <p:cNvPr id="9" name="Text Placeholder 8">
            <a:extLst>
              <a:ext uri="{FF2B5EF4-FFF2-40B4-BE49-F238E27FC236}">
                <a16:creationId xmlns:a16="http://schemas.microsoft.com/office/drawing/2014/main" id="{1186EBF9-EA81-18AA-87B7-6C55FCC9B4B3}"/>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BE3233B2-A02D-C5EB-31E7-F486D00C87F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1047136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894FB-5068-42F6-4376-03D4DC4D66C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pPr algn="r">
              <a:spcBef>
                <a:spcPts val="800"/>
              </a:spcBef>
            </a:pPr>
            <a:r>
              <a:rPr lang="pt-BR" i="1" dirty="0" err="1"/>
              <a:t>by</a:t>
            </a:r>
            <a:r>
              <a:rPr lang="pt-BR" i="1" dirty="0"/>
              <a:t> Raul Cavendish, Bruno Vidal</a:t>
            </a:r>
          </a:p>
          <a:p>
            <a:pPr>
              <a:spcBef>
                <a:spcPts val="800"/>
              </a:spcBef>
            </a:pPr>
            <a:r>
              <a:rPr lang="pt-BR" b="1" dirty="0" err="1"/>
              <a:t>Alupar</a:t>
            </a:r>
            <a:r>
              <a:rPr lang="pt-BR" b="1" dirty="0"/>
              <a:t> (ALUP11):</a:t>
            </a:r>
            <a:r>
              <a:rPr lang="pt-BR" dirty="0"/>
              <a:t> </a:t>
            </a:r>
            <a:r>
              <a:rPr lang="en-US" dirty="0" err="1"/>
              <a:t>LatAm</a:t>
            </a:r>
            <a:r>
              <a:rPr lang="en-US" dirty="0"/>
              <a:t> auctions are expected to tender an additional ~US$600mn in capex this year, while for 2026 capex </a:t>
            </a:r>
            <a:r>
              <a:rPr lang="pt-BR" dirty="0" err="1"/>
              <a:t>could</a:t>
            </a:r>
            <a:r>
              <a:rPr lang="pt-BR" dirty="0"/>
              <a:t> </a:t>
            </a:r>
            <a:r>
              <a:rPr lang="pt-BR" dirty="0" err="1"/>
              <a:t>surpass</a:t>
            </a:r>
            <a:r>
              <a:rPr lang="pt-BR" dirty="0"/>
              <a:t> US$2bn. The </a:t>
            </a:r>
            <a:r>
              <a:rPr lang="pt-BR" dirty="0" err="1"/>
              <a:t>current</a:t>
            </a:r>
            <a:r>
              <a:rPr lang="pt-BR" dirty="0"/>
              <a:t> </a:t>
            </a:r>
            <a:r>
              <a:rPr lang="pt-BR" dirty="0" err="1"/>
              <a:t>investment</a:t>
            </a:r>
            <a:r>
              <a:rPr lang="pt-BR" dirty="0"/>
              <a:t> </a:t>
            </a:r>
            <a:r>
              <a:rPr lang="pt-BR" dirty="0" err="1"/>
              <a:t>cycle</a:t>
            </a:r>
            <a:r>
              <a:rPr lang="pt-BR" dirty="0"/>
              <a:t> </a:t>
            </a:r>
            <a:r>
              <a:rPr lang="pt-BR" dirty="0" err="1"/>
              <a:t>should</a:t>
            </a:r>
            <a:r>
              <a:rPr lang="pt-BR" dirty="0"/>
              <a:t> </a:t>
            </a:r>
            <a:r>
              <a:rPr lang="pt-BR" dirty="0" err="1"/>
              <a:t>peak</a:t>
            </a:r>
            <a:r>
              <a:rPr lang="pt-BR" dirty="0"/>
              <a:t> in 2028, </a:t>
            </a:r>
            <a:r>
              <a:rPr lang="pt-BR" dirty="0" err="1"/>
              <a:t>when</a:t>
            </a:r>
            <a:r>
              <a:rPr lang="pt-BR" dirty="0"/>
              <a:t> </a:t>
            </a:r>
            <a:r>
              <a:rPr lang="pt-BR" dirty="0" err="1"/>
              <a:t>leverage</a:t>
            </a:r>
            <a:r>
              <a:rPr lang="pt-BR" dirty="0"/>
              <a:t> </a:t>
            </a:r>
            <a:r>
              <a:rPr lang="pt-BR" dirty="0" err="1"/>
              <a:t>is</a:t>
            </a:r>
            <a:r>
              <a:rPr lang="pt-BR" dirty="0"/>
              <a:t> </a:t>
            </a:r>
            <a:r>
              <a:rPr lang="pt-BR" dirty="0" err="1"/>
              <a:t>projected</a:t>
            </a:r>
            <a:r>
              <a:rPr lang="pt-BR" dirty="0"/>
              <a:t> </a:t>
            </a:r>
            <a:r>
              <a:rPr lang="pt-BR" dirty="0" err="1"/>
              <a:t>to</a:t>
            </a:r>
            <a:r>
              <a:rPr lang="pt-BR" dirty="0"/>
              <a:t> </a:t>
            </a:r>
            <a:r>
              <a:rPr lang="pt-BR" dirty="0" err="1"/>
              <a:t>reach</a:t>
            </a:r>
            <a:r>
              <a:rPr lang="pt-BR" dirty="0"/>
              <a:t> 3.8–4.0x. In </a:t>
            </a:r>
            <a:r>
              <a:rPr lang="pt-BR" dirty="0" err="1"/>
              <a:t>Brazil</a:t>
            </a:r>
            <a:r>
              <a:rPr lang="pt-BR" dirty="0"/>
              <a:t>, </a:t>
            </a:r>
            <a:r>
              <a:rPr lang="pt-BR" dirty="0" err="1"/>
              <a:t>the</a:t>
            </a:r>
            <a:r>
              <a:rPr lang="pt-BR" dirty="0"/>
              <a:t> TNE </a:t>
            </a:r>
            <a:r>
              <a:rPr lang="pt-BR" dirty="0" err="1"/>
              <a:t>line</a:t>
            </a:r>
            <a:r>
              <a:rPr lang="pt-BR" dirty="0"/>
              <a:t> </a:t>
            </a:r>
            <a:r>
              <a:rPr lang="pt-BR" dirty="0" err="1"/>
              <a:t>is</a:t>
            </a:r>
            <a:r>
              <a:rPr lang="pt-BR" dirty="0"/>
              <a:t> </a:t>
            </a:r>
            <a:r>
              <a:rPr lang="pt-BR" dirty="0" err="1"/>
              <a:t>expected</a:t>
            </a:r>
            <a:r>
              <a:rPr lang="pt-BR" dirty="0"/>
              <a:t> </a:t>
            </a:r>
            <a:r>
              <a:rPr lang="pt-BR" dirty="0" err="1"/>
              <a:t>to</a:t>
            </a:r>
            <a:r>
              <a:rPr lang="pt-BR" dirty="0"/>
              <a:t> </a:t>
            </a:r>
            <a:r>
              <a:rPr lang="pt-BR" dirty="0" err="1"/>
              <a:t>reach</a:t>
            </a:r>
            <a:r>
              <a:rPr lang="pt-BR" dirty="0"/>
              <a:t> COD </a:t>
            </a:r>
            <a:r>
              <a:rPr lang="pt-BR" dirty="0" err="1"/>
              <a:t>by</a:t>
            </a:r>
            <a:r>
              <a:rPr lang="pt-BR" dirty="0"/>
              <a:t> YE25/</a:t>
            </a:r>
            <a:r>
              <a:rPr lang="pt-BR" dirty="0" err="1"/>
              <a:t>early</a:t>
            </a:r>
            <a:r>
              <a:rPr lang="pt-BR" dirty="0"/>
              <a:t> 2026, </a:t>
            </a:r>
            <a:r>
              <a:rPr lang="pt-BR" dirty="0" err="1"/>
              <a:t>triggering</a:t>
            </a:r>
            <a:r>
              <a:rPr lang="pt-BR" dirty="0"/>
              <a:t> a </a:t>
            </a:r>
            <a:r>
              <a:rPr lang="pt-BR" dirty="0" err="1"/>
              <a:t>divestment</a:t>
            </a:r>
            <a:r>
              <a:rPr lang="pt-BR" dirty="0"/>
              <a:t> </a:t>
            </a:r>
            <a:r>
              <a:rPr lang="pt-BR" dirty="0" err="1"/>
              <a:t>of</a:t>
            </a:r>
            <a:r>
              <a:rPr lang="pt-BR" dirty="0"/>
              <a:t> </a:t>
            </a:r>
            <a:r>
              <a:rPr lang="pt-BR" dirty="0" err="1"/>
              <a:t>the</a:t>
            </a:r>
            <a:r>
              <a:rPr lang="pt-BR" dirty="0"/>
              <a:t> </a:t>
            </a:r>
            <a:r>
              <a:rPr lang="pt-BR" dirty="0" err="1"/>
              <a:t>asset</a:t>
            </a:r>
            <a:r>
              <a:rPr lang="pt-BR" dirty="0"/>
              <a:t> </a:t>
            </a:r>
            <a:r>
              <a:rPr lang="pt-BR" dirty="0" err="1"/>
              <a:t>to</a:t>
            </a:r>
            <a:r>
              <a:rPr lang="pt-BR" dirty="0"/>
              <a:t> Eletrobras. </a:t>
            </a:r>
            <a:r>
              <a:rPr lang="pt-BR" dirty="0" err="1"/>
              <a:t>Regarding</a:t>
            </a:r>
            <a:r>
              <a:rPr lang="pt-BR" dirty="0"/>
              <a:t> Generation, no new </a:t>
            </a:r>
            <a:r>
              <a:rPr lang="pt-BR" dirty="0" err="1"/>
              <a:t>generation</a:t>
            </a:r>
            <a:r>
              <a:rPr lang="pt-BR" dirty="0"/>
              <a:t> </a:t>
            </a:r>
            <a:r>
              <a:rPr lang="pt-BR" dirty="0" err="1"/>
              <a:t>capex</a:t>
            </a:r>
            <a:r>
              <a:rPr lang="pt-BR" dirty="0"/>
              <a:t> </a:t>
            </a:r>
            <a:r>
              <a:rPr lang="pt-BR" dirty="0" err="1"/>
              <a:t>expected</a:t>
            </a:r>
            <a:r>
              <a:rPr lang="pt-BR" dirty="0"/>
              <a:t>, </a:t>
            </a:r>
            <a:r>
              <a:rPr lang="pt-BR" dirty="0" err="1"/>
              <a:t>though</a:t>
            </a:r>
            <a:r>
              <a:rPr lang="pt-BR" dirty="0"/>
              <a:t> </a:t>
            </a:r>
            <a:r>
              <a:rPr lang="pt-BR" dirty="0" err="1"/>
              <a:t>selective</a:t>
            </a:r>
            <a:r>
              <a:rPr lang="pt-BR" dirty="0"/>
              <a:t> capital </a:t>
            </a:r>
            <a:r>
              <a:rPr lang="pt-BR" dirty="0" err="1"/>
              <a:t>recycling</a:t>
            </a:r>
            <a:r>
              <a:rPr lang="pt-BR" dirty="0"/>
              <a:t> </a:t>
            </a:r>
            <a:r>
              <a:rPr lang="pt-BR" dirty="0" err="1"/>
              <a:t>may</a:t>
            </a:r>
            <a:r>
              <a:rPr lang="pt-BR" dirty="0"/>
              <a:t> </a:t>
            </a:r>
            <a:r>
              <a:rPr lang="pt-BR" dirty="0" err="1"/>
              <a:t>occur</a:t>
            </a:r>
            <a:r>
              <a:rPr lang="pt-BR" dirty="0"/>
              <a:t>.</a:t>
            </a:r>
          </a:p>
          <a:p>
            <a:pPr>
              <a:spcBef>
                <a:spcPts val="800"/>
              </a:spcBef>
            </a:pPr>
            <a:r>
              <a:rPr lang="pt-BR" b="1" dirty="0" err="1"/>
              <a:t>Auren</a:t>
            </a:r>
            <a:r>
              <a:rPr lang="pt-BR" b="1" dirty="0"/>
              <a:t> (AURE3):</a:t>
            </a:r>
            <a:r>
              <a:rPr lang="pt-BR" dirty="0"/>
              <a:t> </a:t>
            </a:r>
            <a:r>
              <a:rPr lang="pt-BR" dirty="0" err="1"/>
              <a:t>Strategy</a:t>
            </a:r>
            <a:r>
              <a:rPr lang="pt-BR" dirty="0"/>
              <a:t> </a:t>
            </a:r>
            <a:r>
              <a:rPr lang="pt-BR" dirty="0" err="1"/>
              <a:t>remains</a:t>
            </a:r>
            <a:r>
              <a:rPr lang="pt-BR" dirty="0"/>
              <a:t> </a:t>
            </a:r>
            <a:r>
              <a:rPr lang="pt-BR" dirty="0" err="1"/>
              <a:t>centered</a:t>
            </a:r>
            <a:r>
              <a:rPr lang="pt-BR" dirty="0"/>
              <a:t> </a:t>
            </a:r>
            <a:r>
              <a:rPr lang="pt-BR" dirty="0" err="1"/>
              <a:t>on</a:t>
            </a:r>
            <a:r>
              <a:rPr lang="pt-BR" dirty="0"/>
              <a:t> turnaround </a:t>
            </a:r>
            <a:r>
              <a:rPr lang="pt-BR" dirty="0" err="1"/>
              <a:t>and</a:t>
            </a:r>
            <a:r>
              <a:rPr lang="pt-BR" dirty="0"/>
              <a:t> AES </a:t>
            </a:r>
            <a:r>
              <a:rPr lang="pt-BR" dirty="0" err="1"/>
              <a:t>integration</a:t>
            </a:r>
            <a:r>
              <a:rPr lang="pt-BR" dirty="0"/>
              <a:t>. Strong </a:t>
            </a:r>
            <a:r>
              <a:rPr lang="pt-BR" dirty="0" err="1"/>
              <a:t>results</a:t>
            </a:r>
            <a:r>
              <a:rPr lang="pt-BR" dirty="0"/>
              <a:t> in 1H25, </a:t>
            </a:r>
            <a:r>
              <a:rPr lang="pt-BR" dirty="0" err="1"/>
              <a:t>but</a:t>
            </a:r>
            <a:r>
              <a:rPr lang="pt-BR" dirty="0"/>
              <a:t> 3Q </a:t>
            </a:r>
            <a:r>
              <a:rPr lang="pt-BR" dirty="0" err="1"/>
              <a:t>has</a:t>
            </a:r>
            <a:r>
              <a:rPr lang="pt-BR" dirty="0"/>
              <a:t> </a:t>
            </a:r>
            <a:r>
              <a:rPr lang="pt-BR" dirty="0" err="1"/>
              <a:t>started</a:t>
            </a:r>
            <a:r>
              <a:rPr lang="pt-BR" dirty="0"/>
              <a:t> </a:t>
            </a:r>
            <a:r>
              <a:rPr lang="pt-BR" dirty="0" err="1"/>
              <a:t>with</a:t>
            </a:r>
            <a:r>
              <a:rPr lang="pt-BR" dirty="0"/>
              <a:t> </a:t>
            </a:r>
            <a:r>
              <a:rPr lang="pt-BR" dirty="0" err="1"/>
              <a:t>weaker</a:t>
            </a:r>
            <a:r>
              <a:rPr lang="pt-BR" dirty="0"/>
              <a:t> </a:t>
            </a:r>
            <a:r>
              <a:rPr lang="pt-BR" dirty="0" err="1"/>
              <a:t>wind</a:t>
            </a:r>
            <a:r>
              <a:rPr lang="pt-BR" dirty="0"/>
              <a:t> </a:t>
            </a:r>
            <a:r>
              <a:rPr lang="pt-BR" dirty="0" err="1"/>
              <a:t>resources</a:t>
            </a:r>
            <a:r>
              <a:rPr lang="pt-BR" dirty="0"/>
              <a:t> </a:t>
            </a:r>
            <a:r>
              <a:rPr lang="pt-BR" dirty="0" err="1"/>
              <a:t>and</a:t>
            </a:r>
            <a:r>
              <a:rPr lang="pt-BR" dirty="0"/>
              <a:t> high </a:t>
            </a:r>
            <a:r>
              <a:rPr lang="pt-BR" dirty="0" err="1"/>
              <a:t>curtailment</a:t>
            </a:r>
            <a:r>
              <a:rPr lang="pt-BR" dirty="0"/>
              <a:t>. </a:t>
            </a:r>
            <a:r>
              <a:rPr lang="pt-BR" dirty="0" err="1"/>
              <a:t>Curtailment</a:t>
            </a:r>
            <a:r>
              <a:rPr lang="pt-BR" dirty="0"/>
              <a:t> debate </a:t>
            </a:r>
            <a:r>
              <a:rPr lang="pt-BR" dirty="0" err="1"/>
              <a:t>has</a:t>
            </a:r>
            <a:r>
              <a:rPr lang="pt-BR" dirty="0"/>
              <a:t> </a:t>
            </a:r>
            <a:r>
              <a:rPr lang="pt-BR" dirty="0" err="1"/>
              <a:t>lost</a:t>
            </a:r>
            <a:r>
              <a:rPr lang="pt-BR" dirty="0"/>
              <a:t> momentum, </a:t>
            </a:r>
            <a:r>
              <a:rPr lang="pt-BR" dirty="0" err="1"/>
              <a:t>while</a:t>
            </a:r>
            <a:r>
              <a:rPr lang="pt-BR" dirty="0"/>
              <a:t> </a:t>
            </a:r>
            <a:r>
              <a:rPr lang="pt-BR" dirty="0" err="1"/>
              <a:t>LRCap</a:t>
            </a:r>
            <a:r>
              <a:rPr lang="pt-BR" dirty="0"/>
              <a:t> </a:t>
            </a:r>
            <a:r>
              <a:rPr lang="pt-BR" dirty="0" err="1"/>
              <a:t>publication</a:t>
            </a:r>
            <a:r>
              <a:rPr lang="pt-BR" dirty="0"/>
              <a:t> </a:t>
            </a:r>
            <a:r>
              <a:rPr lang="pt-BR" dirty="0" err="1"/>
              <a:t>is</a:t>
            </a:r>
            <a:r>
              <a:rPr lang="pt-BR" dirty="0"/>
              <a:t> </a:t>
            </a:r>
            <a:r>
              <a:rPr lang="pt-BR" dirty="0" err="1"/>
              <a:t>expected</a:t>
            </a:r>
            <a:r>
              <a:rPr lang="pt-BR" dirty="0"/>
              <a:t> </a:t>
            </a:r>
            <a:r>
              <a:rPr lang="pt-BR" dirty="0" err="1"/>
              <a:t>soon</a:t>
            </a:r>
            <a:r>
              <a:rPr lang="pt-BR" dirty="0"/>
              <a:t>, </a:t>
            </a:r>
            <a:r>
              <a:rPr lang="en-US" dirty="0"/>
              <a:t>which should make a 1Q26 auction viable. </a:t>
            </a:r>
            <a:endParaRPr lang="pt-BR" dirty="0"/>
          </a:p>
          <a:p>
            <a:pPr>
              <a:spcBef>
                <a:spcPts val="800"/>
              </a:spcBef>
            </a:pPr>
            <a:r>
              <a:rPr lang="pt-BR" b="1" dirty="0"/>
              <a:t>Copel (CPLE6):</a:t>
            </a:r>
            <a:r>
              <a:rPr lang="pt-BR" dirty="0"/>
              <a:t> </a:t>
            </a:r>
            <a:r>
              <a:rPr lang="pt-BR" dirty="0" err="1"/>
              <a:t>Confident</a:t>
            </a:r>
            <a:r>
              <a:rPr lang="pt-BR" dirty="0"/>
              <a:t> </a:t>
            </a:r>
            <a:r>
              <a:rPr lang="pt-BR" dirty="0" err="1"/>
              <a:t>the</a:t>
            </a:r>
            <a:r>
              <a:rPr lang="pt-BR" dirty="0"/>
              <a:t> </a:t>
            </a:r>
            <a:r>
              <a:rPr lang="pt-BR" dirty="0" err="1"/>
              <a:t>share</a:t>
            </a:r>
            <a:r>
              <a:rPr lang="pt-BR" dirty="0"/>
              <a:t> </a:t>
            </a:r>
            <a:r>
              <a:rPr lang="pt-BR" dirty="0" err="1"/>
              <a:t>class</a:t>
            </a:r>
            <a:r>
              <a:rPr lang="pt-BR" dirty="0"/>
              <a:t> </a:t>
            </a:r>
            <a:r>
              <a:rPr lang="pt-BR" dirty="0" err="1"/>
              <a:t>merger</a:t>
            </a:r>
            <a:r>
              <a:rPr lang="pt-BR" dirty="0"/>
              <a:t> </a:t>
            </a:r>
            <a:r>
              <a:rPr lang="pt-BR" dirty="0" err="1"/>
              <a:t>will</a:t>
            </a:r>
            <a:r>
              <a:rPr lang="pt-BR" dirty="0"/>
              <a:t> </a:t>
            </a:r>
            <a:r>
              <a:rPr lang="pt-BR" dirty="0" err="1"/>
              <a:t>be</a:t>
            </a:r>
            <a:r>
              <a:rPr lang="pt-BR" dirty="0"/>
              <a:t> </a:t>
            </a:r>
            <a:r>
              <a:rPr lang="pt-BR" dirty="0" err="1"/>
              <a:t>completed</a:t>
            </a:r>
            <a:r>
              <a:rPr lang="pt-BR" dirty="0"/>
              <a:t> </a:t>
            </a:r>
            <a:r>
              <a:rPr lang="pt-BR" dirty="0" err="1"/>
              <a:t>by</a:t>
            </a:r>
            <a:r>
              <a:rPr lang="pt-BR" dirty="0"/>
              <a:t> YE25. Short-</a:t>
            </a:r>
            <a:r>
              <a:rPr lang="pt-BR" dirty="0" err="1"/>
              <a:t>term</a:t>
            </a:r>
            <a:r>
              <a:rPr lang="pt-BR" dirty="0"/>
              <a:t> portfolio </a:t>
            </a:r>
            <a:r>
              <a:rPr lang="pt-BR" dirty="0" err="1"/>
              <a:t>highly</a:t>
            </a:r>
            <a:r>
              <a:rPr lang="pt-BR" dirty="0"/>
              <a:t> </a:t>
            </a:r>
            <a:r>
              <a:rPr lang="pt-BR" dirty="0" err="1"/>
              <a:t>contracted</a:t>
            </a:r>
            <a:r>
              <a:rPr lang="pt-BR" dirty="0"/>
              <a:t>, </a:t>
            </a:r>
            <a:r>
              <a:rPr lang="pt-BR" dirty="0" err="1"/>
              <a:t>with</a:t>
            </a:r>
            <a:r>
              <a:rPr lang="pt-BR" dirty="0"/>
              <a:t> more </a:t>
            </a:r>
            <a:r>
              <a:rPr lang="pt-BR" dirty="0" err="1"/>
              <a:t>flexibility</a:t>
            </a:r>
            <a:r>
              <a:rPr lang="pt-BR" dirty="0"/>
              <a:t> </a:t>
            </a:r>
            <a:r>
              <a:rPr lang="pt-BR" dirty="0" err="1"/>
              <a:t>long</a:t>
            </a:r>
            <a:r>
              <a:rPr lang="pt-BR" dirty="0"/>
              <a:t> term. </a:t>
            </a:r>
            <a:r>
              <a:rPr lang="pt-BR" dirty="0" err="1"/>
              <a:t>Optimistic</a:t>
            </a:r>
            <a:r>
              <a:rPr lang="pt-BR" dirty="0"/>
              <a:t> </a:t>
            </a:r>
            <a:r>
              <a:rPr lang="pt-BR" dirty="0" err="1"/>
              <a:t>on</a:t>
            </a:r>
            <a:r>
              <a:rPr lang="pt-BR" dirty="0"/>
              <a:t> </a:t>
            </a:r>
            <a:r>
              <a:rPr lang="pt-BR" dirty="0" err="1"/>
              <a:t>tariff</a:t>
            </a:r>
            <a:r>
              <a:rPr lang="pt-BR" dirty="0"/>
              <a:t> review </a:t>
            </a:r>
            <a:r>
              <a:rPr lang="pt-BR" dirty="0" err="1"/>
              <a:t>and</a:t>
            </a:r>
            <a:r>
              <a:rPr lang="pt-BR" dirty="0"/>
              <a:t> </a:t>
            </a:r>
            <a:r>
              <a:rPr lang="pt-BR" dirty="0" err="1"/>
              <a:t>capex</a:t>
            </a:r>
            <a:r>
              <a:rPr lang="pt-BR" dirty="0"/>
              <a:t> </a:t>
            </a:r>
            <a:r>
              <a:rPr lang="pt-BR" dirty="0" err="1"/>
              <a:t>recognition</a:t>
            </a:r>
            <a:r>
              <a:rPr lang="pt-BR" dirty="0"/>
              <a:t>, </a:t>
            </a:r>
            <a:r>
              <a:rPr lang="en-US" dirty="0"/>
              <a:t>and they see room for another regulatory cycle where capex surpasses regulatory depreciation by more than 2.5x, which should sustain real Net RAB growth for years to come.</a:t>
            </a:r>
            <a:endParaRPr lang="pt-BR" dirty="0"/>
          </a:p>
          <a:p>
            <a:pPr>
              <a:spcBef>
                <a:spcPts val="800"/>
              </a:spcBef>
            </a:pPr>
            <a:r>
              <a:rPr lang="pt-BR" b="1" dirty="0"/>
              <a:t>ISA Energia (ISAE4):</a:t>
            </a:r>
            <a:r>
              <a:rPr lang="pt-BR" dirty="0"/>
              <a:t> </a:t>
            </a:r>
            <a:r>
              <a:rPr lang="pt-BR" dirty="0" err="1"/>
              <a:t>Adopting</a:t>
            </a:r>
            <a:r>
              <a:rPr lang="pt-BR" dirty="0"/>
              <a:t> a more </a:t>
            </a:r>
            <a:r>
              <a:rPr lang="pt-BR" dirty="0" err="1"/>
              <a:t>conservative</a:t>
            </a:r>
            <a:r>
              <a:rPr lang="pt-BR" dirty="0"/>
              <a:t> approach </a:t>
            </a:r>
            <a:r>
              <a:rPr lang="pt-BR" dirty="0" err="1"/>
              <a:t>given</a:t>
            </a:r>
            <a:r>
              <a:rPr lang="pt-BR" dirty="0"/>
              <a:t> over R$12bn in </a:t>
            </a:r>
            <a:r>
              <a:rPr lang="pt-BR" dirty="0" err="1"/>
              <a:t>committed</a:t>
            </a:r>
            <a:r>
              <a:rPr lang="pt-BR" dirty="0"/>
              <a:t> </a:t>
            </a:r>
            <a:r>
              <a:rPr lang="pt-BR" dirty="0" err="1"/>
              <a:t>capex</a:t>
            </a:r>
            <a:r>
              <a:rPr lang="pt-BR" dirty="0"/>
              <a:t> (R$5bn in </a:t>
            </a:r>
            <a:r>
              <a:rPr lang="pt-BR" dirty="0" err="1"/>
              <a:t>reinforcements</a:t>
            </a:r>
            <a:r>
              <a:rPr lang="pt-BR" dirty="0"/>
              <a:t>, R$7bn in </a:t>
            </a:r>
            <a:r>
              <a:rPr lang="pt-BR" dirty="0" err="1"/>
              <a:t>greenfield</a:t>
            </a:r>
            <a:r>
              <a:rPr lang="pt-BR" dirty="0"/>
              <a:t>). Will </a:t>
            </a:r>
            <a:r>
              <a:rPr lang="pt-BR" dirty="0" err="1"/>
              <a:t>be</a:t>
            </a:r>
            <a:r>
              <a:rPr lang="pt-BR" dirty="0"/>
              <a:t> </a:t>
            </a:r>
            <a:r>
              <a:rPr lang="pt-BR" dirty="0" err="1"/>
              <a:t>selective</a:t>
            </a:r>
            <a:r>
              <a:rPr lang="pt-BR" dirty="0"/>
              <a:t> in </a:t>
            </a:r>
            <a:r>
              <a:rPr lang="pt-BR" dirty="0" err="1"/>
              <a:t>the</a:t>
            </a:r>
            <a:r>
              <a:rPr lang="pt-BR" dirty="0"/>
              <a:t> Oct’26 </a:t>
            </a:r>
            <a:r>
              <a:rPr lang="pt-BR" dirty="0" err="1"/>
              <a:t>transmission</a:t>
            </a:r>
            <a:r>
              <a:rPr lang="pt-BR" dirty="0"/>
              <a:t> </a:t>
            </a:r>
            <a:r>
              <a:rPr lang="pt-BR" dirty="0" err="1"/>
              <a:t>auction</a:t>
            </a:r>
            <a:r>
              <a:rPr lang="pt-BR" dirty="0"/>
              <a:t>, </a:t>
            </a:r>
            <a:r>
              <a:rPr lang="pt-BR" dirty="0" err="1"/>
              <a:t>focusing</a:t>
            </a:r>
            <a:r>
              <a:rPr lang="pt-BR" dirty="0"/>
              <a:t> </a:t>
            </a:r>
            <a:r>
              <a:rPr lang="pt-BR" dirty="0" err="1"/>
              <a:t>on</a:t>
            </a:r>
            <a:r>
              <a:rPr lang="pt-BR" dirty="0"/>
              <a:t> São Paulo. </a:t>
            </a:r>
            <a:r>
              <a:rPr lang="pt-BR" dirty="0" err="1"/>
              <a:t>Leverage</a:t>
            </a:r>
            <a:r>
              <a:rPr lang="pt-BR" dirty="0"/>
              <a:t> </a:t>
            </a:r>
            <a:r>
              <a:rPr lang="pt-BR" dirty="0" err="1"/>
              <a:t>expected</a:t>
            </a:r>
            <a:r>
              <a:rPr lang="pt-BR" dirty="0"/>
              <a:t> </a:t>
            </a:r>
            <a:r>
              <a:rPr lang="pt-BR" dirty="0" err="1"/>
              <a:t>to</a:t>
            </a:r>
            <a:r>
              <a:rPr lang="pt-BR" dirty="0"/>
              <a:t> </a:t>
            </a:r>
            <a:r>
              <a:rPr lang="pt-BR" dirty="0" err="1"/>
              <a:t>peak</a:t>
            </a:r>
            <a:r>
              <a:rPr lang="pt-BR" dirty="0"/>
              <a:t> </a:t>
            </a:r>
            <a:r>
              <a:rPr lang="pt-BR" dirty="0" err="1"/>
              <a:t>at</a:t>
            </a:r>
            <a:r>
              <a:rPr lang="pt-BR" dirty="0"/>
              <a:t> 4x net </a:t>
            </a:r>
            <a:r>
              <a:rPr lang="pt-BR" dirty="0" err="1"/>
              <a:t>debt</a:t>
            </a:r>
            <a:r>
              <a:rPr lang="pt-BR" dirty="0"/>
              <a:t>/EBITDA </a:t>
            </a:r>
            <a:r>
              <a:rPr lang="pt-BR" dirty="0" err="1"/>
              <a:t>before</a:t>
            </a:r>
            <a:r>
              <a:rPr lang="pt-BR" dirty="0"/>
              <a:t> </a:t>
            </a:r>
            <a:r>
              <a:rPr lang="pt-BR" dirty="0" err="1"/>
              <a:t>declining</a:t>
            </a:r>
            <a:r>
              <a:rPr lang="pt-BR" dirty="0"/>
              <a:t>. </a:t>
            </a:r>
            <a:r>
              <a:rPr lang="pt-BR" dirty="0" err="1"/>
              <a:t>Dividend</a:t>
            </a:r>
            <a:r>
              <a:rPr lang="pt-BR" dirty="0"/>
              <a:t> </a:t>
            </a:r>
            <a:r>
              <a:rPr lang="pt-BR" dirty="0" err="1"/>
              <a:t>payout</a:t>
            </a:r>
            <a:r>
              <a:rPr lang="pt-BR" dirty="0"/>
              <a:t> </a:t>
            </a:r>
            <a:r>
              <a:rPr lang="pt-BR" dirty="0" err="1"/>
              <a:t>ratio</a:t>
            </a:r>
            <a:r>
              <a:rPr lang="pt-BR" dirty="0"/>
              <a:t> </a:t>
            </a:r>
            <a:r>
              <a:rPr lang="pt-BR" dirty="0" err="1"/>
              <a:t>to</a:t>
            </a:r>
            <a:r>
              <a:rPr lang="pt-BR" dirty="0"/>
              <a:t> </a:t>
            </a:r>
            <a:r>
              <a:rPr lang="pt-BR" dirty="0" err="1"/>
              <a:t>remain</a:t>
            </a:r>
            <a:r>
              <a:rPr lang="pt-BR" dirty="0"/>
              <a:t> </a:t>
            </a:r>
            <a:r>
              <a:rPr lang="pt-BR" dirty="0" err="1"/>
              <a:t>at</a:t>
            </a:r>
            <a:r>
              <a:rPr lang="pt-BR" dirty="0"/>
              <a:t> 75% </a:t>
            </a:r>
            <a:r>
              <a:rPr lang="pt-BR" dirty="0" err="1"/>
              <a:t>of</a:t>
            </a:r>
            <a:r>
              <a:rPr lang="pt-BR" dirty="0"/>
              <a:t> </a:t>
            </a:r>
            <a:r>
              <a:rPr lang="pt-BR" dirty="0" err="1"/>
              <a:t>regulatory</a:t>
            </a:r>
            <a:r>
              <a:rPr lang="pt-BR" dirty="0"/>
              <a:t> net income. No major updates </a:t>
            </a:r>
            <a:r>
              <a:rPr lang="pt-BR" dirty="0" err="1"/>
              <a:t>on</a:t>
            </a:r>
            <a:r>
              <a:rPr lang="pt-BR" dirty="0"/>
              <a:t> SEFAZ-SP dispute (~R$2.7bn).</a:t>
            </a:r>
          </a:p>
          <a:p>
            <a:pPr>
              <a:spcBef>
                <a:spcPts val="800"/>
              </a:spcBef>
            </a:pPr>
            <a:r>
              <a:rPr lang="pt-BR" b="1" dirty="0"/>
              <a:t>Equatorial (EQTL3):</a:t>
            </a:r>
            <a:r>
              <a:rPr lang="pt-BR" dirty="0"/>
              <a:t> Focus </a:t>
            </a:r>
            <a:r>
              <a:rPr lang="pt-BR" dirty="0" err="1"/>
              <a:t>on</a:t>
            </a:r>
            <a:r>
              <a:rPr lang="pt-BR" dirty="0"/>
              <a:t> </a:t>
            </a:r>
            <a:r>
              <a:rPr lang="pt-BR" dirty="0" err="1"/>
              <a:t>improving</a:t>
            </a:r>
            <a:r>
              <a:rPr lang="pt-BR" dirty="0"/>
              <a:t> </a:t>
            </a:r>
            <a:r>
              <a:rPr lang="pt-BR" dirty="0" err="1"/>
              <a:t>first</a:t>
            </a:r>
            <a:r>
              <a:rPr lang="pt-BR" dirty="0"/>
              <a:t> overall FEC </a:t>
            </a:r>
            <a:r>
              <a:rPr lang="pt-BR" dirty="0" err="1"/>
              <a:t>and</a:t>
            </a:r>
            <a:r>
              <a:rPr lang="pt-BR" dirty="0"/>
              <a:t> </a:t>
            </a:r>
            <a:r>
              <a:rPr lang="pt-BR" dirty="0" err="1"/>
              <a:t>then</a:t>
            </a:r>
            <a:r>
              <a:rPr lang="pt-BR" dirty="0"/>
              <a:t> overall DEC </a:t>
            </a:r>
            <a:r>
              <a:rPr lang="pt-BR" dirty="0" err="1"/>
              <a:t>across</a:t>
            </a:r>
            <a:r>
              <a:rPr lang="pt-BR" dirty="0"/>
              <a:t> </a:t>
            </a:r>
            <a:r>
              <a:rPr lang="pt-BR" dirty="0" err="1"/>
              <a:t>concessions</a:t>
            </a:r>
            <a:r>
              <a:rPr lang="pt-BR" dirty="0"/>
              <a:t>. </a:t>
            </a:r>
            <a:r>
              <a:rPr lang="pt-BR" dirty="0" err="1"/>
              <a:t>Regulatory</a:t>
            </a:r>
            <a:r>
              <a:rPr lang="pt-BR" dirty="0"/>
              <a:t> debate </a:t>
            </a:r>
            <a:r>
              <a:rPr lang="pt-BR" dirty="0" err="1"/>
              <a:t>on</a:t>
            </a:r>
            <a:r>
              <a:rPr lang="pt-BR" dirty="0"/>
              <a:t> </a:t>
            </a:r>
            <a:r>
              <a:rPr lang="pt-BR" dirty="0" err="1"/>
              <a:t>urban</a:t>
            </a:r>
            <a:r>
              <a:rPr lang="pt-BR" dirty="0"/>
              <a:t> versus rural </a:t>
            </a:r>
            <a:r>
              <a:rPr lang="pt-BR" dirty="0" err="1"/>
              <a:t>classification</a:t>
            </a:r>
            <a:r>
              <a:rPr lang="pt-BR" dirty="0"/>
              <a:t> </a:t>
            </a:r>
            <a:r>
              <a:rPr lang="pt-BR" dirty="0" err="1"/>
              <a:t>could</a:t>
            </a:r>
            <a:r>
              <a:rPr lang="pt-BR" dirty="0"/>
              <a:t> </a:t>
            </a:r>
            <a:r>
              <a:rPr lang="pt-BR" dirty="0" err="1"/>
              <a:t>benefit</a:t>
            </a:r>
            <a:r>
              <a:rPr lang="pt-BR" dirty="0"/>
              <a:t> </a:t>
            </a:r>
            <a:r>
              <a:rPr lang="pt-BR" dirty="0" err="1"/>
              <a:t>the</a:t>
            </a:r>
            <a:r>
              <a:rPr lang="pt-BR" dirty="0"/>
              <a:t> </a:t>
            </a:r>
            <a:r>
              <a:rPr lang="pt-BR" dirty="0" err="1"/>
              <a:t>company</a:t>
            </a:r>
            <a:r>
              <a:rPr lang="pt-BR" dirty="0"/>
              <a:t>. </a:t>
            </a:r>
            <a:r>
              <a:rPr lang="pt-BR" dirty="0" err="1"/>
              <a:t>Monitoring</a:t>
            </a:r>
            <a:r>
              <a:rPr lang="pt-BR" dirty="0"/>
              <a:t> </a:t>
            </a:r>
            <a:r>
              <a:rPr lang="pt-BR" dirty="0" err="1"/>
              <a:t>potential</a:t>
            </a:r>
            <a:r>
              <a:rPr lang="pt-BR" dirty="0"/>
              <a:t> </a:t>
            </a:r>
            <a:r>
              <a:rPr lang="pt-BR" dirty="0" err="1"/>
              <a:t>distribution</a:t>
            </a:r>
            <a:r>
              <a:rPr lang="pt-BR" dirty="0"/>
              <a:t> </a:t>
            </a:r>
            <a:r>
              <a:rPr lang="pt-BR" dirty="0" err="1"/>
              <a:t>opportunities</a:t>
            </a:r>
            <a:r>
              <a:rPr lang="pt-BR" dirty="0"/>
              <a:t>. </a:t>
            </a:r>
            <a:r>
              <a:rPr lang="pt-BR" dirty="0" err="1"/>
              <a:t>Expressed</a:t>
            </a:r>
            <a:r>
              <a:rPr lang="pt-BR" dirty="0"/>
              <a:t> </a:t>
            </a:r>
            <a:r>
              <a:rPr lang="pt-BR" dirty="0" err="1"/>
              <a:t>confidence</a:t>
            </a:r>
            <a:r>
              <a:rPr lang="pt-BR" dirty="0"/>
              <a:t> in </a:t>
            </a:r>
            <a:r>
              <a:rPr lang="pt-BR" dirty="0" err="1"/>
              <a:t>Sabesp’s</a:t>
            </a:r>
            <a:r>
              <a:rPr lang="pt-BR" dirty="0"/>
              <a:t> </a:t>
            </a:r>
            <a:r>
              <a:rPr lang="pt-BR" dirty="0" err="1"/>
              <a:t>plan</a:t>
            </a:r>
            <a:r>
              <a:rPr lang="pt-BR" dirty="0"/>
              <a:t>, </a:t>
            </a:r>
            <a:r>
              <a:rPr lang="pt-BR" dirty="0" err="1"/>
              <a:t>with</a:t>
            </a:r>
            <a:r>
              <a:rPr lang="pt-BR" dirty="0"/>
              <a:t> </a:t>
            </a:r>
            <a:r>
              <a:rPr lang="pt-BR" dirty="0" err="1"/>
              <a:t>active</a:t>
            </a:r>
            <a:r>
              <a:rPr lang="pt-BR" dirty="0"/>
              <a:t> </a:t>
            </a:r>
            <a:r>
              <a:rPr lang="pt-BR" dirty="0" err="1"/>
              <a:t>participation</a:t>
            </a:r>
            <a:r>
              <a:rPr lang="pt-BR" dirty="0"/>
              <a:t> </a:t>
            </a:r>
            <a:r>
              <a:rPr lang="pt-BR" dirty="0" err="1"/>
              <a:t>on</a:t>
            </a:r>
            <a:r>
              <a:rPr lang="pt-BR" dirty="0"/>
              <a:t> </a:t>
            </a:r>
            <a:r>
              <a:rPr lang="pt-BR" dirty="0" err="1"/>
              <a:t>the</a:t>
            </a:r>
            <a:r>
              <a:rPr lang="pt-BR" dirty="0"/>
              <a:t> </a:t>
            </a:r>
            <a:r>
              <a:rPr lang="pt-BR" dirty="0" err="1"/>
              <a:t>BoD</a:t>
            </a:r>
            <a:r>
              <a:rPr lang="pt-BR" dirty="0"/>
              <a:t>.</a:t>
            </a:r>
          </a:p>
          <a:p>
            <a:pPr>
              <a:spcBef>
                <a:spcPts val="800"/>
              </a:spcBef>
            </a:pPr>
            <a:r>
              <a:rPr lang="pt-BR" b="1" dirty="0"/>
              <a:t>Eletrobras (ELET3):</a:t>
            </a:r>
            <a:r>
              <a:rPr lang="pt-BR" dirty="0"/>
              <a:t> </a:t>
            </a:r>
            <a:r>
              <a:rPr lang="en-US" dirty="0"/>
              <a:t>There could be some yearly recurrence to the R$4bn announced with Q2 results</a:t>
            </a:r>
            <a:r>
              <a:rPr lang="pt-BR" dirty="0"/>
              <a:t>, </a:t>
            </a:r>
            <a:r>
              <a:rPr lang="pt-BR" dirty="0" err="1"/>
              <a:t>while</a:t>
            </a:r>
            <a:r>
              <a:rPr lang="pt-BR" dirty="0"/>
              <a:t> extras </a:t>
            </a:r>
            <a:r>
              <a:rPr lang="pt-BR" dirty="0" err="1"/>
              <a:t>depend</a:t>
            </a:r>
            <a:r>
              <a:rPr lang="pt-BR" dirty="0"/>
              <a:t> </a:t>
            </a:r>
            <a:r>
              <a:rPr lang="pt-BR" dirty="0" err="1"/>
              <a:t>on</a:t>
            </a:r>
            <a:r>
              <a:rPr lang="pt-BR" dirty="0"/>
              <a:t> </a:t>
            </a:r>
            <a:r>
              <a:rPr lang="pt-BR" dirty="0" err="1"/>
              <a:t>energy</a:t>
            </a:r>
            <a:r>
              <a:rPr lang="pt-BR" dirty="0"/>
              <a:t> </a:t>
            </a:r>
            <a:r>
              <a:rPr lang="pt-BR" dirty="0" err="1"/>
              <a:t>prices</a:t>
            </a:r>
            <a:r>
              <a:rPr lang="pt-BR" dirty="0"/>
              <a:t>, </a:t>
            </a:r>
            <a:r>
              <a:rPr lang="pt-BR" dirty="0" err="1"/>
              <a:t>capex</a:t>
            </a:r>
            <a:r>
              <a:rPr lang="pt-BR" dirty="0"/>
              <a:t> </a:t>
            </a:r>
            <a:r>
              <a:rPr lang="pt-BR" dirty="0" err="1"/>
              <a:t>and</a:t>
            </a:r>
            <a:r>
              <a:rPr lang="pt-BR" dirty="0"/>
              <a:t> </a:t>
            </a:r>
            <a:r>
              <a:rPr lang="pt-BR" dirty="0" err="1"/>
              <a:t>liability</a:t>
            </a:r>
            <a:r>
              <a:rPr lang="pt-BR" dirty="0"/>
              <a:t> management. </a:t>
            </a:r>
            <a:r>
              <a:rPr lang="pt-BR" dirty="0" err="1"/>
              <a:t>Strategy</a:t>
            </a:r>
            <a:r>
              <a:rPr lang="pt-BR" dirty="0"/>
              <a:t> </a:t>
            </a:r>
            <a:r>
              <a:rPr lang="pt-BR" dirty="0" err="1"/>
              <a:t>is</a:t>
            </a:r>
            <a:r>
              <a:rPr lang="pt-BR" dirty="0"/>
              <a:t> </a:t>
            </a:r>
            <a:r>
              <a:rPr lang="pt-BR" dirty="0" err="1"/>
              <a:t>to</a:t>
            </a:r>
            <a:r>
              <a:rPr lang="pt-BR" dirty="0"/>
              <a:t> </a:t>
            </a:r>
            <a:r>
              <a:rPr lang="pt-BR" dirty="0" err="1"/>
              <a:t>keep</a:t>
            </a:r>
            <a:r>
              <a:rPr lang="pt-BR" dirty="0"/>
              <a:t> </a:t>
            </a:r>
            <a:r>
              <a:rPr lang="pt-BR" dirty="0" err="1"/>
              <a:t>part</a:t>
            </a:r>
            <a:r>
              <a:rPr lang="pt-BR" dirty="0"/>
              <a:t> </a:t>
            </a:r>
            <a:r>
              <a:rPr lang="pt-BR" dirty="0" err="1"/>
              <a:t>of</a:t>
            </a:r>
            <a:r>
              <a:rPr lang="pt-BR" dirty="0"/>
              <a:t> </a:t>
            </a:r>
            <a:r>
              <a:rPr lang="pt-BR" dirty="0" err="1"/>
              <a:t>long-term</a:t>
            </a:r>
            <a:r>
              <a:rPr lang="pt-BR" dirty="0"/>
              <a:t> </a:t>
            </a:r>
            <a:r>
              <a:rPr lang="pt-BR" dirty="0" err="1"/>
              <a:t>energy</a:t>
            </a:r>
            <a:r>
              <a:rPr lang="pt-BR" dirty="0"/>
              <a:t> </a:t>
            </a:r>
            <a:r>
              <a:rPr lang="pt-BR" dirty="0" err="1"/>
              <a:t>uncontracted</a:t>
            </a:r>
            <a:r>
              <a:rPr lang="pt-BR" dirty="0"/>
              <a:t> </a:t>
            </a:r>
            <a:r>
              <a:rPr lang="pt-BR" dirty="0" err="1"/>
              <a:t>and</a:t>
            </a:r>
            <a:r>
              <a:rPr lang="pt-BR" dirty="0"/>
              <a:t> </a:t>
            </a:r>
            <a:r>
              <a:rPr lang="pt-BR" dirty="0" err="1"/>
              <a:t>manage</a:t>
            </a:r>
            <a:r>
              <a:rPr lang="pt-BR" dirty="0"/>
              <a:t> short-</a:t>
            </a:r>
            <a:r>
              <a:rPr lang="pt-BR" dirty="0" err="1"/>
              <a:t>term</a:t>
            </a:r>
            <a:r>
              <a:rPr lang="pt-BR" dirty="0"/>
              <a:t> </a:t>
            </a:r>
            <a:r>
              <a:rPr lang="pt-BR" dirty="0" err="1"/>
              <a:t>selectively</a:t>
            </a:r>
            <a:r>
              <a:rPr lang="pt-BR" dirty="0"/>
              <a:t>. </a:t>
            </a:r>
            <a:r>
              <a:rPr lang="pt-BR" dirty="0" err="1"/>
              <a:t>Remains</a:t>
            </a:r>
            <a:r>
              <a:rPr lang="pt-BR" dirty="0"/>
              <a:t> </a:t>
            </a:r>
            <a:r>
              <a:rPr lang="pt-BR" dirty="0" err="1"/>
              <a:t>active</a:t>
            </a:r>
            <a:r>
              <a:rPr lang="pt-BR" dirty="0"/>
              <a:t> in </a:t>
            </a:r>
            <a:r>
              <a:rPr lang="pt-BR" dirty="0" err="1"/>
              <a:t>auctions</a:t>
            </a:r>
            <a:r>
              <a:rPr lang="pt-BR" dirty="0"/>
              <a:t> </a:t>
            </a:r>
            <a:r>
              <a:rPr lang="pt-BR" dirty="0" err="1"/>
              <a:t>and</a:t>
            </a:r>
            <a:r>
              <a:rPr lang="pt-BR" dirty="0"/>
              <a:t> portfolio </a:t>
            </a:r>
            <a:r>
              <a:rPr lang="pt-BR" dirty="0" err="1"/>
              <a:t>optimization</a:t>
            </a:r>
            <a:r>
              <a:rPr lang="pt-BR" dirty="0"/>
              <a:t>.</a:t>
            </a:r>
          </a:p>
          <a:p>
            <a:pPr>
              <a:spcBef>
                <a:spcPts val="800"/>
              </a:spcBef>
            </a:pPr>
            <a:r>
              <a:rPr lang="pt-BR" b="1" dirty="0"/>
              <a:t>Energisa (ENGI11):</a:t>
            </a:r>
            <a:r>
              <a:rPr lang="pt-BR" dirty="0"/>
              <a:t> </a:t>
            </a:r>
            <a:r>
              <a:rPr lang="pt-BR" dirty="0" err="1"/>
              <a:t>Adjusting</a:t>
            </a:r>
            <a:r>
              <a:rPr lang="pt-BR" dirty="0"/>
              <a:t> </a:t>
            </a:r>
            <a:r>
              <a:rPr lang="pt-BR" dirty="0" err="1"/>
              <a:t>strategies</a:t>
            </a:r>
            <a:r>
              <a:rPr lang="pt-BR" dirty="0"/>
              <a:t> </a:t>
            </a:r>
            <a:r>
              <a:rPr lang="pt-BR" dirty="0" err="1"/>
              <a:t>under</a:t>
            </a:r>
            <a:r>
              <a:rPr lang="pt-BR" dirty="0"/>
              <a:t> CP62 </a:t>
            </a:r>
            <a:r>
              <a:rPr lang="pt-BR" dirty="0" err="1"/>
              <a:t>and</a:t>
            </a:r>
            <a:r>
              <a:rPr lang="pt-BR" dirty="0"/>
              <a:t> new OPEX </a:t>
            </a:r>
            <a:r>
              <a:rPr lang="pt-BR" dirty="0" err="1"/>
              <a:t>methodology</a:t>
            </a:r>
            <a:r>
              <a:rPr lang="pt-BR" dirty="0"/>
              <a:t>; </a:t>
            </a:r>
            <a:r>
              <a:rPr lang="pt-BR" dirty="0" err="1"/>
              <a:t>rurality</a:t>
            </a:r>
            <a:r>
              <a:rPr lang="pt-BR" dirty="0"/>
              <a:t> </a:t>
            </a:r>
            <a:r>
              <a:rPr lang="pt-BR" dirty="0" err="1"/>
              <a:t>variable</a:t>
            </a:r>
            <a:r>
              <a:rPr lang="pt-BR" dirty="0"/>
              <a:t> </a:t>
            </a:r>
            <a:r>
              <a:rPr lang="pt-BR" dirty="0" err="1"/>
              <a:t>seen</a:t>
            </a:r>
            <a:r>
              <a:rPr lang="pt-BR" dirty="0"/>
              <a:t> as </a:t>
            </a:r>
            <a:r>
              <a:rPr lang="pt-BR" dirty="0" err="1"/>
              <a:t>favorable</a:t>
            </a:r>
            <a:r>
              <a:rPr lang="pt-BR" dirty="0"/>
              <a:t>. </a:t>
            </a:r>
            <a:r>
              <a:rPr lang="pt-BR" dirty="0" err="1"/>
              <a:t>Distributed</a:t>
            </a:r>
            <a:r>
              <a:rPr lang="pt-BR" dirty="0"/>
              <a:t> </a:t>
            </a:r>
            <a:r>
              <a:rPr lang="pt-BR" dirty="0" err="1"/>
              <a:t>generation</a:t>
            </a:r>
            <a:r>
              <a:rPr lang="pt-BR" dirty="0"/>
              <a:t> still </a:t>
            </a:r>
            <a:r>
              <a:rPr lang="pt-BR" dirty="0" err="1"/>
              <a:t>growing</a:t>
            </a:r>
            <a:r>
              <a:rPr lang="pt-BR" dirty="0"/>
              <a:t>, </a:t>
            </a:r>
            <a:r>
              <a:rPr lang="pt-BR" dirty="0" err="1"/>
              <a:t>but</a:t>
            </a:r>
            <a:r>
              <a:rPr lang="pt-BR" dirty="0"/>
              <a:t> some </a:t>
            </a:r>
            <a:r>
              <a:rPr lang="pt-BR" dirty="0" err="1"/>
              <a:t>regions</a:t>
            </a:r>
            <a:r>
              <a:rPr lang="pt-BR" dirty="0"/>
              <a:t> show </a:t>
            </a:r>
            <a:r>
              <a:rPr lang="pt-BR" dirty="0" err="1"/>
              <a:t>early</a:t>
            </a:r>
            <a:r>
              <a:rPr lang="pt-BR" dirty="0"/>
              <a:t> </a:t>
            </a:r>
            <a:r>
              <a:rPr lang="pt-BR" dirty="0" err="1"/>
              <a:t>saturation</a:t>
            </a:r>
            <a:r>
              <a:rPr lang="pt-BR" dirty="0"/>
              <a:t>. Natural </a:t>
            </a:r>
            <a:r>
              <a:rPr lang="pt-BR" dirty="0" err="1"/>
              <a:t>gas</a:t>
            </a:r>
            <a:r>
              <a:rPr lang="pt-BR" dirty="0"/>
              <a:t> </a:t>
            </a:r>
            <a:r>
              <a:rPr lang="pt-BR" dirty="0" err="1"/>
              <a:t>distribution</a:t>
            </a:r>
            <a:r>
              <a:rPr lang="pt-BR" dirty="0"/>
              <a:t> </a:t>
            </a:r>
            <a:r>
              <a:rPr lang="pt-BR" dirty="0" err="1"/>
              <a:t>remains</a:t>
            </a:r>
            <a:r>
              <a:rPr lang="pt-BR" dirty="0"/>
              <a:t> </a:t>
            </a:r>
            <a:r>
              <a:rPr lang="pt-BR" dirty="0" err="1"/>
              <a:t>strategic</a:t>
            </a:r>
            <a:r>
              <a:rPr lang="pt-BR" dirty="0"/>
              <a:t>, </a:t>
            </a:r>
            <a:r>
              <a:rPr lang="pt-BR" dirty="0" err="1"/>
              <a:t>supported</a:t>
            </a:r>
            <a:r>
              <a:rPr lang="pt-BR" dirty="0"/>
              <a:t> </a:t>
            </a:r>
            <a:r>
              <a:rPr lang="pt-BR" dirty="0" err="1"/>
              <a:t>by</a:t>
            </a:r>
            <a:r>
              <a:rPr lang="pt-BR" dirty="0"/>
              <a:t> positive ES Gás </a:t>
            </a:r>
            <a:r>
              <a:rPr lang="pt-BR" dirty="0" err="1"/>
              <a:t>tariff</a:t>
            </a:r>
            <a:r>
              <a:rPr lang="pt-BR" dirty="0"/>
              <a:t> review.</a:t>
            </a:r>
          </a:p>
          <a:p>
            <a:pPr>
              <a:spcBef>
                <a:spcPts val="800"/>
              </a:spcBef>
            </a:pPr>
            <a:r>
              <a:rPr lang="pt-BR" b="1" dirty="0" err="1"/>
              <a:t>Engie</a:t>
            </a:r>
            <a:r>
              <a:rPr lang="pt-BR" b="1" dirty="0"/>
              <a:t> (EGIE3):</a:t>
            </a:r>
            <a:r>
              <a:rPr lang="pt-BR" dirty="0"/>
              <a:t> Jirau </a:t>
            </a:r>
            <a:r>
              <a:rPr lang="pt-BR" dirty="0" err="1"/>
              <a:t>discussions</a:t>
            </a:r>
            <a:r>
              <a:rPr lang="pt-BR" dirty="0"/>
              <a:t> </a:t>
            </a:r>
            <a:r>
              <a:rPr lang="pt-BR" dirty="0" err="1"/>
              <a:t>back</a:t>
            </a:r>
            <a:r>
              <a:rPr lang="pt-BR" dirty="0"/>
              <a:t> </a:t>
            </a:r>
            <a:r>
              <a:rPr lang="pt-BR" dirty="0" err="1"/>
              <a:t>on</a:t>
            </a:r>
            <a:r>
              <a:rPr lang="pt-BR" dirty="0"/>
              <a:t> </a:t>
            </a:r>
            <a:r>
              <a:rPr lang="pt-BR" dirty="0" err="1"/>
              <a:t>the</a:t>
            </a:r>
            <a:r>
              <a:rPr lang="pt-BR" dirty="0"/>
              <a:t> agenda, </a:t>
            </a:r>
            <a:r>
              <a:rPr lang="pt-BR" dirty="0" err="1"/>
              <a:t>with</a:t>
            </a:r>
            <a:r>
              <a:rPr lang="pt-BR" dirty="0"/>
              <a:t> </a:t>
            </a:r>
            <a:r>
              <a:rPr lang="pt-BR" dirty="0" err="1"/>
              <a:t>improved</a:t>
            </a:r>
            <a:r>
              <a:rPr lang="pt-BR" dirty="0"/>
              <a:t> LT </a:t>
            </a:r>
            <a:r>
              <a:rPr lang="pt-BR" dirty="0" err="1"/>
              <a:t>prices</a:t>
            </a:r>
            <a:r>
              <a:rPr lang="pt-BR" dirty="0"/>
              <a:t> </a:t>
            </a:r>
            <a:r>
              <a:rPr lang="pt-BR" dirty="0" err="1"/>
              <a:t>and</a:t>
            </a:r>
            <a:r>
              <a:rPr lang="pt-BR" dirty="0"/>
              <a:t> </a:t>
            </a:r>
            <a:r>
              <a:rPr lang="pt-BR" dirty="0" err="1"/>
              <a:t>lower</a:t>
            </a:r>
            <a:r>
              <a:rPr lang="pt-BR" dirty="0"/>
              <a:t> </a:t>
            </a:r>
            <a:r>
              <a:rPr lang="pt-BR" dirty="0" err="1"/>
              <a:t>transmission</a:t>
            </a:r>
            <a:r>
              <a:rPr lang="pt-BR" dirty="0"/>
              <a:t> </a:t>
            </a:r>
            <a:r>
              <a:rPr lang="pt-BR" dirty="0" err="1"/>
              <a:t>costs</a:t>
            </a:r>
            <a:r>
              <a:rPr lang="pt-BR" dirty="0"/>
              <a:t> </a:t>
            </a:r>
            <a:r>
              <a:rPr lang="pt-BR" dirty="0" err="1"/>
              <a:t>turning</a:t>
            </a:r>
            <a:r>
              <a:rPr lang="pt-BR" dirty="0"/>
              <a:t> FCF positive. </a:t>
            </a:r>
            <a:r>
              <a:rPr lang="pt-BR" dirty="0" err="1"/>
              <a:t>Possible</a:t>
            </a:r>
            <a:r>
              <a:rPr lang="pt-BR" dirty="0"/>
              <a:t> </a:t>
            </a:r>
            <a:r>
              <a:rPr lang="pt-BR" dirty="0" err="1"/>
              <a:t>transaction</a:t>
            </a:r>
            <a:r>
              <a:rPr lang="pt-BR" dirty="0"/>
              <a:t> </a:t>
            </a:r>
            <a:r>
              <a:rPr lang="pt-BR" dirty="0" err="1"/>
              <a:t>structure</a:t>
            </a:r>
            <a:r>
              <a:rPr lang="pt-BR" dirty="0"/>
              <a:t> </a:t>
            </a:r>
            <a:r>
              <a:rPr lang="pt-BR" dirty="0" err="1"/>
              <a:t>could</a:t>
            </a:r>
            <a:r>
              <a:rPr lang="pt-BR" dirty="0"/>
              <a:t> include </a:t>
            </a:r>
            <a:r>
              <a:rPr lang="pt-BR" dirty="0" err="1"/>
              <a:t>share</a:t>
            </a:r>
            <a:r>
              <a:rPr lang="pt-BR" dirty="0"/>
              <a:t> </a:t>
            </a:r>
            <a:r>
              <a:rPr lang="pt-BR" dirty="0" err="1"/>
              <a:t>issuance</a:t>
            </a:r>
            <a:r>
              <a:rPr lang="pt-BR" dirty="0"/>
              <a:t>. No </a:t>
            </a:r>
            <a:r>
              <a:rPr lang="pt-BR" dirty="0" err="1"/>
              <a:t>further</a:t>
            </a:r>
            <a:r>
              <a:rPr lang="pt-BR" dirty="0"/>
              <a:t> TAG </a:t>
            </a:r>
            <a:r>
              <a:rPr lang="pt-BR" dirty="0" err="1"/>
              <a:t>divestments</a:t>
            </a:r>
            <a:r>
              <a:rPr lang="pt-BR" dirty="0"/>
              <a:t> </a:t>
            </a:r>
            <a:r>
              <a:rPr lang="pt-BR" dirty="0" err="1"/>
              <a:t>expected</a:t>
            </a:r>
            <a:r>
              <a:rPr lang="pt-BR" dirty="0"/>
              <a:t>; open </a:t>
            </a:r>
            <a:r>
              <a:rPr lang="pt-BR" dirty="0" err="1"/>
              <a:t>to</a:t>
            </a:r>
            <a:r>
              <a:rPr lang="pt-BR" dirty="0"/>
              <a:t> new </a:t>
            </a:r>
            <a:r>
              <a:rPr lang="pt-BR" dirty="0" err="1"/>
              <a:t>transmission</a:t>
            </a:r>
            <a:r>
              <a:rPr lang="pt-BR" dirty="0"/>
              <a:t> </a:t>
            </a:r>
            <a:r>
              <a:rPr lang="pt-BR" dirty="0" err="1"/>
              <a:t>assets</a:t>
            </a:r>
            <a:r>
              <a:rPr lang="pt-BR" dirty="0"/>
              <a:t>. No new </a:t>
            </a:r>
            <a:r>
              <a:rPr lang="pt-BR" dirty="0" err="1"/>
              <a:t>renewable</a:t>
            </a:r>
            <a:r>
              <a:rPr lang="pt-BR" dirty="0"/>
              <a:t> </a:t>
            </a:r>
            <a:r>
              <a:rPr lang="pt-BR" dirty="0" err="1"/>
              <a:t>investments</a:t>
            </a:r>
            <a:r>
              <a:rPr lang="pt-BR" dirty="0"/>
              <a:t> </a:t>
            </a:r>
            <a:r>
              <a:rPr lang="pt-BR" dirty="0" err="1"/>
              <a:t>planned</a:t>
            </a:r>
            <a:r>
              <a:rPr lang="pt-BR" dirty="0"/>
              <a:t> </a:t>
            </a:r>
            <a:r>
              <a:rPr lang="pt-BR" dirty="0" err="1"/>
              <a:t>given</a:t>
            </a:r>
            <a:r>
              <a:rPr lang="pt-BR" dirty="0"/>
              <a:t> </a:t>
            </a:r>
            <a:r>
              <a:rPr lang="pt-BR" dirty="0" err="1"/>
              <a:t>weaker</a:t>
            </a:r>
            <a:r>
              <a:rPr lang="pt-BR" dirty="0"/>
              <a:t> </a:t>
            </a:r>
            <a:r>
              <a:rPr lang="pt-BR" dirty="0" err="1"/>
              <a:t>returns</a:t>
            </a:r>
            <a:r>
              <a:rPr lang="pt-BR" dirty="0"/>
              <a:t>.</a:t>
            </a:r>
          </a:p>
          <a:p>
            <a:pPr>
              <a:spcBef>
                <a:spcPts val="800"/>
              </a:spcBef>
            </a:pPr>
            <a:r>
              <a:rPr lang="pt-BR" b="1" dirty="0"/>
              <a:t>Cemig (CMIG4):</a:t>
            </a:r>
            <a:r>
              <a:rPr lang="pt-BR" dirty="0"/>
              <a:t> </a:t>
            </a:r>
            <a:r>
              <a:rPr lang="pt-BR" dirty="0" err="1"/>
              <a:t>To</a:t>
            </a:r>
            <a:r>
              <a:rPr lang="pt-BR" dirty="0"/>
              <a:t> </a:t>
            </a:r>
            <a:r>
              <a:rPr lang="pt-BR" dirty="0" err="1"/>
              <a:t>maintain</a:t>
            </a:r>
            <a:r>
              <a:rPr lang="pt-BR" dirty="0"/>
              <a:t> 50% </a:t>
            </a:r>
            <a:r>
              <a:rPr lang="pt-BR" dirty="0" err="1"/>
              <a:t>payout</a:t>
            </a:r>
            <a:r>
              <a:rPr lang="pt-BR" dirty="0"/>
              <a:t> </a:t>
            </a:r>
            <a:r>
              <a:rPr lang="pt-BR" dirty="0" err="1"/>
              <a:t>until</a:t>
            </a:r>
            <a:r>
              <a:rPr lang="pt-BR" dirty="0"/>
              <a:t> 2028–29, </a:t>
            </a:r>
            <a:r>
              <a:rPr lang="pt-BR" dirty="0" err="1"/>
              <a:t>with</a:t>
            </a:r>
            <a:r>
              <a:rPr lang="pt-BR" dirty="0"/>
              <a:t> </a:t>
            </a:r>
            <a:r>
              <a:rPr lang="pt-BR" dirty="0" err="1"/>
              <a:t>upside</a:t>
            </a:r>
            <a:r>
              <a:rPr lang="pt-BR" dirty="0"/>
              <a:t> </a:t>
            </a:r>
            <a:r>
              <a:rPr lang="pt-BR" dirty="0" err="1"/>
              <a:t>from</a:t>
            </a:r>
            <a:r>
              <a:rPr lang="pt-BR" dirty="0"/>
              <a:t> non-</a:t>
            </a:r>
            <a:r>
              <a:rPr lang="pt-BR" dirty="0" err="1"/>
              <a:t>recurring</a:t>
            </a:r>
            <a:r>
              <a:rPr lang="pt-BR" dirty="0"/>
              <a:t>. </a:t>
            </a:r>
            <a:r>
              <a:rPr lang="pt-BR" dirty="0" err="1"/>
              <a:t>Leverage</a:t>
            </a:r>
            <a:r>
              <a:rPr lang="pt-BR" dirty="0"/>
              <a:t> </a:t>
            </a:r>
            <a:r>
              <a:rPr lang="pt-BR" dirty="0" err="1"/>
              <a:t>expected</a:t>
            </a:r>
            <a:r>
              <a:rPr lang="pt-BR" dirty="0"/>
              <a:t> </a:t>
            </a:r>
            <a:r>
              <a:rPr lang="pt-BR" dirty="0" err="1"/>
              <a:t>to</a:t>
            </a:r>
            <a:r>
              <a:rPr lang="pt-BR" dirty="0"/>
              <a:t> </a:t>
            </a:r>
            <a:r>
              <a:rPr lang="pt-BR" dirty="0" err="1"/>
              <a:t>peak</a:t>
            </a:r>
            <a:r>
              <a:rPr lang="pt-BR" dirty="0"/>
              <a:t> </a:t>
            </a:r>
            <a:r>
              <a:rPr lang="pt-BR" dirty="0" err="1"/>
              <a:t>between</a:t>
            </a:r>
            <a:r>
              <a:rPr lang="pt-BR" dirty="0"/>
              <a:t> 2.5x </a:t>
            </a:r>
            <a:r>
              <a:rPr lang="pt-BR" dirty="0" err="1"/>
              <a:t>and</a:t>
            </a:r>
            <a:r>
              <a:rPr lang="pt-BR" dirty="0"/>
              <a:t> 2.8x </a:t>
            </a:r>
            <a:r>
              <a:rPr lang="pt-BR" dirty="0" err="1"/>
              <a:t>by</a:t>
            </a:r>
            <a:r>
              <a:rPr lang="pt-BR" dirty="0"/>
              <a:t> 2027. Energy </a:t>
            </a:r>
            <a:r>
              <a:rPr lang="pt-BR" dirty="0" err="1"/>
              <a:t>price</a:t>
            </a:r>
            <a:r>
              <a:rPr lang="pt-BR" dirty="0"/>
              <a:t> </a:t>
            </a:r>
            <a:r>
              <a:rPr lang="pt-BR" dirty="0" err="1"/>
              <a:t>volatility</a:t>
            </a:r>
            <a:r>
              <a:rPr lang="pt-BR" dirty="0"/>
              <a:t> </a:t>
            </a:r>
            <a:r>
              <a:rPr lang="pt-BR" dirty="0" err="1"/>
              <a:t>expected</a:t>
            </a:r>
            <a:r>
              <a:rPr lang="pt-BR" dirty="0"/>
              <a:t>, </a:t>
            </a:r>
            <a:r>
              <a:rPr lang="pt-BR" dirty="0" err="1"/>
              <a:t>though</a:t>
            </a:r>
            <a:r>
              <a:rPr lang="pt-BR" dirty="0"/>
              <a:t> </a:t>
            </a:r>
            <a:r>
              <a:rPr lang="pt-BR" dirty="0" err="1"/>
              <a:t>submarket</a:t>
            </a:r>
            <a:r>
              <a:rPr lang="pt-BR" dirty="0"/>
              <a:t> spreads </a:t>
            </a:r>
            <a:r>
              <a:rPr lang="pt-BR" dirty="0" err="1"/>
              <a:t>should</a:t>
            </a:r>
            <a:r>
              <a:rPr lang="pt-BR" dirty="0"/>
              <a:t> normalize in 2H25. </a:t>
            </a:r>
            <a:r>
              <a:rPr lang="pt-BR" dirty="0" err="1"/>
              <a:t>LRCap</a:t>
            </a:r>
            <a:r>
              <a:rPr lang="pt-BR" dirty="0"/>
              <a:t> </a:t>
            </a:r>
            <a:r>
              <a:rPr lang="pt-BR" dirty="0" err="1"/>
              <a:t>participation</a:t>
            </a:r>
            <a:r>
              <a:rPr lang="pt-BR" dirty="0"/>
              <a:t> </a:t>
            </a:r>
            <a:r>
              <a:rPr lang="pt-BR" dirty="0" err="1"/>
              <a:t>pending</a:t>
            </a:r>
            <a:r>
              <a:rPr lang="pt-BR" dirty="0"/>
              <a:t> </a:t>
            </a:r>
            <a:r>
              <a:rPr lang="pt-BR" dirty="0" err="1"/>
              <a:t>environmental</a:t>
            </a:r>
            <a:r>
              <a:rPr lang="pt-BR" dirty="0"/>
              <a:t> </a:t>
            </a:r>
            <a:r>
              <a:rPr lang="pt-BR" dirty="0" err="1"/>
              <a:t>licenses</a:t>
            </a:r>
            <a:r>
              <a:rPr lang="pt-BR" dirty="0"/>
              <a:t>. </a:t>
            </a:r>
            <a:r>
              <a:rPr lang="pt-BR" dirty="0" err="1"/>
              <a:t>Recognition</a:t>
            </a:r>
            <a:r>
              <a:rPr lang="pt-BR" dirty="0"/>
              <a:t> </a:t>
            </a:r>
            <a:r>
              <a:rPr lang="pt-BR" dirty="0" err="1"/>
              <a:t>of</a:t>
            </a:r>
            <a:r>
              <a:rPr lang="pt-BR" dirty="0"/>
              <a:t> ~R$900mn in residual </a:t>
            </a:r>
            <a:r>
              <a:rPr lang="pt-BR" dirty="0" err="1"/>
              <a:t>assets</a:t>
            </a:r>
            <a:r>
              <a:rPr lang="pt-BR" dirty="0"/>
              <a:t> </a:t>
            </a:r>
            <a:r>
              <a:rPr lang="pt-BR" dirty="0" err="1"/>
              <a:t>could</a:t>
            </a:r>
            <a:r>
              <a:rPr lang="pt-BR" dirty="0"/>
              <a:t> come via O&amp;M </a:t>
            </a:r>
            <a:r>
              <a:rPr lang="pt-BR" dirty="0" err="1"/>
              <a:t>tariffs</a:t>
            </a:r>
            <a:r>
              <a:rPr lang="pt-BR" dirty="0"/>
              <a:t>.</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2869840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85D475-4F41-4C99-9502-0E6FD8F73EFD}"/>
              </a:ext>
            </a:extLst>
          </p:cNvPr>
          <p:cNvSpPr>
            <a:spLocks noGrp="1"/>
          </p:cNvSpPr>
          <p:nvPr>
            <p:ph type="body" sz="quarter" idx="26"/>
          </p:nvPr>
        </p:nvSpPr>
        <p:spPr/>
        <p:txBody>
          <a:bodyPr/>
          <a:lstStyle/>
          <a:p>
            <a:endParaRPr lang="en-US"/>
          </a:p>
        </p:txBody>
      </p:sp>
      <p:sp>
        <p:nvSpPr>
          <p:cNvPr id="3" name="Date Placeholder 9">
            <a:extLst>
              <a:ext uri="{FF2B5EF4-FFF2-40B4-BE49-F238E27FC236}">
                <a16:creationId xmlns:a16="http://schemas.microsoft.com/office/drawing/2014/main" id="{5EFEB00F-997A-E04E-AA4F-79C850D6AB2A}"/>
              </a:ext>
            </a:extLst>
          </p:cNvPr>
          <p:cNvSpPr>
            <a:spLocks noGrp="1"/>
          </p:cNvSpPr>
          <p:nvPr>
            <p:ph type="dt" sz="half" idx="2"/>
          </p:nvPr>
        </p:nvSpPr>
        <p:spPr>
          <a:xfrm>
            <a:off x="3971925" y="438763"/>
            <a:ext cx="2517775" cy="184666"/>
          </a:xfrm>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4350632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420083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ags/tag38.xml><?xml version="1.0" encoding="utf-8"?>
<p:tagLst xmlns:a="http://schemas.openxmlformats.org/drawingml/2006/main" xmlns:r="http://schemas.openxmlformats.org/officeDocument/2006/relationships" xmlns:p="http://schemas.openxmlformats.org/presentationml/2006/main">
  <p:tag name="MM_SLIDE_TYPE" val="6"/>
</p:tagLst>
</file>

<file path=ppt/tags/tag39.xml><?xml version="1.0" encoding="utf-8"?>
<p:tagLst xmlns:a="http://schemas.openxmlformats.org/drawingml/2006/main" xmlns:r="http://schemas.openxmlformats.org/officeDocument/2006/relationships" xmlns:p="http://schemas.openxmlformats.org/presentationml/2006/main">
  <p:tag name="MM_SLIDE_TYPE" val="6"/>
</p:tagLst>
</file>

<file path=ppt/tags/tag40.xml><?xml version="1.0" encoding="utf-8"?>
<p:tagLst xmlns:a="http://schemas.openxmlformats.org/drawingml/2006/main" xmlns:r="http://schemas.openxmlformats.org/officeDocument/2006/relationships" xmlns:p="http://schemas.openxmlformats.org/presentationml/2006/main">
  <p:tag name="MM_SLIDE_TYPE" val="6"/>
</p:tagLst>
</file>

<file path=ppt/tags/tag41.xml><?xml version="1.0" encoding="utf-8"?>
<p:tagLst xmlns:a="http://schemas.openxmlformats.org/drawingml/2006/main" xmlns:r="http://schemas.openxmlformats.org/officeDocument/2006/relationships" xmlns:p="http://schemas.openxmlformats.org/presentationml/2006/main">
  <p:tag name="MM_SLIDE_TYPE" val="6"/>
</p:tagLst>
</file>

<file path=ppt/tags/tag42.xml><?xml version="1.0" encoding="utf-8"?>
<p:tagLst xmlns:a="http://schemas.openxmlformats.org/drawingml/2006/main" xmlns:r="http://schemas.openxmlformats.org/officeDocument/2006/relationships" xmlns:p="http://schemas.openxmlformats.org/presentationml/2006/main">
  <p:tag name="MM_SLIDE_TYPE" val="6"/>
</p:tagLst>
</file>

<file path=ppt/tags/tag43.xml><?xml version="1.0" encoding="utf-8"?>
<p:tagLst xmlns:a="http://schemas.openxmlformats.org/drawingml/2006/main" xmlns:r="http://schemas.openxmlformats.org/officeDocument/2006/relationships" xmlns:p="http://schemas.openxmlformats.org/presentationml/2006/main">
  <p:tag name="MM_SLIDE_TYPE" val="6"/>
</p:tagLst>
</file>

<file path=ppt/tags/tag44.xml><?xml version="1.0" encoding="utf-8"?>
<p:tagLst xmlns:a="http://schemas.openxmlformats.org/drawingml/2006/main" xmlns:r="http://schemas.openxmlformats.org/officeDocument/2006/relationships" xmlns:p="http://schemas.openxmlformats.org/presentationml/2006/main">
  <p:tag name="MM_SLIDE_TYPE" val="6"/>
</p:tagLst>
</file>

<file path=ppt/tags/tag45.xml><?xml version="1.0" encoding="utf-8"?>
<p:tagLst xmlns:a="http://schemas.openxmlformats.org/drawingml/2006/main" xmlns:r="http://schemas.openxmlformats.org/officeDocument/2006/relationships" xmlns:p="http://schemas.openxmlformats.org/presentationml/2006/main">
  <p:tag name="MM_SLIDE_TYPE" val="6"/>
</p:tagLst>
</file>

<file path=ppt/tags/tag46.xml><?xml version="1.0" encoding="utf-8"?>
<p:tagLst xmlns:a="http://schemas.openxmlformats.org/drawingml/2006/main" xmlns:r="http://schemas.openxmlformats.org/officeDocument/2006/relationships" xmlns:p="http://schemas.openxmlformats.org/presentationml/2006/main">
  <p:tag name="MM_SLIDE_TYPE" val="6"/>
</p:tagLst>
</file>

<file path=ppt/tags/tag47.xml><?xml version="1.0" encoding="utf-8"?>
<p:tagLst xmlns:a="http://schemas.openxmlformats.org/drawingml/2006/main" xmlns:r="http://schemas.openxmlformats.org/officeDocument/2006/relationships" xmlns:p="http://schemas.openxmlformats.org/presentationml/2006/main">
  <p:tag name="MM_SLIDE_TYPE" val="6"/>
</p:tagLst>
</file>

<file path=ppt/tags/tag48.xml><?xml version="1.0" encoding="utf-8"?>
<p:tagLst xmlns:a="http://schemas.openxmlformats.org/drawingml/2006/main" xmlns:r="http://schemas.openxmlformats.org/officeDocument/2006/relationships" xmlns:p="http://schemas.openxmlformats.org/presentationml/2006/main">
  <p:tag name="MM_SLIDE_TYPE" val="6"/>
</p:tagLst>
</file>

<file path=ppt/tags/tag49.xml><?xml version="1.0" encoding="utf-8"?>
<p:tagLst xmlns:a="http://schemas.openxmlformats.org/drawingml/2006/main" xmlns:r="http://schemas.openxmlformats.org/officeDocument/2006/relationships" xmlns:p="http://schemas.openxmlformats.org/presentationml/2006/main">
  <p:tag name="MM_SLIDE_TYPE" val="6"/>
</p:tagLst>
</file>

<file path=ppt/tags/tag50.xml><?xml version="1.0" encoding="utf-8"?>
<p:tagLst xmlns:a="http://schemas.openxmlformats.org/drawingml/2006/main" xmlns:r="http://schemas.openxmlformats.org/officeDocument/2006/relationships" xmlns:p="http://schemas.openxmlformats.org/presentationml/2006/main">
  <p:tag name="MM_SLIDE_TYPE" val="6"/>
</p:tagLst>
</file>

<file path=ppt/tags/tag51.xml><?xml version="1.0" encoding="utf-8"?>
<p:tagLst xmlns:a="http://schemas.openxmlformats.org/drawingml/2006/main" xmlns:r="http://schemas.openxmlformats.org/officeDocument/2006/relationships" xmlns:p="http://schemas.openxmlformats.org/presentationml/2006/main">
  <p:tag name="MM_SLIDE_TYPE" val="6"/>
</p:tagLst>
</file>

<file path=ppt/tags/tag52.xml><?xml version="1.0" encoding="utf-8"?>
<p:tagLst xmlns:a="http://schemas.openxmlformats.org/drawingml/2006/main" xmlns:r="http://schemas.openxmlformats.org/officeDocument/2006/relationships" xmlns:p="http://schemas.openxmlformats.org/presentationml/2006/main">
  <p:tag name="MM_SLIDE_TYPE" val="6"/>
</p:tagLst>
</file>

<file path=ppt/tags/tag53.xml><?xml version="1.0" encoding="utf-8"?>
<p:tagLst xmlns:a="http://schemas.openxmlformats.org/drawingml/2006/main" xmlns:r="http://schemas.openxmlformats.org/officeDocument/2006/relationships" xmlns:p="http://schemas.openxmlformats.org/presentationml/2006/main">
  <p:tag name="MM_SLIDE_TYPE" val="6"/>
</p:tagLst>
</file>

<file path=ppt/tags/tag54.xml><?xml version="1.0" encoding="utf-8"?>
<p:tagLst xmlns:a="http://schemas.openxmlformats.org/drawingml/2006/main" xmlns:r="http://schemas.openxmlformats.org/officeDocument/2006/relationships" xmlns:p="http://schemas.openxmlformats.org/presentationml/2006/main">
  <p:tag name="MM_SLIDE_TYPE" val="6"/>
</p:tagLst>
</file>

<file path=ppt/tags/tag55.xml><?xml version="1.0" encoding="utf-8"?>
<p:tagLst xmlns:a="http://schemas.openxmlformats.org/drawingml/2006/main" xmlns:r="http://schemas.openxmlformats.org/officeDocument/2006/relationships" xmlns:p="http://schemas.openxmlformats.org/presentationml/2006/main">
  <p:tag name="MM_SLIDE_TYPE" val="6"/>
</p:tagLst>
</file>

<file path=ppt/tags/tag56.xml><?xml version="1.0" encoding="utf-8"?>
<p:tagLst xmlns:a="http://schemas.openxmlformats.org/drawingml/2006/main" xmlns:r="http://schemas.openxmlformats.org/officeDocument/2006/relationships" xmlns:p="http://schemas.openxmlformats.org/presentationml/2006/main">
  <p:tag name="MM_SLIDE_TYPE" val="6"/>
</p:tagLst>
</file>

<file path=ppt/tags/tag57.xml><?xml version="1.0" encoding="utf-8"?>
<p:tagLst xmlns:a="http://schemas.openxmlformats.org/drawingml/2006/main" xmlns:r="http://schemas.openxmlformats.org/officeDocument/2006/relationships" xmlns:p="http://schemas.openxmlformats.org/presentationml/2006/main">
  <p:tag name="MM_SLIDE_TYPE" val="6"/>
</p:tagLst>
</file>

<file path=ppt/tags/tag58.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2.xml><?xml version="1.0" encoding="utf-8"?>
<a:theme xmlns:a="http://schemas.openxmlformats.org/drawingml/2006/main" name="1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3.xml><?xml version="1.0" encoding="utf-8"?>
<a:theme xmlns:a="http://schemas.openxmlformats.org/drawingml/2006/main" name="2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5bef5af-bbc1-4d24-bb43-47a55a90f763}" enabled="1" method="Standard" siteId="{cf56e405-d2b0-4266-b210-aa04636b6161}" contentBits="2" removed="0"/>
</clbl:labelList>
</file>

<file path=docProps/app.xml><?xml version="1.0" encoding="utf-8"?>
<Properties xmlns="http://schemas.openxmlformats.org/officeDocument/2006/extended-properties" xmlns:vt="http://schemas.openxmlformats.org/officeDocument/2006/docPropsVTypes">
  <Template/>
  <TotalTime>3584</TotalTime>
  <Words>10326</Words>
  <Application>Microsoft Office PowerPoint</Application>
  <PresentationFormat>A4 Paper (210x297 mm)</PresentationFormat>
  <Paragraphs>520</Paragraphs>
  <Slides>27</Slides>
  <Notes>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27</vt:i4>
      </vt:variant>
    </vt:vector>
  </HeadingPairs>
  <TitlesOfParts>
    <vt:vector size="35" baseType="lpstr">
      <vt:lpstr>Arial</vt:lpstr>
      <vt:lpstr>Calibri</vt:lpstr>
      <vt:lpstr>Roboto</vt:lpstr>
      <vt:lpstr>Roboto Light</vt:lpstr>
      <vt:lpstr>Wingdings</vt:lpstr>
      <vt:lpstr>Tema IB 2021</vt:lpstr>
      <vt:lpstr>1_Tema IB 2021</vt:lpstr>
      <vt:lpstr>2_Tema IB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Augusti</dc:creator>
  <cp:lastModifiedBy>Caio Souza</cp:lastModifiedBy>
  <cp:revision>259</cp:revision>
  <dcterms:created xsi:type="dcterms:W3CDTF">2022-03-20T14:16:37Z</dcterms:created>
  <dcterms:modified xsi:type="dcterms:W3CDTF">2026-08-18T13:54:28Z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6a9157b-bcf3-4eac-b03e-7cf007ba9fdf_Enabled">
    <vt:lpwstr>true</vt:lpwstr>
  </property>
  <property fmtid="{D5CDD505-2E9C-101B-9397-08002B2CF9AE}" pid="3" name="MSIP_Label_e6a9157b-bcf3-4eac-b03e-7cf007ba9fdf_SetDate">
    <vt:lpwstr>2024-08-07T13:35:27Z</vt:lpwstr>
  </property>
  <property fmtid="{D5CDD505-2E9C-101B-9397-08002B2CF9AE}" pid="4" name="MSIP_Label_e6a9157b-bcf3-4eac-b03e-7cf007ba9fdf_Method">
    <vt:lpwstr>Standard</vt:lpwstr>
  </property>
  <property fmtid="{D5CDD505-2E9C-101B-9397-08002B2CF9AE}" pid="5" name="MSIP_Label_e6a9157b-bcf3-4eac-b03e-7cf007ba9fdf_Name">
    <vt:lpwstr>Publica</vt:lpwstr>
  </property>
  <property fmtid="{D5CDD505-2E9C-101B-9397-08002B2CF9AE}" pid="6" name="MSIP_Label_e6a9157b-bcf3-4eac-b03e-7cf007ba9fdf_SiteId">
    <vt:lpwstr>cf56e405-d2b0-4266-b210-aa04636b6161</vt:lpwstr>
  </property>
  <property fmtid="{D5CDD505-2E9C-101B-9397-08002B2CF9AE}" pid="7" name="MSIP_Label_e6a9157b-bcf3-4eac-b03e-7cf007ba9fdf_ActionId">
    <vt:lpwstr>b571ecd3-3a44-4687-ba08-7c2c7e9aba13</vt:lpwstr>
  </property>
  <property fmtid="{D5CDD505-2E9C-101B-9397-08002B2CF9AE}" pid="8" name="MSIP_Label_e6a9157b-bcf3-4eac-b03e-7cf007ba9fdf_ContentBits">
    <vt:lpwstr>2</vt:lpwstr>
  </property>
  <property fmtid="{D5CDD505-2E9C-101B-9397-08002B2CF9AE}" pid="9" name="ClassificationContentMarkingFooterLocations">
    <vt:lpwstr>Tema IB 2021:5</vt:lpwstr>
  </property>
  <property fmtid="{D5CDD505-2E9C-101B-9397-08002B2CF9AE}" pid="10" name="ClassificationContentMarkingFooterText">
    <vt:lpwstr>[ CLASSIFICAÇÃO: PÚBLICA ]</vt:lpwstr>
  </property>
</Properties>
</file>