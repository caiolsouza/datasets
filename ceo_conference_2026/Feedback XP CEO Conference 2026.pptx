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13.svg" ContentType="image/svg+xml"/>
  <Override PartName="/ppt/media/image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11" r:id="rId2"/>
    <p:sldMasterId id="2147483750" r:id="rId3"/>
  </p:sldMasterIdLst>
  <p:notesMasterIdLst>
    <p:notesMasterId r:id="rId31"/>
  </p:notesMasterIdLst>
  <p:sldIdLst>
    <p:sldId id="405" r:id="rId4"/>
    <p:sldId id="396" r:id="rId5"/>
    <p:sldId id="256" r:id="rId6"/>
    <p:sldId id="262" r:id="rId7"/>
    <p:sldId id="379" r:id="rId8"/>
    <p:sldId id="380" r:id="rId9"/>
    <p:sldId id="381" r:id="rId10"/>
    <p:sldId id="384" r:id="rId11"/>
    <p:sldId id="389" r:id="rId12"/>
    <p:sldId id="387" r:id="rId13"/>
    <p:sldId id="386" r:id="rId14"/>
    <p:sldId id="390" r:id="rId15"/>
    <p:sldId id="298" r:id="rId16"/>
    <p:sldId id="391" r:id="rId17"/>
    <p:sldId id="392" r:id="rId18"/>
    <p:sldId id="398" r:id="rId19"/>
    <p:sldId id="399" r:id="rId20"/>
    <p:sldId id="400" r:id="rId21"/>
    <p:sldId id="401" r:id="rId22"/>
    <p:sldId id="402" r:id="rId23"/>
    <p:sldId id="403" r:id="rId24"/>
    <p:sldId id="404" r:id="rId25"/>
    <p:sldId id="406" r:id="rId36"/>
    <p:sldId id="383" r:id="rId26"/>
    <p:sldId id="397" r:id="rId27"/>
    <p:sldId id="388" r:id="rId28"/>
    <p:sldId id="407" r:id="rId37"/>
    <p:sldId id="408" r:id="rId38"/>
    <p:sldId id="409" r:id="rId39"/>
    <p:sldId id="410" r:id="rId40"/>
    <p:sldId id="411" r:id="rId41"/>
    <p:sldId id="412" r:id="rId42"/>
    <p:sldId id="413" r:id="rId43"/>
    <p:sldId id="271" r:id="rId29"/>
    <p:sldId id="272" r:id="rId30"/>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E25373-AEA3-4792-A3B0-8F828C4D1242}">
          <p14:sldIdLst>
            <p14:sldId id="405"/>
            <p14:sldId id="396"/>
            <p14:sldId id="256"/>
            <p14:sldId id="262"/>
            <p14:sldId id="379"/>
            <p14:sldId id="380"/>
            <p14:sldId id="381"/>
            <p14:sldId id="384"/>
            <p14:sldId id="389"/>
            <p14:sldId id="387"/>
            <p14:sldId id="386"/>
            <p14:sldId id="390"/>
            <p14:sldId id="298"/>
            <p14:sldId id="391"/>
            <p14:sldId id="392"/>
            <p14:sldId id="398"/>
            <p14:sldId id="399"/>
            <p14:sldId id="400"/>
            <p14:sldId id="401"/>
            <p14:sldId id="402"/>
            <p14:sldId id="403"/>
            <p14:sldId id="404"/>
            <p14:sldId id="383"/>
            <p14:sldId id="397"/>
            <p14:sldId id="388"/>
            <p14:sldId id="271"/>
            <p14:sldId id="272"/>
          </p14:sldIdLst>
        </p14:section>
        <p14:section name="OLD" id="{C273E1AE-2073-4707-BAAB-FA84904E2EBF}">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B3DF"/>
    <a:srgbClr val="000000"/>
    <a:srgbClr val="F9C113"/>
    <a:srgbClr val="707971"/>
    <a:srgbClr val="FFFFFF"/>
    <a:srgbClr val="1F2F44"/>
    <a:srgbClr val="141515"/>
    <a:srgbClr val="151616"/>
    <a:srgbClr val="18191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85" autoAdjust="0"/>
    <p:restoredTop sz="94660"/>
  </p:normalViewPr>
  <p:slideViewPr>
    <p:cSldViewPr snapToGrid="0">
      <p:cViewPr varScale="1">
        <p:scale>
          <a:sx n="77" d="100"/>
          <a:sy n="77" d="100"/>
        </p:scale>
        <p:origin x="3522" y="108"/>
      </p:cViewPr>
      <p:guideLst/>
    </p:cSldViewPr>
  </p:slideViewPr>
  <p:notesTextViewPr>
    <p:cViewPr>
      <p:scale>
        <a:sx n="3" d="2"/>
        <a:sy n="3" d="2"/>
      </p:scale>
      <p:origin x="0" y="0"/>
    </p:cViewPr>
  </p:notesTextViewPr>
  <p:notesViewPr>
    <p:cSldViewPr snapToGrid="0">
      <p:cViewPr varScale="1">
        <p:scale>
          <a:sx n="64" d="100"/>
          <a:sy n="64" d="100"/>
        </p:scale>
        <p:origin x="3192" y="7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34.xml"/><Relationship Id="rId30" Type="http://schemas.openxmlformats.org/officeDocument/2006/relationships/slide" Target="slides/slide35.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3.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8/18/2026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2026 attendance detail:</a:t>
            </a:r>
          </a:p>
          <a:p>
            <a:r>
              <a:rPr dirty="0"/>
              <a:t>3Tentos: August 18th</a:t>
            </a:r>
          </a:p>
          <a:p>
            <a:r>
              <a:rPr dirty="0"/>
              <a:t>Ambev: August 17th</a:t>
            </a:r>
          </a:p>
          <a:p>
            <a:r>
              <a:rPr dirty="0"/>
              <a:t>Boa Safra: August 17th</a:t>
            </a:r>
          </a:p>
          <a:p>
            <a:r>
              <a:rPr dirty="0" err="1"/>
              <a:t>Brasil</a:t>
            </a:r>
            <a:r>
              <a:rPr dirty="0"/>
              <a:t> </a:t>
            </a:r>
            <a:r>
              <a:rPr dirty="0" err="1"/>
              <a:t>Agro</a:t>
            </a:r>
            <a:r>
              <a:rPr dirty="0"/>
              <a:t>: August 18th</a:t>
            </a:r>
          </a:p>
          <a:p>
            <a:r>
              <a:rPr dirty="0"/>
              <a:t>Camil: August 17th</a:t>
            </a:r>
          </a:p>
          <a:p>
            <a:r>
              <a:rPr dirty="0" err="1"/>
              <a:t>Jalles</a:t>
            </a:r>
            <a:r>
              <a:rPr dirty="0"/>
              <a:t>: August 18th</a:t>
            </a:r>
          </a:p>
          <a:p>
            <a:r>
              <a:rPr dirty="0"/>
              <a:t>JBS: August 18th</a:t>
            </a:r>
          </a:p>
          <a:p>
            <a:r>
              <a:rPr dirty="0"/>
              <a:t>M. Dias Branco: August 18th</a:t>
            </a:r>
          </a:p>
          <a:p>
            <a:r>
              <a:rPr dirty="0"/>
              <a:t>MBRF: August 18th</a:t>
            </a:r>
          </a:p>
          <a:p>
            <a:r>
              <a:rPr dirty="0"/>
              <a:t>Minerva: August 17th</a:t>
            </a:r>
          </a:p>
          <a:p>
            <a:r>
              <a:rPr dirty="0"/>
              <a:t>SLC: August 17th</a:t>
            </a:r>
          </a:p>
          <a:p>
            <a:r>
              <a:rPr dirty="0"/>
              <a:t>WEG: August 17th</a:t>
            </a:r>
          </a:p>
          <a:p>
            <a:r>
              <a:rPr dirty="0" err="1"/>
              <a:t>Ânima</a:t>
            </a:r>
            <a:r>
              <a:rPr dirty="0"/>
              <a:t>: August 17th</a:t>
            </a:r>
          </a:p>
          <a:p>
            <a:r>
              <a:rPr dirty="0"/>
              <a:t>Cogna </a:t>
            </a:r>
            <a:r>
              <a:rPr dirty="0" err="1"/>
              <a:t>Educação</a:t>
            </a:r>
            <a:r>
              <a:rPr dirty="0"/>
              <a:t>: August 17th</a:t>
            </a:r>
          </a:p>
          <a:p>
            <a:r>
              <a:rPr dirty="0"/>
              <a:t>Cruzeiro do Sul </a:t>
            </a:r>
            <a:r>
              <a:rPr dirty="0" err="1"/>
              <a:t>Educacional</a:t>
            </a:r>
            <a:r>
              <a:rPr dirty="0"/>
              <a:t>: August 17th</a:t>
            </a:r>
          </a:p>
          <a:p>
            <a:r>
              <a:rPr dirty="0"/>
              <a:t>Salta: August 17th</a:t>
            </a:r>
          </a:p>
          <a:p>
            <a:r>
              <a:rPr dirty="0" err="1"/>
              <a:t>Vitru</a:t>
            </a:r>
            <a:r>
              <a:rPr dirty="0"/>
              <a:t> </a:t>
            </a:r>
            <a:r>
              <a:rPr dirty="0" err="1"/>
              <a:t>Educação</a:t>
            </a:r>
            <a:r>
              <a:rPr dirty="0"/>
              <a:t>: August 17th</a:t>
            </a:r>
          </a:p>
          <a:p>
            <a:r>
              <a:rPr dirty="0" err="1"/>
              <a:t>Yduqs</a:t>
            </a:r>
            <a:r>
              <a:rPr dirty="0"/>
              <a:t>: August 17th</a:t>
            </a:r>
          </a:p>
          <a:p>
            <a:r>
              <a:rPr dirty="0"/>
              <a:t>Aegea: August 17th, August 18th</a:t>
            </a:r>
          </a:p>
          <a:p>
            <a:r>
              <a:rPr dirty="0"/>
              <a:t>Auren: August 18th</a:t>
            </a:r>
          </a:p>
          <a:p>
            <a:r>
              <a:rPr dirty="0"/>
              <a:t>AXIA: August 18th</a:t>
            </a:r>
          </a:p>
          <a:p>
            <a:r>
              <a:rPr dirty="0" err="1"/>
              <a:t>Cemig</a:t>
            </a:r>
            <a:r>
              <a:rPr dirty="0"/>
              <a:t>: August 18th</a:t>
            </a:r>
          </a:p>
          <a:p>
            <a:r>
              <a:rPr dirty="0" err="1"/>
              <a:t>Copasa</a:t>
            </a:r>
            <a:r>
              <a:rPr dirty="0"/>
              <a:t>: August 17th</a:t>
            </a:r>
          </a:p>
          <a:p>
            <a:r>
              <a:rPr dirty="0"/>
              <a:t>Copel: August 17th</a:t>
            </a:r>
          </a:p>
          <a:p>
            <a:r>
              <a:rPr dirty="0" err="1"/>
              <a:t>Energisa</a:t>
            </a:r>
            <a:r>
              <a:rPr dirty="0"/>
              <a:t>: August 17th</a:t>
            </a:r>
          </a:p>
          <a:p>
            <a:r>
              <a:rPr dirty="0"/>
              <a:t>Engie: August 17th</a:t>
            </a:r>
          </a:p>
          <a:p>
            <a:r>
              <a:rPr dirty="0"/>
              <a:t>Equatorial: August 17th</a:t>
            </a:r>
          </a:p>
          <a:p>
            <a:r>
              <a:rPr dirty="0"/>
              <a:t>Light: August 18th</a:t>
            </a:r>
          </a:p>
          <a:p>
            <a:r>
              <a:rPr dirty="0" err="1"/>
              <a:t>Orizon</a:t>
            </a:r>
            <a:r>
              <a:rPr dirty="0"/>
              <a:t>: August 18th</a:t>
            </a:r>
          </a:p>
          <a:p>
            <a:r>
              <a:rPr dirty="0"/>
              <a:t>Taesa: August 18th</a:t>
            </a:r>
          </a:p>
          <a:p>
            <a:r>
              <a:rPr dirty="0" err="1"/>
              <a:t>Agibank</a:t>
            </a:r>
            <a:r>
              <a:rPr dirty="0"/>
              <a:t>: August 17th</a:t>
            </a:r>
          </a:p>
          <a:p>
            <a:r>
              <a:rPr dirty="0"/>
              <a:t>B3: August 17th</a:t>
            </a:r>
          </a:p>
          <a:p>
            <a:r>
              <a:rPr dirty="0"/>
              <a:t>Banco do </a:t>
            </a:r>
            <a:r>
              <a:rPr dirty="0" err="1"/>
              <a:t>Brasil</a:t>
            </a:r>
            <a:r>
              <a:rPr dirty="0"/>
              <a:t>: August 17th</a:t>
            </a:r>
          </a:p>
          <a:p>
            <a:r>
              <a:rPr dirty="0"/>
              <a:t>BB </a:t>
            </a:r>
            <a:r>
              <a:rPr dirty="0" err="1"/>
              <a:t>Seguridade</a:t>
            </a:r>
            <a:r>
              <a:rPr dirty="0"/>
              <a:t>: August 17th</a:t>
            </a:r>
          </a:p>
          <a:p>
            <a:r>
              <a:rPr dirty="0"/>
              <a:t>BR Partners: August 18th</a:t>
            </a:r>
          </a:p>
          <a:p>
            <a:r>
              <a:rPr dirty="0"/>
              <a:t>Bradesco: August 17th</a:t>
            </a:r>
          </a:p>
          <a:p>
            <a:r>
              <a:rPr dirty="0"/>
              <a:t>Caixa </a:t>
            </a:r>
            <a:r>
              <a:rPr dirty="0" err="1"/>
              <a:t>Seguridade</a:t>
            </a:r>
            <a:r>
              <a:rPr dirty="0"/>
              <a:t>: August 17th</a:t>
            </a:r>
          </a:p>
          <a:p>
            <a:r>
              <a:rPr dirty="0"/>
              <a:t>IRB(Re): August 18th</a:t>
            </a:r>
          </a:p>
          <a:p>
            <a:r>
              <a:rPr dirty="0"/>
              <a:t>Itaú: August 18th</a:t>
            </a:r>
          </a:p>
          <a:p>
            <a:r>
              <a:rPr dirty="0"/>
              <a:t>Mercantil: August 17th</a:t>
            </a:r>
          </a:p>
          <a:p>
            <a:r>
              <a:rPr dirty="0"/>
              <a:t>Pine: August 18th</a:t>
            </a:r>
          </a:p>
          <a:p>
            <a:r>
              <a:rPr dirty="0"/>
              <a:t>Stone: August 17th</a:t>
            </a:r>
          </a:p>
          <a:p>
            <a:r>
              <a:rPr dirty="0"/>
              <a:t>XP Inc.: August 18th</a:t>
            </a:r>
          </a:p>
          <a:p>
            <a:r>
              <a:rPr dirty="0"/>
              <a:t>XP Research | Macro &amp; Politics: August 17th, August 18th</a:t>
            </a:r>
          </a:p>
          <a:p>
            <a:r>
              <a:rPr dirty="0"/>
              <a:t>XP Research | Strategy: August 17th, August 18th</a:t>
            </a:r>
          </a:p>
          <a:p>
            <a:r>
              <a:rPr dirty="0" err="1"/>
              <a:t>BradSaúde</a:t>
            </a:r>
            <a:r>
              <a:rPr dirty="0"/>
              <a:t>: August 18th</a:t>
            </a:r>
          </a:p>
          <a:p>
            <a:r>
              <a:rPr dirty="0"/>
              <a:t>Dasa: August 17th</a:t>
            </a:r>
          </a:p>
          <a:p>
            <a:r>
              <a:rPr dirty="0"/>
              <a:t>Fleury: August 18th</a:t>
            </a:r>
          </a:p>
          <a:p>
            <a:r>
              <a:rPr dirty="0" err="1"/>
              <a:t>Hapvida</a:t>
            </a:r>
            <a:r>
              <a:rPr dirty="0"/>
              <a:t>: August 17th</a:t>
            </a:r>
          </a:p>
          <a:p>
            <a:r>
              <a:rPr dirty="0" err="1"/>
              <a:t>Hypera</a:t>
            </a:r>
            <a:r>
              <a:rPr dirty="0"/>
              <a:t>: August 17th</a:t>
            </a:r>
          </a:p>
          <a:p>
            <a:r>
              <a:rPr dirty="0"/>
              <a:t>Mater Dei: August 17th</a:t>
            </a:r>
          </a:p>
          <a:p>
            <a:r>
              <a:rPr dirty="0"/>
              <a:t>Rede D'Or: August 17th</a:t>
            </a:r>
          </a:p>
          <a:p>
            <a:r>
              <a:rPr dirty="0" err="1"/>
              <a:t>União</a:t>
            </a:r>
            <a:r>
              <a:rPr dirty="0"/>
              <a:t> </a:t>
            </a:r>
            <a:r>
              <a:rPr dirty="0" err="1"/>
              <a:t>Química</a:t>
            </a:r>
            <a:r>
              <a:rPr dirty="0"/>
              <a:t>: August 18th</a:t>
            </a:r>
          </a:p>
          <a:p>
            <a:r>
              <a:rPr dirty="0"/>
              <a:t>CSN: August 17th</a:t>
            </a:r>
          </a:p>
          <a:p>
            <a:r>
              <a:rPr dirty="0"/>
              <a:t>Vale: August 18th</a:t>
            </a:r>
          </a:p>
          <a:p>
            <a:r>
              <a:rPr dirty="0"/>
              <a:t>Brava: August 17th</a:t>
            </a:r>
          </a:p>
          <a:p>
            <a:r>
              <a:rPr dirty="0"/>
              <a:t>Compass: August 17th</a:t>
            </a:r>
          </a:p>
          <a:p>
            <a:r>
              <a:rPr dirty="0" err="1"/>
              <a:t>Origem</a:t>
            </a:r>
            <a:r>
              <a:rPr dirty="0"/>
              <a:t>: August 18th</a:t>
            </a:r>
          </a:p>
          <a:p>
            <a:r>
              <a:rPr dirty="0"/>
              <a:t>Petrobras: August 18th</a:t>
            </a:r>
          </a:p>
          <a:p>
            <a:r>
              <a:rPr dirty="0" err="1"/>
              <a:t>PetroRecôncavo</a:t>
            </a:r>
            <a:r>
              <a:rPr dirty="0"/>
              <a:t>: August 17th</a:t>
            </a:r>
          </a:p>
          <a:p>
            <a:r>
              <a:rPr dirty="0"/>
              <a:t>PRIO: August 17th</a:t>
            </a:r>
          </a:p>
          <a:p>
            <a:r>
              <a:rPr dirty="0"/>
              <a:t>Ultra: August 17th</a:t>
            </a:r>
          </a:p>
          <a:p>
            <a:r>
              <a:rPr dirty="0"/>
              <a:t>Vibra: August 18th</a:t>
            </a:r>
          </a:p>
          <a:p>
            <a:r>
              <a:rPr dirty="0"/>
              <a:t>Klabin: August 18th</a:t>
            </a:r>
          </a:p>
          <a:p>
            <a:r>
              <a:rPr dirty="0"/>
              <a:t>Suzano: August 17th</a:t>
            </a:r>
          </a:p>
          <a:p>
            <a:r>
              <a:rPr dirty="0" err="1"/>
              <a:t>Allos</a:t>
            </a:r>
            <a:r>
              <a:rPr dirty="0"/>
              <a:t>: August 17th</a:t>
            </a:r>
          </a:p>
          <a:p>
            <a:r>
              <a:rPr dirty="0"/>
              <a:t>Cury: August 18th</a:t>
            </a:r>
          </a:p>
          <a:p>
            <a:r>
              <a:rPr dirty="0" err="1"/>
              <a:t>Cyrela</a:t>
            </a:r>
            <a:r>
              <a:rPr dirty="0"/>
              <a:t>: August 18th</a:t>
            </a:r>
          </a:p>
          <a:p>
            <a:r>
              <a:rPr dirty="0" err="1"/>
              <a:t>Direcional</a:t>
            </a:r>
            <a:r>
              <a:rPr dirty="0"/>
              <a:t>: August 18th</a:t>
            </a:r>
          </a:p>
          <a:p>
            <a:r>
              <a:rPr dirty="0"/>
              <a:t>Even: August 17th</a:t>
            </a:r>
          </a:p>
          <a:p>
            <a:r>
              <a:rPr dirty="0" err="1"/>
              <a:t>Iguatemi</a:t>
            </a:r>
            <a:r>
              <a:rPr dirty="0"/>
              <a:t>: August 17th</a:t>
            </a:r>
          </a:p>
          <a:p>
            <a:r>
              <a:rPr dirty="0"/>
              <a:t>JHSF: August 17th</a:t>
            </a:r>
          </a:p>
          <a:p>
            <a:r>
              <a:rPr dirty="0" err="1"/>
              <a:t>Lavvi</a:t>
            </a:r>
            <a:r>
              <a:rPr dirty="0"/>
              <a:t>: August 17th</a:t>
            </a:r>
          </a:p>
          <a:p>
            <a:r>
              <a:rPr dirty="0"/>
              <a:t>Moura </a:t>
            </a:r>
            <a:r>
              <a:rPr dirty="0" err="1"/>
              <a:t>Dubeux</a:t>
            </a:r>
            <a:r>
              <a:rPr dirty="0"/>
              <a:t>: August 18th</a:t>
            </a:r>
          </a:p>
          <a:p>
            <a:r>
              <a:rPr dirty="0"/>
              <a:t>MRV: August 18th</a:t>
            </a:r>
          </a:p>
          <a:p>
            <a:r>
              <a:rPr dirty="0"/>
              <a:t>Multiplan: August 17th</a:t>
            </a:r>
          </a:p>
          <a:p>
            <a:r>
              <a:rPr dirty="0" err="1"/>
              <a:t>Plano&amp;Plano</a:t>
            </a:r>
            <a:r>
              <a:rPr dirty="0"/>
              <a:t>: August 17th</a:t>
            </a:r>
          </a:p>
          <a:p>
            <a:r>
              <a:rPr dirty="0" err="1"/>
              <a:t>Alpargatas</a:t>
            </a:r>
            <a:r>
              <a:rPr dirty="0"/>
              <a:t>: August 17th</a:t>
            </a:r>
          </a:p>
          <a:p>
            <a:r>
              <a:rPr dirty="0" err="1"/>
              <a:t>Assaí</a:t>
            </a:r>
            <a:r>
              <a:rPr dirty="0"/>
              <a:t>: August 18th</a:t>
            </a:r>
          </a:p>
          <a:p>
            <a:r>
              <a:rPr dirty="0" err="1"/>
              <a:t>Azzas</a:t>
            </a:r>
            <a:r>
              <a:rPr dirty="0"/>
              <a:t> 2154: August 17th</a:t>
            </a:r>
          </a:p>
          <a:p>
            <a:r>
              <a:rPr dirty="0"/>
              <a:t>C&amp;A: August 18th</a:t>
            </a:r>
          </a:p>
          <a:p>
            <a:r>
              <a:rPr dirty="0"/>
              <a:t>Grupo SBF: August 17th</a:t>
            </a:r>
          </a:p>
          <a:p>
            <a:r>
              <a:rPr dirty="0"/>
              <a:t>Live!: August 17th</a:t>
            </a:r>
          </a:p>
          <a:p>
            <a:r>
              <a:rPr dirty="0" err="1"/>
              <a:t>Magalu</a:t>
            </a:r>
            <a:r>
              <a:rPr dirty="0"/>
              <a:t>: August 18th</a:t>
            </a:r>
          </a:p>
          <a:p>
            <a:r>
              <a:rPr dirty="0"/>
              <a:t>Mercado Libre: August 17th</a:t>
            </a:r>
          </a:p>
          <a:p>
            <a:r>
              <a:rPr dirty="0"/>
              <a:t>Natura: August 17th</a:t>
            </a:r>
          </a:p>
          <a:p>
            <a:r>
              <a:rPr dirty="0"/>
              <a:t>Pague Menos: August 18th</a:t>
            </a:r>
          </a:p>
          <a:p>
            <a:r>
              <a:rPr dirty="0" err="1"/>
              <a:t>Panvel</a:t>
            </a:r>
            <a:r>
              <a:rPr dirty="0"/>
              <a:t>: August 18th</a:t>
            </a:r>
          </a:p>
          <a:p>
            <a:r>
              <a:rPr dirty="0" err="1"/>
              <a:t>Petlove</a:t>
            </a:r>
            <a:r>
              <a:rPr dirty="0"/>
              <a:t>: August 18th</a:t>
            </a:r>
          </a:p>
          <a:p>
            <a:r>
              <a:rPr dirty="0"/>
              <a:t>Petz </a:t>
            </a:r>
            <a:r>
              <a:rPr dirty="0" err="1"/>
              <a:t>Cobasi</a:t>
            </a:r>
            <a:r>
              <a:rPr dirty="0"/>
              <a:t>: August 17th</a:t>
            </a:r>
          </a:p>
          <a:p>
            <a:r>
              <a:rPr dirty="0" err="1"/>
              <a:t>Profarma</a:t>
            </a:r>
            <a:r>
              <a:rPr dirty="0"/>
              <a:t>: August 18th</a:t>
            </a:r>
          </a:p>
          <a:p>
            <a:r>
              <a:rPr dirty="0"/>
              <a:t>RD </a:t>
            </a:r>
            <a:r>
              <a:rPr dirty="0" err="1"/>
              <a:t>Saúde</a:t>
            </a:r>
            <a:r>
              <a:rPr dirty="0"/>
              <a:t>: August 17th</a:t>
            </a:r>
          </a:p>
          <a:p>
            <a:r>
              <a:rPr dirty="0"/>
              <a:t>Renner: August 17th</a:t>
            </a:r>
          </a:p>
          <a:p>
            <a:r>
              <a:rPr dirty="0" err="1"/>
              <a:t>Riachuelo</a:t>
            </a:r>
            <a:r>
              <a:rPr dirty="0"/>
              <a:t>: August 17th</a:t>
            </a:r>
          </a:p>
          <a:p>
            <a:r>
              <a:rPr dirty="0" err="1"/>
              <a:t>Smartfit</a:t>
            </a:r>
            <a:r>
              <a:rPr dirty="0"/>
              <a:t>: August 18th</a:t>
            </a:r>
          </a:p>
          <a:p>
            <a:r>
              <a:rPr dirty="0" err="1"/>
              <a:t>Vivara</a:t>
            </a:r>
            <a:r>
              <a:rPr dirty="0"/>
              <a:t>: August 17th</a:t>
            </a:r>
          </a:p>
          <a:p>
            <a:r>
              <a:rPr dirty="0" err="1"/>
              <a:t>Vulcabras</a:t>
            </a:r>
            <a:r>
              <a:rPr dirty="0"/>
              <a:t>: August 18th</a:t>
            </a:r>
          </a:p>
          <a:p>
            <a:r>
              <a:rPr dirty="0" err="1"/>
              <a:t>Bemobi</a:t>
            </a:r>
            <a:r>
              <a:rPr dirty="0"/>
              <a:t>: August 18th</a:t>
            </a:r>
          </a:p>
          <a:p>
            <a:r>
              <a:rPr dirty="0" err="1"/>
              <a:t>Intelbras</a:t>
            </a:r>
            <a:r>
              <a:rPr dirty="0"/>
              <a:t>: August 17th</a:t>
            </a:r>
          </a:p>
          <a:p>
            <a:r>
              <a:rPr dirty="0" err="1"/>
              <a:t>Livemode</a:t>
            </a:r>
            <a:r>
              <a:rPr dirty="0"/>
              <a:t>: August 18th</a:t>
            </a:r>
          </a:p>
          <a:p>
            <a:r>
              <a:rPr dirty="0"/>
              <a:t>LWSA: August 18th</a:t>
            </a:r>
          </a:p>
          <a:p>
            <a:r>
              <a:rPr dirty="0"/>
              <a:t>Senior Sistemas: August 17th</a:t>
            </a:r>
          </a:p>
          <a:p>
            <a:r>
              <a:rPr dirty="0" err="1"/>
              <a:t>Telefônica</a:t>
            </a:r>
            <a:r>
              <a:rPr dirty="0"/>
              <a:t> Vivo: August 17th</a:t>
            </a:r>
          </a:p>
          <a:p>
            <a:r>
              <a:rPr dirty="0"/>
              <a:t>TIM: August 18th</a:t>
            </a:r>
          </a:p>
          <a:p>
            <a:r>
              <a:rPr dirty="0"/>
              <a:t>TOTVS: August 18th</a:t>
            </a:r>
          </a:p>
          <a:p>
            <a:r>
              <a:rPr dirty="0" err="1"/>
              <a:t>Armac</a:t>
            </a:r>
            <a:r>
              <a:rPr dirty="0"/>
              <a:t>: August 17th</a:t>
            </a:r>
          </a:p>
          <a:p>
            <a:r>
              <a:rPr dirty="0" err="1"/>
              <a:t>Automob</a:t>
            </a:r>
            <a:r>
              <a:rPr dirty="0"/>
              <a:t>: August 18th</a:t>
            </a:r>
          </a:p>
          <a:p>
            <a:r>
              <a:rPr dirty="0" err="1"/>
              <a:t>Ecorodovias</a:t>
            </a:r>
            <a:r>
              <a:rPr dirty="0"/>
              <a:t>: August 18th</a:t>
            </a:r>
          </a:p>
          <a:p>
            <a:r>
              <a:rPr dirty="0"/>
              <a:t>GPS: August 18th</a:t>
            </a:r>
          </a:p>
          <a:p>
            <a:r>
              <a:rPr dirty="0"/>
              <a:t>Motiva: August 18th</a:t>
            </a:r>
          </a:p>
          <a:p>
            <a:r>
              <a:rPr dirty="0"/>
              <a:t>Movida: August 17th</a:t>
            </a:r>
          </a:p>
          <a:p>
            <a:r>
              <a:rPr dirty="0"/>
              <a:t>Priner: August 18th</a:t>
            </a:r>
          </a:p>
          <a:p>
            <a:r>
              <a:rPr dirty="0"/>
              <a:t>Rumo: August 17th</a:t>
            </a:r>
          </a:p>
          <a:p>
            <a:r>
              <a:rPr dirty="0" err="1"/>
              <a:t>Simpar</a:t>
            </a:r>
            <a:r>
              <a:rPr dirty="0"/>
              <a:t>: August 17th</a:t>
            </a:r>
          </a:p>
          <a:p>
            <a:r>
              <a:rPr dirty="0"/>
              <a:t>Vamos: August 18th</a:t>
            </a:r>
          </a:p>
          <a:p>
            <a:endParaRPr dirty="0"/>
          </a:p>
          <a:p>
            <a:r>
              <a:rPr dirty="0"/>
              <a:t>[Sources]</a:t>
            </a:r>
          </a:p>
          <a:p>
            <a:r>
              <a:rPr dirty="0"/>
              <a:t>- 2026 participant list supplied by the user (pasted-text.txt).</a:t>
            </a:r>
          </a:p>
          <a:p>
            <a:r>
              <a:rPr dirty="0"/>
              <a:t>- Source visual template: https://researchxp1.s3.sa-east-1.amazonaws.com/Company+list.pptx</a:t>
            </a:r>
          </a:p>
          <a:p>
            <a:r>
              <a:rPr dirty="0"/>
              <a:t>- XP Research sector taxonomy reference: https://conteudos.xpi.com.br/acoes/relatorios/enquadrando-o-varejo-para-2026/</a:t>
            </a:r>
          </a:p>
          <a:p>
            <a:r>
              <a:rPr dirty="0"/>
              <a:t>- XP Research sector taxonomy reference: https://conteudos.xpi.com.br/acoes/relatorios/utilities-previa-de-resultados-1t26/</a:t>
            </a:r>
          </a:p>
          <a:p>
            <a:r>
              <a:rPr dirty="0"/>
              <a:t>- XP Research sector taxonomy reference: https://conteudos.xpi.com.br/acoes/relatorios/transportes-previa-de-resultados-do-2t26/</a:t>
            </a:r>
          </a:p>
          <a:p>
            <a:r>
              <a:rPr dirty="0"/>
              <a:t>- XP Research sector taxonomy reference: https://conteudos.xpi.com.br/acoes/relatorios/tmt-previa-do-2t26-lwsa3-e-bmob3/</a:t>
            </a:r>
          </a:p>
          <a:p>
            <a:r>
              <a:rPr dirty="0"/>
              <a:t>- XP Research sector taxonomy reference: https://conteudos.xpi.com.br/acoes/relatorios/o-setor-de-saude-em-alta-momentum-favoravel-pela-frente/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4.jpe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image" Target="../media/image6.jpeg"/></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8.svg"/><Relationship Id="rId4"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9.svg"/><Relationship Id="rId4" Type="http://schemas.openxmlformats.org/officeDocument/2006/relationships/image" Target="../media/image10.png"/><Relationship Id="rId5" Type="http://schemas.microsoft.com/office/2007/relationships/hdphoto" Target="../media/hdphoto1.wdp"/><Relationship Id="rId6"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2.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jpeg"/><Relationship Id="rId3" Type="http://schemas.openxmlformats.org/officeDocument/2006/relationships/image" Target="../media/image13.svg"/></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41.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slideMaster" Target="../slideMasters/slideMaster3.xml"/><Relationship Id="rId3" Type="http://schemas.openxmlformats.org/officeDocument/2006/relationships/image" Target="../media/image4.jpe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slideMaster" Target="../slideMasters/slideMaster3.xml"/><Relationship Id="rId3" Type="http://schemas.openxmlformats.org/officeDocument/2006/relationships/image" Target="../media/image5.jpe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slideMaster" Target="../slideMasters/slideMaster3.xml"/><Relationship Id="rId3" Type="http://schemas.openxmlformats.org/officeDocument/2006/relationships/image" Target="../media/image6.jpeg"/></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49.xml"/><Relationship Id="rId2"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51.xml"/><Relationship Id="rId2"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tags" Target="../tags/tag57.xml"/><Relationship Id="rId2" Type="http://schemas.openxmlformats.org/officeDocument/2006/relationships/slideMaster" Target="../slideMasters/slideMaster3.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slideMaster" Target="../slideMasters/slideMaster3.xml"/><Relationship Id="rId3" Type="http://schemas.openxmlformats.org/officeDocument/2006/relationships/image" Target="../media/image8.svg"/><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457222"/>
            <a:ext cx="6858000" cy="3811729"/>
          </a:xfrm>
          <a:prstGeom prst="rect">
            <a:avLst/>
          </a:prstGeom>
          <a:gradFill flip="none" rotWithShape="1">
            <a:gsLst>
              <a:gs pos="100000">
                <a:srgbClr val="000000"/>
              </a:gs>
              <a:gs pos="23000">
                <a:schemeClr val="accent1">
                  <a:lumMod val="90000"/>
                  <a:lumOff val="10000"/>
                  <a:alpha val="70667"/>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2025</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1223279"/>
            <a:chOff x="690334" y="6167857"/>
            <a:chExt cx="5562175" cy="1223279"/>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4668509" y="6170730"/>
              <a:ext cx="1584000" cy="1081814"/>
              <a:chOff x="4624263" y="6170730"/>
              <a:chExt cx="1584000" cy="1081814"/>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felipe.bveiga@xpi.com.br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Felipe Veiga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Equity Strategist</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13035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research@xpi.com.br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XP Research</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2704288" y="6170730"/>
              <a:ext cx="1734615" cy="1220406"/>
              <a:chOff x="2654374" y="6170730"/>
              <a:chExt cx="1734615" cy="1220406"/>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raphael.sfigueredo@xpi.com.br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Raphael Figueredo</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Equity Strategist</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lucas.vrosa@xpi.com.br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Rosa</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1223279"/>
              <a:chOff x="690334" y="6167857"/>
              <a:chExt cx="1728765" cy="1223279"/>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julia.aquino@xpi.com.br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Júlia Aquino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a:t>
                </a:r>
              </a:p>
            </p:txBody>
          </p:sp>
        </p:grpSp>
      </p:grpSp>
      <p:pic>
        <p:nvPicPr>
          <p:cNvPr id="18" name="Graphic 17">
            <a:extLst>
              <a:ext uri="{FF2B5EF4-FFF2-40B4-BE49-F238E27FC236}">
                <a16:creationId xmlns:a16="http://schemas.microsoft.com/office/drawing/2014/main" id="{7A413B33-9A54-DEF9-7501-533CE882357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64177"/>
            <a:ext cx="3886200" cy="952500"/>
          </a:xfrm>
          <a:prstGeom prst="rect">
            <a:avLst/>
          </a:prstGeom>
        </p:spPr>
      </p:pic>
    </p:spTree>
    <p:extLst>
      <p:ext uri="{BB962C8B-B14F-4D97-AF65-F5344CB8AC3E}">
        <p14:creationId xmlns:p14="http://schemas.microsoft.com/office/powerpoint/2010/main" val="1936898019"/>
      </p:ext>
    </p:extLst>
  </p:cSld>
  <p:clrMapOvr>
    <a:masterClrMapping/>
  </p:clrMapOvr>
  <p:extLst>
    <p:ext uri="{DCECCB84-F9BA-43D5-87BE-67443E8EF086}">
      <p15:sldGuideLst xmlns:p15="http://schemas.microsoft.com/office/powerpoint/2012/main">
        <p15:guide id="1" pos="436" userDrawn="1">
          <p15:clr>
            <a:srgbClr val="FBAE40"/>
          </p15:clr>
        </p15:guide>
        <p15:guide id="2" pos="3861" userDrawn="1">
          <p15:clr>
            <a:srgbClr val="FBAE40"/>
          </p15:clr>
        </p15:guide>
        <p15:guide id="3" orient="horz" pos="56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09024188"/>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408308523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8327980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8218337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75132220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9995273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4136522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17934329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4152858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4511461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896756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6450536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48209156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12110653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sp>
        <p:nvSpPr>
          <p:cNvPr id="126" name="Freeform: Shape 125">
            <a:extLst>
              <a:ext uri="{FF2B5EF4-FFF2-40B4-BE49-F238E27FC236}">
                <a16:creationId xmlns:a16="http://schemas.microsoft.com/office/drawing/2014/main" id="{3FC77C66-38F9-4F02-B9BC-6AEE180B4F4B}"/>
              </a:ext>
            </a:extLst>
          </p:cNvPr>
          <p:cNvSpPr/>
          <p:nvPr userDrawn="1"/>
        </p:nvSpPr>
        <p:spPr>
          <a:xfrm>
            <a:off x="4738916" y="4"/>
            <a:ext cx="2119084" cy="9905999"/>
          </a:xfrm>
          <a:custGeom>
            <a:avLst/>
            <a:gdLst>
              <a:gd name="connsiteX0" fmla="*/ 0 w 2119084"/>
              <a:gd name="connsiteY0" fmla="*/ 0 h 9905999"/>
              <a:gd name="connsiteX1" fmla="*/ 2119084 w 2119084"/>
              <a:gd name="connsiteY1" fmla="*/ 0 h 9905999"/>
              <a:gd name="connsiteX2" fmla="*/ 2119084 w 2119084"/>
              <a:gd name="connsiteY2" fmla="*/ 9905999 h 9905999"/>
              <a:gd name="connsiteX3" fmla="*/ 0 w 2119084"/>
              <a:gd name="connsiteY3" fmla="*/ 9905999 h 9905999"/>
            </a:gdLst>
            <a:ahLst/>
            <a:cxnLst>
              <a:cxn ang="0">
                <a:pos x="connsiteX0" y="connsiteY0"/>
              </a:cxn>
              <a:cxn ang="0">
                <a:pos x="connsiteX1" y="connsiteY1"/>
              </a:cxn>
              <a:cxn ang="0">
                <a:pos x="connsiteX2" y="connsiteY2"/>
              </a:cxn>
              <a:cxn ang="0">
                <a:pos x="connsiteX3" y="connsiteY3"/>
              </a:cxn>
            </a:cxnLst>
            <a:rect l="l" t="t" r="r" b="b"/>
            <a:pathLst>
              <a:path w="2119084" h="9905999">
                <a:moveTo>
                  <a:pt x="0" y="0"/>
                </a:moveTo>
                <a:lnTo>
                  <a:pt x="2119084" y="0"/>
                </a:lnTo>
                <a:lnTo>
                  <a:pt x="2119084" y="9905999"/>
                </a:lnTo>
                <a:lnTo>
                  <a:pt x="0" y="9905999"/>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25" name="Picture 124" descr="A picture containing dark, night sky&#10;&#10;Description automatically generated">
            <a:extLst>
              <a:ext uri="{FF2B5EF4-FFF2-40B4-BE49-F238E27FC236}">
                <a16:creationId xmlns:a16="http://schemas.microsoft.com/office/drawing/2014/main" id="{C3A5B707-C3CA-48F1-A65F-A0F1B5E937CC}"/>
              </a:ext>
            </a:extLst>
          </p:cNvPr>
          <p:cNvPicPr>
            <a:picLocks noChangeAspect="1"/>
          </p:cNvPicPr>
          <p:nvPr userDrawn="1"/>
        </p:nvPicPr>
        <p:blipFill rotWithShape="1">
          <a:blip r:embed="rId3">
            <a:alphaModFix amt="60000"/>
          </a:blip>
          <a:srcRect l="1608" t="46598" b="23299"/>
          <a:stretch/>
        </p:blipFill>
        <p:spPr>
          <a:xfrm rot="5400000" flipH="1" flipV="1">
            <a:off x="845461" y="3893458"/>
            <a:ext cx="9905993" cy="2119084"/>
          </a:xfrm>
          <a:prstGeom prst="rect">
            <a:avLst/>
          </a:prstGeom>
          <a:noFill/>
        </p:spPr>
      </p:pic>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grpSp>
        <p:nvGrpSpPr>
          <p:cNvPr id="58" name="Group 57">
            <a:extLst>
              <a:ext uri="{FF2B5EF4-FFF2-40B4-BE49-F238E27FC236}">
                <a16:creationId xmlns:a16="http://schemas.microsoft.com/office/drawing/2014/main" id="{21EC4E3C-94FF-4DEE-BCA5-6C69C79BF726}"/>
              </a:ext>
            </a:extLst>
          </p:cNvPr>
          <p:cNvGrpSpPr/>
          <p:nvPr userDrawn="1"/>
        </p:nvGrpSpPr>
        <p:grpSpPr>
          <a:xfrm>
            <a:off x="0" y="8408987"/>
            <a:ext cx="6858000" cy="1497013"/>
            <a:chOff x="-2701533" y="4131759"/>
            <a:chExt cx="8821930" cy="2757656"/>
          </a:xfrm>
        </p:grpSpPr>
        <p:cxnSp>
          <p:nvCxnSpPr>
            <p:cNvPr id="59" name="Conector reto 7">
              <a:extLst>
                <a:ext uri="{FF2B5EF4-FFF2-40B4-BE49-F238E27FC236}">
                  <a16:creationId xmlns:a16="http://schemas.microsoft.com/office/drawing/2014/main" id="{36127AE7-5949-4D77-9612-72EB21196D4A}"/>
                </a:ext>
              </a:extLst>
            </p:cNvPr>
            <p:cNvCxnSpPr>
              <a:cxnSpLocks/>
            </p:cNvCxnSpPr>
            <p:nvPr userDrawn="1"/>
          </p:nvCxnSpPr>
          <p:spPr>
            <a:xfrm>
              <a:off x="-2701533" y="5750250"/>
              <a:ext cx="882193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0" name="Conector reto 2">
              <a:extLst>
                <a:ext uri="{FF2B5EF4-FFF2-40B4-BE49-F238E27FC236}">
                  <a16:creationId xmlns:a16="http://schemas.microsoft.com/office/drawing/2014/main" id="{4CE8B0B8-0AF5-462B-9CCC-6E9CFFF38D98}"/>
                </a:ext>
              </a:extLst>
            </p:cNvPr>
            <p:cNvCxnSpPr>
              <a:cxnSpLocks/>
            </p:cNvCxnSpPr>
            <p:nvPr userDrawn="1"/>
          </p:nvCxnSpPr>
          <p:spPr>
            <a:xfrm flipH="1">
              <a:off x="4033407" y="4131759"/>
              <a:ext cx="2086990" cy="275765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317496185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ivisória">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004B1B-6C67-4C40-BA3A-400177C1EF88}"/>
              </a:ext>
            </a:extLst>
          </p:cNvPr>
          <p:cNvSpPr/>
          <p:nvPr userDrawn="1"/>
        </p:nvSpPr>
        <p:spPr>
          <a:xfrm>
            <a:off x="-1" y="0"/>
            <a:ext cx="6858001" cy="20034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F8C7BC6E-B42D-4416-8608-21682D8920A8}"/>
              </a:ext>
            </a:extLst>
          </p:cNvPr>
          <p:cNvGrpSpPr/>
          <p:nvPr userDrawn="1"/>
        </p:nvGrpSpPr>
        <p:grpSpPr>
          <a:xfrm>
            <a:off x="0" y="1188728"/>
            <a:ext cx="6858000" cy="8726315"/>
            <a:chOff x="0" y="-1859272"/>
            <a:chExt cx="6858000" cy="8726315"/>
          </a:xfrm>
        </p:grpSpPr>
        <p:sp>
          <p:nvSpPr>
            <p:cNvPr id="40" name="Rectangle 39">
              <a:extLst>
                <a:ext uri="{FF2B5EF4-FFF2-40B4-BE49-F238E27FC236}">
                  <a16:creationId xmlns:a16="http://schemas.microsoft.com/office/drawing/2014/main" id="{8213840C-2C06-4CAA-815E-6052211F6CA0}"/>
                </a:ext>
              </a:extLst>
            </p:cNvPr>
            <p:cNvSpPr/>
            <p:nvPr userDrawn="1"/>
          </p:nvSpPr>
          <p:spPr>
            <a:xfrm flipH="1" flipV="1">
              <a:off x="0" y="-1859272"/>
              <a:ext cx="6858000" cy="87172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pic>
          <p:nvPicPr>
            <p:cNvPr id="41" name="Picture 40" descr="A picture containing dark, night sky&#10;&#10;Description automatically generated">
              <a:extLst>
                <a:ext uri="{FF2B5EF4-FFF2-40B4-BE49-F238E27FC236}">
                  <a16:creationId xmlns:a16="http://schemas.microsoft.com/office/drawing/2014/main" id="{AACBCC8B-613D-4802-AE5F-7D7D5FE3F250}"/>
                </a:ext>
              </a:extLst>
            </p:cNvPr>
            <p:cNvPicPr>
              <a:picLocks noChangeAspect="1"/>
            </p:cNvPicPr>
            <p:nvPr userDrawn="1"/>
          </p:nvPicPr>
          <p:blipFill rotWithShape="1">
            <a:blip r:embed="rId3">
              <a:alphaModFix amt="49000"/>
            </a:blip>
            <a:srcRect l="11124"/>
            <a:stretch/>
          </p:blipFill>
          <p:spPr>
            <a:xfrm rot="16200000" flipV="1">
              <a:off x="-929638" y="-920592"/>
              <a:ext cx="8717273" cy="6857998"/>
            </a:xfrm>
            <a:prstGeom prst="rect">
              <a:avLst/>
            </a:prstGeom>
          </p:spPr>
        </p:pic>
      </p:gr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accent6"/>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7" name="Rectangle 86">
            <a:extLst>
              <a:ext uri="{FF2B5EF4-FFF2-40B4-BE49-F238E27FC236}">
                <a16:creationId xmlns:a16="http://schemas.microsoft.com/office/drawing/2014/main" id="{07C5F37B-60FC-4C36-9DD3-0AB5A17A75AB}"/>
              </a:ext>
            </a:extLst>
          </p:cNvPr>
          <p:cNvSpPr/>
          <p:nvPr userDrawn="1"/>
        </p:nvSpPr>
        <p:spPr>
          <a:xfrm>
            <a:off x="4086054" y="0"/>
            <a:ext cx="2771946" cy="1188728"/>
          </a:xfrm>
          <a:custGeom>
            <a:avLst/>
            <a:gdLst>
              <a:gd name="connsiteX0" fmla="*/ 0 w 2771946"/>
              <a:gd name="connsiteY0" fmla="*/ 0 h 1188728"/>
              <a:gd name="connsiteX1" fmla="*/ 2771946 w 2771946"/>
              <a:gd name="connsiteY1" fmla="*/ 0 h 1188728"/>
              <a:gd name="connsiteX2" fmla="*/ 2771946 w 2771946"/>
              <a:gd name="connsiteY2" fmla="*/ 1188728 h 1188728"/>
              <a:gd name="connsiteX3" fmla="*/ 0 w 2771946"/>
              <a:gd name="connsiteY3" fmla="*/ 11887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1104900 w 2771946"/>
              <a:gd name="connsiteY3" fmla="*/ 9093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971550 w 2771946"/>
              <a:gd name="connsiteY3" fmla="*/ 1188728 h 1188728"/>
              <a:gd name="connsiteX4" fmla="*/ 0 w 2771946"/>
              <a:gd name="connsiteY4" fmla="*/ 0 h 1188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1946" h="1188728">
                <a:moveTo>
                  <a:pt x="0" y="0"/>
                </a:moveTo>
                <a:lnTo>
                  <a:pt x="2771946" y="0"/>
                </a:lnTo>
                <a:lnTo>
                  <a:pt x="2771946" y="1188728"/>
                </a:lnTo>
                <a:lnTo>
                  <a:pt x="971550" y="1188728"/>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68" name="Group 67">
            <a:extLst>
              <a:ext uri="{FF2B5EF4-FFF2-40B4-BE49-F238E27FC236}">
                <a16:creationId xmlns:a16="http://schemas.microsoft.com/office/drawing/2014/main" id="{17DB0CED-EB9B-40B9-950A-5942CEE89D15}"/>
              </a:ext>
            </a:extLst>
          </p:cNvPr>
          <p:cNvGrpSpPr/>
          <p:nvPr userDrawn="1"/>
        </p:nvGrpSpPr>
        <p:grpSpPr>
          <a:xfrm>
            <a:off x="0" y="0"/>
            <a:ext cx="6858000" cy="3415894"/>
            <a:chOff x="-2701533" y="4114034"/>
            <a:chExt cx="8821930" cy="4701783"/>
          </a:xfrm>
        </p:grpSpPr>
        <p:cxnSp>
          <p:nvCxnSpPr>
            <p:cNvPr id="69" name="Conector reto 7">
              <a:extLst>
                <a:ext uri="{FF2B5EF4-FFF2-40B4-BE49-F238E27FC236}">
                  <a16:creationId xmlns:a16="http://schemas.microsoft.com/office/drawing/2014/main" id="{7C215890-47CA-4535-A28E-F0D8639CAF52}"/>
                </a:ext>
              </a:extLst>
            </p:cNvPr>
            <p:cNvCxnSpPr>
              <a:cxnSpLocks/>
            </p:cNvCxnSpPr>
            <p:nvPr userDrawn="1"/>
          </p:nvCxnSpPr>
          <p:spPr>
            <a:xfrm>
              <a:off x="-2701533" y="5741510"/>
              <a:ext cx="882193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1" name="Conector reto 2">
              <a:extLst>
                <a:ext uri="{FF2B5EF4-FFF2-40B4-BE49-F238E27FC236}">
                  <a16:creationId xmlns:a16="http://schemas.microsoft.com/office/drawing/2014/main" id="{C9C6FAA6-86BF-4151-9C12-9A001DB12D56}"/>
                </a:ext>
              </a:extLst>
            </p:cNvPr>
            <p:cNvCxnSpPr>
              <a:cxnSpLocks/>
            </p:cNvCxnSpPr>
            <p:nvPr userDrawn="1"/>
          </p:nvCxnSpPr>
          <p:spPr>
            <a:xfrm flipH="1" flipV="1">
              <a:off x="2562094" y="4114034"/>
              <a:ext cx="3558302" cy="4701783"/>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9" name="Text Placeholder 40">
            <a:extLst>
              <a:ext uri="{FF2B5EF4-FFF2-40B4-BE49-F238E27FC236}">
                <a16:creationId xmlns:a16="http://schemas.microsoft.com/office/drawing/2014/main" id="{91D72DC1-72BB-4D90-888F-230C2490908D}"/>
              </a:ext>
            </a:extLst>
          </p:cNvPr>
          <p:cNvSpPr>
            <a:spLocks noGrp="1"/>
          </p:cNvSpPr>
          <p:nvPr>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7329305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 name="Date Placeholder 6">
            <a:extLst>
              <a:ext uri="{FF2B5EF4-FFF2-40B4-BE49-F238E27FC236}">
                <a16:creationId xmlns:a16="http://schemas.microsoft.com/office/drawing/2014/main" id="{ABC290B6-06C0-D618-F1C8-136467B3F1EB}"/>
              </a:ext>
            </a:extLst>
          </p:cNvPr>
          <p:cNvSpPr>
            <a:spLocks noGrp="1"/>
          </p:cNvSpPr>
          <p:nvPr>
            <p:ph type="dt" sz="half" idx="2"/>
          </p:nvPr>
        </p:nvSpPr>
        <p:spPr>
          <a:xfrm>
            <a:off x="3957639" y="438763"/>
            <a:ext cx="2532062" cy="184666"/>
          </a:xfrm>
          <a:prstGeom prst="rect">
            <a:avLst/>
          </a:prstGeom>
        </p:spPr>
        <p:txBody>
          <a:bodyPr/>
          <a:lstStyle/>
          <a:p>
            <a:r>
              <a:rPr lang="en-US" dirty="0"/>
              <a:t>August 2024</a:t>
            </a:r>
          </a:p>
        </p:txBody>
      </p:sp>
      <p:pic>
        <p:nvPicPr>
          <p:cNvPr id="3" name="Graphic 2" descr="Home outline">
            <a:hlinkClick r:id="rId3" action="ppaction://hlinksldjump"/>
            <a:extLst>
              <a:ext uri="{FF2B5EF4-FFF2-40B4-BE49-F238E27FC236}">
                <a16:creationId xmlns:a16="http://schemas.microsoft.com/office/drawing/2014/main" id="{3D7A87B0-F938-BF24-5559-949B1AB3E9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21399" y="9569081"/>
            <a:ext cx="152400" cy="152400"/>
          </a:xfrm>
          <a:prstGeom prst="rect">
            <a:avLst/>
          </a:prstGeom>
        </p:spPr>
      </p:pic>
    </p:spTree>
    <p:extLst>
      <p:ext uri="{BB962C8B-B14F-4D97-AF65-F5344CB8AC3E}">
        <p14:creationId xmlns:p14="http://schemas.microsoft.com/office/powerpoint/2010/main" val="10473443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0984482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14619661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7274909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79514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20186970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2299077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6498569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94903445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334782"/>
            <a:ext cx="6858000" cy="3811729"/>
          </a:xfrm>
          <a:prstGeom prst="rect">
            <a:avLst/>
          </a:prstGeom>
          <a:gradFill flip="none" rotWithShape="1">
            <a:gsLst>
              <a:gs pos="100000">
                <a:srgbClr val="000000"/>
              </a:gs>
              <a:gs pos="23000">
                <a:schemeClr val="accent1">
                  <a:lumMod val="90000"/>
                  <a:lumOff val="10000"/>
                  <a:alpha val="44583"/>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2026 </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2812007"/>
            <a:chOff x="690334" y="6167857"/>
            <a:chExt cx="5562175" cy="2812007"/>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2700103" y="6170730"/>
              <a:ext cx="3552406" cy="2805906"/>
              <a:chOff x="2655857" y="6170730"/>
              <a:chExt cx="3552406" cy="2805906"/>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danniela.eiger@xpi.com.br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Danniela Eiger, CFA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Retail </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lucas.laghi@xpi.com.br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Laghi</a:t>
                </a:r>
              </a:p>
            </p:txBody>
          </p:sp>
          <p:sp>
            <p:nvSpPr>
              <p:cNvPr id="100" name="Text Placeholder 40">
                <a:extLst>
                  <a:ext uri="{FF2B5EF4-FFF2-40B4-BE49-F238E27FC236}">
                    <a16:creationId xmlns:a16="http://schemas.microsoft.com/office/drawing/2014/main" id="{84EBE237-557B-36DF-1D51-2763CFE9AD6E}"/>
                  </a:ext>
                </a:extLst>
              </p:cNvPr>
              <p:cNvSpPr txBox="1">
                <a:spLocks/>
              </p:cNvSpPr>
              <p:nvPr userDrawn="1"/>
            </p:nvSpPr>
            <p:spPr>
              <a:xfrm>
                <a:off x="4624263"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M&amp;M, P&amp;P and Capital Goods</a:t>
                </a:r>
              </a:p>
            </p:txBody>
          </p:sp>
          <p:sp>
            <p:nvSpPr>
              <p:cNvPr id="101" name="Text Placeholder 40">
                <a:extLst>
                  <a:ext uri="{FF2B5EF4-FFF2-40B4-BE49-F238E27FC236}">
                    <a16:creationId xmlns:a16="http://schemas.microsoft.com/office/drawing/2014/main" id="{3DA42E84-0A44-9963-8D53-A44FECA3A150}"/>
                  </a:ext>
                </a:extLst>
              </p:cNvPr>
              <p:cNvSpPr txBox="1">
                <a:spLocks/>
              </p:cNvSpPr>
              <p:nvPr/>
            </p:nvSpPr>
            <p:spPr>
              <a:xfrm>
                <a:off x="2655857" y="88544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ygor.altero@xpi.com.br</a:t>
                </a:r>
              </a:p>
            </p:txBody>
          </p:sp>
          <p:sp>
            <p:nvSpPr>
              <p:cNvPr id="102" name="Text Placeholder 40">
                <a:extLst>
                  <a:ext uri="{FF2B5EF4-FFF2-40B4-BE49-F238E27FC236}">
                    <a16:creationId xmlns:a16="http://schemas.microsoft.com/office/drawing/2014/main" id="{0D6151C3-43C0-8734-54A3-EA863B11FC46}"/>
                  </a:ext>
                </a:extLst>
              </p:cNvPr>
              <p:cNvSpPr txBox="1">
                <a:spLocks/>
              </p:cNvSpPr>
              <p:nvPr/>
            </p:nvSpPr>
            <p:spPr>
              <a:xfrm>
                <a:off x="2655857"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Ygor Altero</a:t>
                </a:r>
              </a:p>
            </p:txBody>
          </p:sp>
          <p:sp>
            <p:nvSpPr>
              <p:cNvPr id="103" name="Text Placeholder 40">
                <a:extLst>
                  <a:ext uri="{FF2B5EF4-FFF2-40B4-BE49-F238E27FC236}">
                    <a16:creationId xmlns:a16="http://schemas.microsoft.com/office/drawing/2014/main" id="{FADD56D8-9C9B-A458-02E5-7BC6132052A1}"/>
                  </a:ext>
                </a:extLst>
              </p:cNvPr>
              <p:cNvSpPr txBox="1">
                <a:spLocks/>
              </p:cNvSpPr>
              <p:nvPr/>
            </p:nvSpPr>
            <p:spPr>
              <a:xfrm>
                <a:off x="2655857" y="87158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Real Estate</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690334" y="6170730"/>
              <a:ext cx="5562175" cy="2809134"/>
              <a:chOff x="640420" y="6170730"/>
              <a:chExt cx="5562175" cy="2809134"/>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bernardo.guttmann@xpi.com.br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Bernardo Guttmann</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TMT, Banks &amp; Non-Bank Financials</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leonardo.alencar@xpi.com.br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Leonardo Alencar</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Agri, Food and Beverages</a:t>
                </a:r>
              </a:p>
            </p:txBody>
          </p:sp>
          <p:sp>
            <p:nvSpPr>
              <p:cNvPr id="47" name="Text Placeholder 40">
                <a:extLst>
                  <a:ext uri="{FF2B5EF4-FFF2-40B4-BE49-F238E27FC236}">
                    <a16:creationId xmlns:a16="http://schemas.microsoft.com/office/drawing/2014/main" id="{512DE68A-FDFE-7D87-805D-74CD2C2C5CA5}"/>
                  </a:ext>
                </a:extLst>
              </p:cNvPr>
              <p:cNvSpPr txBox="1">
                <a:spLocks/>
              </p:cNvSpPr>
              <p:nvPr/>
            </p:nvSpPr>
            <p:spPr>
              <a:xfrm>
                <a:off x="2654374" y="806170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pedro.bruno@xpi.com.br</a:t>
                </a:r>
              </a:p>
            </p:txBody>
          </p:sp>
          <p:sp>
            <p:nvSpPr>
              <p:cNvPr id="48" name="Text Placeholder 40">
                <a:extLst>
                  <a:ext uri="{FF2B5EF4-FFF2-40B4-BE49-F238E27FC236}">
                    <a16:creationId xmlns:a16="http://schemas.microsoft.com/office/drawing/2014/main" id="{7678BDCB-4457-63A3-857C-C81637AA836D}"/>
                  </a:ext>
                </a:extLst>
              </p:cNvPr>
              <p:cNvSpPr txBox="1">
                <a:spLocks/>
              </p:cNvSpPr>
              <p:nvPr/>
            </p:nvSpPr>
            <p:spPr>
              <a:xfrm>
                <a:off x="265437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Pedro Bruno</a:t>
                </a:r>
              </a:p>
            </p:txBody>
          </p:sp>
          <p:sp>
            <p:nvSpPr>
              <p:cNvPr id="49" name="Text Placeholder 40">
                <a:extLst>
                  <a:ext uri="{FF2B5EF4-FFF2-40B4-BE49-F238E27FC236}">
                    <a16:creationId xmlns:a16="http://schemas.microsoft.com/office/drawing/2014/main" id="{967C79C3-AD5B-4EA5-4C37-B0B84D1658F9}"/>
                  </a:ext>
                </a:extLst>
              </p:cNvPr>
              <p:cNvSpPr txBox="1">
                <a:spLocks/>
              </p:cNvSpPr>
              <p:nvPr/>
            </p:nvSpPr>
            <p:spPr>
              <a:xfrm>
                <a:off x="2654374" y="792310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Transportation</a:t>
                </a:r>
              </a:p>
            </p:txBody>
          </p:sp>
          <p:sp>
            <p:nvSpPr>
              <p:cNvPr id="50" name="Text Placeholder 40">
                <a:extLst>
                  <a:ext uri="{FF2B5EF4-FFF2-40B4-BE49-F238E27FC236}">
                    <a16:creationId xmlns:a16="http://schemas.microsoft.com/office/drawing/2014/main" id="{5DEC57DD-D426-8AD4-B531-4263A27E06C4}"/>
                  </a:ext>
                </a:extLst>
              </p:cNvPr>
              <p:cNvSpPr txBox="1">
                <a:spLocks/>
              </p:cNvSpPr>
              <p:nvPr/>
            </p:nvSpPr>
            <p:spPr>
              <a:xfrm>
                <a:off x="640420" y="885767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regis.cardoso@xpi.com.br</a:t>
                </a:r>
              </a:p>
            </p:txBody>
          </p:sp>
          <p:sp>
            <p:nvSpPr>
              <p:cNvPr id="51" name="Text Placeholder 40">
                <a:extLst>
                  <a:ext uri="{FF2B5EF4-FFF2-40B4-BE49-F238E27FC236}">
                    <a16:creationId xmlns:a16="http://schemas.microsoft.com/office/drawing/2014/main" id="{49C7A915-39A6-DEDB-772E-85472EC1063D}"/>
                  </a:ext>
                </a:extLst>
              </p:cNvPr>
              <p:cNvSpPr txBox="1">
                <a:spLocks/>
              </p:cNvSpPr>
              <p:nvPr/>
            </p:nvSpPr>
            <p:spPr>
              <a:xfrm>
                <a:off x="640420"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Regis Cardoso, CFA</a:t>
                </a:r>
              </a:p>
            </p:txBody>
          </p:sp>
          <p:sp>
            <p:nvSpPr>
              <p:cNvPr id="52" name="Text Placeholder 40">
                <a:extLst>
                  <a:ext uri="{FF2B5EF4-FFF2-40B4-BE49-F238E27FC236}">
                    <a16:creationId xmlns:a16="http://schemas.microsoft.com/office/drawing/2014/main" id="{4833A01E-4ED1-62B4-0181-A3A2F7856B55}"/>
                  </a:ext>
                </a:extLst>
              </p:cNvPr>
              <p:cNvSpPr txBox="1">
                <a:spLocks/>
              </p:cNvSpPr>
              <p:nvPr/>
            </p:nvSpPr>
            <p:spPr>
              <a:xfrm>
                <a:off x="640420" y="871908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Oil, Gas &amp; Petrochemicals</a:t>
                </a:r>
              </a:p>
            </p:txBody>
          </p:sp>
          <p:sp>
            <p:nvSpPr>
              <p:cNvPr id="84" name="Text Placeholder 40">
                <a:extLst>
                  <a:ext uri="{FF2B5EF4-FFF2-40B4-BE49-F238E27FC236}">
                    <a16:creationId xmlns:a16="http://schemas.microsoft.com/office/drawing/2014/main" id="{259F3F8B-8C62-84D3-58AF-A8983C8F3F6C}"/>
                  </a:ext>
                </a:extLst>
              </p:cNvPr>
              <p:cNvSpPr txBox="1">
                <a:spLocks/>
              </p:cNvSpPr>
              <p:nvPr userDrawn="1"/>
            </p:nvSpPr>
            <p:spPr>
              <a:xfrm>
                <a:off x="4618595" y="8060365"/>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raul.cavendish@xpi.com.br</a:t>
                </a:r>
              </a:p>
            </p:txBody>
          </p:sp>
          <p:sp>
            <p:nvSpPr>
              <p:cNvPr id="85" name="Text Placeholder 40">
                <a:extLst>
                  <a:ext uri="{FF2B5EF4-FFF2-40B4-BE49-F238E27FC236}">
                    <a16:creationId xmlns:a16="http://schemas.microsoft.com/office/drawing/2014/main" id="{7FC81C72-4AD9-902F-10AF-491D9E0E7F2C}"/>
                  </a:ext>
                </a:extLst>
              </p:cNvPr>
              <p:cNvSpPr txBox="1">
                <a:spLocks/>
              </p:cNvSpPr>
              <p:nvPr userDrawn="1"/>
            </p:nvSpPr>
            <p:spPr>
              <a:xfrm>
                <a:off x="4618595" y="776751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US" sz="900" dirty="0"/>
                  <a:t>Raul Cavendish</a:t>
                </a:r>
                <a:endParaRPr lang="en-029" sz="900" dirty="0"/>
              </a:p>
            </p:txBody>
          </p:sp>
          <p:sp>
            <p:nvSpPr>
              <p:cNvPr id="86" name="Text Placeholder 40">
                <a:extLst>
                  <a:ext uri="{FF2B5EF4-FFF2-40B4-BE49-F238E27FC236}">
                    <a16:creationId xmlns:a16="http://schemas.microsoft.com/office/drawing/2014/main" id="{A1D1DD3D-4DFD-FB52-4592-4D67EE714005}"/>
                  </a:ext>
                </a:extLst>
              </p:cNvPr>
              <p:cNvSpPr txBox="1">
                <a:spLocks/>
              </p:cNvSpPr>
              <p:nvPr userDrawn="1"/>
            </p:nvSpPr>
            <p:spPr>
              <a:xfrm>
                <a:off x="4618595" y="7921773"/>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Utilities</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2019257"/>
              <a:chOff x="690334" y="6167857"/>
              <a:chExt cx="1728765" cy="2019257"/>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gustavo.tiseo@xpi.com.br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Gustavo Tiseo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Healthcare &amp; Education </a:t>
                </a:r>
              </a:p>
            </p:txBody>
          </p:sp>
          <p:sp>
            <p:nvSpPr>
              <p:cNvPr id="35" name="Text Placeholder 40">
                <a:extLst>
                  <a:ext uri="{FF2B5EF4-FFF2-40B4-BE49-F238E27FC236}">
                    <a16:creationId xmlns:a16="http://schemas.microsoft.com/office/drawing/2014/main" id="{CCC4812A-9CF2-1EA4-EE1A-A99EDBDA6042}"/>
                  </a:ext>
                </a:extLst>
              </p:cNvPr>
              <p:cNvSpPr txBox="1">
                <a:spLocks/>
              </p:cNvSpPr>
              <p:nvPr/>
            </p:nvSpPr>
            <p:spPr>
              <a:xfrm>
                <a:off x="690334" y="806492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marcella.ungaretti@xpi.com.br</a:t>
                </a:r>
              </a:p>
            </p:txBody>
          </p:sp>
          <p:sp>
            <p:nvSpPr>
              <p:cNvPr id="36" name="Text Placeholder 40">
                <a:extLst>
                  <a:ext uri="{FF2B5EF4-FFF2-40B4-BE49-F238E27FC236}">
                    <a16:creationId xmlns:a16="http://schemas.microsoft.com/office/drawing/2014/main" id="{9E5B5D5D-401B-44B6-97E4-FEA442A8F0C9}"/>
                  </a:ext>
                </a:extLst>
              </p:cNvPr>
              <p:cNvSpPr txBox="1">
                <a:spLocks/>
              </p:cNvSpPr>
              <p:nvPr/>
            </p:nvSpPr>
            <p:spPr>
              <a:xfrm>
                <a:off x="69033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Marcella Ungaretti</a:t>
                </a:r>
              </a:p>
            </p:txBody>
          </p:sp>
          <p:sp>
            <p:nvSpPr>
              <p:cNvPr id="37" name="Text Placeholder 40">
                <a:extLst>
                  <a:ext uri="{FF2B5EF4-FFF2-40B4-BE49-F238E27FC236}">
                    <a16:creationId xmlns:a16="http://schemas.microsoft.com/office/drawing/2014/main" id="{DC51C26E-A699-E20E-0BB2-94C6F9F8A429}"/>
                  </a:ext>
                </a:extLst>
              </p:cNvPr>
              <p:cNvSpPr txBox="1">
                <a:spLocks/>
              </p:cNvSpPr>
              <p:nvPr/>
            </p:nvSpPr>
            <p:spPr>
              <a:xfrm>
                <a:off x="690334" y="792633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Research ESG</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 &amp; Head of Research</a:t>
                </a:r>
              </a:p>
            </p:txBody>
          </p:sp>
        </p:grpSp>
      </p:grpSp>
      <p:pic>
        <p:nvPicPr>
          <p:cNvPr id="19" name="Graphic 18">
            <a:extLst>
              <a:ext uri="{FF2B5EF4-FFF2-40B4-BE49-F238E27FC236}">
                <a16:creationId xmlns:a16="http://schemas.microsoft.com/office/drawing/2014/main" id="{A5AE8D2B-C1EF-9E23-E643-103EF20FCC6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36782"/>
            <a:ext cx="3720831" cy="844531"/>
          </a:xfrm>
          <a:prstGeom prst="rect">
            <a:avLst/>
          </a:prstGeom>
        </p:spPr>
      </p:pic>
    </p:spTree>
    <p:extLst>
      <p:ext uri="{BB962C8B-B14F-4D97-AF65-F5344CB8AC3E}">
        <p14:creationId xmlns:p14="http://schemas.microsoft.com/office/powerpoint/2010/main" val="2967101053"/>
      </p:ext>
    </p:extLst>
  </p:cSld>
  <p:clrMapOvr>
    <a:masterClrMapping/>
  </p:clrMapOvr>
  <p:extLst>
    <p:ext uri="{DCECCB84-F9BA-43D5-87BE-67443E8EF086}">
      <p15:sldGuideLst xmlns:p15="http://schemas.microsoft.com/office/powerpoint/2012/main">
        <p15:guide id="1" pos="436">
          <p15:clr>
            <a:srgbClr val="FBAE40"/>
          </p15:clr>
        </p15:guide>
        <p15:guide id="2" pos="3861">
          <p15:clr>
            <a:srgbClr val="FBAE40"/>
          </p15:clr>
        </p15:guide>
        <p15:guide id="3" orient="horz" pos="5637">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55739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0709829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2114430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57266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167244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78943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8325001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77340905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0927455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5556782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43580377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747929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60376765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9212223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6654615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380492278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528700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38201896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2870195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227040304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slideLayout" Target="../slideLayouts/slideLayout37.xml"/><Relationship Id="rId16" Type="http://schemas.openxmlformats.org/officeDocument/2006/relationships/slideLayout" Target="../slideLayouts/slideLayout38.xml"/><Relationship Id="rId17" Type="http://schemas.openxmlformats.org/officeDocument/2006/relationships/slideLayout" Target="../slideLayouts/slideLayout39.xml"/><Relationship Id="rId18"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43" r:id="rId1"/>
    <p:sldLayoutId id="2147483676" r:id="rId2"/>
    <p:sldLayoutId id="2147483700" r:id="rId3"/>
    <p:sldLayoutId id="2147483706" r:id="rId4"/>
    <p:sldLayoutId id="2147483707" r:id="rId5"/>
    <p:sldLayoutId id="2147483708" r:id="rId6"/>
    <p:sldLayoutId id="2147483709" r:id="rId7"/>
    <p:sldLayoutId id="2147483744" r:id="rId8"/>
    <p:sldLayoutId id="2147483745" r:id="rId9"/>
    <p:sldLayoutId id="2147483746" r:id="rId10"/>
    <p:sldLayoutId id="2147483747" r:id="rId11"/>
    <p:sldLayoutId id="2147483699" r:id="rId12"/>
    <p:sldLayoutId id="2147483697" r:id="rId13"/>
    <p:sldLayoutId id="2147483695" r:id="rId14"/>
    <p:sldLayoutId id="2147483696" r:id="rId15"/>
    <p:sldLayoutId id="2147483694" r:id="rId16"/>
    <p:sldLayoutId id="2147483698" r:id="rId17"/>
    <p:sldLayoutId id="2147483710" r:id="rId18"/>
    <p:sldLayoutId id="2147483702" r:id="rId19"/>
    <p:sldLayoutId id="2147483701" r:id="rId20"/>
    <p:sldLayoutId id="2147483748" r:id="rId21"/>
    <p:sldLayoutId id="2147483749" r:id="rId22"/>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r>
              <a:rPr lang="en-US" dirty="0"/>
              <a:t>August 2024</a:t>
            </a:r>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4207476649"/>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37791007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 Target="slide5.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26.xml"/><Relationship Id="rId7" Type="http://schemas.openxmlformats.org/officeDocument/2006/relationships/slide" Target="slide15.xml"/><Relationship Id="rId8" Type="http://schemas.openxmlformats.org/officeDocument/2006/relationships/slide" Target="slide24.xml"/><Relationship Id="rId9" Type="http://schemas.openxmlformats.org/officeDocument/2006/relationships/slide" Target="slide11.xml"/><Relationship Id="rId10" Type="http://schemas.openxmlformats.org/officeDocument/2006/relationships/slide" Target="slide13.xml"/><Relationship Id="rId11" Type="http://schemas.openxmlformats.org/officeDocument/2006/relationships/slide" Target="slide8.xml"/><Relationship Id="rId12" Type="http://schemas.openxmlformats.org/officeDocument/2006/relationships/slide" Target="slide12.xml"/><Relationship Id="rId13" Type="http://schemas.openxmlformats.org/officeDocument/2006/relationships/slide" Target="slide14.xml"/><Relationship Id="rId14" Type="http://schemas.openxmlformats.org/officeDocument/2006/relationships/slide" Target="slide9.xml"/><Relationship Id="rId15" Type="http://schemas.openxmlformats.org/officeDocument/2006/relationships/slide" Target="slide10.xml"/><Relationship Id="rId16" Type="http://schemas.openxmlformats.org/officeDocument/2006/relationships/slide" Target="slide2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20250807_XP+Pulp+%26+Paper+Weekly+Tracker.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1F11C30-02BA-8F3F-FF3D-F4C01C54F8AE}"/>
              </a:ext>
            </a:extLst>
          </p:cNvPr>
          <p:cNvSpPr>
            <a:spLocks noGrp="1"/>
          </p:cNvSpPr>
          <p:nvPr>
            <p:ph type="body" sz="quarter" idx="12"/>
          </p:nvPr>
        </p:nvSpPr>
        <p:spPr>
          <a:xfrm>
            <a:off x="571489" y="5116934"/>
            <a:ext cx="5337375" cy="458908"/>
          </a:xfrm>
        </p:spPr>
        <p:txBody>
          <a:bodyPr/>
          <a:lstStyle/>
          <a:p>
            <a:r>
              <a:rPr lang="pt-BR" dirty="0"/>
              <a:t>Feedback</a:t>
            </a:r>
          </a:p>
        </p:txBody>
      </p:sp>
    </p:spTree>
    <p:extLst>
      <p:ext uri="{BB962C8B-B14F-4D97-AF65-F5344CB8AC3E}">
        <p14:creationId xmlns:p14="http://schemas.microsoft.com/office/powerpoint/2010/main" val="136323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9C7A-01A2-EE9C-C3A2-17FF9D88F893}"/>
            </a:ext>
          </a:extLst>
        </p:cNvPr>
        <p:cNvGrpSpPr/>
        <p:nvPr/>
      </p:nvGrpSpPr>
      <p:grpSpPr>
        <a:xfrm>
          <a:off x="0" y="0"/>
          <a:ext cx="0" cy="0"/>
          <a:chOff x="0" y="0"/>
          <a:chExt cx="0" cy="0"/>
        </a:xfrm>
      </p:grpSpPr>
      <p:sp>
        <p:nvSpPr>
          <p:cNvPr id="46" name="Text Placeholder 45">
            <a:extLst>
              <a:ext uri="{FF2B5EF4-FFF2-40B4-BE49-F238E27FC236}">
                <a16:creationId xmlns:a16="http://schemas.microsoft.com/office/drawing/2014/main" id="{2166C17B-07B8-8297-2D23-FFBF6C1797BF}"/>
              </a:ext>
            </a:extLst>
          </p:cNvPr>
          <p:cNvSpPr>
            <a:spLocks noGrp="1"/>
          </p:cNvSpPr>
          <p:nvPr>
            <p:ph type="body" sz="quarter" idx="26"/>
          </p:nvPr>
        </p:nvSpPr>
        <p:spPr/>
        <p:txBody>
          <a:bodyPr/>
          <a:lstStyle/>
          <a:p>
            <a:endParaRPr lang="pt-BR"/>
          </a:p>
        </p:txBody>
      </p:sp>
      <p:sp>
        <p:nvSpPr>
          <p:cNvPr id="45" name="Text Placeholder 44">
            <a:extLst>
              <a:ext uri="{FF2B5EF4-FFF2-40B4-BE49-F238E27FC236}">
                <a16:creationId xmlns:a16="http://schemas.microsoft.com/office/drawing/2014/main" id="{C4F1405C-EDBB-FD65-32B5-3F800B23D450}"/>
              </a:ext>
            </a:extLst>
          </p:cNvPr>
          <p:cNvSpPr>
            <a:spLocks noGrp="1"/>
          </p:cNvSpPr>
          <p:nvPr>
            <p:ph type="body" sz="quarter" idx="23"/>
          </p:nvPr>
        </p:nvSpPr>
        <p:spPr>
          <a:xfrm>
            <a:off x="390154" y="3692523"/>
            <a:ext cx="3734170" cy="5761039"/>
          </a:xfrm>
        </p:spPr>
        <p:txBody>
          <a:bodyPr/>
          <a:lstStyle/>
          <a:p>
            <a:r>
              <a:rPr lang="en-US" b="1" dirty="0"/>
              <a:t>The 2</a:t>
            </a:r>
            <a:r>
              <a:rPr lang="en-US" b="1" baseline="30000" dirty="0"/>
              <a:t>nd</a:t>
            </a:r>
            <a:r>
              <a:rPr lang="en-US" b="1" dirty="0"/>
              <a:t> edition of our Brazil CEO Conference</a:t>
            </a:r>
            <a:endParaRPr lang="pt-BR" dirty="0"/>
          </a:p>
          <a:p>
            <a:r>
              <a:rPr lang="en-US" dirty="0"/>
              <a:t>We just finished the 2</a:t>
            </a:r>
            <a:r>
              <a:rPr lang="en-US" baseline="30000" dirty="0"/>
              <a:t>nd</a:t>
            </a:r>
            <a:r>
              <a:rPr lang="en-US" dirty="0"/>
              <a:t> edition of our Brazil CEO Conference in Rio de Janeiro, hosting over 80 corporates and 400 investors, in nearly 500 one-on-one and group meetings. In this report, we gather all the feedback from our sector analyst teams, on a consolidated format. </a:t>
            </a:r>
            <a:endParaRPr lang="pt-BR" dirty="0"/>
          </a:p>
          <a:p>
            <a:r>
              <a:rPr lang="en-US" b="1" dirty="0"/>
              <a:t>A more mixed investor feedback</a:t>
            </a:r>
            <a:endParaRPr lang="pt-BR" dirty="0"/>
          </a:p>
          <a:p>
            <a:r>
              <a:rPr lang="en-US" dirty="0"/>
              <a:t>In late May, our XP Sentiment Indicator reached extreme optimism levels, at 100 (from 0-100), after the strong rally seen in Brazil. Since then, a lot has happened, but the key development was the 50% tariff announcement to Brazil from the US in early July, and the tension escalations between the two governments since. This included the removal of visas to Brazilian authorities and the inclusion of a Brazilian Justice on the Magnitsky law, enacting US sanctions. As a result, we’ve seen increased volatility on Brazilian assets, and our Sentiment Indicator retraced to Neutral levels at 36 currently. </a:t>
            </a:r>
            <a:endParaRPr lang="pt-BR" dirty="0"/>
          </a:p>
          <a:p>
            <a:r>
              <a:rPr lang="en-US" dirty="0"/>
              <a:t>The key driver behind the strong rally in H1 for Brazilian equities were foreign inflows, which reached over R$30bn until June. Since then, we’ve seen nearly R$24bn of outflows on the cash and futures markets from foreigners, which has nearly zeroed the foreign inflows in 2025. </a:t>
            </a:r>
          </a:p>
          <a:p>
            <a:r>
              <a:rPr lang="en-US" dirty="0"/>
              <a:t>As a result, we observed that this was one of the key discussion topics amongst investors during the conference. </a:t>
            </a:r>
          </a:p>
          <a:p>
            <a:r>
              <a:rPr lang="pt-BR" b="1" dirty="0" err="1"/>
              <a:t>An</a:t>
            </a:r>
            <a:r>
              <a:rPr lang="pt-BR" b="1" dirty="0"/>
              <a:t> </a:t>
            </a:r>
            <a:r>
              <a:rPr lang="pt-BR" b="1" dirty="0" err="1"/>
              <a:t>economic</a:t>
            </a:r>
            <a:r>
              <a:rPr lang="pt-BR" b="1" dirty="0"/>
              <a:t> </a:t>
            </a:r>
            <a:r>
              <a:rPr lang="pt-BR" b="1" dirty="0" err="1"/>
              <a:t>slowdown</a:t>
            </a:r>
            <a:r>
              <a:rPr lang="pt-BR" b="1" dirty="0"/>
              <a:t> in H2 – a positive </a:t>
            </a:r>
            <a:r>
              <a:rPr lang="pt-BR" b="1" dirty="0" err="1"/>
              <a:t>or</a:t>
            </a:r>
            <a:r>
              <a:rPr lang="pt-BR" b="1" dirty="0"/>
              <a:t> negative for </a:t>
            </a:r>
            <a:r>
              <a:rPr lang="pt-BR" b="1" dirty="0" err="1"/>
              <a:t>equities</a:t>
            </a:r>
            <a:r>
              <a:rPr lang="pt-BR" b="1" dirty="0"/>
              <a:t>?</a:t>
            </a:r>
          </a:p>
          <a:p>
            <a:r>
              <a:rPr lang="en-US" dirty="0"/>
              <a:t>Amongst the corporates, the key discussion point was the potential for an economic slowdown in H2 impacting earnings. In addition, as interest rates still remain high, highly levered companies and/or companies that rely on credit still seem to be suffering more. We saw some sectors still firing on all cylinders (low-income homebuilders), while others with still a positive message but with some caution ahead (banks, retailers) and others sectors more dependent on credit or sensitive to rates (transportation). </a:t>
            </a:r>
          </a:p>
          <a:p>
            <a:endParaRPr lang="pt-BR" dirty="0"/>
          </a:p>
          <a:p>
            <a:endParaRPr lang="pt-BR" dirty="0"/>
          </a:p>
          <a:p>
            <a:endParaRPr lang="pt-BR" dirty="0"/>
          </a:p>
        </p:txBody>
      </p:sp>
      <p:sp>
        <p:nvSpPr>
          <p:cNvPr id="43" name="Text Placeholder 42">
            <a:extLst>
              <a:ext uri="{FF2B5EF4-FFF2-40B4-BE49-F238E27FC236}">
                <a16:creationId xmlns:a16="http://schemas.microsoft.com/office/drawing/2014/main" id="{38ACA1BA-BE2A-01E2-EA9E-5408B6B7019F}"/>
              </a:ext>
            </a:extLst>
          </p:cNvPr>
          <p:cNvSpPr>
            <a:spLocks noGrp="1"/>
          </p:cNvSpPr>
          <p:nvPr>
            <p:ph type="body" sz="quarter" idx="20"/>
          </p:nvPr>
        </p:nvSpPr>
        <p:spPr/>
        <p:txBody>
          <a:bodyPr/>
          <a:lstStyle/>
          <a:p>
            <a:r>
              <a:rPr lang="en-US" dirty="0"/>
              <a:t>We just finished the 2</a:t>
            </a:r>
            <a:r>
              <a:rPr lang="en-US" baseline="30000" dirty="0"/>
              <a:t>nd</a:t>
            </a:r>
            <a:r>
              <a:rPr lang="en-US" dirty="0"/>
              <a:t> edition of our Brazil CEO Conference in Rio de Janeiro, hosting over 80 corporates and 400 investors, in nearly 500 one-on-one and group meetings. The mood was still optimistic amongst investors, though definitely more cautious relative to a few months ago, especially considering the recent escalations with the US and how it’s impacting investor sentiment and flows. On the corporate side, we also saw more nuanced feedback, with some sectors still firing on all cylinders (low-income homebuilders), while others with still a positive message but with some caution ahead (banks, retailers) and other sectors more dependent on credit or sensitive to rates (transportation).  </a:t>
            </a:r>
            <a:endParaRPr lang="pt-BR" dirty="0"/>
          </a:p>
          <a:p>
            <a:endParaRPr lang="pt-BR" dirty="0"/>
          </a:p>
        </p:txBody>
      </p:sp>
      <p:sp>
        <p:nvSpPr>
          <p:cNvPr id="41" name="Text Placeholder 40">
            <a:extLst>
              <a:ext uri="{FF2B5EF4-FFF2-40B4-BE49-F238E27FC236}">
                <a16:creationId xmlns:a16="http://schemas.microsoft.com/office/drawing/2014/main" id="{366ABCAD-9E65-0650-EAE0-702410CE0F91}"/>
              </a:ext>
            </a:extLst>
          </p:cNvPr>
          <p:cNvSpPr>
            <a:spLocks noGrp="1"/>
          </p:cNvSpPr>
          <p:nvPr>
            <p:ph type="body" sz="quarter" idx="16"/>
          </p:nvPr>
        </p:nvSpPr>
        <p:spPr/>
        <p:txBody>
          <a:bodyPr/>
          <a:lstStyle/>
          <a:p>
            <a:r>
              <a:rPr lang="en-US" dirty="0"/>
              <a:t>XP’s Brazil CEO Conference feedback</a:t>
            </a:r>
            <a:endParaRPr lang="pt-BR" dirty="0"/>
          </a:p>
        </p:txBody>
      </p:sp>
      <p:sp>
        <p:nvSpPr>
          <p:cNvPr id="42" name="Text Placeholder 41">
            <a:extLst>
              <a:ext uri="{FF2B5EF4-FFF2-40B4-BE49-F238E27FC236}">
                <a16:creationId xmlns:a16="http://schemas.microsoft.com/office/drawing/2014/main" id="{A7D62C62-9BCD-D908-FA06-E2F3011A88DA}"/>
              </a:ext>
            </a:extLst>
          </p:cNvPr>
          <p:cNvSpPr>
            <a:spLocks noGrp="1"/>
          </p:cNvSpPr>
          <p:nvPr>
            <p:ph type="body" sz="quarter" idx="19"/>
          </p:nvPr>
        </p:nvSpPr>
        <p:spPr/>
        <p:txBody>
          <a:bodyPr/>
          <a:lstStyle/>
          <a:p>
            <a:endParaRPr lang="pt-BR"/>
          </a:p>
        </p:txBody>
      </p:sp>
      <p:sp>
        <p:nvSpPr>
          <p:cNvPr id="5" name="Date Placeholder 4">
            <a:extLst>
              <a:ext uri="{FF2B5EF4-FFF2-40B4-BE49-F238E27FC236}">
                <a16:creationId xmlns:a16="http://schemas.microsoft.com/office/drawing/2014/main" id="{3EFC0E7B-02FE-79E8-C7F7-E93455694894}"/>
              </a:ext>
            </a:extLst>
          </p:cNvPr>
          <p:cNvSpPr>
            <a:spLocks noGrp="1"/>
          </p:cNvSpPr>
          <p:nvPr>
            <p:ph type="dt" sz="half" idx="2"/>
          </p:nvPr>
        </p:nvSpPr>
        <p:spPr>
          <a:xfrm>
            <a:off x="3371691" y="438763"/>
            <a:ext cx="3132139" cy="184666"/>
          </a:xfrm>
        </p:spPr>
        <p:txBody>
          <a:bodyPr/>
          <a:lstStyle/>
          <a:p>
            <a:fld id="{7C15C50E-5CAF-4D73-A24B-0338FF2E9F05}" type="datetime4">
              <a:rPr lang="en-US" smtClean="0"/>
              <a:pPr/>
              <a:t>August 18, 2026</a:t>
            </a:fld>
            <a:endParaRPr lang="en-US" dirty="0"/>
          </a:p>
        </p:txBody>
      </p:sp>
      <p:sp>
        <p:nvSpPr>
          <p:cNvPr id="56" name="Text Placeholder 55">
            <a:extLst>
              <a:ext uri="{FF2B5EF4-FFF2-40B4-BE49-F238E27FC236}">
                <a16:creationId xmlns:a16="http://schemas.microsoft.com/office/drawing/2014/main" id="{A1599F00-A597-FA62-C376-2C68689FB5AC}"/>
              </a:ext>
            </a:extLst>
          </p:cNvPr>
          <p:cNvSpPr>
            <a:spLocks noGrp="1"/>
          </p:cNvSpPr>
          <p:nvPr>
            <p:ph type="body" sz="quarter" idx="36"/>
          </p:nvPr>
        </p:nvSpPr>
        <p:spPr/>
        <p:txBody>
          <a:bodyPr/>
          <a:lstStyle/>
          <a:p>
            <a:r>
              <a:rPr lang="pt-BR" dirty="0"/>
              <a:t>US </a:t>
            </a:r>
            <a:r>
              <a:rPr lang="pt-BR" dirty="0" err="1"/>
              <a:t>sanctions</a:t>
            </a:r>
            <a:r>
              <a:rPr lang="pt-BR" dirty="0"/>
              <a:t> </a:t>
            </a:r>
            <a:r>
              <a:rPr lang="pt-BR" dirty="0" err="1"/>
              <a:t>and</a:t>
            </a:r>
            <a:r>
              <a:rPr lang="pt-BR" dirty="0"/>
              <a:t> </a:t>
            </a:r>
            <a:r>
              <a:rPr lang="pt-BR" dirty="0" err="1"/>
              <a:t>concerns</a:t>
            </a:r>
            <a:r>
              <a:rPr lang="pt-BR" dirty="0"/>
              <a:t> </a:t>
            </a:r>
            <a:r>
              <a:rPr lang="pt-BR" dirty="0" err="1"/>
              <a:t>on</a:t>
            </a:r>
            <a:r>
              <a:rPr lang="pt-BR" dirty="0"/>
              <a:t> H2 </a:t>
            </a:r>
            <a:r>
              <a:rPr lang="pt-BR" dirty="0" err="1"/>
              <a:t>slowdown</a:t>
            </a:r>
            <a:r>
              <a:rPr lang="pt-BR" dirty="0"/>
              <a:t> </a:t>
            </a:r>
            <a:r>
              <a:rPr lang="pt-BR" dirty="0" err="1"/>
              <a:t>were</a:t>
            </a:r>
            <a:r>
              <a:rPr lang="pt-BR" dirty="0"/>
              <a:t> </a:t>
            </a:r>
            <a:r>
              <a:rPr lang="pt-BR" dirty="0" err="1"/>
              <a:t>key</a:t>
            </a:r>
            <a:r>
              <a:rPr lang="pt-BR" dirty="0"/>
              <a:t> </a:t>
            </a:r>
            <a:r>
              <a:rPr lang="pt-BR" dirty="0" err="1"/>
              <a:t>concerns</a:t>
            </a:r>
            <a:endParaRPr lang="pt-BR" dirty="0"/>
          </a:p>
        </p:txBody>
      </p:sp>
      <p:sp>
        <p:nvSpPr>
          <p:cNvPr id="58" name="Text Placeholder 57">
            <a:extLst>
              <a:ext uri="{FF2B5EF4-FFF2-40B4-BE49-F238E27FC236}">
                <a16:creationId xmlns:a16="http://schemas.microsoft.com/office/drawing/2014/main" id="{FBD46A4C-0562-6146-5CEF-BF7F7D8B7F6A}"/>
              </a:ext>
            </a:extLst>
          </p:cNvPr>
          <p:cNvSpPr>
            <a:spLocks noGrp="1"/>
          </p:cNvSpPr>
          <p:nvPr>
            <p:ph type="body" sz="quarter" idx="38"/>
          </p:nvPr>
        </p:nvSpPr>
        <p:spPr>
          <a:xfrm>
            <a:off x="372824" y="1395670"/>
            <a:ext cx="6112352" cy="187302"/>
          </a:xfrm>
        </p:spPr>
        <p:txBody>
          <a:bodyPr/>
          <a:lstStyle/>
          <a:p>
            <a:r>
              <a:rPr lang="en-US" dirty="0"/>
              <a:t>A more nuanced view from corporates and investors</a:t>
            </a:r>
            <a:endParaRPr lang="pt-BR" dirty="0"/>
          </a:p>
        </p:txBody>
      </p:sp>
      <p:pic>
        <p:nvPicPr>
          <p:cNvPr id="2" name="Picture 1" descr="A speedometer with different colors&#10;&#10;AI-generated content may be incorrect.">
            <a:extLst>
              <a:ext uri="{FF2B5EF4-FFF2-40B4-BE49-F238E27FC236}">
                <a16:creationId xmlns:a16="http://schemas.microsoft.com/office/drawing/2014/main" id="{72C71BD7-D6F0-1542-89A4-176E4D669D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255322" y="6975839"/>
            <a:ext cx="2486220" cy="1524379"/>
          </a:xfrm>
          <a:prstGeom prst="rect">
            <a:avLst/>
          </a:prstGeom>
          <a:noFill/>
          <a:ln>
            <a:noFill/>
          </a:ln>
        </p:spPr>
      </p:pic>
      <p:sp>
        <p:nvSpPr>
          <p:cNvPr id="3" name="Text Placeholder 7">
            <a:extLst>
              <a:ext uri="{FF2B5EF4-FFF2-40B4-BE49-F238E27FC236}">
                <a16:creationId xmlns:a16="http://schemas.microsoft.com/office/drawing/2014/main" id="{BE1C4884-8C57-E924-72B5-1ADA7C8F2666}"/>
              </a:ext>
            </a:extLst>
          </p:cNvPr>
          <p:cNvSpPr>
            <a:spLocks noGrp="1"/>
          </p:cNvSpPr>
          <p:nvPr>
            <p:ph type="body" sz="quarter" idx="27"/>
          </p:nvPr>
        </p:nvSpPr>
        <p:spPr>
          <a:xfrm>
            <a:off x="4330593" y="3813981"/>
            <a:ext cx="2159105" cy="133094"/>
          </a:xfrm>
        </p:spPr>
        <p:txBody>
          <a:bodyPr/>
          <a:lstStyle/>
          <a:p>
            <a:r>
              <a:rPr lang="en-US" noProof="0"/>
              <a:t>Fernando Ferreira, CFA</a:t>
            </a:r>
          </a:p>
        </p:txBody>
      </p:sp>
      <p:sp>
        <p:nvSpPr>
          <p:cNvPr id="4" name="Text Placeholder 8">
            <a:extLst>
              <a:ext uri="{FF2B5EF4-FFF2-40B4-BE49-F238E27FC236}">
                <a16:creationId xmlns:a16="http://schemas.microsoft.com/office/drawing/2014/main" id="{30E44BC1-6174-BCE5-C70C-5339285DC3EA}"/>
              </a:ext>
            </a:extLst>
          </p:cNvPr>
          <p:cNvSpPr>
            <a:spLocks noGrp="1"/>
          </p:cNvSpPr>
          <p:nvPr>
            <p:ph type="body" sz="quarter" idx="28"/>
          </p:nvPr>
        </p:nvSpPr>
        <p:spPr>
          <a:xfrm>
            <a:off x="4330593" y="3975778"/>
            <a:ext cx="2159105" cy="96950"/>
          </a:xfrm>
        </p:spPr>
        <p:txBody>
          <a:bodyPr/>
          <a:lstStyle/>
          <a:p>
            <a:r>
              <a:rPr lang="en-US" noProof="0"/>
              <a:t>Chief Strategist and Head of Research</a:t>
            </a:r>
          </a:p>
        </p:txBody>
      </p:sp>
      <p:sp>
        <p:nvSpPr>
          <p:cNvPr id="6" name="Text Placeholder 9">
            <a:extLst>
              <a:ext uri="{FF2B5EF4-FFF2-40B4-BE49-F238E27FC236}">
                <a16:creationId xmlns:a16="http://schemas.microsoft.com/office/drawing/2014/main" id="{EA478D21-7BE7-F6C0-8F8E-32D2B9E4679E}"/>
              </a:ext>
            </a:extLst>
          </p:cNvPr>
          <p:cNvSpPr>
            <a:spLocks noGrp="1"/>
          </p:cNvSpPr>
          <p:nvPr>
            <p:ph type="body" sz="quarter" idx="29"/>
          </p:nvPr>
        </p:nvSpPr>
        <p:spPr>
          <a:xfrm>
            <a:off x="4330593" y="4102650"/>
            <a:ext cx="2159105" cy="110800"/>
          </a:xfrm>
        </p:spPr>
        <p:txBody>
          <a:bodyPr/>
          <a:lstStyle/>
          <a:p>
            <a:r>
              <a:rPr lang="en-US" noProof="0"/>
              <a:t>fernando.f.ferreira@xpi.com.br</a:t>
            </a:r>
          </a:p>
        </p:txBody>
      </p:sp>
      <p:sp>
        <p:nvSpPr>
          <p:cNvPr id="7" name="Content Placeholder 8">
            <a:extLst>
              <a:ext uri="{FF2B5EF4-FFF2-40B4-BE49-F238E27FC236}">
                <a16:creationId xmlns:a16="http://schemas.microsoft.com/office/drawing/2014/main" id="{63F20CDC-9685-7652-66F2-023D7D7D1F0E}"/>
              </a:ext>
            </a:extLst>
          </p:cNvPr>
          <p:cNvSpPr txBox="1">
            <a:spLocks/>
          </p:cNvSpPr>
          <p:nvPr/>
        </p:nvSpPr>
        <p:spPr>
          <a:xfrm>
            <a:off x="4330593" y="6676548"/>
            <a:ext cx="2335678" cy="199355"/>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rPr>
              <a:t>Chart 1: </a:t>
            </a:r>
            <a:r>
              <a:rPr lang="en-US" noProof="0"/>
              <a:t>XP Sentiment Indicator</a:t>
            </a:r>
            <a:endPar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cxnSp>
        <p:nvCxnSpPr>
          <p:cNvPr id="8" name="Straight Connector 7">
            <a:extLst>
              <a:ext uri="{FF2B5EF4-FFF2-40B4-BE49-F238E27FC236}">
                <a16:creationId xmlns:a16="http://schemas.microsoft.com/office/drawing/2014/main" id="{83A7C8DC-B5AC-0D5E-B0EE-8C2669D4B9F1}"/>
              </a:ext>
            </a:extLst>
          </p:cNvPr>
          <p:cNvCxnSpPr>
            <a:cxnSpLocks/>
          </p:cNvCxnSpPr>
          <p:nvPr/>
        </p:nvCxnSpPr>
        <p:spPr>
          <a:xfrm>
            <a:off x="4330593" y="6866298"/>
            <a:ext cx="2335678" cy="0"/>
          </a:xfrm>
          <a:prstGeom prst="line">
            <a:avLst/>
          </a:prstGeom>
          <a:noFill/>
          <a:ln w="6350" cap="flat" cmpd="sng" algn="ctr">
            <a:solidFill>
              <a:srgbClr val="000000"/>
            </a:solidFill>
            <a:prstDash val="solid"/>
            <a:miter lim="800000"/>
          </a:ln>
          <a:effectLst/>
        </p:spPr>
      </p:cxnSp>
      <p:sp>
        <p:nvSpPr>
          <p:cNvPr id="9" name="Text Placeholder 10">
            <a:extLst>
              <a:ext uri="{FF2B5EF4-FFF2-40B4-BE49-F238E27FC236}">
                <a16:creationId xmlns:a16="http://schemas.microsoft.com/office/drawing/2014/main" id="{8CC85353-1487-CE6C-2F5B-3FE9630C3F24}"/>
              </a:ext>
            </a:extLst>
          </p:cNvPr>
          <p:cNvSpPr>
            <a:spLocks noGrp="1"/>
          </p:cNvSpPr>
          <p:nvPr>
            <p:ph type="body" sz="quarter" idx="30"/>
          </p:nvPr>
        </p:nvSpPr>
        <p:spPr>
          <a:xfrm>
            <a:off x="4330593" y="4289430"/>
            <a:ext cx="2159105" cy="133094"/>
          </a:xfrm>
        </p:spPr>
        <p:txBody>
          <a:bodyPr/>
          <a:lstStyle/>
          <a:p>
            <a:r>
              <a:rPr lang="pt-BR" dirty="0"/>
              <a:t>Felipe Veiga</a:t>
            </a:r>
          </a:p>
        </p:txBody>
      </p:sp>
      <p:sp>
        <p:nvSpPr>
          <p:cNvPr id="10" name="Text Placeholder 11">
            <a:extLst>
              <a:ext uri="{FF2B5EF4-FFF2-40B4-BE49-F238E27FC236}">
                <a16:creationId xmlns:a16="http://schemas.microsoft.com/office/drawing/2014/main" id="{E45CD44A-A54D-922D-6B2F-E0391FBFC212}"/>
              </a:ext>
            </a:extLst>
          </p:cNvPr>
          <p:cNvSpPr>
            <a:spLocks noGrp="1"/>
          </p:cNvSpPr>
          <p:nvPr>
            <p:ph type="body" sz="quarter" idx="31"/>
          </p:nvPr>
        </p:nvSpPr>
        <p:spPr>
          <a:xfrm>
            <a:off x="4330593" y="4451227"/>
            <a:ext cx="2159105" cy="96950"/>
          </a:xfrm>
        </p:spPr>
        <p:txBody>
          <a:bodyPr/>
          <a:lstStyle/>
          <a:p>
            <a:r>
              <a:rPr lang="pt-BR" dirty="0" err="1"/>
              <a:t>Equity</a:t>
            </a:r>
            <a:r>
              <a:rPr lang="pt-BR" dirty="0"/>
              <a:t> </a:t>
            </a:r>
            <a:r>
              <a:rPr lang="pt-BR" dirty="0" err="1"/>
              <a:t>Strategist</a:t>
            </a:r>
            <a:endParaRPr lang="en-US" dirty="0"/>
          </a:p>
        </p:txBody>
      </p:sp>
      <p:sp>
        <p:nvSpPr>
          <p:cNvPr id="11" name="Text Placeholder 12">
            <a:extLst>
              <a:ext uri="{FF2B5EF4-FFF2-40B4-BE49-F238E27FC236}">
                <a16:creationId xmlns:a16="http://schemas.microsoft.com/office/drawing/2014/main" id="{E9C2772D-3333-87C2-5089-A95C4B949A1A}"/>
              </a:ext>
            </a:extLst>
          </p:cNvPr>
          <p:cNvSpPr>
            <a:spLocks noGrp="1"/>
          </p:cNvSpPr>
          <p:nvPr>
            <p:ph type="body" sz="quarter" idx="32"/>
          </p:nvPr>
        </p:nvSpPr>
        <p:spPr>
          <a:xfrm>
            <a:off x="4330593" y="4578099"/>
            <a:ext cx="2159105" cy="110800"/>
          </a:xfrm>
        </p:spPr>
        <p:txBody>
          <a:bodyPr/>
          <a:lstStyle/>
          <a:p>
            <a:r>
              <a:rPr lang="en-US" dirty="0"/>
              <a:t>felipe.bveiga@xpi.com.br</a:t>
            </a:r>
          </a:p>
        </p:txBody>
      </p:sp>
      <p:sp>
        <p:nvSpPr>
          <p:cNvPr id="12" name="Text Placeholder 8">
            <a:extLst>
              <a:ext uri="{FF2B5EF4-FFF2-40B4-BE49-F238E27FC236}">
                <a16:creationId xmlns:a16="http://schemas.microsoft.com/office/drawing/2014/main" id="{010526DE-2BFC-45D1-2CD1-8B001D78E4E4}"/>
              </a:ext>
            </a:extLst>
          </p:cNvPr>
          <p:cNvSpPr txBox="1">
            <a:spLocks/>
          </p:cNvSpPr>
          <p:nvPr/>
        </p:nvSpPr>
        <p:spPr>
          <a:xfrm>
            <a:off x="4330595" y="526256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Júlia Aquino</a:t>
            </a:r>
          </a:p>
        </p:txBody>
      </p:sp>
      <p:sp>
        <p:nvSpPr>
          <p:cNvPr id="13" name="Text Placeholder 9">
            <a:extLst>
              <a:ext uri="{FF2B5EF4-FFF2-40B4-BE49-F238E27FC236}">
                <a16:creationId xmlns:a16="http://schemas.microsoft.com/office/drawing/2014/main" id="{047AA931-5363-1ED4-363B-05AFD81F3BAF}"/>
              </a:ext>
            </a:extLst>
          </p:cNvPr>
          <p:cNvSpPr txBox="1">
            <a:spLocks/>
          </p:cNvSpPr>
          <p:nvPr/>
        </p:nvSpPr>
        <p:spPr>
          <a:xfrm>
            <a:off x="4330595" y="5424362"/>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4" name="Text Placeholder 22">
            <a:extLst>
              <a:ext uri="{FF2B5EF4-FFF2-40B4-BE49-F238E27FC236}">
                <a16:creationId xmlns:a16="http://schemas.microsoft.com/office/drawing/2014/main" id="{D83CC1B7-3400-B176-FFAA-CAF7799CB17A}"/>
              </a:ext>
            </a:extLst>
          </p:cNvPr>
          <p:cNvSpPr txBox="1">
            <a:spLocks/>
          </p:cNvSpPr>
          <p:nvPr/>
        </p:nvSpPr>
        <p:spPr>
          <a:xfrm>
            <a:off x="4330595" y="555123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julia.aquino@xpi.com.br</a:t>
            </a:r>
          </a:p>
        </p:txBody>
      </p:sp>
      <p:sp>
        <p:nvSpPr>
          <p:cNvPr id="15" name="Text Placeholder 8">
            <a:extLst>
              <a:ext uri="{FF2B5EF4-FFF2-40B4-BE49-F238E27FC236}">
                <a16:creationId xmlns:a16="http://schemas.microsoft.com/office/drawing/2014/main" id="{90AE68F2-1C3C-C1E6-9915-CA13BA4AAE5C}"/>
              </a:ext>
            </a:extLst>
          </p:cNvPr>
          <p:cNvSpPr txBox="1">
            <a:spLocks/>
          </p:cNvSpPr>
          <p:nvPr/>
        </p:nvSpPr>
        <p:spPr>
          <a:xfrm>
            <a:off x="4330595" y="573443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 Rosa, CQF</a:t>
            </a:r>
          </a:p>
        </p:txBody>
      </p:sp>
      <p:sp>
        <p:nvSpPr>
          <p:cNvPr id="16" name="Text Placeholder 9">
            <a:extLst>
              <a:ext uri="{FF2B5EF4-FFF2-40B4-BE49-F238E27FC236}">
                <a16:creationId xmlns:a16="http://schemas.microsoft.com/office/drawing/2014/main" id="{30C94353-8A22-86F7-5203-51F8BB962705}"/>
              </a:ext>
            </a:extLst>
          </p:cNvPr>
          <p:cNvSpPr txBox="1">
            <a:spLocks/>
          </p:cNvSpPr>
          <p:nvPr/>
        </p:nvSpPr>
        <p:spPr>
          <a:xfrm>
            <a:off x="4330595" y="5896234"/>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7" name="Text Placeholder 22">
            <a:extLst>
              <a:ext uri="{FF2B5EF4-FFF2-40B4-BE49-F238E27FC236}">
                <a16:creationId xmlns:a16="http://schemas.microsoft.com/office/drawing/2014/main" id="{FA6AAD47-0B82-E608-4E19-1CF9860427EA}"/>
              </a:ext>
            </a:extLst>
          </p:cNvPr>
          <p:cNvSpPr txBox="1">
            <a:spLocks/>
          </p:cNvSpPr>
          <p:nvPr/>
        </p:nvSpPr>
        <p:spPr>
          <a:xfrm>
            <a:off x="4330595" y="602310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lucas.vrosa@xpi.com.br</a:t>
            </a:r>
          </a:p>
        </p:txBody>
      </p:sp>
      <p:sp>
        <p:nvSpPr>
          <p:cNvPr id="18" name="Text Placeholder 10">
            <a:extLst>
              <a:ext uri="{FF2B5EF4-FFF2-40B4-BE49-F238E27FC236}">
                <a16:creationId xmlns:a16="http://schemas.microsoft.com/office/drawing/2014/main" id="{1F5B5A3D-1997-A704-CC56-49E8F1736A79}"/>
              </a:ext>
            </a:extLst>
          </p:cNvPr>
          <p:cNvSpPr txBox="1">
            <a:spLocks/>
          </p:cNvSpPr>
          <p:nvPr/>
        </p:nvSpPr>
        <p:spPr>
          <a:xfrm>
            <a:off x="4338801" y="478393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 Figueredo</a:t>
            </a:r>
          </a:p>
        </p:txBody>
      </p:sp>
      <p:sp>
        <p:nvSpPr>
          <p:cNvPr id="19" name="Text Placeholder 11">
            <a:extLst>
              <a:ext uri="{FF2B5EF4-FFF2-40B4-BE49-F238E27FC236}">
                <a16:creationId xmlns:a16="http://schemas.microsoft.com/office/drawing/2014/main" id="{490B0F6E-19F2-F749-5655-8B1CBE8AA958}"/>
              </a:ext>
            </a:extLst>
          </p:cNvPr>
          <p:cNvSpPr txBox="1">
            <a:spLocks/>
          </p:cNvSpPr>
          <p:nvPr/>
        </p:nvSpPr>
        <p:spPr>
          <a:xfrm>
            <a:off x="4338801" y="4945735"/>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a:t>Equity Strategist</a:t>
            </a:r>
            <a:endParaRPr lang="pt-BR" dirty="0"/>
          </a:p>
        </p:txBody>
      </p:sp>
      <p:sp>
        <p:nvSpPr>
          <p:cNvPr id="20" name="Text Placeholder 12">
            <a:extLst>
              <a:ext uri="{FF2B5EF4-FFF2-40B4-BE49-F238E27FC236}">
                <a16:creationId xmlns:a16="http://schemas.microsoft.com/office/drawing/2014/main" id="{6DF4B747-9580-70F8-7D27-52E7E07050F8}"/>
              </a:ext>
            </a:extLst>
          </p:cNvPr>
          <p:cNvSpPr txBox="1">
            <a:spLocks/>
          </p:cNvSpPr>
          <p:nvPr/>
        </p:nvSpPr>
        <p:spPr>
          <a:xfrm>
            <a:off x="4338801" y="50437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raphael.sfigueredo@xpi.com.br</a:t>
            </a:r>
          </a:p>
        </p:txBody>
      </p:sp>
      <p:sp>
        <p:nvSpPr>
          <p:cNvPr id="21" name="Text Placeholder 8">
            <a:extLst>
              <a:ext uri="{FF2B5EF4-FFF2-40B4-BE49-F238E27FC236}">
                <a16:creationId xmlns:a16="http://schemas.microsoft.com/office/drawing/2014/main" id="{04B963A5-ABBE-148B-5875-EB4FFE79BCEA}"/>
              </a:ext>
            </a:extLst>
          </p:cNvPr>
          <p:cNvSpPr txBox="1">
            <a:spLocks/>
          </p:cNvSpPr>
          <p:nvPr/>
        </p:nvSpPr>
        <p:spPr>
          <a:xfrm>
            <a:off x="4330595" y="618465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XP Research</a:t>
            </a:r>
          </a:p>
        </p:txBody>
      </p:sp>
      <p:sp>
        <p:nvSpPr>
          <p:cNvPr id="23" name="Text Placeholder 22">
            <a:extLst>
              <a:ext uri="{FF2B5EF4-FFF2-40B4-BE49-F238E27FC236}">
                <a16:creationId xmlns:a16="http://schemas.microsoft.com/office/drawing/2014/main" id="{76321694-8D09-647A-E663-FC5E80B687E6}"/>
              </a:ext>
            </a:extLst>
          </p:cNvPr>
          <p:cNvSpPr txBox="1">
            <a:spLocks/>
          </p:cNvSpPr>
          <p:nvPr/>
        </p:nvSpPr>
        <p:spPr>
          <a:xfrm>
            <a:off x="4330595" y="633453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research@xpi.com.br</a:t>
            </a:r>
          </a:p>
        </p:txBody>
      </p:sp>
      <p:sp>
        <p:nvSpPr>
          <p:cNvPr id="22" name="Rectangle 21">
            <a:extLst>
              <a:ext uri="{FF2B5EF4-FFF2-40B4-BE49-F238E27FC236}">
                <a16:creationId xmlns:a16="http://schemas.microsoft.com/office/drawing/2014/main" id="{FB88DC07-A528-225A-9987-39DFBF68A3A4}"/>
              </a:ext>
            </a:extLst>
          </p:cNvPr>
          <p:cNvSpPr/>
          <p:nvPr/>
        </p:nvSpPr>
        <p:spPr>
          <a:xfrm>
            <a:off x="162838" y="1851660"/>
            <a:ext cx="6335068" cy="699171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dirty="0">
                <a:solidFill>
                  <a:schemeClr val="bg1"/>
                </a:solidFill>
                <a:latin typeface="Roboto" panose="02000000000000000000" pitchFamily="2" charset="0"/>
                <a:ea typeface="Roboto" panose="02000000000000000000" pitchFamily="2" charset="0"/>
                <a:cs typeface="Roboto" panose="02000000000000000000" pitchFamily="2" charset="0"/>
              </a:rPr>
              <a:t>ATUALIZAR</a:t>
            </a:r>
          </a:p>
        </p:txBody>
      </p:sp>
    </p:spTree>
    <p:extLst>
      <p:ext uri="{BB962C8B-B14F-4D97-AF65-F5344CB8AC3E}">
        <p14:creationId xmlns:p14="http://schemas.microsoft.com/office/powerpoint/2010/main" val="19551721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9C5E58A-DD28-2AE4-F475-E9BF93E18C65}"/>
              </a:ext>
            </a:extLst>
          </p:cNvPr>
          <p:cNvSpPr>
            <a:spLocks noGrp="1"/>
          </p:cNvSpPr>
          <p:nvPr>
            <p:ph type="body" idx="4294967295"/>
          </p:nvPr>
        </p:nvSpPr>
        <p:spPr>
          <a:xfrm>
            <a:off x="368300" y="745804"/>
            <a:ext cx="6121400" cy="336050"/>
          </a:xfrm>
          <a:prstGeom prst="rect">
            <a:avLst/>
          </a:prstGeom>
        </p:spPr>
        <p:txBody>
          <a:bodyPr/>
          <a:lstStyle/>
          <a:p>
            <a:pPr algn="ctr">
              <a:lnSpc>
                <a:spcPct val="100000"/>
              </a:lnSpc>
              <a:spcBef>
                <a:spcPts val="600"/>
              </a:spcBef>
              <a:buNone/>
            </a:pPr>
            <a:r>
              <a:rPr sz="1600" b="1" dirty="0">
                <a:solidFill>
                  <a:schemeClr val="bg1"/>
                </a:solidFill>
              </a:rPr>
              <a:t>CONFIRMED COMPANIES </a:t>
            </a:r>
          </a:p>
        </p:txBody>
      </p:sp>
      <p:sp>
        <p:nvSpPr>
          <p:cNvPr id="5" name="TextBox 4">
            <a:extLst>
              <a:ext uri="{FF2B5EF4-FFF2-40B4-BE49-F238E27FC236}">
                <a16:creationId xmlns:a16="http://schemas.microsoft.com/office/drawing/2014/main" id="{9894061F-ECC4-0743-1A90-68B7C52ABE46}"/>
              </a:ext>
            </a:extLst>
          </p:cNvPr>
          <p:cNvSpPr>
            <a:spLocks noGrp="1"/>
          </p:cNvSpPr>
          <p:nvPr/>
        </p:nvSpPr>
        <p:spPr>
          <a:xfrm>
            <a:off x="365760" y="1188720"/>
            <a:ext cx="2658679" cy="338554"/>
          </a:xfrm>
          <a:prstGeom prst="rect">
            <a:avLst/>
          </a:prstGeom>
          <a:noFill/>
        </p:spPr>
        <p:txBody>
          <a:bodyPr wrap="square">
            <a:spAutoFit/>
          </a:bodyPr>
          <a:lstStyle/>
          <a:p>
            <a:r>
              <a:rPr sz="1600" b="1" dirty="0">
                <a:solidFill>
                  <a:srgbClr val="8EB3DF"/>
                </a:solidFill>
                <a:latin typeface="+mj-lt"/>
                <a:ea typeface="+mj-lt"/>
                <a:cs typeface="+mj-lt"/>
              </a:rPr>
              <a:t>Agri, Food &amp; Beverage</a:t>
            </a:r>
          </a:p>
        </p:txBody>
      </p:sp>
      <p:sp>
        <p:nvSpPr>
          <p:cNvPr id="6" name="TextBox 5">
            <a:extLst>
              <a:ext uri="{FF2B5EF4-FFF2-40B4-BE49-F238E27FC236}">
                <a16:creationId xmlns:a16="http://schemas.microsoft.com/office/drawing/2014/main" id="{C07BF4F6-D250-28DC-1280-0653CD83F1C3}"/>
              </a:ext>
            </a:extLst>
          </p:cNvPr>
          <p:cNvSpPr>
            <a:spLocks noGrp="1"/>
          </p:cNvSpPr>
          <p:nvPr/>
        </p:nvSpPr>
        <p:spPr>
          <a:xfrm>
            <a:off x="365760" y="3920490"/>
            <a:ext cx="2008717" cy="338554"/>
          </a:xfrm>
          <a:prstGeom prst="rect">
            <a:avLst/>
          </a:prstGeom>
          <a:noFill/>
        </p:spPr>
        <p:txBody>
          <a:bodyPr wrap="square">
            <a:spAutoFit/>
          </a:bodyPr>
          <a:lstStyle/>
          <a:p>
            <a:r>
              <a:rPr sz="1600" b="1" dirty="0">
                <a:solidFill>
                  <a:srgbClr val="8EB3DF"/>
                </a:solidFill>
                <a:latin typeface="+mj-lt"/>
                <a:ea typeface="+mj-lt"/>
                <a:cs typeface="+mj-lt"/>
              </a:rPr>
              <a:t>Education</a:t>
            </a:r>
          </a:p>
        </p:txBody>
      </p:sp>
      <p:sp>
        <p:nvSpPr>
          <p:cNvPr id="9" name="TextBox 8">
            <a:extLst>
              <a:ext uri="{FF2B5EF4-FFF2-40B4-BE49-F238E27FC236}">
                <a16:creationId xmlns:a16="http://schemas.microsoft.com/office/drawing/2014/main" id="{01DBFD07-AD00-29F7-2A45-10A5FA686A3B}"/>
              </a:ext>
            </a:extLst>
          </p:cNvPr>
          <p:cNvSpPr>
            <a:spLocks noGrp="1"/>
          </p:cNvSpPr>
          <p:nvPr/>
        </p:nvSpPr>
        <p:spPr>
          <a:xfrm>
            <a:off x="36576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3Tentos</a:t>
            </a:r>
          </a:p>
        </p:txBody>
      </p:sp>
      <p:sp>
        <p:nvSpPr>
          <p:cNvPr id="10" name="TextBox 9">
            <a:extLst>
              <a:ext uri="{FF2B5EF4-FFF2-40B4-BE49-F238E27FC236}">
                <a16:creationId xmlns:a16="http://schemas.microsoft.com/office/drawing/2014/main" id="{3AD47163-42BA-A3C0-2C82-4A26912C6B04}"/>
              </a:ext>
            </a:extLst>
          </p:cNvPr>
          <p:cNvSpPr>
            <a:spLocks noGrp="1"/>
          </p:cNvSpPr>
          <p:nvPr/>
        </p:nvSpPr>
        <p:spPr>
          <a:xfrm>
            <a:off x="36576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Ambev</a:t>
            </a:r>
          </a:p>
        </p:txBody>
      </p:sp>
      <p:sp>
        <p:nvSpPr>
          <p:cNvPr id="11" name="TextBox 10">
            <a:extLst>
              <a:ext uri="{FF2B5EF4-FFF2-40B4-BE49-F238E27FC236}">
                <a16:creationId xmlns:a16="http://schemas.microsoft.com/office/drawing/2014/main" id="{C1194A34-D787-1DA9-4305-C8D9D271D9DE}"/>
              </a:ext>
            </a:extLst>
          </p:cNvPr>
          <p:cNvSpPr>
            <a:spLocks noGrp="1"/>
          </p:cNvSpPr>
          <p:nvPr/>
        </p:nvSpPr>
        <p:spPr>
          <a:xfrm>
            <a:off x="365760" y="1787651"/>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Boa Safra</a:t>
            </a:r>
          </a:p>
        </p:txBody>
      </p:sp>
      <p:sp>
        <p:nvSpPr>
          <p:cNvPr id="12" name="TextBox 11">
            <a:extLst>
              <a:ext uri="{FF2B5EF4-FFF2-40B4-BE49-F238E27FC236}">
                <a16:creationId xmlns:a16="http://schemas.microsoft.com/office/drawing/2014/main" id="{0371286B-8D12-1AAE-03AE-79A704CD6E71}"/>
              </a:ext>
            </a:extLst>
          </p:cNvPr>
          <p:cNvSpPr>
            <a:spLocks noGrp="1"/>
          </p:cNvSpPr>
          <p:nvPr/>
        </p:nvSpPr>
        <p:spPr>
          <a:xfrm>
            <a:off x="365760" y="193395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Brasil Agro</a:t>
            </a:r>
          </a:p>
        </p:txBody>
      </p:sp>
      <p:sp>
        <p:nvSpPr>
          <p:cNvPr id="13" name="TextBox 12">
            <a:extLst>
              <a:ext uri="{FF2B5EF4-FFF2-40B4-BE49-F238E27FC236}">
                <a16:creationId xmlns:a16="http://schemas.microsoft.com/office/drawing/2014/main" id="{96C8B3AB-9289-0D64-ED6A-41DC5763ED58}"/>
              </a:ext>
            </a:extLst>
          </p:cNvPr>
          <p:cNvSpPr>
            <a:spLocks noGrp="1"/>
          </p:cNvSpPr>
          <p:nvPr/>
        </p:nvSpPr>
        <p:spPr>
          <a:xfrm>
            <a:off x="365760" y="208026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Camil</a:t>
            </a:r>
          </a:p>
        </p:txBody>
      </p:sp>
      <p:sp>
        <p:nvSpPr>
          <p:cNvPr id="14" name="TextBox 13">
            <a:extLst>
              <a:ext uri="{FF2B5EF4-FFF2-40B4-BE49-F238E27FC236}">
                <a16:creationId xmlns:a16="http://schemas.microsoft.com/office/drawing/2014/main" id="{1773C050-0CEF-BB6F-D597-6DCFC4CC5F02}"/>
              </a:ext>
            </a:extLst>
          </p:cNvPr>
          <p:cNvSpPr>
            <a:spLocks noGrp="1"/>
          </p:cNvSpPr>
          <p:nvPr/>
        </p:nvSpPr>
        <p:spPr>
          <a:xfrm>
            <a:off x="365760" y="222656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Jalles</a:t>
            </a:r>
          </a:p>
        </p:txBody>
      </p:sp>
      <p:sp>
        <p:nvSpPr>
          <p:cNvPr id="15" name="TextBox 14">
            <a:extLst>
              <a:ext uri="{FF2B5EF4-FFF2-40B4-BE49-F238E27FC236}">
                <a16:creationId xmlns:a16="http://schemas.microsoft.com/office/drawing/2014/main" id="{3B65C74C-969E-74A7-59E8-B0C48013CE36}"/>
              </a:ext>
            </a:extLst>
          </p:cNvPr>
          <p:cNvSpPr>
            <a:spLocks noGrp="1"/>
          </p:cNvSpPr>
          <p:nvPr/>
        </p:nvSpPr>
        <p:spPr>
          <a:xfrm>
            <a:off x="365760" y="237286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JBS</a:t>
            </a:r>
          </a:p>
        </p:txBody>
      </p:sp>
      <p:sp>
        <p:nvSpPr>
          <p:cNvPr id="16" name="TextBox 15">
            <a:extLst>
              <a:ext uri="{FF2B5EF4-FFF2-40B4-BE49-F238E27FC236}">
                <a16:creationId xmlns:a16="http://schemas.microsoft.com/office/drawing/2014/main" id="{B7A69670-3ACB-4A7D-8AA4-D5FDB5C444D9}"/>
              </a:ext>
            </a:extLst>
          </p:cNvPr>
          <p:cNvSpPr>
            <a:spLocks noGrp="1"/>
          </p:cNvSpPr>
          <p:nvPr/>
        </p:nvSpPr>
        <p:spPr>
          <a:xfrm>
            <a:off x="365760" y="251917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 Dias Branco</a:t>
            </a:r>
          </a:p>
        </p:txBody>
      </p:sp>
      <p:sp>
        <p:nvSpPr>
          <p:cNvPr id="17" name="TextBox 16">
            <a:extLst>
              <a:ext uri="{FF2B5EF4-FFF2-40B4-BE49-F238E27FC236}">
                <a16:creationId xmlns:a16="http://schemas.microsoft.com/office/drawing/2014/main" id="{BBDFF9F5-9B58-C9BD-9C3C-ED94081EDD2F}"/>
              </a:ext>
            </a:extLst>
          </p:cNvPr>
          <p:cNvSpPr>
            <a:spLocks noGrp="1"/>
          </p:cNvSpPr>
          <p:nvPr/>
        </p:nvSpPr>
        <p:spPr>
          <a:xfrm>
            <a:off x="365760" y="26654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MBRF</a:t>
            </a:r>
          </a:p>
        </p:txBody>
      </p:sp>
      <p:sp>
        <p:nvSpPr>
          <p:cNvPr id="18" name="TextBox 17">
            <a:extLst>
              <a:ext uri="{FF2B5EF4-FFF2-40B4-BE49-F238E27FC236}">
                <a16:creationId xmlns:a16="http://schemas.microsoft.com/office/drawing/2014/main" id="{720A33CD-2B85-2E8B-557F-928FBED8D1D1}"/>
              </a:ext>
            </a:extLst>
          </p:cNvPr>
          <p:cNvSpPr>
            <a:spLocks noGrp="1"/>
          </p:cNvSpPr>
          <p:nvPr/>
        </p:nvSpPr>
        <p:spPr>
          <a:xfrm>
            <a:off x="365760" y="5286375"/>
            <a:ext cx="2008717" cy="338554"/>
          </a:xfrm>
          <a:prstGeom prst="rect">
            <a:avLst/>
          </a:prstGeom>
          <a:noFill/>
        </p:spPr>
        <p:txBody>
          <a:bodyPr wrap="square">
            <a:spAutoFit/>
          </a:bodyPr>
          <a:lstStyle/>
          <a:p>
            <a:r>
              <a:rPr sz="1600" b="1" dirty="0">
                <a:solidFill>
                  <a:srgbClr val="8EB3DF"/>
                </a:solidFill>
                <a:latin typeface="+mj-lt"/>
                <a:ea typeface="+mj-lt"/>
                <a:cs typeface="+mj-lt"/>
              </a:rPr>
              <a:t>Financials</a:t>
            </a:r>
          </a:p>
        </p:txBody>
      </p:sp>
      <p:sp>
        <p:nvSpPr>
          <p:cNvPr id="19" name="TextBox 18">
            <a:extLst>
              <a:ext uri="{FF2B5EF4-FFF2-40B4-BE49-F238E27FC236}">
                <a16:creationId xmlns:a16="http://schemas.microsoft.com/office/drawing/2014/main" id="{EA2010E7-F1AA-9420-CAED-9AB11E018642}"/>
              </a:ext>
            </a:extLst>
          </p:cNvPr>
          <p:cNvSpPr>
            <a:spLocks noGrp="1"/>
          </p:cNvSpPr>
          <p:nvPr/>
        </p:nvSpPr>
        <p:spPr>
          <a:xfrm>
            <a:off x="365760" y="281178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Minerva</a:t>
            </a:r>
          </a:p>
        </p:txBody>
      </p:sp>
      <p:sp>
        <p:nvSpPr>
          <p:cNvPr id="20" name="TextBox 19">
            <a:extLst>
              <a:ext uri="{FF2B5EF4-FFF2-40B4-BE49-F238E27FC236}">
                <a16:creationId xmlns:a16="http://schemas.microsoft.com/office/drawing/2014/main" id="{A956658B-2C0D-35E6-4E7B-CF83E902C754}"/>
              </a:ext>
            </a:extLst>
          </p:cNvPr>
          <p:cNvSpPr>
            <a:spLocks noGrp="1"/>
          </p:cNvSpPr>
          <p:nvPr/>
        </p:nvSpPr>
        <p:spPr>
          <a:xfrm>
            <a:off x="365760" y="29580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SLC</a:t>
            </a:r>
          </a:p>
        </p:txBody>
      </p:sp>
      <p:sp>
        <p:nvSpPr>
          <p:cNvPr id="21" name="TextBox 20">
            <a:extLst>
              <a:ext uri="{FF2B5EF4-FFF2-40B4-BE49-F238E27FC236}">
                <a16:creationId xmlns:a16="http://schemas.microsoft.com/office/drawing/2014/main" id="{35F937FD-0E9B-70C2-55BB-8CC141206B17}"/>
              </a:ext>
            </a:extLst>
          </p:cNvPr>
          <p:cNvSpPr>
            <a:spLocks noGrp="1"/>
          </p:cNvSpPr>
          <p:nvPr/>
        </p:nvSpPr>
        <p:spPr>
          <a:xfrm>
            <a:off x="365760" y="7676388"/>
            <a:ext cx="2008717" cy="338554"/>
          </a:xfrm>
          <a:prstGeom prst="rect">
            <a:avLst/>
          </a:prstGeom>
          <a:noFill/>
        </p:spPr>
        <p:txBody>
          <a:bodyPr wrap="square">
            <a:spAutoFit/>
          </a:bodyPr>
          <a:lstStyle/>
          <a:p>
            <a:r>
              <a:rPr sz="1600" b="1">
                <a:solidFill>
                  <a:srgbClr val="8EB3DF"/>
                </a:solidFill>
                <a:latin typeface="+mj-lt"/>
                <a:ea typeface="+mj-lt"/>
                <a:cs typeface="+mj-lt"/>
              </a:rPr>
              <a:t>Healthcare</a:t>
            </a:r>
          </a:p>
        </p:txBody>
      </p:sp>
      <p:sp>
        <p:nvSpPr>
          <p:cNvPr id="22" name="TextBox 21">
            <a:extLst>
              <a:ext uri="{FF2B5EF4-FFF2-40B4-BE49-F238E27FC236}">
                <a16:creationId xmlns:a16="http://schemas.microsoft.com/office/drawing/2014/main" id="{3B8C69D6-B594-525E-CECD-298311DF1D54}"/>
              </a:ext>
            </a:extLst>
          </p:cNvPr>
          <p:cNvSpPr>
            <a:spLocks noGrp="1"/>
          </p:cNvSpPr>
          <p:nvPr/>
        </p:nvSpPr>
        <p:spPr>
          <a:xfrm>
            <a:off x="365760" y="4226814"/>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Ânima</a:t>
            </a:r>
            <a:endParaRPr sz="900" b="1" dirty="0">
              <a:solidFill>
                <a:schemeClr val="bg1"/>
              </a:solidFill>
              <a:latin typeface="+mj-lt"/>
              <a:ea typeface="+mj-lt"/>
              <a:cs typeface="+mj-lt"/>
            </a:endParaRPr>
          </a:p>
        </p:txBody>
      </p:sp>
      <p:sp>
        <p:nvSpPr>
          <p:cNvPr id="23" name="TextBox 22">
            <a:extLst>
              <a:ext uri="{FF2B5EF4-FFF2-40B4-BE49-F238E27FC236}">
                <a16:creationId xmlns:a16="http://schemas.microsoft.com/office/drawing/2014/main" id="{1C155C5E-2EF1-FF18-6697-DCAD2BE2653A}"/>
              </a:ext>
            </a:extLst>
          </p:cNvPr>
          <p:cNvSpPr>
            <a:spLocks noGrp="1"/>
          </p:cNvSpPr>
          <p:nvPr/>
        </p:nvSpPr>
        <p:spPr>
          <a:xfrm>
            <a:off x="365760" y="4373118"/>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Cogna </a:t>
            </a:r>
            <a:r>
              <a:rPr sz="900" b="1" dirty="0" err="1">
                <a:solidFill>
                  <a:schemeClr val="bg1"/>
                </a:solidFill>
                <a:latin typeface="+mj-lt"/>
                <a:ea typeface="+mj-lt"/>
                <a:cs typeface="+mj-lt"/>
              </a:rPr>
              <a:t>Educação</a:t>
            </a:r>
            <a:endParaRPr sz="900" b="1" dirty="0">
              <a:solidFill>
                <a:schemeClr val="bg1"/>
              </a:solidFill>
              <a:latin typeface="+mj-lt"/>
              <a:ea typeface="+mj-lt"/>
              <a:cs typeface="+mj-lt"/>
            </a:endParaRPr>
          </a:p>
        </p:txBody>
      </p:sp>
      <p:sp>
        <p:nvSpPr>
          <p:cNvPr id="24" name="TextBox 23">
            <a:extLst>
              <a:ext uri="{FF2B5EF4-FFF2-40B4-BE49-F238E27FC236}">
                <a16:creationId xmlns:a16="http://schemas.microsoft.com/office/drawing/2014/main" id="{3021C88D-7BEA-8727-57C8-D52F6F6EF354}"/>
              </a:ext>
            </a:extLst>
          </p:cNvPr>
          <p:cNvSpPr>
            <a:spLocks noGrp="1"/>
          </p:cNvSpPr>
          <p:nvPr/>
        </p:nvSpPr>
        <p:spPr>
          <a:xfrm>
            <a:off x="365760" y="451942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Cruzeiro do Sul Educacional</a:t>
            </a:r>
          </a:p>
        </p:txBody>
      </p:sp>
      <p:sp>
        <p:nvSpPr>
          <p:cNvPr id="25" name="TextBox 24">
            <a:extLst>
              <a:ext uri="{FF2B5EF4-FFF2-40B4-BE49-F238E27FC236}">
                <a16:creationId xmlns:a16="http://schemas.microsoft.com/office/drawing/2014/main" id="{96BD2B1F-3564-865E-9E0B-A5EFF321BD5B}"/>
              </a:ext>
            </a:extLst>
          </p:cNvPr>
          <p:cNvSpPr>
            <a:spLocks noGrp="1"/>
          </p:cNvSpPr>
          <p:nvPr/>
        </p:nvSpPr>
        <p:spPr>
          <a:xfrm>
            <a:off x="365760" y="3286125"/>
            <a:ext cx="2008717" cy="338554"/>
          </a:xfrm>
          <a:prstGeom prst="rect">
            <a:avLst/>
          </a:prstGeom>
          <a:noFill/>
        </p:spPr>
        <p:txBody>
          <a:bodyPr wrap="square">
            <a:spAutoFit/>
          </a:bodyPr>
          <a:lstStyle/>
          <a:p>
            <a:r>
              <a:rPr sz="1600" b="1" dirty="0">
                <a:solidFill>
                  <a:srgbClr val="8EB3DF"/>
                </a:solidFill>
                <a:latin typeface="+mj-lt"/>
                <a:ea typeface="+mj-lt"/>
                <a:cs typeface="+mj-lt"/>
              </a:rPr>
              <a:t>Capital Goods</a:t>
            </a:r>
          </a:p>
        </p:txBody>
      </p:sp>
      <p:sp>
        <p:nvSpPr>
          <p:cNvPr id="26" name="TextBox 25">
            <a:extLst>
              <a:ext uri="{FF2B5EF4-FFF2-40B4-BE49-F238E27FC236}">
                <a16:creationId xmlns:a16="http://schemas.microsoft.com/office/drawing/2014/main" id="{ABF60356-B4B7-6CED-DF60-FD873AF00AE3}"/>
              </a:ext>
            </a:extLst>
          </p:cNvPr>
          <p:cNvSpPr>
            <a:spLocks noGrp="1"/>
          </p:cNvSpPr>
          <p:nvPr/>
        </p:nvSpPr>
        <p:spPr>
          <a:xfrm>
            <a:off x="365760" y="4665726"/>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Salta</a:t>
            </a:r>
          </a:p>
        </p:txBody>
      </p:sp>
      <p:sp>
        <p:nvSpPr>
          <p:cNvPr id="27" name="TextBox 26">
            <a:extLst>
              <a:ext uri="{FF2B5EF4-FFF2-40B4-BE49-F238E27FC236}">
                <a16:creationId xmlns:a16="http://schemas.microsoft.com/office/drawing/2014/main" id="{79D73DFD-9BB6-F4A0-CB05-F3651EFFF364}"/>
              </a:ext>
            </a:extLst>
          </p:cNvPr>
          <p:cNvSpPr>
            <a:spLocks noGrp="1"/>
          </p:cNvSpPr>
          <p:nvPr/>
        </p:nvSpPr>
        <p:spPr>
          <a:xfrm>
            <a:off x="365760" y="481203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Vitru Educação</a:t>
            </a:r>
          </a:p>
        </p:txBody>
      </p:sp>
      <p:sp>
        <p:nvSpPr>
          <p:cNvPr id="28" name="TextBox 27">
            <a:extLst>
              <a:ext uri="{FF2B5EF4-FFF2-40B4-BE49-F238E27FC236}">
                <a16:creationId xmlns:a16="http://schemas.microsoft.com/office/drawing/2014/main" id="{B555EA56-0B60-BF37-301F-B69720ADEC03}"/>
              </a:ext>
            </a:extLst>
          </p:cNvPr>
          <p:cNvSpPr>
            <a:spLocks noGrp="1"/>
          </p:cNvSpPr>
          <p:nvPr/>
        </p:nvSpPr>
        <p:spPr>
          <a:xfrm>
            <a:off x="365760" y="495833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Yduqs</a:t>
            </a:r>
          </a:p>
        </p:txBody>
      </p:sp>
      <p:sp>
        <p:nvSpPr>
          <p:cNvPr id="29" name="TextBox 28">
            <a:extLst>
              <a:ext uri="{FF2B5EF4-FFF2-40B4-BE49-F238E27FC236}">
                <a16:creationId xmlns:a16="http://schemas.microsoft.com/office/drawing/2014/main" id="{950BADC2-D72A-2BB7-BDE3-E83F0D809A36}"/>
              </a:ext>
            </a:extLst>
          </p:cNvPr>
          <p:cNvSpPr>
            <a:spLocks noGrp="1"/>
          </p:cNvSpPr>
          <p:nvPr/>
        </p:nvSpPr>
        <p:spPr>
          <a:xfrm>
            <a:off x="365760" y="559269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Agibank</a:t>
            </a:r>
          </a:p>
        </p:txBody>
      </p:sp>
      <p:sp>
        <p:nvSpPr>
          <p:cNvPr id="30" name="TextBox 29">
            <a:extLst>
              <a:ext uri="{FF2B5EF4-FFF2-40B4-BE49-F238E27FC236}">
                <a16:creationId xmlns:a16="http://schemas.microsoft.com/office/drawing/2014/main" id="{F4B428C1-BEB1-2677-45BA-2C5CBC495E8D}"/>
              </a:ext>
            </a:extLst>
          </p:cNvPr>
          <p:cNvSpPr>
            <a:spLocks noGrp="1"/>
          </p:cNvSpPr>
          <p:nvPr/>
        </p:nvSpPr>
        <p:spPr>
          <a:xfrm>
            <a:off x="365760" y="573900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B3</a:t>
            </a:r>
          </a:p>
        </p:txBody>
      </p:sp>
      <p:sp>
        <p:nvSpPr>
          <p:cNvPr id="31" name="TextBox 30">
            <a:extLst>
              <a:ext uri="{FF2B5EF4-FFF2-40B4-BE49-F238E27FC236}">
                <a16:creationId xmlns:a16="http://schemas.microsoft.com/office/drawing/2014/main" id="{961707D9-0C41-F2B7-7D73-A1DD384860D8}"/>
              </a:ext>
            </a:extLst>
          </p:cNvPr>
          <p:cNvSpPr>
            <a:spLocks noGrp="1"/>
          </p:cNvSpPr>
          <p:nvPr/>
        </p:nvSpPr>
        <p:spPr>
          <a:xfrm>
            <a:off x="365760" y="588530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Banco do Brasil</a:t>
            </a:r>
          </a:p>
        </p:txBody>
      </p:sp>
      <p:sp>
        <p:nvSpPr>
          <p:cNvPr id="32" name="TextBox 31">
            <a:extLst>
              <a:ext uri="{FF2B5EF4-FFF2-40B4-BE49-F238E27FC236}">
                <a16:creationId xmlns:a16="http://schemas.microsoft.com/office/drawing/2014/main" id="{D1072C92-9EF3-51EC-9FA8-C812EB5B2B65}"/>
              </a:ext>
            </a:extLst>
          </p:cNvPr>
          <p:cNvSpPr>
            <a:spLocks noGrp="1"/>
          </p:cNvSpPr>
          <p:nvPr/>
        </p:nvSpPr>
        <p:spPr>
          <a:xfrm>
            <a:off x="365760" y="603161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BB Seguridade</a:t>
            </a:r>
          </a:p>
        </p:txBody>
      </p:sp>
      <p:sp>
        <p:nvSpPr>
          <p:cNvPr id="33" name="TextBox 32">
            <a:extLst>
              <a:ext uri="{FF2B5EF4-FFF2-40B4-BE49-F238E27FC236}">
                <a16:creationId xmlns:a16="http://schemas.microsoft.com/office/drawing/2014/main" id="{4537E35B-0594-2A2D-8580-FB9BA8CE0C84}"/>
              </a:ext>
            </a:extLst>
          </p:cNvPr>
          <p:cNvSpPr>
            <a:spLocks noGrp="1"/>
          </p:cNvSpPr>
          <p:nvPr/>
        </p:nvSpPr>
        <p:spPr>
          <a:xfrm>
            <a:off x="365760" y="617791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 Partners</a:t>
            </a:r>
          </a:p>
        </p:txBody>
      </p:sp>
      <p:sp>
        <p:nvSpPr>
          <p:cNvPr id="34" name="TextBox 33">
            <a:extLst>
              <a:ext uri="{FF2B5EF4-FFF2-40B4-BE49-F238E27FC236}">
                <a16:creationId xmlns:a16="http://schemas.microsoft.com/office/drawing/2014/main" id="{DEE225E4-03FF-ECB9-3BC2-C341FFC6A41F}"/>
              </a:ext>
            </a:extLst>
          </p:cNvPr>
          <p:cNvSpPr>
            <a:spLocks noGrp="1"/>
          </p:cNvSpPr>
          <p:nvPr/>
        </p:nvSpPr>
        <p:spPr>
          <a:xfrm>
            <a:off x="365760" y="632421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Bradesco</a:t>
            </a:r>
          </a:p>
        </p:txBody>
      </p:sp>
      <p:sp>
        <p:nvSpPr>
          <p:cNvPr id="35" name="TextBox 34">
            <a:extLst>
              <a:ext uri="{FF2B5EF4-FFF2-40B4-BE49-F238E27FC236}">
                <a16:creationId xmlns:a16="http://schemas.microsoft.com/office/drawing/2014/main" id="{14BD61E1-ABC1-D38E-0AFF-1C350E6F84EE}"/>
              </a:ext>
            </a:extLst>
          </p:cNvPr>
          <p:cNvSpPr>
            <a:spLocks noGrp="1"/>
          </p:cNvSpPr>
          <p:nvPr/>
        </p:nvSpPr>
        <p:spPr>
          <a:xfrm>
            <a:off x="365760" y="647052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Caixa Seguridade</a:t>
            </a:r>
          </a:p>
        </p:txBody>
      </p:sp>
      <p:sp>
        <p:nvSpPr>
          <p:cNvPr id="37" name="TextBox 36">
            <a:extLst>
              <a:ext uri="{FF2B5EF4-FFF2-40B4-BE49-F238E27FC236}">
                <a16:creationId xmlns:a16="http://schemas.microsoft.com/office/drawing/2014/main" id="{20F4021F-9AB6-2B31-D039-A86D6F726CF6}"/>
              </a:ext>
            </a:extLst>
          </p:cNvPr>
          <p:cNvSpPr>
            <a:spLocks noGrp="1"/>
          </p:cNvSpPr>
          <p:nvPr/>
        </p:nvSpPr>
        <p:spPr>
          <a:xfrm>
            <a:off x="4846320" y="4873752"/>
            <a:ext cx="2008717" cy="338554"/>
          </a:xfrm>
          <a:prstGeom prst="rect">
            <a:avLst/>
          </a:prstGeom>
          <a:noFill/>
        </p:spPr>
        <p:txBody>
          <a:bodyPr wrap="square">
            <a:spAutoFit/>
          </a:bodyPr>
          <a:lstStyle/>
          <a:p>
            <a:r>
              <a:rPr sz="1600" b="1" dirty="0">
                <a:solidFill>
                  <a:srgbClr val="8EB3DF"/>
                </a:solidFill>
                <a:latin typeface="+mj-lt"/>
                <a:ea typeface="+mj-lt"/>
                <a:cs typeface="+mj-lt"/>
              </a:rPr>
              <a:t>Utilities</a:t>
            </a:r>
          </a:p>
        </p:txBody>
      </p:sp>
      <p:sp>
        <p:nvSpPr>
          <p:cNvPr id="38" name="TextBox 37">
            <a:extLst>
              <a:ext uri="{FF2B5EF4-FFF2-40B4-BE49-F238E27FC236}">
                <a16:creationId xmlns:a16="http://schemas.microsoft.com/office/drawing/2014/main" id="{4FAE4773-DE61-286F-159E-33AFC3914DA8}"/>
              </a:ext>
            </a:extLst>
          </p:cNvPr>
          <p:cNvSpPr>
            <a:spLocks noGrp="1"/>
          </p:cNvSpPr>
          <p:nvPr/>
        </p:nvSpPr>
        <p:spPr>
          <a:xfrm>
            <a:off x="365760" y="661682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IRB(Re)</a:t>
            </a:r>
          </a:p>
        </p:txBody>
      </p:sp>
      <p:sp>
        <p:nvSpPr>
          <p:cNvPr id="39" name="TextBox 38">
            <a:extLst>
              <a:ext uri="{FF2B5EF4-FFF2-40B4-BE49-F238E27FC236}">
                <a16:creationId xmlns:a16="http://schemas.microsoft.com/office/drawing/2014/main" id="{81F5A239-ABD4-120B-E111-69060F3BCC79}"/>
              </a:ext>
            </a:extLst>
          </p:cNvPr>
          <p:cNvSpPr>
            <a:spLocks noGrp="1"/>
          </p:cNvSpPr>
          <p:nvPr/>
        </p:nvSpPr>
        <p:spPr>
          <a:xfrm>
            <a:off x="365760" y="676313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Itaú</a:t>
            </a:r>
          </a:p>
        </p:txBody>
      </p:sp>
      <p:sp>
        <p:nvSpPr>
          <p:cNvPr id="40" name="TextBox 39">
            <a:extLst>
              <a:ext uri="{FF2B5EF4-FFF2-40B4-BE49-F238E27FC236}">
                <a16:creationId xmlns:a16="http://schemas.microsoft.com/office/drawing/2014/main" id="{FDD7C58A-36F6-D8B4-03EA-4DD38AF48535}"/>
              </a:ext>
            </a:extLst>
          </p:cNvPr>
          <p:cNvSpPr>
            <a:spLocks noGrp="1"/>
          </p:cNvSpPr>
          <p:nvPr/>
        </p:nvSpPr>
        <p:spPr>
          <a:xfrm>
            <a:off x="365760" y="690943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Mercantil</a:t>
            </a:r>
          </a:p>
        </p:txBody>
      </p:sp>
      <p:sp>
        <p:nvSpPr>
          <p:cNvPr id="41" name="TextBox 40">
            <a:extLst>
              <a:ext uri="{FF2B5EF4-FFF2-40B4-BE49-F238E27FC236}">
                <a16:creationId xmlns:a16="http://schemas.microsoft.com/office/drawing/2014/main" id="{79D68C34-0FDA-2851-7228-B7F2FBB5136E}"/>
              </a:ext>
            </a:extLst>
          </p:cNvPr>
          <p:cNvSpPr>
            <a:spLocks noGrp="1"/>
          </p:cNvSpPr>
          <p:nvPr/>
        </p:nvSpPr>
        <p:spPr>
          <a:xfrm>
            <a:off x="365760" y="705573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Pine</a:t>
            </a:r>
          </a:p>
        </p:txBody>
      </p:sp>
      <p:sp>
        <p:nvSpPr>
          <p:cNvPr id="42" name="TextBox 41">
            <a:extLst>
              <a:ext uri="{FF2B5EF4-FFF2-40B4-BE49-F238E27FC236}">
                <a16:creationId xmlns:a16="http://schemas.microsoft.com/office/drawing/2014/main" id="{BC26BA4A-77CB-FCEC-D73D-42ECA5DA3803}"/>
              </a:ext>
            </a:extLst>
          </p:cNvPr>
          <p:cNvSpPr>
            <a:spLocks noGrp="1"/>
          </p:cNvSpPr>
          <p:nvPr/>
        </p:nvSpPr>
        <p:spPr>
          <a:xfrm>
            <a:off x="365760" y="720204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Stone</a:t>
            </a:r>
          </a:p>
        </p:txBody>
      </p:sp>
      <p:sp>
        <p:nvSpPr>
          <p:cNvPr id="43" name="TextBox 42">
            <a:extLst>
              <a:ext uri="{FF2B5EF4-FFF2-40B4-BE49-F238E27FC236}">
                <a16:creationId xmlns:a16="http://schemas.microsoft.com/office/drawing/2014/main" id="{B7755E2D-8C3C-F449-2397-7DA1E32E3222}"/>
              </a:ext>
            </a:extLst>
          </p:cNvPr>
          <p:cNvSpPr>
            <a:spLocks noGrp="1"/>
          </p:cNvSpPr>
          <p:nvPr/>
        </p:nvSpPr>
        <p:spPr>
          <a:xfrm>
            <a:off x="365760" y="734834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XP Inc.</a:t>
            </a:r>
          </a:p>
        </p:txBody>
      </p:sp>
      <p:sp>
        <p:nvSpPr>
          <p:cNvPr id="46" name="TextBox 45">
            <a:extLst>
              <a:ext uri="{FF2B5EF4-FFF2-40B4-BE49-F238E27FC236}">
                <a16:creationId xmlns:a16="http://schemas.microsoft.com/office/drawing/2014/main" id="{45FB9832-7730-D360-40BA-056BEE45A07B}"/>
              </a:ext>
            </a:extLst>
          </p:cNvPr>
          <p:cNvSpPr>
            <a:spLocks noGrp="1"/>
          </p:cNvSpPr>
          <p:nvPr/>
        </p:nvSpPr>
        <p:spPr>
          <a:xfrm>
            <a:off x="365760" y="79827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BradSaúde</a:t>
            </a:r>
          </a:p>
        </p:txBody>
      </p:sp>
      <p:sp>
        <p:nvSpPr>
          <p:cNvPr id="47" name="TextBox 46">
            <a:extLst>
              <a:ext uri="{FF2B5EF4-FFF2-40B4-BE49-F238E27FC236}">
                <a16:creationId xmlns:a16="http://schemas.microsoft.com/office/drawing/2014/main" id="{97C4C4F2-8102-AE62-5E12-499314A79C03}"/>
              </a:ext>
            </a:extLst>
          </p:cNvPr>
          <p:cNvSpPr>
            <a:spLocks noGrp="1"/>
          </p:cNvSpPr>
          <p:nvPr/>
        </p:nvSpPr>
        <p:spPr>
          <a:xfrm>
            <a:off x="2606040" y="1188720"/>
            <a:ext cx="2008717" cy="338554"/>
          </a:xfrm>
          <a:prstGeom prst="rect">
            <a:avLst/>
          </a:prstGeom>
          <a:noFill/>
        </p:spPr>
        <p:txBody>
          <a:bodyPr wrap="square">
            <a:spAutoFit/>
          </a:bodyPr>
          <a:lstStyle/>
          <a:p>
            <a:r>
              <a:rPr sz="1600" b="1" dirty="0">
                <a:solidFill>
                  <a:srgbClr val="8EB3DF"/>
                </a:solidFill>
                <a:latin typeface="+mj-lt"/>
                <a:ea typeface="+mj-lt"/>
                <a:cs typeface="+mj-lt"/>
              </a:rPr>
              <a:t>Metals &amp; Mining</a:t>
            </a:r>
          </a:p>
        </p:txBody>
      </p:sp>
      <p:sp>
        <p:nvSpPr>
          <p:cNvPr id="48" name="TextBox 47">
            <a:extLst>
              <a:ext uri="{FF2B5EF4-FFF2-40B4-BE49-F238E27FC236}">
                <a16:creationId xmlns:a16="http://schemas.microsoft.com/office/drawing/2014/main" id="{2203C2D9-09F9-415C-F1A2-02C03B51AA0D}"/>
              </a:ext>
            </a:extLst>
          </p:cNvPr>
          <p:cNvSpPr>
            <a:spLocks noGrp="1"/>
          </p:cNvSpPr>
          <p:nvPr/>
        </p:nvSpPr>
        <p:spPr>
          <a:xfrm>
            <a:off x="365760" y="81290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Dasa</a:t>
            </a:r>
          </a:p>
        </p:txBody>
      </p:sp>
      <p:sp>
        <p:nvSpPr>
          <p:cNvPr id="49" name="TextBox 48">
            <a:extLst>
              <a:ext uri="{FF2B5EF4-FFF2-40B4-BE49-F238E27FC236}">
                <a16:creationId xmlns:a16="http://schemas.microsoft.com/office/drawing/2014/main" id="{D6FA801E-46C8-E7CF-721A-DDF8A3BBBCB6}"/>
              </a:ext>
            </a:extLst>
          </p:cNvPr>
          <p:cNvSpPr>
            <a:spLocks noGrp="1"/>
          </p:cNvSpPr>
          <p:nvPr/>
        </p:nvSpPr>
        <p:spPr>
          <a:xfrm>
            <a:off x="365760" y="82753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Fleury</a:t>
            </a:r>
          </a:p>
        </p:txBody>
      </p:sp>
      <p:sp>
        <p:nvSpPr>
          <p:cNvPr id="50" name="TextBox 49">
            <a:extLst>
              <a:ext uri="{FF2B5EF4-FFF2-40B4-BE49-F238E27FC236}">
                <a16:creationId xmlns:a16="http://schemas.microsoft.com/office/drawing/2014/main" id="{170CE230-2736-A2D6-318C-0502E01DB632}"/>
              </a:ext>
            </a:extLst>
          </p:cNvPr>
          <p:cNvSpPr>
            <a:spLocks noGrp="1"/>
          </p:cNvSpPr>
          <p:nvPr/>
        </p:nvSpPr>
        <p:spPr>
          <a:xfrm>
            <a:off x="365760" y="84216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Hapvida</a:t>
            </a:r>
          </a:p>
        </p:txBody>
      </p:sp>
      <p:sp>
        <p:nvSpPr>
          <p:cNvPr id="51" name="TextBox 50">
            <a:extLst>
              <a:ext uri="{FF2B5EF4-FFF2-40B4-BE49-F238E27FC236}">
                <a16:creationId xmlns:a16="http://schemas.microsoft.com/office/drawing/2014/main" id="{D8ABE4C8-B2A8-CAEB-E6CA-E3F643298A11}"/>
              </a:ext>
            </a:extLst>
          </p:cNvPr>
          <p:cNvSpPr>
            <a:spLocks noGrp="1"/>
          </p:cNvSpPr>
          <p:nvPr/>
        </p:nvSpPr>
        <p:spPr>
          <a:xfrm>
            <a:off x="365760" y="856792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Hypera</a:t>
            </a:r>
          </a:p>
        </p:txBody>
      </p:sp>
      <p:sp>
        <p:nvSpPr>
          <p:cNvPr id="52" name="TextBox 51">
            <a:extLst>
              <a:ext uri="{FF2B5EF4-FFF2-40B4-BE49-F238E27FC236}">
                <a16:creationId xmlns:a16="http://schemas.microsoft.com/office/drawing/2014/main" id="{6B9DCC3B-61F7-FEA1-2B9C-A9F5145E947F}"/>
              </a:ext>
            </a:extLst>
          </p:cNvPr>
          <p:cNvSpPr>
            <a:spLocks noGrp="1"/>
          </p:cNvSpPr>
          <p:nvPr/>
        </p:nvSpPr>
        <p:spPr>
          <a:xfrm>
            <a:off x="365760" y="871423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Mater Dei</a:t>
            </a:r>
          </a:p>
        </p:txBody>
      </p:sp>
      <p:sp>
        <p:nvSpPr>
          <p:cNvPr id="54" name="TextBox 53">
            <a:extLst>
              <a:ext uri="{FF2B5EF4-FFF2-40B4-BE49-F238E27FC236}">
                <a16:creationId xmlns:a16="http://schemas.microsoft.com/office/drawing/2014/main" id="{74B916A4-C080-535A-49F3-9445317E7104}"/>
              </a:ext>
            </a:extLst>
          </p:cNvPr>
          <p:cNvSpPr>
            <a:spLocks noGrp="1"/>
          </p:cNvSpPr>
          <p:nvPr/>
        </p:nvSpPr>
        <p:spPr>
          <a:xfrm>
            <a:off x="2606040" y="1888010"/>
            <a:ext cx="2008717" cy="338554"/>
          </a:xfrm>
          <a:prstGeom prst="rect">
            <a:avLst/>
          </a:prstGeom>
          <a:noFill/>
        </p:spPr>
        <p:txBody>
          <a:bodyPr wrap="square">
            <a:spAutoFit/>
          </a:bodyPr>
          <a:lstStyle/>
          <a:p>
            <a:r>
              <a:rPr sz="1600" b="1">
                <a:solidFill>
                  <a:srgbClr val="8EB3DF"/>
                </a:solidFill>
                <a:latin typeface="+mj-lt"/>
                <a:ea typeface="+mj-lt"/>
                <a:cs typeface="+mj-lt"/>
              </a:rPr>
              <a:t>Oil &amp; Gas</a:t>
            </a:r>
          </a:p>
        </p:txBody>
      </p:sp>
      <p:sp>
        <p:nvSpPr>
          <p:cNvPr id="55" name="TextBox 54">
            <a:extLst>
              <a:ext uri="{FF2B5EF4-FFF2-40B4-BE49-F238E27FC236}">
                <a16:creationId xmlns:a16="http://schemas.microsoft.com/office/drawing/2014/main" id="{4DB670CA-E9B1-BA9F-6215-0BEFAB767ED9}"/>
              </a:ext>
            </a:extLst>
          </p:cNvPr>
          <p:cNvSpPr>
            <a:spLocks noGrp="1"/>
          </p:cNvSpPr>
          <p:nvPr/>
        </p:nvSpPr>
        <p:spPr>
          <a:xfrm>
            <a:off x="365760" y="886053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Rede D'Or</a:t>
            </a:r>
          </a:p>
        </p:txBody>
      </p:sp>
      <p:sp>
        <p:nvSpPr>
          <p:cNvPr id="56" name="TextBox 55">
            <a:extLst>
              <a:ext uri="{FF2B5EF4-FFF2-40B4-BE49-F238E27FC236}">
                <a16:creationId xmlns:a16="http://schemas.microsoft.com/office/drawing/2014/main" id="{B45D8185-381D-3841-650D-3B3BEDAAD35D}"/>
              </a:ext>
            </a:extLst>
          </p:cNvPr>
          <p:cNvSpPr>
            <a:spLocks noGrp="1"/>
          </p:cNvSpPr>
          <p:nvPr/>
        </p:nvSpPr>
        <p:spPr>
          <a:xfrm>
            <a:off x="365760" y="900684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União Química</a:t>
            </a:r>
          </a:p>
        </p:txBody>
      </p:sp>
      <p:sp>
        <p:nvSpPr>
          <p:cNvPr id="60" name="TextBox 59">
            <a:extLst>
              <a:ext uri="{FF2B5EF4-FFF2-40B4-BE49-F238E27FC236}">
                <a16:creationId xmlns:a16="http://schemas.microsoft.com/office/drawing/2014/main" id="{E378122B-D268-E2E4-95D5-829AD1E7C9F7}"/>
              </a:ext>
            </a:extLst>
          </p:cNvPr>
          <p:cNvSpPr>
            <a:spLocks noGrp="1"/>
          </p:cNvSpPr>
          <p:nvPr/>
        </p:nvSpPr>
        <p:spPr>
          <a:xfrm>
            <a:off x="365760" y="359244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WEG</a:t>
            </a:r>
          </a:p>
        </p:txBody>
      </p:sp>
      <p:sp>
        <p:nvSpPr>
          <p:cNvPr id="61" name="TextBox 60">
            <a:extLst>
              <a:ext uri="{FF2B5EF4-FFF2-40B4-BE49-F238E27FC236}">
                <a16:creationId xmlns:a16="http://schemas.microsoft.com/office/drawing/2014/main" id="{2E2E103C-618D-7F3A-7EE8-9E4E5782C5E0}"/>
              </a:ext>
            </a:extLst>
          </p:cNvPr>
          <p:cNvSpPr>
            <a:spLocks noGrp="1"/>
          </p:cNvSpPr>
          <p:nvPr/>
        </p:nvSpPr>
        <p:spPr>
          <a:xfrm>
            <a:off x="4846320" y="51800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Aegea</a:t>
            </a:r>
          </a:p>
        </p:txBody>
      </p:sp>
      <p:sp>
        <p:nvSpPr>
          <p:cNvPr id="62" name="TextBox 61">
            <a:extLst>
              <a:ext uri="{FF2B5EF4-FFF2-40B4-BE49-F238E27FC236}">
                <a16:creationId xmlns:a16="http://schemas.microsoft.com/office/drawing/2014/main" id="{5DC76699-C7B0-B654-FF40-4A4E41368E6C}"/>
              </a:ext>
            </a:extLst>
          </p:cNvPr>
          <p:cNvSpPr>
            <a:spLocks noGrp="1"/>
          </p:cNvSpPr>
          <p:nvPr/>
        </p:nvSpPr>
        <p:spPr>
          <a:xfrm>
            <a:off x="4846320" y="5326380"/>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Auren</a:t>
            </a:r>
          </a:p>
        </p:txBody>
      </p:sp>
      <p:sp>
        <p:nvSpPr>
          <p:cNvPr id="63" name="TextBox 62">
            <a:extLst>
              <a:ext uri="{FF2B5EF4-FFF2-40B4-BE49-F238E27FC236}">
                <a16:creationId xmlns:a16="http://schemas.microsoft.com/office/drawing/2014/main" id="{B1C7FAA4-CD9A-2895-15CA-9D9DF3BA393E}"/>
              </a:ext>
            </a:extLst>
          </p:cNvPr>
          <p:cNvSpPr>
            <a:spLocks noGrp="1"/>
          </p:cNvSpPr>
          <p:nvPr/>
        </p:nvSpPr>
        <p:spPr>
          <a:xfrm>
            <a:off x="4846320" y="54726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a:t>
            </a:r>
            <a:r>
              <a:rPr lang="pt-BR" sz="900" b="1" dirty="0" err="1">
                <a:solidFill>
                  <a:schemeClr val="bg1"/>
                </a:solidFill>
                <a:latin typeface="+mj-lt"/>
                <a:ea typeface="+mj-lt"/>
                <a:cs typeface="+mj-lt"/>
              </a:rPr>
              <a:t>xia</a:t>
            </a:r>
            <a:r>
              <a:rPr lang="pt-BR" sz="900" b="1" dirty="0">
                <a:solidFill>
                  <a:schemeClr val="bg1"/>
                </a:solidFill>
                <a:latin typeface="+mj-lt"/>
                <a:ea typeface="+mj-lt"/>
                <a:cs typeface="+mj-lt"/>
              </a:rPr>
              <a:t> Energia</a:t>
            </a:r>
            <a:endParaRPr sz="900" b="1" dirty="0">
              <a:solidFill>
                <a:schemeClr val="bg1"/>
              </a:solidFill>
              <a:latin typeface="+mj-lt"/>
              <a:ea typeface="+mj-lt"/>
              <a:cs typeface="+mj-lt"/>
            </a:endParaRPr>
          </a:p>
        </p:txBody>
      </p:sp>
      <p:sp>
        <p:nvSpPr>
          <p:cNvPr id="2" name="TextBox 1">
            <a:extLst>
              <a:ext uri="{FF2B5EF4-FFF2-40B4-BE49-F238E27FC236}">
                <a16:creationId xmlns:a16="http://schemas.microsoft.com/office/drawing/2014/main" id="{B7FE9BD1-D3D6-EAFC-355A-83F004C9F4AF}"/>
              </a:ext>
            </a:extLst>
          </p:cNvPr>
          <p:cNvSpPr>
            <a:spLocks noGrp="1"/>
          </p:cNvSpPr>
          <p:nvPr/>
        </p:nvSpPr>
        <p:spPr>
          <a:xfrm>
            <a:off x="2606040" y="3286125"/>
            <a:ext cx="2008717" cy="338554"/>
          </a:xfrm>
          <a:prstGeom prst="rect">
            <a:avLst/>
          </a:prstGeom>
          <a:noFill/>
        </p:spPr>
        <p:txBody>
          <a:bodyPr wrap="square">
            <a:spAutoFit/>
          </a:bodyPr>
          <a:lstStyle/>
          <a:p>
            <a:r>
              <a:rPr sz="1600" b="1">
                <a:solidFill>
                  <a:srgbClr val="8EB3DF"/>
                </a:solidFill>
                <a:latin typeface="+mj-lt"/>
                <a:ea typeface="+mj-lt"/>
                <a:cs typeface="+mj-lt"/>
              </a:rPr>
              <a:t>Pulp &amp; Paper</a:t>
            </a:r>
          </a:p>
        </p:txBody>
      </p:sp>
      <p:sp>
        <p:nvSpPr>
          <p:cNvPr id="4" name="TextBox 3">
            <a:extLst>
              <a:ext uri="{FF2B5EF4-FFF2-40B4-BE49-F238E27FC236}">
                <a16:creationId xmlns:a16="http://schemas.microsoft.com/office/drawing/2014/main" id="{3FC7AB02-EB46-1E65-A5CC-457F57C003FF}"/>
              </a:ext>
            </a:extLst>
          </p:cNvPr>
          <p:cNvSpPr>
            <a:spLocks noGrp="1"/>
          </p:cNvSpPr>
          <p:nvPr/>
        </p:nvSpPr>
        <p:spPr>
          <a:xfrm>
            <a:off x="4846320" y="5618988"/>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Cemig</a:t>
            </a:r>
            <a:endParaRPr sz="900" b="1" dirty="0">
              <a:solidFill>
                <a:schemeClr val="bg1"/>
              </a:solidFill>
              <a:latin typeface="+mj-lt"/>
              <a:ea typeface="+mj-lt"/>
              <a:cs typeface="+mj-lt"/>
            </a:endParaRPr>
          </a:p>
        </p:txBody>
      </p:sp>
      <p:sp>
        <p:nvSpPr>
          <p:cNvPr id="53" name="TextBox 52">
            <a:extLst>
              <a:ext uri="{FF2B5EF4-FFF2-40B4-BE49-F238E27FC236}">
                <a16:creationId xmlns:a16="http://schemas.microsoft.com/office/drawing/2014/main" id="{8693FCA1-33DA-2389-A407-9268B379F67F}"/>
              </a:ext>
            </a:extLst>
          </p:cNvPr>
          <p:cNvSpPr>
            <a:spLocks noGrp="1"/>
          </p:cNvSpPr>
          <p:nvPr/>
        </p:nvSpPr>
        <p:spPr>
          <a:xfrm>
            <a:off x="2606040" y="3955426"/>
            <a:ext cx="2008717" cy="338554"/>
          </a:xfrm>
          <a:prstGeom prst="rect">
            <a:avLst/>
          </a:prstGeom>
          <a:noFill/>
        </p:spPr>
        <p:txBody>
          <a:bodyPr wrap="square">
            <a:spAutoFit/>
          </a:bodyPr>
          <a:lstStyle/>
          <a:p>
            <a:r>
              <a:rPr sz="1600" b="1">
                <a:solidFill>
                  <a:srgbClr val="8EB3DF"/>
                </a:solidFill>
                <a:latin typeface="+mj-lt"/>
                <a:ea typeface="+mj-lt"/>
                <a:cs typeface="+mj-lt"/>
              </a:rPr>
              <a:t>Real Estate</a:t>
            </a:r>
          </a:p>
        </p:txBody>
      </p:sp>
      <p:sp>
        <p:nvSpPr>
          <p:cNvPr id="58" name="TextBox 57">
            <a:extLst>
              <a:ext uri="{FF2B5EF4-FFF2-40B4-BE49-F238E27FC236}">
                <a16:creationId xmlns:a16="http://schemas.microsoft.com/office/drawing/2014/main" id="{49E6FB3C-C061-4CD1-DFB0-3FA8969CBB99}"/>
              </a:ext>
            </a:extLst>
          </p:cNvPr>
          <p:cNvSpPr>
            <a:spLocks noGrp="1"/>
          </p:cNvSpPr>
          <p:nvPr/>
        </p:nvSpPr>
        <p:spPr>
          <a:xfrm>
            <a:off x="4846320" y="591159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Copasa</a:t>
            </a:r>
          </a:p>
        </p:txBody>
      </p:sp>
      <p:sp>
        <p:nvSpPr>
          <p:cNvPr id="59" name="TextBox 58">
            <a:extLst>
              <a:ext uri="{FF2B5EF4-FFF2-40B4-BE49-F238E27FC236}">
                <a16:creationId xmlns:a16="http://schemas.microsoft.com/office/drawing/2014/main" id="{A4645B2A-0B5C-628D-46D6-03F0EE2CD46B}"/>
              </a:ext>
            </a:extLst>
          </p:cNvPr>
          <p:cNvSpPr>
            <a:spLocks noGrp="1"/>
          </p:cNvSpPr>
          <p:nvPr/>
        </p:nvSpPr>
        <p:spPr>
          <a:xfrm>
            <a:off x="4846320" y="605790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Copel</a:t>
            </a:r>
          </a:p>
        </p:txBody>
      </p:sp>
      <p:sp>
        <p:nvSpPr>
          <p:cNvPr id="64" name="TextBox 63">
            <a:extLst>
              <a:ext uri="{FF2B5EF4-FFF2-40B4-BE49-F238E27FC236}">
                <a16:creationId xmlns:a16="http://schemas.microsoft.com/office/drawing/2014/main" id="{3C3080D9-0C55-0798-37A9-609183CE5DB5}"/>
              </a:ext>
            </a:extLst>
          </p:cNvPr>
          <p:cNvSpPr>
            <a:spLocks noGrp="1"/>
          </p:cNvSpPr>
          <p:nvPr/>
        </p:nvSpPr>
        <p:spPr>
          <a:xfrm>
            <a:off x="4846320" y="620420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Energisa</a:t>
            </a:r>
          </a:p>
        </p:txBody>
      </p:sp>
      <p:sp>
        <p:nvSpPr>
          <p:cNvPr id="65" name="TextBox 64">
            <a:extLst>
              <a:ext uri="{FF2B5EF4-FFF2-40B4-BE49-F238E27FC236}">
                <a16:creationId xmlns:a16="http://schemas.microsoft.com/office/drawing/2014/main" id="{72896531-3244-9CC7-73E6-3973171B0F33}"/>
              </a:ext>
            </a:extLst>
          </p:cNvPr>
          <p:cNvSpPr>
            <a:spLocks noGrp="1"/>
          </p:cNvSpPr>
          <p:nvPr/>
        </p:nvSpPr>
        <p:spPr>
          <a:xfrm>
            <a:off x="4846320" y="635050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Engie</a:t>
            </a:r>
          </a:p>
        </p:txBody>
      </p:sp>
      <p:sp>
        <p:nvSpPr>
          <p:cNvPr id="66" name="TextBox 65">
            <a:extLst>
              <a:ext uri="{FF2B5EF4-FFF2-40B4-BE49-F238E27FC236}">
                <a16:creationId xmlns:a16="http://schemas.microsoft.com/office/drawing/2014/main" id="{89138027-E87B-8D88-BDB5-C92598B62E1D}"/>
              </a:ext>
            </a:extLst>
          </p:cNvPr>
          <p:cNvSpPr>
            <a:spLocks noGrp="1"/>
          </p:cNvSpPr>
          <p:nvPr/>
        </p:nvSpPr>
        <p:spPr>
          <a:xfrm>
            <a:off x="4846320" y="64968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Equatorial</a:t>
            </a:r>
          </a:p>
        </p:txBody>
      </p:sp>
      <p:sp>
        <p:nvSpPr>
          <p:cNvPr id="67" name="TextBox 66">
            <a:extLst>
              <a:ext uri="{FF2B5EF4-FFF2-40B4-BE49-F238E27FC236}">
                <a16:creationId xmlns:a16="http://schemas.microsoft.com/office/drawing/2014/main" id="{F00CE533-F996-B427-2E1D-D9A8E8C045EF}"/>
              </a:ext>
            </a:extLst>
          </p:cNvPr>
          <p:cNvSpPr>
            <a:spLocks noGrp="1"/>
          </p:cNvSpPr>
          <p:nvPr/>
        </p:nvSpPr>
        <p:spPr>
          <a:xfrm>
            <a:off x="4846320" y="66431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Light</a:t>
            </a:r>
          </a:p>
        </p:txBody>
      </p:sp>
      <p:sp>
        <p:nvSpPr>
          <p:cNvPr id="68" name="TextBox 67">
            <a:extLst>
              <a:ext uri="{FF2B5EF4-FFF2-40B4-BE49-F238E27FC236}">
                <a16:creationId xmlns:a16="http://schemas.microsoft.com/office/drawing/2014/main" id="{B0DFA29A-D090-8777-7E6F-814419912EB5}"/>
              </a:ext>
            </a:extLst>
          </p:cNvPr>
          <p:cNvSpPr>
            <a:spLocks noGrp="1"/>
          </p:cNvSpPr>
          <p:nvPr/>
        </p:nvSpPr>
        <p:spPr>
          <a:xfrm>
            <a:off x="4846320" y="67894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Orizon</a:t>
            </a:r>
          </a:p>
        </p:txBody>
      </p:sp>
      <p:sp>
        <p:nvSpPr>
          <p:cNvPr id="69" name="TextBox 68">
            <a:extLst>
              <a:ext uri="{FF2B5EF4-FFF2-40B4-BE49-F238E27FC236}">
                <a16:creationId xmlns:a16="http://schemas.microsoft.com/office/drawing/2014/main" id="{5E395965-B5B6-318A-DF93-7F68D6233802}"/>
              </a:ext>
            </a:extLst>
          </p:cNvPr>
          <p:cNvSpPr>
            <a:spLocks noGrp="1"/>
          </p:cNvSpPr>
          <p:nvPr/>
        </p:nvSpPr>
        <p:spPr>
          <a:xfrm>
            <a:off x="4846320" y="69357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Taesa</a:t>
            </a:r>
          </a:p>
        </p:txBody>
      </p:sp>
      <p:sp>
        <p:nvSpPr>
          <p:cNvPr id="70" name="TextBox 69">
            <a:extLst>
              <a:ext uri="{FF2B5EF4-FFF2-40B4-BE49-F238E27FC236}">
                <a16:creationId xmlns:a16="http://schemas.microsoft.com/office/drawing/2014/main" id="{17232527-EEBE-B07D-9BC4-26FE4264472F}"/>
              </a:ext>
            </a:extLst>
          </p:cNvPr>
          <p:cNvSpPr>
            <a:spLocks noGrp="1"/>
          </p:cNvSpPr>
          <p:nvPr/>
        </p:nvSpPr>
        <p:spPr>
          <a:xfrm>
            <a:off x="260604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CSN</a:t>
            </a:r>
          </a:p>
        </p:txBody>
      </p:sp>
      <p:sp>
        <p:nvSpPr>
          <p:cNvPr id="72" name="TextBox 71">
            <a:extLst>
              <a:ext uri="{FF2B5EF4-FFF2-40B4-BE49-F238E27FC236}">
                <a16:creationId xmlns:a16="http://schemas.microsoft.com/office/drawing/2014/main" id="{EF8467F2-80DC-373D-8287-706E25BCADB0}"/>
              </a:ext>
            </a:extLst>
          </p:cNvPr>
          <p:cNvSpPr>
            <a:spLocks noGrp="1"/>
          </p:cNvSpPr>
          <p:nvPr/>
        </p:nvSpPr>
        <p:spPr>
          <a:xfrm>
            <a:off x="2606040" y="6115214"/>
            <a:ext cx="2008717" cy="338554"/>
          </a:xfrm>
          <a:prstGeom prst="rect">
            <a:avLst/>
          </a:prstGeom>
          <a:noFill/>
        </p:spPr>
        <p:txBody>
          <a:bodyPr wrap="square">
            <a:spAutoFit/>
          </a:bodyPr>
          <a:lstStyle/>
          <a:p>
            <a:r>
              <a:rPr sz="1600" b="1">
                <a:solidFill>
                  <a:srgbClr val="8EB3DF"/>
                </a:solidFill>
                <a:latin typeface="+mj-lt"/>
                <a:ea typeface="+mj-lt"/>
                <a:cs typeface="+mj-lt"/>
              </a:rPr>
              <a:t>Retail</a:t>
            </a:r>
          </a:p>
        </p:txBody>
      </p:sp>
      <p:sp>
        <p:nvSpPr>
          <p:cNvPr id="73" name="TextBox 72">
            <a:extLst>
              <a:ext uri="{FF2B5EF4-FFF2-40B4-BE49-F238E27FC236}">
                <a16:creationId xmlns:a16="http://schemas.microsoft.com/office/drawing/2014/main" id="{058BA303-48E7-7D53-B5F6-32E67216E08E}"/>
              </a:ext>
            </a:extLst>
          </p:cNvPr>
          <p:cNvSpPr>
            <a:spLocks noGrp="1"/>
          </p:cNvSpPr>
          <p:nvPr/>
        </p:nvSpPr>
        <p:spPr>
          <a:xfrm>
            <a:off x="260604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Vale</a:t>
            </a:r>
          </a:p>
        </p:txBody>
      </p:sp>
      <p:sp>
        <p:nvSpPr>
          <p:cNvPr id="74" name="TextBox 73">
            <a:extLst>
              <a:ext uri="{FF2B5EF4-FFF2-40B4-BE49-F238E27FC236}">
                <a16:creationId xmlns:a16="http://schemas.microsoft.com/office/drawing/2014/main" id="{EFD498B7-42B9-8C40-F340-AB48FCE47799}"/>
              </a:ext>
            </a:extLst>
          </p:cNvPr>
          <p:cNvSpPr>
            <a:spLocks noGrp="1"/>
          </p:cNvSpPr>
          <p:nvPr/>
        </p:nvSpPr>
        <p:spPr>
          <a:xfrm>
            <a:off x="2606040" y="219433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Brava</a:t>
            </a:r>
          </a:p>
        </p:txBody>
      </p:sp>
      <p:sp>
        <p:nvSpPr>
          <p:cNvPr id="76" name="TextBox 75">
            <a:extLst>
              <a:ext uri="{FF2B5EF4-FFF2-40B4-BE49-F238E27FC236}">
                <a16:creationId xmlns:a16="http://schemas.microsoft.com/office/drawing/2014/main" id="{C851A0A4-C990-FFA4-A6DE-B137D96102F9}"/>
              </a:ext>
            </a:extLst>
          </p:cNvPr>
          <p:cNvSpPr>
            <a:spLocks noGrp="1"/>
          </p:cNvSpPr>
          <p:nvPr/>
        </p:nvSpPr>
        <p:spPr>
          <a:xfrm>
            <a:off x="2606040" y="23406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Origem</a:t>
            </a:r>
          </a:p>
        </p:txBody>
      </p:sp>
      <p:sp>
        <p:nvSpPr>
          <p:cNvPr id="77" name="TextBox 76">
            <a:extLst>
              <a:ext uri="{FF2B5EF4-FFF2-40B4-BE49-F238E27FC236}">
                <a16:creationId xmlns:a16="http://schemas.microsoft.com/office/drawing/2014/main" id="{CFE7F5A9-CF19-A968-5974-31ECABAF1AC9}"/>
              </a:ext>
            </a:extLst>
          </p:cNvPr>
          <p:cNvSpPr>
            <a:spLocks noGrp="1"/>
          </p:cNvSpPr>
          <p:nvPr/>
        </p:nvSpPr>
        <p:spPr>
          <a:xfrm>
            <a:off x="2606040" y="24869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Petrobras</a:t>
            </a:r>
          </a:p>
        </p:txBody>
      </p:sp>
      <p:sp>
        <p:nvSpPr>
          <p:cNvPr id="78" name="TextBox 77">
            <a:extLst>
              <a:ext uri="{FF2B5EF4-FFF2-40B4-BE49-F238E27FC236}">
                <a16:creationId xmlns:a16="http://schemas.microsoft.com/office/drawing/2014/main" id="{0B8DDF99-977B-E8B7-5F87-9C2DF5202137}"/>
              </a:ext>
            </a:extLst>
          </p:cNvPr>
          <p:cNvSpPr>
            <a:spLocks noGrp="1"/>
          </p:cNvSpPr>
          <p:nvPr/>
        </p:nvSpPr>
        <p:spPr>
          <a:xfrm>
            <a:off x="2606040" y="26332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PetroRecôncavo</a:t>
            </a:r>
          </a:p>
        </p:txBody>
      </p:sp>
      <p:sp>
        <p:nvSpPr>
          <p:cNvPr id="79" name="TextBox 78">
            <a:extLst>
              <a:ext uri="{FF2B5EF4-FFF2-40B4-BE49-F238E27FC236}">
                <a16:creationId xmlns:a16="http://schemas.microsoft.com/office/drawing/2014/main" id="{C233E533-673B-AD43-284D-57A00772691F}"/>
              </a:ext>
            </a:extLst>
          </p:cNvPr>
          <p:cNvSpPr>
            <a:spLocks noGrp="1"/>
          </p:cNvSpPr>
          <p:nvPr/>
        </p:nvSpPr>
        <p:spPr>
          <a:xfrm>
            <a:off x="2606040" y="27795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PRIO</a:t>
            </a:r>
          </a:p>
        </p:txBody>
      </p:sp>
      <p:sp>
        <p:nvSpPr>
          <p:cNvPr id="80" name="TextBox 79">
            <a:extLst>
              <a:ext uri="{FF2B5EF4-FFF2-40B4-BE49-F238E27FC236}">
                <a16:creationId xmlns:a16="http://schemas.microsoft.com/office/drawing/2014/main" id="{714A9E72-719B-08B3-D493-F8BC1E423C60}"/>
              </a:ext>
            </a:extLst>
          </p:cNvPr>
          <p:cNvSpPr>
            <a:spLocks noGrp="1"/>
          </p:cNvSpPr>
          <p:nvPr/>
        </p:nvSpPr>
        <p:spPr>
          <a:xfrm>
            <a:off x="2606040" y="29258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Ultra</a:t>
            </a:r>
          </a:p>
        </p:txBody>
      </p:sp>
      <p:sp>
        <p:nvSpPr>
          <p:cNvPr id="81" name="TextBox 80">
            <a:extLst>
              <a:ext uri="{FF2B5EF4-FFF2-40B4-BE49-F238E27FC236}">
                <a16:creationId xmlns:a16="http://schemas.microsoft.com/office/drawing/2014/main" id="{CA18C3C5-A413-494D-DA5F-137BD2C592B3}"/>
              </a:ext>
            </a:extLst>
          </p:cNvPr>
          <p:cNvSpPr>
            <a:spLocks noGrp="1"/>
          </p:cNvSpPr>
          <p:nvPr/>
        </p:nvSpPr>
        <p:spPr>
          <a:xfrm>
            <a:off x="2606040" y="30721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Vibra</a:t>
            </a:r>
          </a:p>
        </p:txBody>
      </p:sp>
      <p:sp>
        <p:nvSpPr>
          <p:cNvPr id="82" name="TextBox 81">
            <a:extLst>
              <a:ext uri="{FF2B5EF4-FFF2-40B4-BE49-F238E27FC236}">
                <a16:creationId xmlns:a16="http://schemas.microsoft.com/office/drawing/2014/main" id="{F879602E-D67B-2D39-D270-FE957939CA23}"/>
              </a:ext>
            </a:extLst>
          </p:cNvPr>
          <p:cNvSpPr>
            <a:spLocks noGrp="1"/>
          </p:cNvSpPr>
          <p:nvPr/>
        </p:nvSpPr>
        <p:spPr>
          <a:xfrm>
            <a:off x="2606040" y="3592449"/>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Klabin</a:t>
            </a:r>
          </a:p>
        </p:txBody>
      </p:sp>
      <p:sp>
        <p:nvSpPr>
          <p:cNvPr id="83" name="TextBox 82">
            <a:extLst>
              <a:ext uri="{FF2B5EF4-FFF2-40B4-BE49-F238E27FC236}">
                <a16:creationId xmlns:a16="http://schemas.microsoft.com/office/drawing/2014/main" id="{2C7B66D0-5298-0B63-A4F1-5DF002440421}"/>
              </a:ext>
            </a:extLst>
          </p:cNvPr>
          <p:cNvSpPr>
            <a:spLocks noGrp="1"/>
          </p:cNvSpPr>
          <p:nvPr/>
        </p:nvSpPr>
        <p:spPr>
          <a:xfrm>
            <a:off x="2606040" y="373875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Suzano</a:t>
            </a:r>
          </a:p>
        </p:txBody>
      </p:sp>
      <p:sp>
        <p:nvSpPr>
          <p:cNvPr id="84" name="TextBox 83">
            <a:extLst>
              <a:ext uri="{FF2B5EF4-FFF2-40B4-BE49-F238E27FC236}">
                <a16:creationId xmlns:a16="http://schemas.microsoft.com/office/drawing/2014/main" id="{49E4E2B0-973D-D93B-8B5F-0617BDFF3355}"/>
              </a:ext>
            </a:extLst>
          </p:cNvPr>
          <p:cNvSpPr>
            <a:spLocks noGrp="1"/>
          </p:cNvSpPr>
          <p:nvPr/>
        </p:nvSpPr>
        <p:spPr>
          <a:xfrm>
            <a:off x="2606040" y="42617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Allos</a:t>
            </a:r>
          </a:p>
        </p:txBody>
      </p:sp>
      <p:sp>
        <p:nvSpPr>
          <p:cNvPr id="85" name="TextBox 84">
            <a:extLst>
              <a:ext uri="{FF2B5EF4-FFF2-40B4-BE49-F238E27FC236}">
                <a16:creationId xmlns:a16="http://schemas.microsoft.com/office/drawing/2014/main" id="{A3BBB7B1-7A1C-A8FD-A973-F6B5496F4F82}"/>
              </a:ext>
            </a:extLst>
          </p:cNvPr>
          <p:cNvSpPr>
            <a:spLocks noGrp="1"/>
          </p:cNvSpPr>
          <p:nvPr/>
        </p:nvSpPr>
        <p:spPr>
          <a:xfrm>
            <a:off x="2606040" y="44080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Cury</a:t>
            </a:r>
          </a:p>
        </p:txBody>
      </p:sp>
      <p:sp>
        <p:nvSpPr>
          <p:cNvPr id="86" name="TextBox 85">
            <a:extLst>
              <a:ext uri="{FF2B5EF4-FFF2-40B4-BE49-F238E27FC236}">
                <a16:creationId xmlns:a16="http://schemas.microsoft.com/office/drawing/2014/main" id="{0397B395-7C6E-8796-41AB-D950F4CD046C}"/>
              </a:ext>
            </a:extLst>
          </p:cNvPr>
          <p:cNvSpPr>
            <a:spLocks noGrp="1"/>
          </p:cNvSpPr>
          <p:nvPr/>
        </p:nvSpPr>
        <p:spPr>
          <a:xfrm>
            <a:off x="4846320" y="1188720"/>
            <a:ext cx="2008717" cy="338554"/>
          </a:xfrm>
          <a:prstGeom prst="rect">
            <a:avLst/>
          </a:prstGeom>
          <a:noFill/>
        </p:spPr>
        <p:txBody>
          <a:bodyPr wrap="square">
            <a:spAutoFit/>
          </a:bodyPr>
          <a:lstStyle/>
          <a:p>
            <a:r>
              <a:rPr sz="1600" b="1" dirty="0">
                <a:solidFill>
                  <a:srgbClr val="8EB3DF"/>
                </a:solidFill>
                <a:latin typeface="+mj-lt"/>
                <a:ea typeface="+mj-lt"/>
                <a:cs typeface="+mj-lt"/>
              </a:rPr>
              <a:t>TMT</a:t>
            </a:r>
          </a:p>
        </p:txBody>
      </p:sp>
      <p:sp>
        <p:nvSpPr>
          <p:cNvPr id="87" name="TextBox 86">
            <a:extLst>
              <a:ext uri="{FF2B5EF4-FFF2-40B4-BE49-F238E27FC236}">
                <a16:creationId xmlns:a16="http://schemas.microsoft.com/office/drawing/2014/main" id="{41D30E5F-F79A-4BA6-D6D8-126051331A43}"/>
              </a:ext>
            </a:extLst>
          </p:cNvPr>
          <p:cNvSpPr>
            <a:spLocks noGrp="1"/>
          </p:cNvSpPr>
          <p:nvPr/>
        </p:nvSpPr>
        <p:spPr>
          <a:xfrm>
            <a:off x="2606040" y="45543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Cyrela</a:t>
            </a:r>
          </a:p>
        </p:txBody>
      </p:sp>
      <p:sp>
        <p:nvSpPr>
          <p:cNvPr id="88" name="TextBox 87">
            <a:extLst>
              <a:ext uri="{FF2B5EF4-FFF2-40B4-BE49-F238E27FC236}">
                <a16:creationId xmlns:a16="http://schemas.microsoft.com/office/drawing/2014/main" id="{A6D41F3C-6C2E-CEAA-7340-7B94498C9852}"/>
              </a:ext>
            </a:extLst>
          </p:cNvPr>
          <p:cNvSpPr>
            <a:spLocks noGrp="1"/>
          </p:cNvSpPr>
          <p:nvPr/>
        </p:nvSpPr>
        <p:spPr>
          <a:xfrm>
            <a:off x="2606040" y="47006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Direcional</a:t>
            </a:r>
          </a:p>
        </p:txBody>
      </p:sp>
      <p:sp>
        <p:nvSpPr>
          <p:cNvPr id="89" name="TextBox 88">
            <a:extLst>
              <a:ext uri="{FF2B5EF4-FFF2-40B4-BE49-F238E27FC236}">
                <a16:creationId xmlns:a16="http://schemas.microsoft.com/office/drawing/2014/main" id="{FF2EF6C5-87FC-71E4-3D25-3CE0DA2EA389}"/>
              </a:ext>
            </a:extLst>
          </p:cNvPr>
          <p:cNvSpPr>
            <a:spLocks noGrp="1"/>
          </p:cNvSpPr>
          <p:nvPr/>
        </p:nvSpPr>
        <p:spPr>
          <a:xfrm>
            <a:off x="2606040" y="48469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Even</a:t>
            </a:r>
          </a:p>
        </p:txBody>
      </p:sp>
      <p:sp>
        <p:nvSpPr>
          <p:cNvPr id="90" name="TextBox 89">
            <a:extLst>
              <a:ext uri="{FF2B5EF4-FFF2-40B4-BE49-F238E27FC236}">
                <a16:creationId xmlns:a16="http://schemas.microsoft.com/office/drawing/2014/main" id="{0ABC273B-F528-62AF-7094-05A0F437C606}"/>
              </a:ext>
            </a:extLst>
          </p:cNvPr>
          <p:cNvSpPr>
            <a:spLocks noGrp="1"/>
          </p:cNvSpPr>
          <p:nvPr/>
        </p:nvSpPr>
        <p:spPr>
          <a:xfrm>
            <a:off x="2606040" y="49932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Iguatemi</a:t>
            </a:r>
          </a:p>
        </p:txBody>
      </p:sp>
      <p:sp>
        <p:nvSpPr>
          <p:cNvPr id="91" name="TextBox 90">
            <a:extLst>
              <a:ext uri="{FF2B5EF4-FFF2-40B4-BE49-F238E27FC236}">
                <a16:creationId xmlns:a16="http://schemas.microsoft.com/office/drawing/2014/main" id="{0754098A-51C2-807F-56F4-DE52B01A7083}"/>
              </a:ext>
            </a:extLst>
          </p:cNvPr>
          <p:cNvSpPr>
            <a:spLocks noGrp="1"/>
          </p:cNvSpPr>
          <p:nvPr/>
        </p:nvSpPr>
        <p:spPr>
          <a:xfrm>
            <a:off x="2606040" y="513957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JHSF</a:t>
            </a:r>
          </a:p>
        </p:txBody>
      </p:sp>
      <p:sp>
        <p:nvSpPr>
          <p:cNvPr id="100" name="TextBox 99">
            <a:extLst>
              <a:ext uri="{FF2B5EF4-FFF2-40B4-BE49-F238E27FC236}">
                <a16:creationId xmlns:a16="http://schemas.microsoft.com/office/drawing/2014/main" id="{BFC50985-3DD3-744E-7A73-43DDCAD107B0}"/>
              </a:ext>
            </a:extLst>
          </p:cNvPr>
          <p:cNvSpPr>
            <a:spLocks noGrp="1"/>
          </p:cNvSpPr>
          <p:nvPr/>
        </p:nvSpPr>
        <p:spPr>
          <a:xfrm>
            <a:off x="4846320" y="2884932"/>
            <a:ext cx="2008717" cy="338554"/>
          </a:xfrm>
          <a:prstGeom prst="rect">
            <a:avLst/>
          </a:prstGeom>
          <a:noFill/>
        </p:spPr>
        <p:txBody>
          <a:bodyPr wrap="square">
            <a:spAutoFit/>
          </a:bodyPr>
          <a:lstStyle/>
          <a:p>
            <a:r>
              <a:rPr sz="1600" b="1">
                <a:solidFill>
                  <a:srgbClr val="8EB3DF"/>
                </a:solidFill>
                <a:latin typeface="+mj-lt"/>
                <a:ea typeface="+mj-lt"/>
                <a:cs typeface="+mj-lt"/>
              </a:rPr>
              <a:t>Transportation</a:t>
            </a:r>
          </a:p>
        </p:txBody>
      </p:sp>
      <p:sp>
        <p:nvSpPr>
          <p:cNvPr id="101" name="TextBox 100">
            <a:extLst>
              <a:ext uri="{FF2B5EF4-FFF2-40B4-BE49-F238E27FC236}">
                <a16:creationId xmlns:a16="http://schemas.microsoft.com/office/drawing/2014/main" id="{86887FB9-CCF9-D644-2775-E0B8AE9A705D}"/>
              </a:ext>
            </a:extLst>
          </p:cNvPr>
          <p:cNvSpPr>
            <a:spLocks noGrp="1"/>
          </p:cNvSpPr>
          <p:nvPr/>
        </p:nvSpPr>
        <p:spPr>
          <a:xfrm>
            <a:off x="2606040" y="528587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Lavvi</a:t>
            </a:r>
          </a:p>
        </p:txBody>
      </p:sp>
      <p:sp>
        <p:nvSpPr>
          <p:cNvPr id="102" name="TextBox 101">
            <a:extLst>
              <a:ext uri="{FF2B5EF4-FFF2-40B4-BE49-F238E27FC236}">
                <a16:creationId xmlns:a16="http://schemas.microsoft.com/office/drawing/2014/main" id="{1EC7AAEC-C726-83BB-A802-EB8C3A07755B}"/>
              </a:ext>
            </a:extLst>
          </p:cNvPr>
          <p:cNvSpPr>
            <a:spLocks noGrp="1"/>
          </p:cNvSpPr>
          <p:nvPr/>
        </p:nvSpPr>
        <p:spPr>
          <a:xfrm>
            <a:off x="2606040" y="543218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Moura Dubeux</a:t>
            </a:r>
          </a:p>
        </p:txBody>
      </p:sp>
      <p:sp>
        <p:nvSpPr>
          <p:cNvPr id="103" name="TextBox 102">
            <a:extLst>
              <a:ext uri="{FF2B5EF4-FFF2-40B4-BE49-F238E27FC236}">
                <a16:creationId xmlns:a16="http://schemas.microsoft.com/office/drawing/2014/main" id="{5BF9A98D-376D-D659-404C-7C04BB1EA920}"/>
              </a:ext>
            </a:extLst>
          </p:cNvPr>
          <p:cNvSpPr>
            <a:spLocks noGrp="1"/>
          </p:cNvSpPr>
          <p:nvPr/>
        </p:nvSpPr>
        <p:spPr>
          <a:xfrm>
            <a:off x="2606040" y="557848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MRV</a:t>
            </a:r>
          </a:p>
        </p:txBody>
      </p:sp>
      <p:sp>
        <p:nvSpPr>
          <p:cNvPr id="104" name="TextBox 103">
            <a:extLst>
              <a:ext uri="{FF2B5EF4-FFF2-40B4-BE49-F238E27FC236}">
                <a16:creationId xmlns:a16="http://schemas.microsoft.com/office/drawing/2014/main" id="{5F034A05-B0B3-3392-B4EB-256016146EC7}"/>
              </a:ext>
            </a:extLst>
          </p:cNvPr>
          <p:cNvSpPr>
            <a:spLocks noGrp="1"/>
          </p:cNvSpPr>
          <p:nvPr/>
        </p:nvSpPr>
        <p:spPr>
          <a:xfrm>
            <a:off x="2606040" y="572479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Multiplan</a:t>
            </a:r>
          </a:p>
        </p:txBody>
      </p:sp>
      <p:sp>
        <p:nvSpPr>
          <p:cNvPr id="105" name="TextBox 104">
            <a:extLst>
              <a:ext uri="{FF2B5EF4-FFF2-40B4-BE49-F238E27FC236}">
                <a16:creationId xmlns:a16="http://schemas.microsoft.com/office/drawing/2014/main" id="{936CC832-23B8-12DB-2A45-427E4EEDC8F2}"/>
              </a:ext>
            </a:extLst>
          </p:cNvPr>
          <p:cNvSpPr>
            <a:spLocks noGrp="1"/>
          </p:cNvSpPr>
          <p:nvPr/>
        </p:nvSpPr>
        <p:spPr>
          <a:xfrm>
            <a:off x="2606040" y="587109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Plano&amp;Plano</a:t>
            </a:r>
          </a:p>
        </p:txBody>
      </p:sp>
      <p:sp>
        <p:nvSpPr>
          <p:cNvPr id="112" name="TextBox 111">
            <a:extLst>
              <a:ext uri="{FF2B5EF4-FFF2-40B4-BE49-F238E27FC236}">
                <a16:creationId xmlns:a16="http://schemas.microsoft.com/office/drawing/2014/main" id="{CC015CBD-3E58-1D58-58ED-F680CB26E47A}"/>
              </a:ext>
            </a:extLst>
          </p:cNvPr>
          <p:cNvSpPr>
            <a:spLocks noGrp="1"/>
          </p:cNvSpPr>
          <p:nvPr/>
        </p:nvSpPr>
        <p:spPr>
          <a:xfrm>
            <a:off x="2606040" y="64215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Alpargatas</a:t>
            </a:r>
          </a:p>
        </p:txBody>
      </p:sp>
      <p:sp>
        <p:nvSpPr>
          <p:cNvPr id="113" name="TextBox 112">
            <a:extLst>
              <a:ext uri="{FF2B5EF4-FFF2-40B4-BE49-F238E27FC236}">
                <a16:creationId xmlns:a16="http://schemas.microsoft.com/office/drawing/2014/main" id="{393A987D-B5EC-76AA-0CC0-DF5BB0AA5EB5}"/>
              </a:ext>
            </a:extLst>
          </p:cNvPr>
          <p:cNvSpPr>
            <a:spLocks noGrp="1"/>
          </p:cNvSpPr>
          <p:nvPr/>
        </p:nvSpPr>
        <p:spPr>
          <a:xfrm>
            <a:off x="2606040" y="65678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Assaí</a:t>
            </a:r>
          </a:p>
        </p:txBody>
      </p:sp>
      <p:sp>
        <p:nvSpPr>
          <p:cNvPr id="114" name="TextBox 113">
            <a:extLst>
              <a:ext uri="{FF2B5EF4-FFF2-40B4-BE49-F238E27FC236}">
                <a16:creationId xmlns:a16="http://schemas.microsoft.com/office/drawing/2014/main" id="{E977F5D8-B614-3EBB-2A0C-792037C6449E}"/>
              </a:ext>
            </a:extLst>
          </p:cNvPr>
          <p:cNvSpPr>
            <a:spLocks noGrp="1"/>
          </p:cNvSpPr>
          <p:nvPr/>
        </p:nvSpPr>
        <p:spPr>
          <a:xfrm>
            <a:off x="2606040" y="67141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Azzas 2154</a:t>
            </a:r>
          </a:p>
        </p:txBody>
      </p:sp>
      <p:sp>
        <p:nvSpPr>
          <p:cNvPr id="115" name="TextBox 114">
            <a:extLst>
              <a:ext uri="{FF2B5EF4-FFF2-40B4-BE49-F238E27FC236}">
                <a16:creationId xmlns:a16="http://schemas.microsoft.com/office/drawing/2014/main" id="{FD273B7A-1543-7557-355D-52D803529B64}"/>
              </a:ext>
            </a:extLst>
          </p:cNvPr>
          <p:cNvSpPr>
            <a:spLocks noGrp="1"/>
          </p:cNvSpPr>
          <p:nvPr/>
        </p:nvSpPr>
        <p:spPr>
          <a:xfrm>
            <a:off x="2606040" y="68604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C&amp;A</a:t>
            </a:r>
          </a:p>
        </p:txBody>
      </p:sp>
      <p:sp>
        <p:nvSpPr>
          <p:cNvPr id="118" name="TextBox 117">
            <a:extLst>
              <a:ext uri="{FF2B5EF4-FFF2-40B4-BE49-F238E27FC236}">
                <a16:creationId xmlns:a16="http://schemas.microsoft.com/office/drawing/2014/main" id="{F68C5564-7AD3-A7C8-54D0-530E7A959DD6}"/>
              </a:ext>
            </a:extLst>
          </p:cNvPr>
          <p:cNvSpPr>
            <a:spLocks noGrp="1"/>
          </p:cNvSpPr>
          <p:nvPr/>
        </p:nvSpPr>
        <p:spPr>
          <a:xfrm>
            <a:off x="2606040" y="70067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Grupo SBF</a:t>
            </a:r>
          </a:p>
        </p:txBody>
      </p:sp>
      <p:sp>
        <p:nvSpPr>
          <p:cNvPr id="119" name="TextBox 118">
            <a:extLst>
              <a:ext uri="{FF2B5EF4-FFF2-40B4-BE49-F238E27FC236}">
                <a16:creationId xmlns:a16="http://schemas.microsoft.com/office/drawing/2014/main" id="{5F9FAA32-2495-A805-B67B-C10D433055FF}"/>
              </a:ext>
            </a:extLst>
          </p:cNvPr>
          <p:cNvSpPr>
            <a:spLocks noGrp="1"/>
          </p:cNvSpPr>
          <p:nvPr/>
        </p:nvSpPr>
        <p:spPr>
          <a:xfrm>
            <a:off x="2606040" y="71530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Live!</a:t>
            </a:r>
          </a:p>
        </p:txBody>
      </p:sp>
      <p:sp>
        <p:nvSpPr>
          <p:cNvPr id="120" name="TextBox 119">
            <a:extLst>
              <a:ext uri="{FF2B5EF4-FFF2-40B4-BE49-F238E27FC236}">
                <a16:creationId xmlns:a16="http://schemas.microsoft.com/office/drawing/2014/main" id="{A0D7B750-58A9-F833-65A3-680157040C1C}"/>
              </a:ext>
            </a:extLst>
          </p:cNvPr>
          <p:cNvSpPr>
            <a:spLocks noGrp="1"/>
          </p:cNvSpPr>
          <p:nvPr/>
        </p:nvSpPr>
        <p:spPr>
          <a:xfrm>
            <a:off x="2606040" y="72993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Magalu</a:t>
            </a:r>
          </a:p>
        </p:txBody>
      </p:sp>
      <p:sp>
        <p:nvSpPr>
          <p:cNvPr id="121" name="TextBox 120">
            <a:extLst>
              <a:ext uri="{FF2B5EF4-FFF2-40B4-BE49-F238E27FC236}">
                <a16:creationId xmlns:a16="http://schemas.microsoft.com/office/drawing/2014/main" id="{E4772F84-9E1F-89BE-FDA5-4082C053C19B}"/>
              </a:ext>
            </a:extLst>
          </p:cNvPr>
          <p:cNvSpPr>
            <a:spLocks noGrp="1"/>
          </p:cNvSpPr>
          <p:nvPr/>
        </p:nvSpPr>
        <p:spPr>
          <a:xfrm>
            <a:off x="2606040" y="74456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Mercado Libre</a:t>
            </a:r>
          </a:p>
        </p:txBody>
      </p:sp>
      <p:sp>
        <p:nvSpPr>
          <p:cNvPr id="123" name="TextBox 8 2026 copy 1">
            <a:extLst>
              <a:ext uri="{FF2B5EF4-FFF2-40B4-BE49-F238E27FC236}">
                <a16:creationId xmlns:a16="http://schemas.microsoft.com/office/drawing/2014/main" id="{94CA0D84-2DC6-41D5-B31A-B866BD0A23ED}"/>
              </a:ext>
            </a:extLst>
          </p:cNvPr>
          <p:cNvSpPr>
            <a:spLocks noGrp="1"/>
          </p:cNvSpPr>
          <p:nvPr/>
        </p:nvSpPr>
        <p:spPr>
          <a:xfrm>
            <a:off x="2606040" y="759625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dirty="0">
                <a:solidFill>
                  <a:srgbClr val="FFFFFF"/>
                </a:solidFill>
                <a:latin typeface="+mj-lt"/>
                <a:ea typeface="+mj-lt"/>
                <a:cs typeface="+mj-lt"/>
              </a:rPr>
              <a:t>Pague Menos</a:t>
            </a:r>
          </a:p>
        </p:txBody>
      </p:sp>
      <p:sp>
        <p:nvSpPr>
          <p:cNvPr id="124" name="TextBox 8 2026 copy 2">
            <a:extLst>
              <a:ext uri="{FF2B5EF4-FFF2-40B4-BE49-F238E27FC236}">
                <a16:creationId xmlns:a16="http://schemas.microsoft.com/office/drawing/2014/main" id="{8DD75E7C-0C31-45F5-8BD4-F30CEDF54379}"/>
              </a:ext>
            </a:extLst>
          </p:cNvPr>
          <p:cNvSpPr>
            <a:spLocks noGrp="1"/>
          </p:cNvSpPr>
          <p:nvPr/>
        </p:nvSpPr>
        <p:spPr>
          <a:xfrm>
            <a:off x="2606040" y="774255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Panvel</a:t>
            </a:r>
          </a:p>
        </p:txBody>
      </p:sp>
      <p:sp>
        <p:nvSpPr>
          <p:cNvPr id="125" name="TextBox 8 2026 copy 3">
            <a:extLst>
              <a:ext uri="{FF2B5EF4-FFF2-40B4-BE49-F238E27FC236}">
                <a16:creationId xmlns:a16="http://schemas.microsoft.com/office/drawing/2014/main" id="{D658FF67-1500-464F-B5E3-D1FADFCF3329}"/>
              </a:ext>
            </a:extLst>
          </p:cNvPr>
          <p:cNvSpPr>
            <a:spLocks noGrp="1"/>
          </p:cNvSpPr>
          <p:nvPr/>
        </p:nvSpPr>
        <p:spPr>
          <a:xfrm>
            <a:off x="2606040" y="788885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Petlove</a:t>
            </a:r>
          </a:p>
        </p:txBody>
      </p:sp>
      <p:sp>
        <p:nvSpPr>
          <p:cNvPr id="126" name="TextBox 8 2026 copy 4">
            <a:extLst>
              <a:ext uri="{FF2B5EF4-FFF2-40B4-BE49-F238E27FC236}">
                <a16:creationId xmlns:a16="http://schemas.microsoft.com/office/drawing/2014/main" id="{CE8817F6-CACB-4079-B990-4B2C5AB8B274}"/>
              </a:ext>
            </a:extLst>
          </p:cNvPr>
          <p:cNvSpPr>
            <a:spLocks noGrp="1"/>
          </p:cNvSpPr>
          <p:nvPr/>
        </p:nvSpPr>
        <p:spPr>
          <a:xfrm>
            <a:off x="2606040" y="803516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Petz Cobasi</a:t>
            </a:r>
          </a:p>
        </p:txBody>
      </p:sp>
      <p:sp>
        <p:nvSpPr>
          <p:cNvPr id="127" name="TextBox 8 2026 copy 5">
            <a:extLst>
              <a:ext uri="{FF2B5EF4-FFF2-40B4-BE49-F238E27FC236}">
                <a16:creationId xmlns:a16="http://schemas.microsoft.com/office/drawing/2014/main" id="{0FB2747A-251D-406A-ABA1-1D76B46EDC06}"/>
              </a:ext>
            </a:extLst>
          </p:cNvPr>
          <p:cNvSpPr>
            <a:spLocks noGrp="1"/>
          </p:cNvSpPr>
          <p:nvPr/>
        </p:nvSpPr>
        <p:spPr>
          <a:xfrm>
            <a:off x="2606040" y="818146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Profarma</a:t>
            </a:r>
          </a:p>
        </p:txBody>
      </p:sp>
      <p:sp>
        <p:nvSpPr>
          <p:cNvPr id="128" name="TextBox 8 2026 copy 6">
            <a:extLst>
              <a:ext uri="{FF2B5EF4-FFF2-40B4-BE49-F238E27FC236}">
                <a16:creationId xmlns:a16="http://schemas.microsoft.com/office/drawing/2014/main" id="{8234993C-E1BB-47CD-960D-DDFC87BCAA19}"/>
              </a:ext>
            </a:extLst>
          </p:cNvPr>
          <p:cNvSpPr>
            <a:spLocks noGrp="1"/>
          </p:cNvSpPr>
          <p:nvPr/>
        </p:nvSpPr>
        <p:spPr>
          <a:xfrm>
            <a:off x="2606040" y="832777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RD Saúde</a:t>
            </a:r>
          </a:p>
        </p:txBody>
      </p:sp>
      <p:sp>
        <p:nvSpPr>
          <p:cNvPr id="129" name="TextBox 8 2026 copy 7">
            <a:extLst>
              <a:ext uri="{FF2B5EF4-FFF2-40B4-BE49-F238E27FC236}">
                <a16:creationId xmlns:a16="http://schemas.microsoft.com/office/drawing/2014/main" id="{F39A989C-D964-46B3-949E-8BCF7699B70A}"/>
              </a:ext>
            </a:extLst>
          </p:cNvPr>
          <p:cNvSpPr>
            <a:spLocks noGrp="1"/>
          </p:cNvSpPr>
          <p:nvPr/>
        </p:nvSpPr>
        <p:spPr>
          <a:xfrm>
            <a:off x="2606040" y="847407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Renner</a:t>
            </a:r>
          </a:p>
        </p:txBody>
      </p:sp>
      <p:sp>
        <p:nvSpPr>
          <p:cNvPr id="130" name="TextBox 8 2026 copy 8">
            <a:extLst>
              <a:ext uri="{FF2B5EF4-FFF2-40B4-BE49-F238E27FC236}">
                <a16:creationId xmlns:a16="http://schemas.microsoft.com/office/drawing/2014/main" id="{7C98FF11-21D0-4CA2-BC8F-225115C7DE7E}"/>
              </a:ext>
            </a:extLst>
          </p:cNvPr>
          <p:cNvSpPr>
            <a:spLocks noGrp="1"/>
          </p:cNvSpPr>
          <p:nvPr/>
        </p:nvSpPr>
        <p:spPr>
          <a:xfrm>
            <a:off x="2606040" y="862037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Riachuelo</a:t>
            </a:r>
          </a:p>
        </p:txBody>
      </p:sp>
      <p:sp>
        <p:nvSpPr>
          <p:cNvPr id="131" name="TextBox 8 2026 copy 9">
            <a:extLst>
              <a:ext uri="{FF2B5EF4-FFF2-40B4-BE49-F238E27FC236}">
                <a16:creationId xmlns:a16="http://schemas.microsoft.com/office/drawing/2014/main" id="{52AE936B-792C-4267-9ADF-D7B4E185CE76}"/>
              </a:ext>
            </a:extLst>
          </p:cNvPr>
          <p:cNvSpPr>
            <a:spLocks noGrp="1"/>
          </p:cNvSpPr>
          <p:nvPr/>
        </p:nvSpPr>
        <p:spPr>
          <a:xfrm>
            <a:off x="2606040" y="876668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Smartfit</a:t>
            </a:r>
          </a:p>
        </p:txBody>
      </p:sp>
      <p:sp>
        <p:nvSpPr>
          <p:cNvPr id="132" name="TextBox 8 2026 copy 10">
            <a:extLst>
              <a:ext uri="{FF2B5EF4-FFF2-40B4-BE49-F238E27FC236}">
                <a16:creationId xmlns:a16="http://schemas.microsoft.com/office/drawing/2014/main" id="{AE26F871-8665-4985-9C70-D18EF0B53E0A}"/>
              </a:ext>
            </a:extLst>
          </p:cNvPr>
          <p:cNvSpPr>
            <a:spLocks noGrp="1"/>
          </p:cNvSpPr>
          <p:nvPr/>
        </p:nvSpPr>
        <p:spPr>
          <a:xfrm>
            <a:off x="2606040" y="891298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Vivara</a:t>
            </a:r>
          </a:p>
        </p:txBody>
      </p:sp>
      <p:sp>
        <p:nvSpPr>
          <p:cNvPr id="133" name="TextBox 8 2026 copy 11">
            <a:extLst>
              <a:ext uri="{FF2B5EF4-FFF2-40B4-BE49-F238E27FC236}">
                <a16:creationId xmlns:a16="http://schemas.microsoft.com/office/drawing/2014/main" id="{9482CD38-74A7-4FF6-876D-F7AFC9546CEE}"/>
              </a:ext>
            </a:extLst>
          </p:cNvPr>
          <p:cNvSpPr>
            <a:spLocks noGrp="1"/>
          </p:cNvSpPr>
          <p:nvPr/>
        </p:nvSpPr>
        <p:spPr>
          <a:xfrm>
            <a:off x="2606040" y="905929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Vulcabras</a:t>
            </a:r>
          </a:p>
        </p:txBody>
      </p:sp>
      <p:sp>
        <p:nvSpPr>
          <p:cNvPr id="134" name="TextBox 8 2026 copy 12">
            <a:extLst>
              <a:ext uri="{FF2B5EF4-FFF2-40B4-BE49-F238E27FC236}">
                <a16:creationId xmlns:a16="http://schemas.microsoft.com/office/drawing/2014/main" id="{9D342569-57D2-4C89-ACFD-D2CA83CF61D3}"/>
              </a:ext>
            </a:extLst>
          </p:cNvPr>
          <p:cNvSpPr>
            <a:spLocks noGrp="1"/>
          </p:cNvSpPr>
          <p:nvPr/>
        </p:nvSpPr>
        <p:spPr>
          <a:xfrm>
            <a:off x="4846320" y="149504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Bemobi</a:t>
            </a:r>
          </a:p>
        </p:txBody>
      </p:sp>
      <p:sp>
        <p:nvSpPr>
          <p:cNvPr id="135" name="TextBox 8 2026 copy 13">
            <a:extLst>
              <a:ext uri="{FF2B5EF4-FFF2-40B4-BE49-F238E27FC236}">
                <a16:creationId xmlns:a16="http://schemas.microsoft.com/office/drawing/2014/main" id="{7B08D8F9-D299-4159-9EE6-E738E35A7BC2}"/>
              </a:ext>
            </a:extLst>
          </p:cNvPr>
          <p:cNvSpPr>
            <a:spLocks noGrp="1"/>
          </p:cNvSpPr>
          <p:nvPr/>
        </p:nvSpPr>
        <p:spPr>
          <a:xfrm>
            <a:off x="4846320" y="164134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Intelbras</a:t>
            </a:r>
          </a:p>
        </p:txBody>
      </p:sp>
      <p:sp>
        <p:nvSpPr>
          <p:cNvPr id="136" name="TextBox 8 2026 copy 14">
            <a:extLst>
              <a:ext uri="{FF2B5EF4-FFF2-40B4-BE49-F238E27FC236}">
                <a16:creationId xmlns:a16="http://schemas.microsoft.com/office/drawing/2014/main" id="{E1D50D8C-DF4E-4570-9D7B-66DD660ED0B5}"/>
              </a:ext>
            </a:extLst>
          </p:cNvPr>
          <p:cNvSpPr>
            <a:spLocks noGrp="1"/>
          </p:cNvSpPr>
          <p:nvPr/>
        </p:nvSpPr>
        <p:spPr>
          <a:xfrm>
            <a:off x="4846320" y="1787651"/>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Livemode</a:t>
            </a:r>
          </a:p>
        </p:txBody>
      </p:sp>
      <p:sp>
        <p:nvSpPr>
          <p:cNvPr id="137" name="TextBox 8 2026 copy 15">
            <a:extLst>
              <a:ext uri="{FF2B5EF4-FFF2-40B4-BE49-F238E27FC236}">
                <a16:creationId xmlns:a16="http://schemas.microsoft.com/office/drawing/2014/main" id="{4F992CC8-E948-4B49-B8A2-D9E1B72660B8}"/>
              </a:ext>
            </a:extLst>
          </p:cNvPr>
          <p:cNvSpPr>
            <a:spLocks noGrp="1"/>
          </p:cNvSpPr>
          <p:nvPr/>
        </p:nvSpPr>
        <p:spPr>
          <a:xfrm>
            <a:off x="4846320" y="1933955"/>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LWSA</a:t>
            </a:r>
          </a:p>
        </p:txBody>
      </p:sp>
      <p:sp>
        <p:nvSpPr>
          <p:cNvPr id="138" name="TextBox 8 2026 copy 16">
            <a:extLst>
              <a:ext uri="{FF2B5EF4-FFF2-40B4-BE49-F238E27FC236}">
                <a16:creationId xmlns:a16="http://schemas.microsoft.com/office/drawing/2014/main" id="{457E02CA-0005-44D3-96D5-5C9DA3BFE0D8}"/>
              </a:ext>
            </a:extLst>
          </p:cNvPr>
          <p:cNvSpPr>
            <a:spLocks noGrp="1"/>
          </p:cNvSpPr>
          <p:nvPr/>
        </p:nvSpPr>
        <p:spPr>
          <a:xfrm>
            <a:off x="4846320" y="20802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Senior Sistemas</a:t>
            </a:r>
          </a:p>
        </p:txBody>
      </p:sp>
      <p:sp>
        <p:nvSpPr>
          <p:cNvPr id="139" name="TextBox 8 2026 copy 17">
            <a:extLst>
              <a:ext uri="{FF2B5EF4-FFF2-40B4-BE49-F238E27FC236}">
                <a16:creationId xmlns:a16="http://schemas.microsoft.com/office/drawing/2014/main" id="{05B31B0B-6263-4AA9-B596-244B757EAB40}"/>
              </a:ext>
            </a:extLst>
          </p:cNvPr>
          <p:cNvSpPr>
            <a:spLocks noGrp="1"/>
          </p:cNvSpPr>
          <p:nvPr/>
        </p:nvSpPr>
        <p:spPr>
          <a:xfrm>
            <a:off x="4846320" y="22265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Telefônica Vivo</a:t>
            </a:r>
          </a:p>
        </p:txBody>
      </p:sp>
      <p:sp>
        <p:nvSpPr>
          <p:cNvPr id="140" name="TextBox 8 2026 copy 18">
            <a:extLst>
              <a:ext uri="{FF2B5EF4-FFF2-40B4-BE49-F238E27FC236}">
                <a16:creationId xmlns:a16="http://schemas.microsoft.com/office/drawing/2014/main" id="{E831E858-9E6F-4A8C-A0DB-FCA426000943}"/>
              </a:ext>
            </a:extLst>
          </p:cNvPr>
          <p:cNvSpPr>
            <a:spLocks noGrp="1"/>
          </p:cNvSpPr>
          <p:nvPr/>
        </p:nvSpPr>
        <p:spPr>
          <a:xfrm>
            <a:off x="4846320" y="23728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TIM</a:t>
            </a:r>
          </a:p>
        </p:txBody>
      </p:sp>
      <p:sp>
        <p:nvSpPr>
          <p:cNvPr id="141" name="TextBox 8 2026 copy 19">
            <a:extLst>
              <a:ext uri="{FF2B5EF4-FFF2-40B4-BE49-F238E27FC236}">
                <a16:creationId xmlns:a16="http://schemas.microsoft.com/office/drawing/2014/main" id="{30A7E063-5386-476A-956A-3DD2AFE92052}"/>
              </a:ext>
            </a:extLst>
          </p:cNvPr>
          <p:cNvSpPr>
            <a:spLocks noGrp="1"/>
          </p:cNvSpPr>
          <p:nvPr/>
        </p:nvSpPr>
        <p:spPr>
          <a:xfrm>
            <a:off x="4846320" y="25191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TOTVS</a:t>
            </a:r>
          </a:p>
        </p:txBody>
      </p:sp>
      <p:sp>
        <p:nvSpPr>
          <p:cNvPr id="142" name="TextBox 8 2026 copy 20">
            <a:extLst>
              <a:ext uri="{FF2B5EF4-FFF2-40B4-BE49-F238E27FC236}">
                <a16:creationId xmlns:a16="http://schemas.microsoft.com/office/drawing/2014/main" id="{756A8A78-2BE7-48F0-8E25-9344CF6441BE}"/>
              </a:ext>
            </a:extLst>
          </p:cNvPr>
          <p:cNvSpPr>
            <a:spLocks noGrp="1"/>
          </p:cNvSpPr>
          <p:nvPr/>
        </p:nvSpPr>
        <p:spPr>
          <a:xfrm>
            <a:off x="4846320" y="319125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Armac</a:t>
            </a:r>
          </a:p>
        </p:txBody>
      </p:sp>
      <p:sp>
        <p:nvSpPr>
          <p:cNvPr id="143" name="TextBox 8 2026 copy 21">
            <a:extLst>
              <a:ext uri="{FF2B5EF4-FFF2-40B4-BE49-F238E27FC236}">
                <a16:creationId xmlns:a16="http://schemas.microsoft.com/office/drawing/2014/main" id="{B6BBE8CF-4D6B-49DF-9222-5855A4272659}"/>
              </a:ext>
            </a:extLst>
          </p:cNvPr>
          <p:cNvSpPr>
            <a:spLocks noGrp="1"/>
          </p:cNvSpPr>
          <p:nvPr/>
        </p:nvSpPr>
        <p:spPr>
          <a:xfrm>
            <a:off x="4846320" y="33375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Automob</a:t>
            </a:r>
          </a:p>
        </p:txBody>
      </p:sp>
      <p:sp>
        <p:nvSpPr>
          <p:cNvPr id="144" name="TextBox 8 2026 copy 22">
            <a:extLst>
              <a:ext uri="{FF2B5EF4-FFF2-40B4-BE49-F238E27FC236}">
                <a16:creationId xmlns:a16="http://schemas.microsoft.com/office/drawing/2014/main" id="{C9EF63C5-B8A5-4C56-A0EC-EFAF0D1F9683}"/>
              </a:ext>
            </a:extLst>
          </p:cNvPr>
          <p:cNvSpPr>
            <a:spLocks noGrp="1"/>
          </p:cNvSpPr>
          <p:nvPr/>
        </p:nvSpPr>
        <p:spPr>
          <a:xfrm>
            <a:off x="4846320" y="34838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Ecorodovias</a:t>
            </a:r>
          </a:p>
        </p:txBody>
      </p:sp>
      <p:sp>
        <p:nvSpPr>
          <p:cNvPr id="145" name="TextBox 8 2026 copy 23">
            <a:extLst>
              <a:ext uri="{FF2B5EF4-FFF2-40B4-BE49-F238E27FC236}">
                <a16:creationId xmlns:a16="http://schemas.microsoft.com/office/drawing/2014/main" id="{8584CD6A-AC9C-4233-BC87-0BF66B54601E}"/>
              </a:ext>
            </a:extLst>
          </p:cNvPr>
          <p:cNvSpPr>
            <a:spLocks noGrp="1"/>
          </p:cNvSpPr>
          <p:nvPr/>
        </p:nvSpPr>
        <p:spPr>
          <a:xfrm>
            <a:off x="4846320" y="36301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GPS</a:t>
            </a:r>
          </a:p>
        </p:txBody>
      </p:sp>
      <p:sp>
        <p:nvSpPr>
          <p:cNvPr id="146" name="TextBox 8 2026 copy 24">
            <a:extLst>
              <a:ext uri="{FF2B5EF4-FFF2-40B4-BE49-F238E27FC236}">
                <a16:creationId xmlns:a16="http://schemas.microsoft.com/office/drawing/2014/main" id="{B08049AC-F0D0-4C0D-92F3-0F830E2752EB}"/>
              </a:ext>
            </a:extLst>
          </p:cNvPr>
          <p:cNvSpPr>
            <a:spLocks noGrp="1"/>
          </p:cNvSpPr>
          <p:nvPr/>
        </p:nvSpPr>
        <p:spPr>
          <a:xfrm>
            <a:off x="4846320" y="37764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Motiva</a:t>
            </a:r>
          </a:p>
        </p:txBody>
      </p:sp>
      <p:sp>
        <p:nvSpPr>
          <p:cNvPr id="147" name="TextBox 8 2026 copy 25">
            <a:extLst>
              <a:ext uri="{FF2B5EF4-FFF2-40B4-BE49-F238E27FC236}">
                <a16:creationId xmlns:a16="http://schemas.microsoft.com/office/drawing/2014/main" id="{3A67DDD3-1F67-46A6-9B89-B9F73ACFDE38}"/>
              </a:ext>
            </a:extLst>
          </p:cNvPr>
          <p:cNvSpPr>
            <a:spLocks noGrp="1"/>
          </p:cNvSpPr>
          <p:nvPr/>
        </p:nvSpPr>
        <p:spPr>
          <a:xfrm>
            <a:off x="4846320" y="392277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Movida</a:t>
            </a:r>
          </a:p>
        </p:txBody>
      </p:sp>
      <p:sp>
        <p:nvSpPr>
          <p:cNvPr id="148" name="TextBox 8 2026 copy 26">
            <a:extLst>
              <a:ext uri="{FF2B5EF4-FFF2-40B4-BE49-F238E27FC236}">
                <a16:creationId xmlns:a16="http://schemas.microsoft.com/office/drawing/2014/main" id="{F6262BE8-BD2A-4A5E-935E-87AAF50BC183}"/>
              </a:ext>
            </a:extLst>
          </p:cNvPr>
          <p:cNvSpPr>
            <a:spLocks noGrp="1"/>
          </p:cNvSpPr>
          <p:nvPr/>
        </p:nvSpPr>
        <p:spPr>
          <a:xfrm>
            <a:off x="4846320" y="406908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Priner</a:t>
            </a:r>
          </a:p>
        </p:txBody>
      </p:sp>
      <p:sp>
        <p:nvSpPr>
          <p:cNvPr id="149" name="TextBox 8 2026 copy 27">
            <a:extLst>
              <a:ext uri="{FF2B5EF4-FFF2-40B4-BE49-F238E27FC236}">
                <a16:creationId xmlns:a16="http://schemas.microsoft.com/office/drawing/2014/main" id="{4E3CBE27-7393-4DD1-9436-C00F8E291690}"/>
              </a:ext>
            </a:extLst>
          </p:cNvPr>
          <p:cNvSpPr>
            <a:spLocks noGrp="1"/>
          </p:cNvSpPr>
          <p:nvPr/>
        </p:nvSpPr>
        <p:spPr>
          <a:xfrm>
            <a:off x="4846320" y="421538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Rumo</a:t>
            </a:r>
          </a:p>
        </p:txBody>
      </p:sp>
      <p:sp>
        <p:nvSpPr>
          <p:cNvPr id="150" name="TextBox 8 2026 copy 28">
            <a:extLst>
              <a:ext uri="{FF2B5EF4-FFF2-40B4-BE49-F238E27FC236}">
                <a16:creationId xmlns:a16="http://schemas.microsoft.com/office/drawing/2014/main" id="{FF345CF7-ABE5-419F-976F-997D5639AC79}"/>
              </a:ext>
            </a:extLst>
          </p:cNvPr>
          <p:cNvSpPr>
            <a:spLocks noGrp="1"/>
          </p:cNvSpPr>
          <p:nvPr/>
        </p:nvSpPr>
        <p:spPr>
          <a:xfrm>
            <a:off x="4846320" y="436168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Simpar</a:t>
            </a:r>
          </a:p>
        </p:txBody>
      </p:sp>
      <p:sp>
        <p:nvSpPr>
          <p:cNvPr id="151" name="TextBox 8 2026 copy 29">
            <a:extLst>
              <a:ext uri="{FF2B5EF4-FFF2-40B4-BE49-F238E27FC236}">
                <a16:creationId xmlns:a16="http://schemas.microsoft.com/office/drawing/2014/main" id="{E6EDFD60-8FF1-4FFF-B196-843F0C3678FF}"/>
              </a:ext>
            </a:extLst>
          </p:cNvPr>
          <p:cNvSpPr>
            <a:spLocks noGrp="1"/>
          </p:cNvSpPr>
          <p:nvPr/>
        </p:nvSpPr>
        <p:spPr>
          <a:xfrm>
            <a:off x="4846320" y="450799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Vamos</a:t>
            </a:r>
          </a:p>
        </p:txBody>
      </p:sp>
      <p:sp>
        <p:nvSpPr>
          <p:cNvPr id="8" name="TextBox 3">
            <a:extLst>
              <a:ext uri="{FF2B5EF4-FFF2-40B4-BE49-F238E27FC236}">
                <a16:creationId xmlns:a16="http://schemas.microsoft.com/office/drawing/2014/main" id="{DF831856-B7A3-4A12-8461-275210DF6AE9}"/>
              </a:ext>
            </a:extLst>
          </p:cNvPr>
          <p:cNvSpPr>
            <a:spLocks noGrp="1"/>
          </p:cNvSpPr>
          <p:nvPr/>
        </p:nvSpPr>
        <p:spPr>
          <a:xfrm>
            <a:off x="4846320" y="5765292"/>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a:t>
            </a:r>
            <a:r>
              <a:rPr lang="pt-BR" sz="900" b="1" dirty="0" err="1">
                <a:solidFill>
                  <a:schemeClr val="bg1"/>
                </a:solidFill>
                <a:latin typeface="+mj-lt"/>
                <a:ea typeface="+mj-lt"/>
                <a:cs typeface="+mj-lt"/>
              </a:rPr>
              <a:t>ompass</a:t>
            </a:r>
            <a:endParaRPr sz="900" b="1" dirty="0">
              <a:solidFill>
                <a:schemeClr val="bg1"/>
              </a:solidFill>
              <a:latin typeface="+mj-lt"/>
              <a:ea typeface="+mj-lt"/>
              <a:cs typeface="+mj-lt"/>
            </a:endParaRPr>
          </a:p>
        </p:txBody>
      </p:sp>
    </p:spTree>
    <p:extLst>
      <p:ext uri="{BB962C8B-B14F-4D97-AF65-F5344CB8AC3E}">
        <p14:creationId xmlns:p14="http://schemas.microsoft.com/office/powerpoint/2010/main" val="4164885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1">
            <a:extLst>
              <a:ext uri="{FF2B5EF4-FFF2-40B4-BE49-F238E27FC236}">
                <a16:creationId xmlns:a16="http://schemas.microsoft.com/office/drawing/2014/main" id="{3723A2CF-BA37-28E2-15FE-6BC4BF12AD0A}"/>
              </a:ext>
            </a:extLst>
          </p:cNvPr>
          <p:cNvSpPr txBox="1">
            <a:spLocks/>
          </p:cNvSpPr>
          <p:nvPr/>
        </p:nvSpPr>
        <p:spPr>
          <a:xfrm>
            <a:off x="2551077" y="9315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solidFill>
                  <a:schemeClr val="accent3"/>
                </a:solidFill>
                <a:hlinkClick r:id="rId2" action="ppaction://hlinksldjump">
                  <a:extLst>
                    <a:ext uri="{A12FA001-AC4F-418D-AE19-62706E023703}">
                      <ahyp:hlinkClr xmlns:ahyp="http://schemas.microsoft.com/office/drawing/2018/hyperlinkcolor" val="tx"/>
                    </a:ext>
                  </a:extLst>
                </a:hlinkClick>
              </a:rPr>
              <a:t>ESG</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2" name="Text Placeholder 1">
            <a:extLst>
              <a:ext uri="{FF2B5EF4-FFF2-40B4-BE49-F238E27FC236}">
                <a16:creationId xmlns:a16="http://schemas.microsoft.com/office/drawing/2014/main" id="{CDA169A5-1B03-0D6B-43B5-C4737043A376}"/>
              </a:ext>
            </a:extLst>
          </p:cNvPr>
          <p:cNvSpPr txBox="1">
            <a:spLocks/>
          </p:cNvSpPr>
          <p:nvPr/>
        </p:nvSpPr>
        <p:spPr>
          <a:xfrm>
            <a:off x="2551077" y="13277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lgn="just"/>
            <a:r>
              <a:rPr lang="en-US" dirty="0">
                <a:solidFill>
                  <a:schemeClr val="accent3"/>
                </a:solidFill>
                <a:hlinkClick r:id="rId4" action="ppaction://hlinksldjump">
                  <a:extLst>
                    <a:ext uri="{A12FA001-AC4F-418D-AE19-62706E023703}">
                      <ahyp:hlinkClr xmlns:ahyp="http://schemas.microsoft.com/office/drawing/2018/hyperlinkcolor" val="tx"/>
                    </a:ext>
                  </a:extLst>
                </a:hlinkClick>
              </a:rPr>
              <a:t>Sector Highlights</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7" name="Text Placeholder 34">
            <a:extLst>
              <a:ext uri="{FF2B5EF4-FFF2-40B4-BE49-F238E27FC236}">
                <a16:creationId xmlns:a16="http://schemas.microsoft.com/office/drawing/2014/main" id="{C4536C6A-639B-A5ED-F3EC-B98C64258CD7}"/>
              </a:ext>
            </a:extLst>
          </p:cNvPr>
          <p:cNvSpPr txBox="1">
            <a:spLocks/>
          </p:cNvSpPr>
          <p:nvPr/>
        </p:nvSpPr>
        <p:spPr>
          <a:xfrm>
            <a:off x="2551077" y="473244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5" action="ppaction://hlinksldjump">
                  <a:extLst>
                    <a:ext uri="{A12FA001-AC4F-418D-AE19-62706E023703}">
                      <ahyp:hlinkClr xmlns:ahyp="http://schemas.microsoft.com/office/drawing/2018/hyperlinkcolor" val="tx"/>
                    </a:ext>
                  </a:extLst>
                </a:hlinkClick>
              </a:rPr>
              <a:t>Retail</a:t>
            </a:r>
            <a:endParaRPr lang="en-US" sz="1400" dirty="0">
              <a:solidFill>
                <a:schemeClr val="bg1"/>
              </a:solidFill>
            </a:endParaRPr>
          </a:p>
        </p:txBody>
      </p:sp>
      <p:sp>
        <p:nvSpPr>
          <p:cNvPr id="38" name="Text Placeholder 38">
            <a:extLst>
              <a:ext uri="{FF2B5EF4-FFF2-40B4-BE49-F238E27FC236}">
                <a16:creationId xmlns:a16="http://schemas.microsoft.com/office/drawing/2014/main" id="{A2AFF076-4B02-DED1-688E-4BA1E34B5878}"/>
              </a:ext>
            </a:extLst>
          </p:cNvPr>
          <p:cNvSpPr txBox="1">
            <a:spLocks/>
          </p:cNvSpPr>
          <p:nvPr/>
        </p:nvSpPr>
        <p:spPr>
          <a:xfrm>
            <a:off x="2551075" y="5695304"/>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6" action="ppaction://hlinksldjump">
                  <a:extLst>
                    <a:ext uri="{A12FA001-AC4F-418D-AE19-62706E023703}">
                      <ahyp:hlinkClr xmlns:ahyp="http://schemas.microsoft.com/office/drawing/2018/hyperlinkcolor" val="tx"/>
                    </a:ext>
                  </a:extLst>
                </a:hlinkClick>
              </a:rPr>
              <a:t>Utilities</a:t>
            </a:r>
            <a:endParaRPr lang="en-US" sz="1400" dirty="0">
              <a:solidFill>
                <a:schemeClr val="bg1"/>
              </a:solidFill>
            </a:endParaRPr>
          </a:p>
        </p:txBody>
      </p:sp>
      <p:sp>
        <p:nvSpPr>
          <p:cNvPr id="43" name="Text Placeholder 30">
            <a:extLst>
              <a:ext uri="{FF2B5EF4-FFF2-40B4-BE49-F238E27FC236}">
                <a16:creationId xmlns:a16="http://schemas.microsoft.com/office/drawing/2014/main" id="{00094B9A-49E7-D3AC-97B1-44960E213EC5}"/>
              </a:ext>
            </a:extLst>
          </p:cNvPr>
          <p:cNvSpPr txBox="1">
            <a:spLocks/>
          </p:cNvSpPr>
          <p:nvPr/>
        </p:nvSpPr>
        <p:spPr>
          <a:xfrm>
            <a:off x="2551077" y="440489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7" action="ppaction://hlinksldjump">
                  <a:extLst>
                    <a:ext uri="{A12FA001-AC4F-418D-AE19-62706E023703}">
                      <ahyp:hlinkClr xmlns:ahyp="http://schemas.microsoft.com/office/drawing/2018/hyperlinkcolor" val="tx"/>
                    </a:ext>
                  </a:extLst>
                </a:hlinkClick>
              </a:rPr>
              <a:t>Real Estate</a:t>
            </a:r>
            <a:endParaRPr lang="en-US" sz="1400" dirty="0">
              <a:solidFill>
                <a:schemeClr val="bg1"/>
              </a:solidFill>
            </a:endParaRPr>
          </a:p>
        </p:txBody>
      </p:sp>
      <p:sp>
        <p:nvSpPr>
          <p:cNvPr id="44" name="Text Placeholder 34">
            <a:extLst>
              <a:ext uri="{FF2B5EF4-FFF2-40B4-BE49-F238E27FC236}">
                <a16:creationId xmlns:a16="http://schemas.microsoft.com/office/drawing/2014/main" id="{126272F2-2604-F999-4052-51E6432DA8CD}"/>
              </a:ext>
            </a:extLst>
          </p:cNvPr>
          <p:cNvSpPr txBox="1">
            <a:spLocks/>
          </p:cNvSpPr>
          <p:nvPr/>
        </p:nvSpPr>
        <p:spPr>
          <a:xfrm>
            <a:off x="2551077" y="508768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8" action="ppaction://hlinksldjump">
                  <a:extLst>
                    <a:ext uri="{A12FA001-AC4F-418D-AE19-62706E023703}">
                      <ahyp:hlinkClr xmlns:ahyp="http://schemas.microsoft.com/office/drawing/2018/hyperlinkcolor" val="tx"/>
                    </a:ext>
                  </a:extLst>
                </a:hlinkClick>
              </a:rPr>
              <a:t>TMT</a:t>
            </a:r>
            <a:endParaRPr lang="en-US" sz="1400" dirty="0">
              <a:solidFill>
                <a:schemeClr val="bg1"/>
              </a:solidFill>
            </a:endParaRPr>
          </a:p>
        </p:txBody>
      </p:sp>
      <p:sp>
        <p:nvSpPr>
          <p:cNvPr id="2" name="Text Placeholder 34">
            <a:extLst>
              <a:ext uri="{FF2B5EF4-FFF2-40B4-BE49-F238E27FC236}">
                <a16:creationId xmlns:a16="http://schemas.microsoft.com/office/drawing/2014/main" id="{1F31319B-C5BE-6B36-8340-85C1242D186C}"/>
              </a:ext>
            </a:extLst>
          </p:cNvPr>
          <p:cNvSpPr txBox="1">
            <a:spLocks/>
          </p:cNvSpPr>
          <p:nvPr/>
        </p:nvSpPr>
        <p:spPr>
          <a:xfrm>
            <a:off x="2551077" y="303932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9" action="ppaction://hlinksldjump">
                  <a:extLst>
                    <a:ext uri="{A12FA001-AC4F-418D-AE19-62706E023703}">
                      <ahyp:hlinkClr xmlns:ahyp="http://schemas.microsoft.com/office/drawing/2018/hyperlinkcolor" val="tx"/>
                    </a:ext>
                  </a:extLst>
                </a:hlinkClick>
              </a:rPr>
              <a:t>Health Care</a:t>
            </a:r>
            <a:endParaRPr lang="en-US" sz="1400" dirty="0">
              <a:solidFill>
                <a:schemeClr val="bg1"/>
              </a:solidFill>
            </a:endParaRPr>
          </a:p>
        </p:txBody>
      </p:sp>
      <p:sp>
        <p:nvSpPr>
          <p:cNvPr id="4" name="Text Placeholder 38">
            <a:extLst>
              <a:ext uri="{FF2B5EF4-FFF2-40B4-BE49-F238E27FC236}">
                <a16:creationId xmlns:a16="http://schemas.microsoft.com/office/drawing/2014/main" id="{5DECD76E-92A7-6EBA-AA65-946D420EB342}"/>
              </a:ext>
            </a:extLst>
          </p:cNvPr>
          <p:cNvSpPr txBox="1">
            <a:spLocks/>
          </p:cNvSpPr>
          <p:nvPr/>
        </p:nvSpPr>
        <p:spPr>
          <a:xfrm>
            <a:off x="2551077" y="3722109"/>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0" action="ppaction://hlinksldjump">
                  <a:extLst>
                    <a:ext uri="{A12FA001-AC4F-418D-AE19-62706E023703}">
                      <ahyp:hlinkClr xmlns:ahyp="http://schemas.microsoft.com/office/drawing/2018/hyperlinkcolor" val="tx"/>
                    </a:ext>
                  </a:extLst>
                </a:hlinkClick>
              </a:rPr>
              <a:t>Oil, Gas and Petrochemicals</a:t>
            </a:r>
            <a:endParaRPr lang="en-US" sz="1400" dirty="0">
              <a:solidFill>
                <a:schemeClr val="bg1"/>
              </a:solidFill>
            </a:endParaRPr>
          </a:p>
        </p:txBody>
      </p:sp>
      <p:sp>
        <p:nvSpPr>
          <p:cNvPr id="6" name="Text Placeholder 30">
            <a:extLst>
              <a:ext uri="{FF2B5EF4-FFF2-40B4-BE49-F238E27FC236}">
                <a16:creationId xmlns:a16="http://schemas.microsoft.com/office/drawing/2014/main" id="{06263A0B-F6B7-9BC6-E223-813A76AD1E58}"/>
              </a:ext>
            </a:extLst>
          </p:cNvPr>
          <p:cNvSpPr txBox="1">
            <a:spLocks/>
          </p:cNvSpPr>
          <p:nvPr/>
        </p:nvSpPr>
        <p:spPr>
          <a:xfrm>
            <a:off x="2551077" y="2028989"/>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1" action="ppaction://hlinksldjump">
                  <a:extLst>
                    <a:ext uri="{A12FA001-AC4F-418D-AE19-62706E023703}">
                      <ahyp:hlinkClr xmlns:ahyp="http://schemas.microsoft.com/office/drawing/2018/hyperlinkcolor" val="tx"/>
                    </a:ext>
                  </a:extLst>
                </a:hlinkClick>
              </a:rPr>
              <a:t>Banks &amp; Non-Bank Financials</a:t>
            </a:r>
            <a:endParaRPr lang="en-US" sz="1400" dirty="0">
              <a:solidFill>
                <a:schemeClr val="bg1"/>
              </a:solidFill>
            </a:endParaRPr>
          </a:p>
        </p:txBody>
      </p:sp>
      <p:sp>
        <p:nvSpPr>
          <p:cNvPr id="7" name="Text Placeholder 34">
            <a:extLst>
              <a:ext uri="{FF2B5EF4-FFF2-40B4-BE49-F238E27FC236}">
                <a16:creationId xmlns:a16="http://schemas.microsoft.com/office/drawing/2014/main" id="{AC14EBF5-8FE6-72E6-546F-BF9217AC771C}"/>
              </a:ext>
            </a:extLst>
          </p:cNvPr>
          <p:cNvSpPr txBox="1">
            <a:spLocks/>
          </p:cNvSpPr>
          <p:nvPr/>
        </p:nvSpPr>
        <p:spPr>
          <a:xfrm>
            <a:off x="2551077" y="339456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2" action="ppaction://hlinksldjump">
                  <a:extLst>
                    <a:ext uri="{A12FA001-AC4F-418D-AE19-62706E023703}">
                      <ahyp:hlinkClr xmlns:ahyp="http://schemas.microsoft.com/office/drawing/2018/hyperlinkcolor" val="tx"/>
                    </a:ext>
                  </a:extLst>
                </a:hlinkClick>
              </a:rPr>
              <a:t>Metals &amp; Mining</a:t>
            </a:r>
            <a:endParaRPr lang="en-US" sz="1400" dirty="0">
              <a:solidFill>
                <a:schemeClr val="bg1"/>
              </a:solidFill>
            </a:endParaRPr>
          </a:p>
        </p:txBody>
      </p:sp>
      <p:sp>
        <p:nvSpPr>
          <p:cNvPr id="8" name="Text Placeholder 34">
            <a:extLst>
              <a:ext uri="{FF2B5EF4-FFF2-40B4-BE49-F238E27FC236}">
                <a16:creationId xmlns:a16="http://schemas.microsoft.com/office/drawing/2014/main" id="{6658A036-5109-FF40-A3A7-6F6221FD69A9}"/>
              </a:ext>
            </a:extLst>
          </p:cNvPr>
          <p:cNvSpPr txBox="1">
            <a:spLocks/>
          </p:cNvSpPr>
          <p:nvPr/>
        </p:nvSpPr>
        <p:spPr>
          <a:xfrm>
            <a:off x="2551076" y="4077353"/>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3" action="ppaction://hlinksldjump">
                  <a:extLst>
                    <a:ext uri="{A12FA001-AC4F-418D-AE19-62706E023703}">
                      <ahyp:hlinkClr xmlns:ahyp="http://schemas.microsoft.com/office/drawing/2018/hyperlinkcolor" val="tx"/>
                    </a:ext>
                  </a:extLst>
                </a:hlinkClick>
              </a:rPr>
              <a:t>Pulp &amp; Paper</a:t>
            </a:r>
            <a:endParaRPr lang="en-US" sz="1400" dirty="0">
              <a:solidFill>
                <a:schemeClr val="bg1"/>
              </a:solidFill>
            </a:endParaRPr>
          </a:p>
        </p:txBody>
      </p:sp>
      <p:sp>
        <p:nvSpPr>
          <p:cNvPr id="9" name="Text Placeholder 34">
            <a:extLst>
              <a:ext uri="{FF2B5EF4-FFF2-40B4-BE49-F238E27FC236}">
                <a16:creationId xmlns:a16="http://schemas.microsoft.com/office/drawing/2014/main" id="{D60E3809-1277-5B30-3027-402F0C842CC8}"/>
              </a:ext>
            </a:extLst>
          </p:cNvPr>
          <p:cNvSpPr txBox="1">
            <a:spLocks/>
          </p:cNvSpPr>
          <p:nvPr/>
        </p:nvSpPr>
        <p:spPr>
          <a:xfrm>
            <a:off x="2551077" y="2356533"/>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a:solidFill>
                  <a:schemeClr val="bg1"/>
                </a:solidFill>
                <a:hlinkClick r:id="rId14" action="ppaction://hlinksldjump">
                  <a:extLst>
                    <a:ext uri="{A12FA001-AC4F-418D-AE19-62706E023703}">
                      <ahyp:hlinkClr xmlns:ahyp="http://schemas.microsoft.com/office/drawing/2018/hyperlinkcolor" val="tx"/>
                    </a:ext>
                  </a:extLst>
                </a:hlinkClick>
              </a:rPr>
              <a:t>Capital </a:t>
            </a:r>
            <a:r>
              <a:rPr lang="pt-BR" sz="1400" dirty="0" err="1">
                <a:solidFill>
                  <a:schemeClr val="bg1"/>
                </a:solidFill>
                <a:hlinkClick r:id="rId14" action="ppaction://hlinksldjump">
                  <a:extLst>
                    <a:ext uri="{A12FA001-AC4F-418D-AE19-62706E023703}">
                      <ahyp:hlinkClr xmlns:ahyp="http://schemas.microsoft.com/office/drawing/2018/hyperlinkcolor" val="tx"/>
                    </a:ext>
                  </a:extLst>
                </a:hlinkClick>
              </a:rPr>
              <a:t>Goods</a:t>
            </a:r>
            <a:endParaRPr lang="en-US" sz="1400" dirty="0">
              <a:solidFill>
                <a:schemeClr val="bg1"/>
              </a:solidFill>
            </a:endParaRPr>
          </a:p>
        </p:txBody>
      </p:sp>
      <p:sp>
        <p:nvSpPr>
          <p:cNvPr id="10" name="Text Placeholder 30">
            <a:extLst>
              <a:ext uri="{FF2B5EF4-FFF2-40B4-BE49-F238E27FC236}">
                <a16:creationId xmlns:a16="http://schemas.microsoft.com/office/drawing/2014/main" id="{69BFC188-1F11-95CC-244C-031BC92633E5}"/>
              </a:ext>
            </a:extLst>
          </p:cNvPr>
          <p:cNvSpPr txBox="1">
            <a:spLocks/>
          </p:cNvSpPr>
          <p:nvPr/>
        </p:nvSpPr>
        <p:spPr>
          <a:xfrm>
            <a:off x="2551077" y="170144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Agri</a:t>
            </a:r>
            <a:r>
              <a:rPr lang="pt-BR" sz="1400" dirty="0">
                <a:solidFill>
                  <a:schemeClr val="bg1"/>
                </a:solidFill>
                <a:hlinkClick r:id="rId4" action="ppaction://hlinksldjump">
                  <a:extLst>
                    <a:ext uri="{A12FA001-AC4F-418D-AE19-62706E023703}">
                      <ahyp:hlinkClr xmlns:ahyp="http://schemas.microsoft.com/office/drawing/2018/hyperlinkcolor" val="tx"/>
                    </a:ext>
                  </a:extLst>
                </a:hlinkClick>
              </a:rPr>
              <a:t>, Food &amp; </a:t>
            </a:r>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Beverages</a:t>
            </a:r>
            <a:r>
              <a:rPr lang="pt-BR" sz="1400" dirty="0">
                <a:solidFill>
                  <a:schemeClr val="bg1"/>
                </a:solidFill>
                <a:hlinkClick r:id="rId4" action="ppaction://hlinksldjump">
                  <a:extLst>
                    <a:ext uri="{A12FA001-AC4F-418D-AE19-62706E023703}">
                      <ahyp:hlinkClr xmlns:ahyp="http://schemas.microsoft.com/office/drawing/2018/hyperlinkcolor" val="tx"/>
                    </a:ext>
                  </a:extLst>
                </a:hlinkClick>
              </a:rPr>
              <a:t> </a:t>
            </a:r>
            <a:endParaRPr lang="pt-BR" sz="1400" dirty="0">
              <a:solidFill>
                <a:schemeClr val="bg1"/>
              </a:solidFill>
            </a:endParaRPr>
          </a:p>
        </p:txBody>
      </p:sp>
      <p:sp>
        <p:nvSpPr>
          <p:cNvPr id="11" name="Text Placeholder 34">
            <a:extLst>
              <a:ext uri="{FF2B5EF4-FFF2-40B4-BE49-F238E27FC236}">
                <a16:creationId xmlns:a16="http://schemas.microsoft.com/office/drawing/2014/main" id="{6D00D9F1-33E2-F085-FBC2-D839C6316B7E}"/>
              </a:ext>
            </a:extLst>
          </p:cNvPr>
          <p:cNvSpPr txBox="1">
            <a:spLocks/>
          </p:cNvSpPr>
          <p:nvPr/>
        </p:nvSpPr>
        <p:spPr>
          <a:xfrm>
            <a:off x="2551077" y="271177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spcBef>
                <a:spcPts val="400"/>
              </a:spcBef>
            </a:pPr>
            <a:r>
              <a:rPr lang="pt-BR" sz="1400" dirty="0" err="1">
                <a:solidFill>
                  <a:schemeClr val="bg1"/>
                </a:solidFill>
                <a:hlinkClick r:id="rId15" action="ppaction://hlinksldjump">
                  <a:extLst>
                    <a:ext uri="{A12FA001-AC4F-418D-AE19-62706E023703}">
                      <ahyp:hlinkClr xmlns:ahyp="http://schemas.microsoft.com/office/drawing/2018/hyperlinkcolor" val="tx"/>
                    </a:ext>
                  </a:extLst>
                </a:hlinkClick>
              </a:rPr>
              <a:t>Education</a:t>
            </a:r>
            <a:endParaRPr lang="en-US" sz="1400" dirty="0">
              <a:solidFill>
                <a:schemeClr val="bg1"/>
              </a:solidFill>
            </a:endParaRPr>
          </a:p>
        </p:txBody>
      </p:sp>
      <p:sp>
        <p:nvSpPr>
          <p:cNvPr id="3" name="Text Placeholder 34">
            <a:extLst>
              <a:ext uri="{FF2B5EF4-FFF2-40B4-BE49-F238E27FC236}">
                <a16:creationId xmlns:a16="http://schemas.microsoft.com/office/drawing/2014/main" id="{BD41FC9D-4324-E9B0-C649-D51423FACFE2}"/>
              </a:ext>
            </a:extLst>
          </p:cNvPr>
          <p:cNvSpPr txBox="1">
            <a:spLocks/>
          </p:cNvSpPr>
          <p:nvPr/>
        </p:nvSpPr>
        <p:spPr>
          <a:xfrm>
            <a:off x="2551077" y="5409072"/>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6" action="ppaction://hlinksldjump">
                  <a:extLst>
                    <a:ext uri="{A12FA001-AC4F-418D-AE19-62706E023703}">
                      <ahyp:hlinkClr xmlns:ahyp="http://schemas.microsoft.com/office/drawing/2018/hyperlinkcolor" val="tx"/>
                    </a:ext>
                  </a:extLst>
                </a:hlinkClick>
              </a:rPr>
              <a:t>Transportation</a:t>
            </a:r>
            <a:endParaRPr lang="en-US" sz="1400" dirty="0">
              <a:solidFill>
                <a:schemeClr val="bg1"/>
              </a:solidFill>
            </a:endParaRPr>
          </a:p>
        </p:txBody>
      </p:sp>
    </p:spTree>
    <p:extLst>
      <p:ext uri="{BB962C8B-B14F-4D97-AF65-F5344CB8AC3E}">
        <p14:creationId xmlns:p14="http://schemas.microsoft.com/office/powerpoint/2010/main" val="1666828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E881F-E00D-00DF-99A4-5A1EFD2F8BF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82BE20C-0645-8ECA-D737-9EE498F9AC9F}"/>
              </a:ext>
            </a:extLst>
          </p:cNvPr>
          <p:cNvSpPr>
            <a:spLocks noGrp="1"/>
          </p:cNvSpPr>
          <p:nvPr>
            <p:ph type="body" sz="quarter" idx="20"/>
          </p:nvPr>
        </p:nvSpPr>
        <p:spPr>
          <a:xfrm>
            <a:off x="382829" y="1500035"/>
            <a:ext cx="6106870" cy="7953528"/>
          </a:xfrm>
          <a:noFill/>
        </p:spPr>
        <p:txBody>
          <a:bodyPr/>
          <a:lstStyle/>
          <a:p>
            <a:pPr algn="r"/>
            <a:r>
              <a:rPr lang="en-US" i="1" dirty="0"/>
              <a:t>by Marcella Ungaretti, Luiza Aguiar</a:t>
            </a:r>
          </a:p>
          <a:p>
            <a:r>
              <a:rPr lang="en-US" b="1" dirty="0"/>
              <a:t>WEG: Data centers and battery storage emerging as structural growth drivers.</a:t>
            </a:r>
            <a:r>
              <a:rPr lang="en-US" dirty="0"/>
              <a:t> Management highlighted strong momentum in data centers, with WEG expanding its exposure across transformers (~20% of order intake), alternators and complementary products. On BESS, management views the upcoming auction and local-content requirements positively, with WEG well positioned, although Chinese competition is expected to intensify.</a:t>
            </a:r>
          </a:p>
          <a:p>
            <a:r>
              <a:rPr lang="en-US" b="1" dirty="0"/>
              <a:t>Ambev: Climate volatility becoming a more relevant operating variable.</a:t>
            </a:r>
            <a:r>
              <a:rPr lang="en-US" dirty="0"/>
              <a:t> Ambev acknowledged that increasingly unpredictable weather could drive greater volume volatility, making climate a more important external factor. On governance, management portrayed CEO Carlos Lisboa as a continuity story, building on his predecessor’s legacy.</a:t>
            </a:r>
          </a:p>
          <a:p>
            <a:r>
              <a:rPr lang="en-US" b="1" dirty="0"/>
              <a:t>Movida: Investors remain concerned about Chinese OEMs' growing penetration in Brazil.</a:t>
            </a:r>
            <a:r>
              <a:rPr lang="en-US" dirty="0"/>
              <a:t> While acknowledging the advance of Chinese brands in Brazil, Movida noted that ~84% of its fleet consists of entry-level vehicles, a segment not yet prioritized by Chinese brands. As a result, the company expects any impact on fleet composition and resale values to be gradual, with no meaningful penetration into the entry-level segment anticipated in the near term.</a:t>
            </a:r>
          </a:p>
        </p:txBody>
      </p:sp>
      <p:sp>
        <p:nvSpPr>
          <p:cNvPr id="13" name="Text Placeholder 12">
            <a:extLst>
              <a:ext uri="{FF2B5EF4-FFF2-40B4-BE49-F238E27FC236}">
                <a16:creationId xmlns:a16="http://schemas.microsoft.com/office/drawing/2014/main" id="{A5A4FC4C-EE1A-6BC9-0619-B00519C4F1FA}"/>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D493D917-0D2A-F213-C41D-D263FE7F787D}"/>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0815913B-3BE7-747E-6D97-9787826A1B89}"/>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4A40FB78-16A4-946D-A4D8-C2C135D0B5C0}"/>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86623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CB94A-F7CD-A9C1-E851-A4B5283D89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Engie, SLC Agrícola and BrasilAgro: El Niño takes center stage.</a:t>
            </a:r>
            <a:r>
              <a:rPr lang="en-US" dirty="0"/>
              <a:t> El Niño was a recurring topic, with varying exposure across sectors. For Engie, the impact is expected to be neutral given its contracted position, as higher generation volumes could offset weaker prices. SLC has adopted a defensive planting strategy, relying on geographic diversification and growing irrigation in Bahia as mitigants, while BrasilAgro offered a more benign view, noting that rainfall concerns in Mato Grosso have eased.</a:t>
            </a:r>
          </a:p>
          <a:p>
            <a:r>
              <a:rPr lang="en-US" b="1" dirty="0"/>
              <a:t>Petrobras: BioQAV core part of renewables strategy.</a:t>
            </a:r>
            <a:r>
              <a:rPr lang="en-US" dirty="0"/>
              <a:t> In discussing its broader renewables strategy, Petrobras highlighted sustainable aviation fuel (BioQAV) as a key growth avenue. The Fuel of the Future law was recognized as a key demand catalyst, but economics remain challenging, as BioQAV currently costs ~3-4x conventional jet fuel. Export potential is acknowledged, but near-term economics are underpinned by domestic demand.</a:t>
            </a:r>
          </a:p>
          <a:p>
            <a:r>
              <a:rPr lang="en-US" b="1" dirty="0"/>
              <a:t>Vibra: Strong fuel distribution outlook offsets continued challenges at Comerc.</a:t>
            </a:r>
            <a:r>
              <a:rPr lang="en-US" dirty="0"/>
              <a:t> While in the fuel distribution segment Vibra conveyed encouraging messages, the company reinforced that Comerc continues to face a difficult power market on the back of high curtailment levels. However, Vibra's strong balance sheet keeps leverage under control, with no asset deterioration, despite becoming a less material contributor to the group over time.</a:t>
            </a:r>
          </a:p>
          <a:p>
            <a:r>
              <a:rPr lang="en-US" b="1" dirty="0"/>
              <a:t>Orizon: Biomethane gaining traction as demand drivers expand.</a:t>
            </a:r>
            <a:r>
              <a:rPr lang="en-US" dirty="0"/>
              <a:t> Orizon highlighted biomethane as a key growth pillar, supported by diesel substitution in urban bus fleets and the Fuel of the Future law, expected to drive structural demand growth and underpin ongoing capacity expansion.</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488285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9E63-DFFD-4046-4D16-59BBE59D11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pPr algn="r"/>
            <a:r>
              <a:rPr lang="en-US" i="1" dirty="0"/>
              <a:t>by Leonardo Alencar, Leonardo Paiva</a:t>
            </a:r>
          </a:p>
          <a:p>
            <a:r>
              <a:rPr lang="en-US" b="1" dirty="0"/>
              <a:t>Beverages.</a:t>
            </a:r>
            <a:r>
              <a:rPr lang="en-US" dirty="0"/>
              <a:t> AmBev reinforced a more rational competitive environment in Brazil, with profitability taking precedence over volume growth. Combined with a strong net cash position, this supports a stable operating outlook and continued shareholder remuneration through IoC/dividends and buybacks, though the latter we expect a future announcement.</a:t>
            </a:r>
          </a:p>
          <a:p>
            <a:r>
              <a:rPr lang="en-US" b="1" dirty="0"/>
              <a:t>Proteins.</a:t>
            </a:r>
            <a:r>
              <a:rPr lang="en-US" dirty="0"/>
              <a:t> Sentiment remains constructive, particularly around JBS and MBRF, as management teams reinforced the view that the worst of the US cattle cycle is behind us. Mexican cattle imports, herd rebuilding, and capacity rationalization should support a more favorable outlook for US beef in 2027-28, while strong domestic demand and alternative export markets continue to offset temporary China-related disruptions in Brazil. Minerva remains the outlier, with discussions still largely centered on leverage and the pace of deleveraging.</a:t>
            </a:r>
          </a:p>
          <a:p>
            <a:r>
              <a:rPr lang="en-US" b="1" dirty="0"/>
              <a:t>Food.</a:t>
            </a:r>
            <a:r>
              <a:rPr lang="en-US" dirty="0"/>
              <a:t> Sentiment has improved, although consumer demand remains somewhat challenging. Camil highlighted a more constructive outlook for rice and deleveraging, while M. Dias Branco emphasized execution, market share gains, and efficiency initiatives.</a:t>
            </a:r>
          </a:p>
          <a:p>
            <a:r>
              <a:rPr lang="en-US" b="1" dirty="0"/>
              <a:t>Farming.</a:t>
            </a:r>
            <a:r>
              <a:rPr lang="en-US" dirty="0"/>
              <a:t> Discussions centered on risk management, hedging, and operational execution. SLC and BrasilAgro highlighted stronger commercial positions, disciplined capital allocation, and greater resilience to weather volatility, which should help mitigate potential El Niño impacts.</a:t>
            </a:r>
          </a:p>
          <a:p>
            <a:r>
              <a:rPr lang="en-US" b="1" dirty="0"/>
              <a:t>Farm Services.</a:t>
            </a:r>
            <a:r>
              <a:rPr lang="en-US" dirty="0"/>
              <a:t> Discussions were more focused on execution and capturing growth opportunities. Boa Safra is now prioritizing scale gains, efficiency improvements, and cash generation following its recent expansion cycle, while 3Tentos remains investor’s preferred name, supported by the corn ethanol ramp-up, improving ethanol fundamentals, and the expected normalization of biodiesel dynamics.</a:t>
            </a:r>
          </a:p>
          <a:p>
            <a:r>
              <a:rPr lang="en-US" b="1" dirty="0"/>
              <a:t>Sugar &amp; Ethanol.</a:t>
            </a:r>
            <a:r>
              <a:rPr lang="en-US" dirty="0"/>
              <a:t> Jalles highlighted solid operational recovery and an above-average hedge position, which continues to mitigate the impact of lower sugar prices. Management also pointed to improving ethanol and sugar fundamentals and expects leverage to decline going forward.</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962525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F097-380C-57C3-F2B2-E96C445186D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pPr algn="r"/>
            <a:r>
              <a:rPr lang="en-US" i="1" dirty="0"/>
              <a:t>by Bernardo Guttmann, Matheus Guimarães</a:t>
            </a:r>
          </a:p>
          <a:p>
            <a:r>
              <a:rPr lang="en-US" b="1" dirty="0"/>
              <a:t>Assessing Investors’ Demand. </a:t>
            </a:r>
            <a:r>
              <a:rPr lang="en-US" dirty="0"/>
              <a:t>Companies that attended our conference were in high demand by investors, with incumbent banks receiving approximately 60 client requests on average, while other companies received around 30.</a:t>
            </a:r>
          </a:p>
          <a:p>
            <a:r>
              <a:rPr lang="en-US" b="1" dirty="0"/>
              <a:t>Mixed Moods. </a:t>
            </a:r>
            <a:r>
              <a:rPr lang="en-US" dirty="0"/>
              <a:t>Incumbent banks have brought mixed views. Bradesco shared an optimistic outlook, stating that its loan portfolio is maintaining a solid growth pace without worsening asset quality. For Banco do </a:t>
            </a:r>
            <a:r>
              <a:rPr lang="en-US" dirty="0" err="1"/>
              <a:t>Brasil</a:t>
            </a:r>
            <a:r>
              <a:rPr lang="en-US" dirty="0"/>
              <a:t>, however, the overall tone was more cautious. Although the restated guidance suggests a gradual recovery in the second half compared to the first half, the worsening of NPLs in July led investors to question whether this guidance is feasible.</a:t>
            </a:r>
          </a:p>
          <a:p>
            <a:r>
              <a:rPr lang="en-US" b="1" dirty="0"/>
              <a:t>Efficiency in the Spotlight. </a:t>
            </a:r>
            <a:r>
              <a:rPr lang="en-US" dirty="0"/>
              <a:t>In a scenario of higher interest rates, the pace of portfolio growth slows and funding costs come under pressure in the short term. As a result, banks have focused on improving margins on liabilities and enhancing efficiency, with the latter being a theme that is increasingly attracting investors' interest.</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
        <p:nvSpPr>
          <p:cNvPr id="9008"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926397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F3A99-220C-1FAC-3E74-4058EFA598B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572D-825D-9F6A-D92B-60DDFECF2CCD}"/>
              </a:ext>
            </a:extLst>
          </p:cNvPr>
          <p:cNvSpPr>
            <a:spLocks noGrp="1"/>
          </p:cNvSpPr>
          <p:nvPr>
            <p:ph type="body" sz="quarter" idx="20"/>
          </p:nvPr>
        </p:nvSpPr>
        <p:spPr>
          <a:xfrm>
            <a:off x="382828" y="1497015"/>
            <a:ext cx="6106871" cy="7956548"/>
          </a:xfrm>
          <a:noFill/>
        </p:spPr>
        <p:txBody>
          <a:bodyPr/>
          <a:lstStyle/>
          <a:p>
            <a:pPr algn="r"/>
            <a:r>
              <a:rPr lang="en-US" i="1" dirty="0"/>
              <a:t>by Lucas Laghi, Fernanda Urbano, Guilherme Nippes</a:t>
            </a:r>
          </a:p>
          <a:p>
            <a:r>
              <a:rPr lang="en-US" b="1" dirty="0"/>
              <a:t>Capacity additions remain a gradual story.</a:t>
            </a:r>
            <a:r>
              <a:rPr lang="en-US" dirty="0"/>
              <a:t> While Betim has started production, we expect a full ramp up to last up to ~12-18 months, implying a more meaningful revenue contribution in 2027E onwards. On margins, despite several moving parts, we continue to see pricing actions and operational improvements offsetting part of the tariff headwinds, leaving the overall message largely unchanged, in our view and suggesting short-term profitability closer to 2Q26’s levels.</a:t>
            </a:r>
          </a:p>
          <a:p>
            <a:r>
              <a:rPr lang="en-US" b="1" dirty="0"/>
              <a:t>Increasing direct and indirect data center exposure.</a:t>
            </a:r>
            <a:r>
              <a:rPr lang="en-US" dirty="0"/>
              <a:t> In external markets, we see WEG's data-center exposure as a key talking point. While alternators remain the most visible link, management highlighted growing exposure across multiple product lines, including transformers and motors used in cooling and ventilation systems. We note that ~20% of current U.S. transformer order intake is already linked to DCs, while a significant portion of Marathon's demand is tied to backup-power applications. We continue to see room for alternators to gain relevance within Marathon's portfolio, supporting profitability through operating leverage, synergies and, especially, the adoption of WEG's verticalized operating model.</a:t>
            </a:r>
          </a:p>
          <a:p>
            <a:r>
              <a:rPr lang="en-US" b="1" dirty="0"/>
              <a:t>What stood out to us regarding domestic market.</a:t>
            </a:r>
            <a:r>
              <a:rPr lang="en-US" dirty="0"/>
              <a:t> (i) In T&amp;D, we see WEG's competitive position strengthening as global peers remain focused on export opportunities and U.S. demand, creating room for market-share gains in Brazil. Management suggested the company now holds leading positions across most major transmission transformer categories. (ii) We also note increasing concerns around Brazil's macro backdrop heading into 2027E - while shorter-cycle businesses would react first, long-cycle operations remain supported by healthy backlogs. We agree with WEG’s view that the current setup differs from 2015-16, when Brazil's recession coincided with a global commodity downturn, while a weaker BRL could partly offset a softer domestic environment given WEG’s export profile.</a:t>
            </a:r>
          </a:p>
          <a:p>
            <a:r>
              <a:rPr lang="en-US" b="1" dirty="0"/>
              <a:t>A word on BESS.</a:t>
            </a:r>
            <a:r>
              <a:rPr lang="en-US" dirty="0"/>
              <a:t> We continue to see management's stance as constructive ahead of the planned commissioning of the new 2GWh Itajaí facility in 2028E. While increasing competition from Chinese players remains a key concern, WEG's strategy appears more focused on execution, quality and long-standing utility relationships than on competing solely on price. Importantly, the project was designed with operational flexibility, allowing capacity adjustments (e.g., through shifts and equipment additions) should market conditions become more competitive than expected. Management also highlighted demand already emerging outside large-scale auctions, including C&amp;I, agribusiness and isolated-grid applications.</a:t>
            </a:r>
          </a:p>
        </p:txBody>
      </p:sp>
      <p:sp>
        <p:nvSpPr>
          <p:cNvPr id="7" name="Text Placeholder 6">
            <a:extLst>
              <a:ext uri="{FF2B5EF4-FFF2-40B4-BE49-F238E27FC236}">
                <a16:creationId xmlns:a16="http://schemas.microsoft.com/office/drawing/2014/main" id="{2314217F-0D01-B894-A55A-CBD38C45B7FD}"/>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109FC52-71FB-E7EF-675B-41335E8C10F7}"/>
              </a:ext>
            </a:extLst>
          </p:cNvPr>
          <p:cNvSpPr>
            <a:spLocks noGrp="1"/>
          </p:cNvSpPr>
          <p:nvPr>
            <p:ph type="body" sz="quarter" idx="17"/>
          </p:nvPr>
        </p:nvSpPr>
        <p:spPr/>
        <p:txBody>
          <a:bodyPr/>
          <a:lstStyle/>
          <a:p>
            <a:r>
              <a:rPr lang="pt-BR" dirty="0"/>
              <a:t>Capital </a:t>
            </a:r>
            <a:r>
              <a:rPr lang="pt-BR" dirty="0" err="1"/>
              <a:t>Goods</a:t>
            </a:r>
            <a:endParaRPr lang="pt-BR" dirty="0"/>
          </a:p>
        </p:txBody>
      </p:sp>
      <p:sp>
        <p:nvSpPr>
          <p:cNvPr id="9" name="Text Placeholder 8">
            <a:extLst>
              <a:ext uri="{FF2B5EF4-FFF2-40B4-BE49-F238E27FC236}">
                <a16:creationId xmlns:a16="http://schemas.microsoft.com/office/drawing/2014/main" id="{51AC0844-F4BF-9F87-A7A1-DB08FACC353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0401D7-052F-52C7-8745-F6BD53DC5A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199156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A584-AF30-5702-1178-B35DA8A15F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The new distance learning regulatory framework remains a key topic across all higher education companies.</a:t>
            </a:r>
            <a:r>
              <a:rPr lang="en-US" dirty="0"/>
              <a:t> Companies are moving from regulatory planning into implementation, adapting physical footprints ahead of the new rules. While the magnitude and timing differ across players, higher in-person requirements should bring incremental costs and investments, while potentially supporting a more rational competitive and pricing environment over time.</a:t>
            </a:r>
          </a:p>
          <a:p>
            <a:r>
              <a:rPr lang="en-US" b="1" dirty="0"/>
              <a:t>A still-challenging intake environment, with greater focus on value over volume.</a:t>
            </a:r>
            <a:r>
              <a:rPr lang="en-US" dirty="0"/>
              <a:t> Competitive intensity remains high, keeping pressure on intake volumes and pricing. Across our conversations, however, companies increasingly emphasized student quality, engagement, retention, and ticket levels rather than intake growth alone.</a:t>
            </a:r>
          </a:p>
          <a:p>
            <a:r>
              <a:rPr lang="en-US" b="1" dirty="0"/>
              <a:t>Growth is increasingly tied to mix, maturation, and execution.</a:t>
            </a:r>
            <a:r>
              <a:rPr lang="en-US" dirty="0"/>
              <a:t> Medical and Healthcare programs remain important growth and margin drivers, while premium education, hybrid offerings and the maturation of recently opened units provide additional avenues for growth. In K-12, expansion remains supported by a combination of M&amp;A and organic growth, with integration capabilities playing an important role.</a:t>
            </a:r>
          </a:p>
          <a:p>
            <a:r>
              <a:rPr lang="en-US" b="1" dirty="0"/>
              <a:t>Efficiency and capital discipline remain high on the agenda.</a:t>
            </a:r>
            <a:r>
              <a:rPr lang="en-US" dirty="0"/>
              <a:t> Management teams continue to focus on operating leverage, better asset utilization and technology-driven efficiencies. At the same time, deleveraging remains an important priority for several companies, although improving balance sheets are gradually opening room for greater shareholder distributions and selective M&amp;A.</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787310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31DF5-429E-6016-753E-4139C4DD7F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Health plans: profitability and underwriting discipline remain key.</a:t>
            </a:r>
            <a:r>
              <a:rPr lang="en-US" dirty="0"/>
              <a:t> SulA continues to prioritize profitability, supported by a positive MLR trajectory, while BradSaude sees SMEs as its main growth avenue after restoring profitability. Hapvida also reinforced its profitability-first approach, with medical cost management, SG&amp;A efficiencies and hospital repricing among the key earnings levers.</a:t>
            </a:r>
          </a:p>
          <a:p>
            <a:r>
              <a:rPr lang="en-US" b="1" dirty="0"/>
              <a:t>Hospitals: efficiency, asset utilization and higher-complexity services remain key growth levers.</a:t>
            </a:r>
            <a:r>
              <a:rPr lang="en-US" dirty="0"/>
              <a:t> Rede D’Or continues to see healthy hospital volumes and remains constructive on oncology, while maintaining a largely brownfield-focused expansion pipeline. Mater Dei expects margin expansion to benefit from the maturation of recently opened hospitals and sees oncology as an important growth avenue. BradSaude also sees room to expand its hospital footprint, with Atlantica expected to become a more relevant earnings contributor.</a:t>
            </a:r>
          </a:p>
          <a:p>
            <a:r>
              <a:rPr lang="en-US" b="1" dirty="0"/>
              <a:t>Diagnostics: premium positioning, productivity and B2B opportunities support growth.</a:t>
            </a:r>
            <a:r>
              <a:rPr lang="en-US" dirty="0"/>
              <a:t> Fleury is focused on extracting more growth from its existing asset base through higher utilization, mobile services and technology, with AI already contributing to productivity gains. Dasa highlighted premium and B2B as important growth avenues following the operational simplification of recent years, while deleveraging remains a priority.</a:t>
            </a:r>
          </a:p>
          <a:p>
            <a:r>
              <a:rPr lang="en-US" b="1" dirty="0"/>
              <a:t>Pharma/Distributor: new growth avenues alongside greater cash generation.</a:t>
            </a:r>
            <a:r>
              <a:rPr lang="en-US" dirty="0"/>
              <a:t> Hypera sees Semavy and the broader GLP-1 market as an important opportunity, with a more significant revenue contribution expected from 2027 onward, while cash generation supports deleveraging. Profarma sees 4Bio as a meaningful opportunity through tax and logistics synergies, specialty-pharma expansion and margin improvement.</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332582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Vale.</a:t>
            </a:r>
            <a:r>
              <a:rPr lang="en-US" dirty="0"/>
              <a:t> We left the meeting slightly more constructive on iron ore fundamentals, following indications of a relatively balanced market, with global demand still expected to grow by ~0.5-1.0% p.a. and only limited net supply additions, which we believe should help support iron ore prices (~US$100/t seems fair in this context, particularly considering recent inflationary pressures on costs). Operationally, we view production around the midpoint of guidance (~340 Mt) as reasonable, while productivity initiatives should help keep costs broadly stable despite inflationary pressures (all-in costs around ~US$60/t also seem achievable and a good reference for 2027E as we speak). Finally, we believe a potential new cavities’ licensing decree is more relevant from a flexibility and de-risking perspective than as a near-term volume catalyst, allowing the company to optimize its production footprint as market conditions evolve.</a:t>
            </a:r>
          </a:p>
          <a:p>
            <a:r>
              <a:rPr lang="en-US" b="1" dirty="0"/>
              <a:t>CSN and CSN Mineração.</a:t>
            </a:r>
            <a:r>
              <a:rPr lang="en-US" dirty="0"/>
              <a:t> Management’s focus remained on deleveraging, with near-term attention on the cement sale process (potential signing by late Sep’26). In Steel, the tone was more constructive, with margins expected to continue recovering in 2H26E supported by prior price increases and stable raw material costs, although import competition remains a key factor to monitor. For Mining, management reiterated its long-term growth focus, highlighting the P15 expansion project and opportunities to enhance product quality, with hedging instruments mitigating lower iron ore prices in the short-term (we estimate ~50-60% of 3Q26E’s sales as hedged at a ~US$105/t level). Finally, infrastructure monetization remains on track, with proposals expected in the coming weeks and signing targeted before year-end.</a:t>
            </a:r>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5D0DB9-E370-33CC-AA90-1962539AA018}"/>
              </a:ext>
            </a:extLst>
          </p:cNvPr>
          <p:cNvSpPr>
            <a:spLocks noGrp="1"/>
          </p:cNvSpPr>
          <p:nvPr>
            <p:ph type="body" sz="quarter" idx="20"/>
          </p:nvPr>
        </p:nvSpPr>
        <p:spPr>
          <a:xfrm>
            <a:off x="382828" y="1497015"/>
            <a:ext cx="6106871" cy="7956548"/>
          </a:xfrm>
          <a:noFill/>
        </p:spPr>
        <p:txBody>
          <a:bodyPr/>
          <a:lstStyle/>
          <a:p>
            <a:pPr algn="r"/>
            <a:r>
              <a:rPr lang="en-US" i="1" dirty="0"/>
              <a:t>by Regis Cardoso, Enzo Sozzi</a:t>
            </a:r>
          </a:p>
          <a:p>
            <a:r>
              <a:rPr lang="en-US" b="1" dirty="0"/>
              <a:t>Who we met.</a:t>
            </a:r>
            <a:r>
              <a:rPr lang="en-US" dirty="0"/>
              <a:t> Over the two days of event, we had the pleasure of meeting with (i) PRIO’s CEO, Roberto Monteiro, (ii) PetroReconcavo’s CEO, José Firmo, (iii) Brava’s CFO, Luiz Carvalho, (iv) Vibra’s CFO, Maurício Teixeira, (v) Ultrapar’s CFO, Alexandre Palhares, (vi) Petrobras’s IR managers, and (vii) Origem Energia’s CEO, Luiz Felipe Coutinho, and CFO, Daniel Pache. Below, we discuss the main highlights of the event.</a:t>
            </a:r>
          </a:p>
          <a:p>
            <a:r>
              <a:rPr lang="en-US" b="1" dirty="0"/>
              <a:t>E&amp;P: FCF generation and production growth.</a:t>
            </a:r>
            <a:r>
              <a:rPr lang="en-US" dirty="0"/>
              <a:t> Most investors we met at the conference expressed positive sentiment following their meetings with PRIO. We also came away optimistic, comfortable with the company’s strong FCFE generation and organic growth projects. PRIO is set to increase shareholder distribution through both buybacks and dividends as it advances on deleveraging. Petrobras highlighted the current level of its oil production, underscoring efficiency gains in offshore platforms, including several new units operating above nameplate capacity, and the anticipation of projects. Brava also shared positive messages, including (i) the continuation of its liability management and deleveraging process, and (ii) expectations for continued production growth. Management also shared the next steps in Ecopetrol’s arrival as controlling shareholder, although the extent of any potential changes to the company’s go-forward strategy is still pending discussion with the market. Our conversations with PetroReconcavo focused on the company’s alternatives to contain production declines across its asset base, along with ongoing efforts to unlock new reserves and increase resilience. Finally, Origem Energia (not listed) discussed the architecture and opportunities of its diversified, integrated energy platform spanning oil, gas, power generation, and gas storage.</a:t>
            </a:r>
          </a:p>
          <a:p>
            <a:r>
              <a:rPr lang="en-US" b="1" dirty="0"/>
              <a:t>Fuel distribution: Strong earnings momentum and FCF.</a:t>
            </a:r>
            <a:r>
              <a:rPr lang="en-US" dirty="0"/>
              <a:t> In the fuel distribution segment, both Vibra and Ultrapar conveyed encouraging messages. In the short term, 3Q26 margins should remain strong, reflecting competitive dynamics that continue to favor structural suppliers (with a higher share of Petrobras-sourced volumes in the supply mix). In the long run, both companies argued that recurring margins should settle structurally above pre-conflict levels, underpinned by a more level playing field as illicit competition diminishes. Vibra and Ultrapar noted a more favorable environment for station branding, as its value proposition strengthens. Both companies also highlighted the opportunity to leverage the strong momentum in cash flow generation to reduce debt and increase shareholder remuneration. On M&amp;A, UGPA’s management signaled a flexible approach to pursue value-accretive opportunities. Vibra also shared there is strong earnings momentum in the lubricants business.</a:t>
            </a:r>
          </a:p>
        </p:txBody>
      </p:sp>
      <p:sp>
        <p:nvSpPr>
          <p:cNvPr id="7" name="Text Placeholder 6">
            <a:extLst>
              <a:ext uri="{FF2B5EF4-FFF2-40B4-BE49-F238E27FC236}">
                <a16:creationId xmlns:a16="http://schemas.microsoft.com/office/drawing/2014/main" id="{A535F394-AE43-5597-C158-EB6E17A2AB3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78A4EB2B-E414-B4F2-AA2D-4BF6DD517EE9}"/>
              </a:ext>
            </a:extLst>
          </p:cNvPr>
          <p:cNvSpPr>
            <a:spLocks noGrp="1"/>
          </p:cNvSpPr>
          <p:nvPr>
            <p:ph type="body" sz="quarter" idx="17"/>
          </p:nvPr>
        </p:nvSpPr>
        <p:spPr/>
        <p:txBody>
          <a:bodyPr/>
          <a:lstStyle/>
          <a:p>
            <a:r>
              <a:rPr lang="pt-BR" dirty="0" err="1"/>
              <a:t>Oil</a:t>
            </a:r>
            <a:r>
              <a:rPr lang="pt-BR" dirty="0"/>
              <a:t>, </a:t>
            </a:r>
            <a:r>
              <a:rPr lang="pt-BR" dirty="0" err="1"/>
              <a:t>Gas</a:t>
            </a:r>
            <a:r>
              <a:rPr lang="pt-BR" dirty="0"/>
              <a:t> &amp; </a:t>
            </a:r>
            <a:r>
              <a:rPr lang="pt-BR" dirty="0" err="1"/>
              <a:t>Petrochemicals</a:t>
            </a:r>
            <a:endParaRPr lang="pt-BR" dirty="0"/>
          </a:p>
        </p:txBody>
      </p:sp>
      <p:sp>
        <p:nvSpPr>
          <p:cNvPr id="9" name="Text Placeholder 8">
            <a:extLst>
              <a:ext uri="{FF2B5EF4-FFF2-40B4-BE49-F238E27FC236}">
                <a16:creationId xmlns:a16="http://schemas.microsoft.com/office/drawing/2014/main" id="{48117103-FB91-09D0-3B6C-EC6C2E46008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0581A2-46AB-C3EC-1738-E1B9D1463A3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19113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E39A-B727-EF12-56A9-B3E7404866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492490-F7C0-1CA6-F508-491B422705BD}"/>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Suzano.</a:t>
            </a:r>
            <a:r>
              <a:rPr lang="en-US" dirty="0"/>
              <a:t> We note a marginally better tone regarding pulp market fundamentals, with indications that current hardwood pulp prices (~US$550-560/t) should be closer to a bottom, supported by normalized inventories in China and recent announcements of paper prices increases in Asia, with integrated Chinese producers returning to the market as buyers and supporting an improving order intake. On capital allocation, management reiterated its focus on deleveraging, targeting leverage of 2.5x over the next ~18 months, while indicating that a new pulp project does not meet return requirements given rising forestry costs + elevated cost of capital. Finally, operational efficiency was a recurring theme, with ongoing initiatives across logistics, forestry, procurement and organizational structure expected to support cost improvements in 2H26E - pulp cash cost of ~R$800/t for 2026FY reiterated by management, with room for improvements in 2027E as wood costs continue to be optimized.</a:t>
            </a:r>
          </a:p>
          <a:p>
            <a:r>
              <a:rPr lang="en-US" b="1" dirty="0"/>
              <a:t>Klabin.</a:t>
            </a:r>
            <a:r>
              <a:rPr lang="en-US" dirty="0"/>
              <a:t> We came away with a more positive view on both pulp and packaging markets. On (i) pulp, aside from bottoming signs in China, North America paper demand remains relatively solid (especially in tissue), with recent capacity closures in the softwood/fluff-side limiting downside risks for hardwood as fiber-spreads recovers. In (ii) packaging, demand remains resilient, while kraftliner prices continuing to move upwards (+US$100/t announced) and gradually flowing through results. We also note that the PM28 ramp-up is evolving well, supported by a favorable mix skewed toward higher-margin products. Finally, on capital allocation, lower capex requirements, declining leverage and increasing contributions from forestry-related structures should support stronger FCF generation and financial flexibility over the coming years.</a:t>
            </a:r>
          </a:p>
        </p:txBody>
      </p:sp>
      <p:sp>
        <p:nvSpPr>
          <p:cNvPr id="7" name="Text Placeholder 6">
            <a:extLst>
              <a:ext uri="{FF2B5EF4-FFF2-40B4-BE49-F238E27FC236}">
                <a16:creationId xmlns:a16="http://schemas.microsoft.com/office/drawing/2014/main" id="{8CBA6CF5-8437-18E6-FA38-7B865C2D08EC}"/>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B04557F-2423-ACB2-72D5-BE4E28CA0811}"/>
              </a:ext>
            </a:extLst>
          </p:cNvPr>
          <p:cNvSpPr>
            <a:spLocks noGrp="1"/>
          </p:cNvSpPr>
          <p:nvPr>
            <p:ph type="body" sz="quarter" idx="17"/>
          </p:nvPr>
        </p:nvSpPr>
        <p:spPr/>
        <p:txBody>
          <a:bodyPr/>
          <a:lstStyle/>
          <a:p>
            <a:r>
              <a:rPr lang="pt-BR" dirty="0"/>
              <a:t>Pulp &amp; </a:t>
            </a:r>
            <a:r>
              <a:rPr lang="pt-BR" dirty="0" err="1"/>
              <a:t>Paper</a:t>
            </a:r>
            <a:endParaRPr lang="pt-BR" dirty="0"/>
          </a:p>
        </p:txBody>
      </p:sp>
      <p:sp>
        <p:nvSpPr>
          <p:cNvPr id="9" name="Text Placeholder 8">
            <a:extLst>
              <a:ext uri="{FF2B5EF4-FFF2-40B4-BE49-F238E27FC236}">
                <a16:creationId xmlns:a16="http://schemas.microsoft.com/office/drawing/2014/main" id="{204A99D6-2354-6404-8119-96685D4DBEF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3CBE6CD-AE80-A5FD-192F-E02E52E6BAE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446529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11D4-DDD9-0ABF-0DCA-8E7AB14699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pPr algn="r"/>
            <a:r>
              <a:rPr lang="en-US" i="1" dirty="0"/>
              <a:t>by Ygor Altero, Ruan Argenton</a:t>
            </a:r>
          </a:p>
          <a:p>
            <a:r>
              <a:rPr lang="en-US" b="1" dirty="0" err="1"/>
              <a:t>Allos</a:t>
            </a:r>
            <a:r>
              <a:rPr lang="en-US" b="1" dirty="0"/>
              <a:t> (ALOS3): </a:t>
            </a:r>
            <a:r>
              <a:rPr lang="en-US" dirty="0"/>
              <a:t>July seem to be resilient month for </a:t>
            </a:r>
            <a:r>
              <a:rPr lang="en-US" dirty="0" err="1"/>
              <a:t>Allos</a:t>
            </a:r>
            <a:r>
              <a:rPr lang="en-US" dirty="0"/>
              <a:t>, with mid-single-digit growth driven by strong apparel performance despite tougher comparisons in leisure. Tenant financial health is solid, and while rents are rising due to IGP-M and contract step-ups, efficient cost management is keeping occupancy costs stable. Lower costs from vacant areas, as occupancy exceeds 97%, should sustain solid NOI margins. The high-interest rate environment is discouraging new projects, and 2025 capex may trend toward the low end of guidance, with ERP unification expected to reduce future investments.</a:t>
            </a:r>
          </a:p>
          <a:p>
            <a:r>
              <a:rPr lang="en-US" b="1" dirty="0"/>
              <a:t>Cury (CURY3):</a:t>
            </a:r>
            <a:r>
              <a:rPr lang="en-US" dirty="0"/>
              <a:t> Following a strong 1H25, Cury is positioned for a launch volume near R$8.5bn in 2025, exceeding expectations. Strong margins are supported by the delivery of older projects while new ones benefit from favorable land acquisition, high SoS, and rapid transfers, which should maintain margins around 39%. Reduced competition for land and controlled labor costs are also positive factors. Supported by a positive FCF outlook, dividend distributions are expected to continue, with potential for higher payouts due to possible tax changes.</a:t>
            </a:r>
          </a:p>
          <a:p>
            <a:r>
              <a:rPr lang="en-US" b="1" dirty="0" err="1"/>
              <a:t>Cyrela</a:t>
            </a:r>
            <a:r>
              <a:rPr lang="en-US" b="1" dirty="0"/>
              <a:t> (CYRE3):</a:t>
            </a:r>
            <a:r>
              <a:rPr lang="en-US" dirty="0"/>
              <a:t> </a:t>
            </a:r>
            <a:r>
              <a:rPr lang="en-US" dirty="0" err="1"/>
              <a:t>Cyrela's</a:t>
            </a:r>
            <a:r>
              <a:rPr lang="en-US" dirty="0"/>
              <a:t> launches should continue increasing in 2025 and 2026, driven by strong growth from its Vivaz segment in São Paulo. Profitability and ROE metrics are also improving as new, higher-margin projects gain relevance. Cash generation expectations for 2025 have been lowered due to reduced sales of older inventory and growth in the direct financing portfolio. The potential for extraordinary dividends remains, though the company should maintain a conservative leverage position. </a:t>
            </a:r>
          </a:p>
          <a:p>
            <a:r>
              <a:rPr lang="en-US" b="1" dirty="0"/>
              <a:t>Moura </a:t>
            </a:r>
            <a:r>
              <a:rPr lang="en-US" b="1" dirty="0" err="1"/>
              <a:t>Dubeux</a:t>
            </a:r>
            <a:r>
              <a:rPr lang="en-US" b="1" dirty="0"/>
              <a:t> (MDNE3):</a:t>
            </a:r>
            <a:r>
              <a:rPr lang="en-US" dirty="0"/>
              <a:t> Strong outlook for 3Q with potential new launches of R$1.3bn. Demand remains favorable, with solid sales performance for key launches. The development of </a:t>
            </a:r>
            <a:r>
              <a:rPr lang="en-US" dirty="0" err="1"/>
              <a:t>Única</a:t>
            </a:r>
            <a:r>
              <a:rPr lang="en-US" dirty="0"/>
              <a:t> is a focus, with planned launch growth through 2027 to reach R$1bn in annual volume. Despite accelerated launch growth, the company aims to maintain a R$100mn dividend pipeline in 2025, with leverage kept below 20% net debt to equity.</a:t>
            </a:r>
          </a:p>
          <a:p>
            <a:r>
              <a:rPr lang="en-US" b="1" dirty="0" err="1"/>
              <a:t>Plano&amp;Plano</a:t>
            </a:r>
            <a:r>
              <a:rPr lang="en-US" b="1" dirty="0"/>
              <a:t> (PLPL3):</a:t>
            </a:r>
            <a:r>
              <a:rPr lang="en-US" dirty="0"/>
              <a:t> </a:t>
            </a:r>
            <a:r>
              <a:rPr lang="en-US" dirty="0" err="1"/>
              <a:t>Plano&amp;Plano's</a:t>
            </a:r>
            <a:r>
              <a:rPr lang="en-US" dirty="0"/>
              <a:t> launch growth plan for 2025 remains strong, with expectations to surpass R$4bn amid a positive sales environment. The company's engineering expertise is a key competitive advantage, and its focus on larger land parcels results in less acquisition competition. Despite a cash burn in 1H25 due to extended construction timelines and specific project disbursements, the FCF outlook for 2H25 is more positive. A dividend payout ratio close to 50% still seems feasible going forward.</a:t>
            </a:r>
          </a:p>
          <a:p>
            <a:endParaRPr lang="en-US" dirty="0"/>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9015"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2743196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3708D-2AF0-F307-15FC-B1B1F6EC8F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6FD0945-7593-991A-BFB5-3A40E9A7BEE0}"/>
              </a:ext>
            </a:extLst>
          </p:cNvPr>
          <p:cNvSpPr>
            <a:spLocks noGrp="1"/>
          </p:cNvSpPr>
          <p:nvPr>
            <p:ph type="body" sz="quarter" idx="20"/>
          </p:nvPr>
        </p:nvSpPr>
        <p:spPr>
          <a:xfrm>
            <a:off x="382828" y="1497015"/>
            <a:ext cx="6106871" cy="7956548"/>
          </a:xfrm>
          <a:noFill/>
        </p:spPr>
        <p:txBody>
          <a:bodyPr/>
          <a:lstStyle/>
          <a:p>
            <a:pPr algn="r"/>
            <a:r>
              <a:rPr lang="en-US" i="1" dirty="0"/>
              <a:t>by Danniela Eiger, Pedro Caravina, Laryssa Sumer</a:t>
            </a:r>
          </a:p>
          <a:p>
            <a:r>
              <a:rPr lang="en-US" b="1" dirty="0"/>
              <a:t>Assessing investors’ demand.</a:t>
            </a:r>
            <a:r>
              <a:rPr lang="en-US" dirty="0"/>
              <a:t> Companies that attended our conference were well demanded by investors, with ~60 client requests per company on average. Among the most demanded, SMFT stood as #1 for the third year in a row, followed by MELI and ASAI. We continue to see investors more cautious about the space as most Q2 results showed a consumption deceleration. Looking ahead, Q3 should be a milder quarter while companies are focused on Q4 execution given its strong seasonality.</a:t>
            </a:r>
          </a:p>
          <a:p>
            <a:r>
              <a:rPr lang="en-US" b="1" dirty="0"/>
              <a:t>Macro: recession watch mode.</a:t>
            </a:r>
            <a:r>
              <a:rPr lang="en-US" dirty="0"/>
              <a:t> Concerns over a potential 2027 recession dominated conversations, with investors focused on data points to read 2H26 dynamics amid signs of consumption deceleration. Companies broadly acknowledged the tougher backdrop, defensiveness and resilience of each business model became a central part of the stories presented.</a:t>
            </a:r>
          </a:p>
          <a:p>
            <a:r>
              <a:rPr lang="en-US" b="1" dirty="0"/>
              <a:t>Tax Reform: from threat to opportunity.</a:t>
            </a:r>
            <a:r>
              <a:rPr lang="en-US" dirty="0"/>
              <a:t> Companies are actively preparing for the changes taking effect next year, and the tone was more constructive than defensive: the reform is expected to level the playing field among players, curbing tax-driven distortions and informality. Beyond equalization, companies highlighted benefits from credit monetization and see the new framework as a potential catalyst for sector consolidation, favoring larger, more structured players over weakened independents. Still, there will be challenges, with split payment’s cash flow impact and the adjustment’s complexity being mentioned by several of them.</a:t>
            </a:r>
          </a:p>
          <a:p>
            <a:r>
              <a:rPr lang="en-US" b="1" dirty="0"/>
              <a:t>6x1: mitigation already underway.</a:t>
            </a:r>
            <a:r>
              <a:rPr lang="en-US" dirty="0"/>
              <a:t> Rather than waiting for a definition, companies are already taking measures to mitigate potential impacts from the end of the 6x1 work schedule, including adjustments to store operating hours and changes to store staffing structures, with price hikes as an available lever if the change materializes.</a:t>
            </a:r>
          </a:p>
          <a:p>
            <a:r>
              <a:rPr lang="en-US" b="1" dirty="0"/>
              <a:t>Marketplaces’ pharma threat.</a:t>
            </a:r>
            <a:r>
              <a:rPr lang="en-US" dirty="0"/>
              <a:t> Another topic highly discussed in meetings with pharma companies, MELI and ASAI was Anvisa’s recent regulatory change approving marketplaces to deliver pharma. We still see a lot of uncertainty around this topic but expect it to remain on investors’ radar as a potential threat to pharmacies and opportunity for MELI.</a:t>
            </a:r>
          </a:p>
        </p:txBody>
      </p:sp>
      <p:sp>
        <p:nvSpPr>
          <p:cNvPr id="7" name="Text Placeholder 6">
            <a:extLst>
              <a:ext uri="{FF2B5EF4-FFF2-40B4-BE49-F238E27FC236}">
                <a16:creationId xmlns:a16="http://schemas.microsoft.com/office/drawing/2014/main" id="{8142A9E9-89B6-BFA0-201E-CC4FCCD44CC0}"/>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2A9AC0B-F215-47F5-6ED4-D6E774311E56}"/>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76EC8DDE-ACFF-FFE7-6A62-B54243DA1E28}"/>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519EC8-370E-FF46-24AD-EADB97E1C8E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2326054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EE13-03AC-C63F-64BE-CA2EF68EA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B2D1D94-F3B1-8152-5C1E-E11166C0300F}"/>
              </a:ext>
            </a:extLst>
          </p:cNvPr>
          <p:cNvSpPr>
            <a:spLocks noGrp="1"/>
          </p:cNvSpPr>
          <p:nvPr>
            <p:ph type="body" sz="quarter" idx="20"/>
          </p:nvPr>
        </p:nvSpPr>
        <p:spPr>
          <a:xfrm>
            <a:off x="382828" y="1497015"/>
            <a:ext cx="6106871" cy="7956548"/>
          </a:xfrm>
          <a:noFill/>
        </p:spPr>
        <p:txBody>
          <a:bodyPr/>
          <a:lstStyle/>
          <a:p>
            <a:r>
              <a:rPr lang="en-US" b="1" dirty="0"/>
              <a:t>Alpargatas (ALPA4)</a:t>
            </a:r>
          </a:p>
          <a:p>
            <a:r>
              <a:rPr lang="en-US" b="1" dirty="0"/>
              <a:t>Sell-out remains healthy on disciplined sell-in.</a:t>
            </a:r>
            <a:r>
              <a:rPr lang="en-US" dirty="0"/>
              <a:t> The sell-out at the ~13% levels seen in 1H26 is a tough comps for 2H26, as the World Cup provided a tailwind. Still, the company expects to continue gaining share across both retail and specialized channels, supported by more disciplined inventory management.</a:t>
            </a:r>
          </a:p>
          <a:p>
            <a:r>
              <a:rPr lang="en-US" b="1" dirty="0"/>
              <a:t>A lot of potential on International ops.</a:t>
            </a:r>
            <a:r>
              <a:rPr lang="en-US" dirty="0"/>
              <a:t> Mgmt. sees room for both growth and profitability across all three channels. Meanwhile, 2026 should remain a transition year for the new US model, with benefits expected to materialize more meaningfully from 2027 onwards.</a:t>
            </a:r>
          </a:p>
          <a:p>
            <a:r>
              <a:rPr lang="en-US" b="1" dirty="0"/>
              <a:t>Keeping an eye on the long term.</a:t>
            </a:r>
            <a:r>
              <a:rPr lang="en-US" dirty="0"/>
              <a:t> ALPA also noted it currently operates under a 5-year budget plan for both Brazil and international operations, with results tracking in line so far. Notably, 1H26 volumes came in even stronger than initially expected.</a:t>
            </a:r>
          </a:p>
          <a:p>
            <a:r>
              <a:rPr lang="en-US" b="1" dirty="0"/>
              <a:t>Assaí (ASAI3)</a:t>
            </a:r>
          </a:p>
          <a:p>
            <a:r>
              <a:rPr lang="en-US" b="1" dirty="0"/>
              <a:t>Pharma:</a:t>
            </a:r>
            <a:r>
              <a:rPr lang="en-US" dirty="0"/>
              <a:t> incremental growth on top of a fixed-cost base. The company just opened its 4th unit, with attractive economics: capex is low since store infrastructure already exists, ~40% of expenses are already in-house, and the ~100-120m² area came from simple repositioning rather than assortment cuts. The core advantage lies in existing store traffic, with solid prospects for 4-wall EBITDA margins ahead. The plan is to open 250 pharmacies, roughly costing 1/3 of a year’s maintenance capex.</a:t>
            </a:r>
          </a:p>
          <a:p>
            <a:r>
              <a:rPr lang="en-US" b="1" dirty="0"/>
              <a:t>Expenses:</a:t>
            </a:r>
            <a:r>
              <a:rPr lang="en-US" dirty="0"/>
              <a:t> structurally lower, with more to come. Expense control has been strong for a while now, and the pipeline of efficiency projects remains rich, enabling further headcount reallocation. Cash generation should continue to be the lever for deleveraging, with leverage expected to end the year below 2x.</a:t>
            </a:r>
          </a:p>
          <a:p>
            <a:r>
              <a:rPr lang="en-US" b="1" dirty="0"/>
              <a:t>Layering growth against a pressured consumer.</a:t>
            </a:r>
            <a:r>
              <a:rPr lang="en-US" dirty="0"/>
              <a:t> Against a backdrop of persistent macro pressure, new initiatives such as in&amp;out, pharma, financial services, and private label, are expected to drive incremental growth. For 2H, El Niño-driven in&amp;out should be sizable (100k air conditioners, 750k fans to be sold), while EV chargers are coming: low revenue on their own, but a traffic driver and low-price brand- awareness play, powered by surplus energy cheaper than residential rates. The company is also launching a cashback program usable across food retail, pharma, and energy. On financial services, the private label card is seen as the better-suited alternative for Assaí’s client base, expected to drive the sales uplift already proven by Passaí even under Itaú-era restrictions. Finally, private label brands still need traction, though bargaining power is already being deployed.</a:t>
            </a:r>
          </a:p>
        </p:txBody>
      </p:sp>
      <p:sp>
        <p:nvSpPr>
          <p:cNvPr id="7" name="Text Placeholder 6">
            <a:extLst>
              <a:ext uri="{FF2B5EF4-FFF2-40B4-BE49-F238E27FC236}">
                <a16:creationId xmlns:a16="http://schemas.microsoft.com/office/drawing/2014/main" id="{0BE87BB0-3DD3-074E-713E-E65515F720F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A3A72C7-DE16-155A-16B2-5E52B59E304D}"/>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B55D5CB4-D6AB-CDE4-BDAE-22379D7E289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C0DEAD01-1A90-90A9-C462-73DCE1C6CE8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646161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12F4-7177-8840-0DC5-548FDC787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F882B2D-EBB5-C6E1-32B6-016053841EB3}"/>
              </a:ext>
            </a:extLst>
          </p:cNvPr>
          <p:cNvSpPr>
            <a:spLocks noGrp="1"/>
          </p:cNvSpPr>
          <p:nvPr>
            <p:ph type="body" sz="quarter" idx="20"/>
          </p:nvPr>
        </p:nvSpPr>
        <p:spPr>
          <a:xfrm>
            <a:off x="382828" y="1497015"/>
            <a:ext cx="6106871" cy="7956548"/>
          </a:xfrm>
          <a:noFill/>
        </p:spPr>
        <p:txBody>
          <a:bodyPr/>
          <a:lstStyle/>
          <a:p>
            <a:r>
              <a:rPr lang="en-US" b="1" dirty="0"/>
              <a:t>Azzas 2154 (AZZA3)</a:t>
            </a:r>
          </a:p>
          <a:p>
            <a:r>
              <a:rPr lang="en-US" b="1" dirty="0"/>
              <a:t>No material updates on governance:</a:t>
            </a:r>
            <a:r>
              <a:rPr lang="en-US" dirty="0"/>
              <a:t> There were no material updates on governance matters. Management does not believe brand desirability has been affected, although executives acknowledged that a significant portion of the top mgmt.’s agenda has been consumed by the issue.</a:t>
            </a:r>
          </a:p>
          <a:p>
            <a:r>
              <a:rPr lang="en-US" b="1" dirty="0"/>
              <a:t>A more cautious stance on Farm:</a:t>
            </a:r>
            <a:r>
              <a:rPr lang="en-US" dirty="0"/>
              <a:t> Mgmt. entered 2026 already planning for softer growth, reflecting a more cautious approach to inventory levels. Meanwhile, no material updates were provided regarding a potential sale of Farm.</a:t>
            </a:r>
          </a:p>
          <a:p>
            <a:r>
              <a:rPr lang="en-US" b="1" dirty="0"/>
              <a:t>Hering’s turnaround on the spotlight.</a:t>
            </a:r>
            <a:r>
              <a:rPr lang="en-US" dirty="0"/>
              <a:t> While Q3 should remain a challenging quarter, the team expects growth to recover from Q4 onwards, supported by encouraging early signs from the new "made-to- order" model with franchisees. Efforts to bring B/C income consumers back to stores and drive volumes are also underway.</a:t>
            </a:r>
          </a:p>
          <a:p>
            <a:r>
              <a:rPr lang="en-US" b="1" dirty="0"/>
              <a:t>C&amp;A (CEAB3)</a:t>
            </a:r>
          </a:p>
          <a:p>
            <a:r>
              <a:rPr lang="en-US" b="1" dirty="0"/>
              <a:t>A tougher consumer backdrop.</a:t>
            </a:r>
            <a:r>
              <a:rPr lang="en-US" dirty="0"/>
              <a:t> Unlike prior editions, traffic was pressured throughout the entire World Cup period rather than only on match days, with a gradual recovery afterwards though still below pre- event levels. Mgmt. also sees consumers as more price sensitive than in May, with lower traffic no longer being offset by better conversion. Mgmt. also noted a heavier promotional environment on winter inventories from C&amp;A and other players.</a:t>
            </a:r>
          </a:p>
          <a:p>
            <a:r>
              <a:rPr lang="en-US" b="1" dirty="0"/>
              <a:t>Margin over inventory.</a:t>
            </a:r>
            <a:r>
              <a:rPr lang="en-US" dirty="0"/>
              <a:t> Inventory has been running ~15 days above last year since Q4, with normalization expected by Q4 and a milder improvement in Q3. Still, mgmt. reinforced gross margin remains the priority, noting the 60bps of extra investment in Q2 may not be repeated with more surgical promotions as possibility.</a:t>
            </a:r>
          </a:p>
          <a:p>
            <a:r>
              <a:rPr lang="en-US" b="1" dirty="0"/>
              <a:t>A busy productivity agenda.</a:t>
            </a:r>
            <a:r>
              <a:rPr lang="en-US" dirty="0"/>
              <a:t> Key levers for 2H include self-checkout expanding from 1/3 to 2/3 of stores, a collection bot already replacing manual labor, with recovery rates in line or better, and a granular review of third-party contracts. Capex should also be more disciplined, at ~7% of sales (vs. 8.5%), prioritizing refurbishments over expansion, with ~20 large stores (~10% of sales) to be completed by October.</a:t>
            </a:r>
          </a:p>
        </p:txBody>
      </p:sp>
      <p:sp>
        <p:nvSpPr>
          <p:cNvPr id="7" name="Text Placeholder 6">
            <a:extLst>
              <a:ext uri="{FF2B5EF4-FFF2-40B4-BE49-F238E27FC236}">
                <a16:creationId xmlns:a16="http://schemas.microsoft.com/office/drawing/2014/main" id="{D469436C-D40A-0047-88D5-49DE8B3DE3B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9E05B77-A6B1-6222-198E-64F4579809C8}"/>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4E3405A0-1A7F-EF4F-2194-94917ECF13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10024966-4465-7305-C327-64A724980D8D}"/>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8680509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B4EFB-A9C5-3F73-FCA4-8F8E02A05C3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6A9511-39C8-E59A-FA2F-884089D61229}"/>
              </a:ext>
            </a:extLst>
          </p:cNvPr>
          <p:cNvSpPr>
            <a:spLocks noGrp="1"/>
          </p:cNvSpPr>
          <p:nvPr>
            <p:ph type="body" sz="quarter" idx="20"/>
          </p:nvPr>
        </p:nvSpPr>
        <p:spPr>
          <a:xfrm>
            <a:off x="382828" y="1497015"/>
            <a:ext cx="6106871" cy="7956548"/>
          </a:xfrm>
          <a:noFill/>
        </p:spPr>
        <p:txBody>
          <a:bodyPr/>
          <a:lstStyle/>
          <a:p>
            <a:r>
              <a:rPr lang="en-US" b="1" dirty="0"/>
              <a:t>Grupo Petz Cobasi (AUAU3)</a:t>
            </a:r>
          </a:p>
          <a:p>
            <a:r>
              <a:rPr lang="en-US" b="1" dirty="0"/>
              <a:t>Reaffirming the R$200-260mn synergy range.</a:t>
            </a:r>
            <a:r>
              <a:rPr lang="en-US" dirty="0"/>
              <a:t> Mgmt. noted it remains on track to capture the planned M&amp;A synergies, with plans to consolidate the headquarters into Cobasi’s current office by November. Governance was also highlighted as a positive contributor, with strong alignment between the Board and the executive team supporting synergy capture.</a:t>
            </a:r>
          </a:p>
          <a:p>
            <a:r>
              <a:rPr lang="en-US" b="1" dirty="0"/>
              <a:t>Competition remains fierce.</a:t>
            </a:r>
            <a:r>
              <a:rPr lang="en-US" dirty="0"/>
              <a:t> Marketplace competition remains a challenge, but the company remains confident in its ability to offer a stronger value proposition through competitive yet profitable pricing, private label products, cross-selling opportunities between the two brands, and services.</a:t>
            </a:r>
          </a:p>
          <a:p>
            <a:r>
              <a:rPr lang="en-US" b="1" dirty="0"/>
              <a:t>Pet plans as a topic.</a:t>
            </a:r>
            <a:r>
              <a:rPr lang="en-US" dirty="0"/>
              <a:t> Another frequently discussed topic was the opportunity in the pet plans market, which management believes remains significantly underpenetrated in Brazil compared to more developed markets.</a:t>
            </a:r>
          </a:p>
          <a:p>
            <a:r>
              <a:rPr lang="en-US" b="1" dirty="0"/>
              <a:t>Grupo SBF (SBFG3)</a:t>
            </a:r>
          </a:p>
          <a:p>
            <a:r>
              <a:rPr lang="en-US" b="1" dirty="0"/>
              <a:t>2Q26 was not only about the World Cup.</a:t>
            </a:r>
            <a:r>
              <a:rPr lang="en-US" dirty="0"/>
              <a:t> Mgmt. (and investors) acknowledged a strong 2Q26 on the World Cup, but noted that running and other football categories also performed well on the many initiatives implemented in the past 2 years (e.g., Destrava). As such, we expect a deceleration going forward, though initial 3Q26 sales remain healthy.</a:t>
            </a:r>
          </a:p>
          <a:p>
            <a:r>
              <a:rPr lang="en-US" b="1" dirty="0"/>
              <a:t>Inventory mgmt.</a:t>
            </a:r>
            <a:r>
              <a:rPr lang="en-US" dirty="0"/>
              <a:t> and FX as tailwinds. From 3Q26, FX begins to contribute positively to gross mg, while the Conecta initiatives and DC services should support better inventory mgmt. for both Centauro and Fisia on the mid-term. Nonetheless, we expect an operational deleverage against World Cup sales.</a:t>
            </a:r>
          </a:p>
          <a:p>
            <a:r>
              <a:rPr lang="en-US" b="1" dirty="0"/>
              <a:t>Limited space for deleveraging for now.</a:t>
            </a:r>
            <a:r>
              <a:rPr lang="en-US" dirty="0"/>
              <a:t> Despite stronger 2026 sales, leverage should not come down in the near term, while we expect on lower WK needs amid a softer growth looking ahead.</a:t>
            </a:r>
          </a:p>
          <a:p>
            <a:r>
              <a:rPr lang="en-US" b="1" dirty="0"/>
              <a:t>Live! (Non-listed)</a:t>
            </a:r>
          </a:p>
          <a:p>
            <a:r>
              <a:rPr lang="en-US" b="1" dirty="0"/>
              <a:t>From activewear to a wellness ecosystem.</a:t>
            </a:r>
            <a:r>
              <a:rPr lang="en-US" dirty="0"/>
              <a:t> Four pillars: activewear (core), footwear (launched last November), sports care/beauty (Pink Cheeks M&amp;A) and nutrition (Welz). Mgmt. plans to be globally present across all four, addressing a R$38bn market in Brazil.</a:t>
            </a:r>
          </a:p>
          <a:p>
            <a:r>
              <a:rPr lang="en-US" b="1" dirty="0"/>
              <a:t>Franchisee-led expansion with an international leg.</a:t>
            </a:r>
            <a:r>
              <a:rPr lang="en-US" dirty="0"/>
              <a:t> Network should surpass 400 stores this year (~55 additions in 2026), with large amount franchised. Present in 5 countries, with a Southeast Asia agreement signed with a listed partner running 200+ stores.</a:t>
            </a:r>
          </a:p>
          <a:p>
            <a:r>
              <a:rPr lang="en-US" b="1" dirty="0"/>
              <a:t>Vertical industry as the moat.</a:t>
            </a:r>
            <a:r>
              <a:rPr lang="en-US" dirty="0"/>
              <a:t> 90% of apparel production is internal, anchored on an 85k sqm site in SC and a robotized DC. The company highlighted it controls from designs to POS in its core apparel business.</a:t>
            </a:r>
          </a:p>
        </p:txBody>
      </p:sp>
      <p:sp>
        <p:nvSpPr>
          <p:cNvPr id="7" name="Text Placeholder 6">
            <a:extLst>
              <a:ext uri="{FF2B5EF4-FFF2-40B4-BE49-F238E27FC236}">
                <a16:creationId xmlns:a16="http://schemas.microsoft.com/office/drawing/2014/main" id="{E241BE6E-7CBA-CF1C-1931-6437F201471B}"/>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EA53C7C-0D11-7E4E-765D-36AB7A1A5FC9}"/>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3302E881-DE04-245E-81FB-248ACA19E64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FB6B3ADD-9EB2-5F65-F2D7-07D5831D185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3986458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E111-1BCB-ADD4-1D0B-588C036C5C1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7B5E70-34C5-3252-0846-CBCF100DEA6F}"/>
              </a:ext>
            </a:extLst>
          </p:cNvPr>
          <p:cNvSpPr>
            <a:spLocks noGrp="1"/>
          </p:cNvSpPr>
          <p:nvPr>
            <p:ph type="body" sz="quarter" idx="20"/>
          </p:nvPr>
        </p:nvSpPr>
        <p:spPr>
          <a:xfrm>
            <a:off x="382828" y="1497015"/>
            <a:ext cx="6106871" cy="7956548"/>
          </a:xfrm>
          <a:noFill/>
        </p:spPr>
        <p:txBody>
          <a:bodyPr/>
          <a:lstStyle/>
          <a:p>
            <a:r>
              <a:rPr lang="en-US" b="1" dirty="0"/>
              <a:t>Lojas Renner (LREN3)</a:t>
            </a:r>
          </a:p>
          <a:p>
            <a:r>
              <a:rPr lang="en-US" b="1" dirty="0"/>
              <a:t>A conservative approach towards 2026.</a:t>
            </a:r>
            <a:r>
              <a:rPr lang="en-US" dirty="0"/>
              <a:t> The main topic discussed was the rationale behind the recent guidance cut. Mgmt. reaffirmed that the World Cup was the main negative driver, with performance tracking budget until early June, while late June and July became a drag. As results failed to materialize, the company opted for a more conservative outlook amid a challenging macro backdrop.</a:t>
            </a:r>
          </a:p>
          <a:p>
            <a:r>
              <a:rPr lang="en-US" b="1" dirty="0"/>
              <a:t>A likely flat gross mg.</a:t>
            </a:r>
            <a:r>
              <a:rPr lang="en-US" dirty="0"/>
              <a:t> in 2H. We believe better inventory coverage and FX trends should support gross margin in 2H26, although higher promotional activity on older inventory, following weaker June sales, could offset part of these gains. Still, mgmt. emphasized confidence in its gross margin trajectory, supported by an adequate pricing position. On SG&amp;A, despite softer-than-expected operating leverage, management still sees room for further dilution</a:t>
            </a:r>
          </a:p>
          <a:p>
            <a:r>
              <a:rPr lang="en-US" b="1" dirty="0"/>
              <a:t>Profit distribution guidance sustained.</a:t>
            </a:r>
            <a:r>
              <a:rPr lang="en-US" dirty="0"/>
              <a:t> The company highlighted that despite top-line deceleration, FCFE remains robust, supporting distributions through IOC and share buybacks, potentially even above the 50- 80% payout guidance. On expansion, the company remains on track, with the 2024 store cohorts outperforming the portfolio average and maturing faster than initially expected.</a:t>
            </a:r>
          </a:p>
          <a:p>
            <a:r>
              <a:rPr lang="en-US" b="1" dirty="0"/>
              <a:t>Magazine Luiza (MGLU3)</a:t>
            </a:r>
          </a:p>
          <a:p>
            <a:r>
              <a:rPr lang="en-US" b="1" dirty="0"/>
              <a:t>Share gains as the main growth driver.</a:t>
            </a:r>
            <a:r>
              <a:rPr lang="en-US" dirty="0"/>
              <a:t> B&amp;M sales 10% growth in Q2 benefited from World cup and white line and furniture as highlights, with positive trends in July and August. Looking ahead, El Niño should be a tailwind for white line in 2H, while its logistics edge in bulky items remains a key differentiator.</a:t>
            </a:r>
          </a:p>
          <a:p>
            <a:r>
              <a:rPr lang="en-US" b="1" dirty="0"/>
              <a:t>A relevant opportunity from BHIA's closures.</a:t>
            </a:r>
            <a:r>
              <a:rPr lang="en-US" dirty="0"/>
              <a:t> Mgmt. sees opportunities in capturing the GMV from the 298 stores closed by Bahia, with 95% overlapping with an existing Magalu store. In this sense, it may reflect in a boost to physical sales, with no incremental inventory, capex or fixed costs required. They also see a different dynamic than Americanas' case, given the offline nature of the sales, the local consumer profile and a distinct category mix.</a:t>
            </a:r>
          </a:p>
          <a:p>
            <a:r>
              <a:rPr lang="en-US" b="1" dirty="0"/>
              <a:t>Building stronger grounds for 1P and financial services.</a:t>
            </a:r>
            <a:r>
              <a:rPr lang="en-US" dirty="0"/>
              <a:t> Amazon’s Prime badge starts in October, with Magalu handling logistics, while additional partnerships could support 1P returning to growth in Q4. On credit, despite the restrictive scenario, the portfolio expanded to R$2bn from R$1.5bn in 12 months, with NPL ratios down, while new credit models should allow further CDC penetration on limited risk.</a:t>
            </a:r>
          </a:p>
        </p:txBody>
      </p:sp>
      <p:sp>
        <p:nvSpPr>
          <p:cNvPr id="7" name="Text Placeholder 6">
            <a:extLst>
              <a:ext uri="{FF2B5EF4-FFF2-40B4-BE49-F238E27FC236}">
                <a16:creationId xmlns:a16="http://schemas.microsoft.com/office/drawing/2014/main" id="{5595A5E6-2ED9-3C3F-E923-4F5A7E578E7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43C8D982-4273-E73A-B50A-D07A979F12E7}"/>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05E89DB5-8EA8-23B2-4F2F-AFB9174BE45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30ECC2E-099A-3969-CC68-747628AB826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422271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F25F4-9E50-9247-8EBD-32CCF5438D1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3DE56C-6444-E5A5-5494-A4E713150D49}"/>
              </a:ext>
            </a:extLst>
          </p:cNvPr>
          <p:cNvSpPr>
            <a:spLocks noGrp="1"/>
          </p:cNvSpPr>
          <p:nvPr>
            <p:ph type="body" sz="quarter" idx="20"/>
          </p:nvPr>
        </p:nvSpPr>
        <p:spPr>
          <a:xfrm>
            <a:off x="382828" y="1497015"/>
            <a:ext cx="6106871" cy="7956548"/>
          </a:xfrm>
          <a:noFill/>
        </p:spPr>
        <p:txBody>
          <a:bodyPr/>
          <a:lstStyle/>
          <a:p>
            <a:r>
              <a:rPr lang="en-US" b="1" dirty="0"/>
              <a:t>Mercado Libre (MELI)</a:t>
            </a:r>
          </a:p>
          <a:p>
            <a:r>
              <a:rPr lang="en-US" b="1" dirty="0"/>
              <a:t>Pharma opportunity.</a:t>
            </a:r>
            <a:r>
              <a:rPr lang="en-US" dirty="0"/>
              <a:t> The company reiterated that it prefers to operate in the pharma category through 3P, though regulation remains a challenge. 1P is currently being tested and may be scaled depending on how this plays out.</a:t>
            </a:r>
          </a:p>
          <a:p>
            <a:r>
              <a:rPr lang="en-US" b="1" dirty="0"/>
              <a:t>Shipping costs and quick commerce.</a:t>
            </a:r>
            <a:r>
              <a:rPr lang="en-US" dirty="0"/>
              <a:t> Shipping cost as a % of revenue rose on fewer items per shipment and fuel pressure and lower productivity in the fulfilment network, partially offset by a larger-than-usual mid-year fee increase in Brazil. On quick commerce, MELI currently operates a pilot in Argentina and did not confirm plans to replicate it in Brazil, as some news mentioned recently.</a:t>
            </a:r>
          </a:p>
          <a:p>
            <a:r>
              <a:rPr lang="en-US" b="1" dirty="0"/>
              <a:t>Credit remains with opportunity.</a:t>
            </a:r>
            <a:r>
              <a:rPr lang="en-US" dirty="0"/>
              <a:t> The company reiterated the opportunities in credit both on consumer loans and credit cards across all geographies. The under-analysis banking license in Argentina and strong economics for credit cards in Mexico were key topics.</a:t>
            </a:r>
          </a:p>
          <a:p>
            <a:r>
              <a:rPr lang="en-US" b="1" dirty="0"/>
              <a:t>Pague Menos (PGMN3)</a:t>
            </a:r>
          </a:p>
          <a:p>
            <a:r>
              <a:rPr lang="en-US" b="1" dirty="0"/>
              <a:t>GLP-1:</a:t>
            </a:r>
            <a:r>
              <a:rPr lang="en-US" dirty="0"/>
              <a:t> still a growing force. GLP-1 remained the key topic of our conversations, with significant potential still ahead as new launches and cross-sell opportunities emerge. Semaglutide already accounts for ~3% of sales (~R$540mn), while similar drugs still carry low margins, meaning new entrants should soon drive competition on cost. Incorporating 5p.p. of margin could add ~15bps to gross profit, with shelf space naturally limiting with how many brands they can operate.</a:t>
            </a:r>
          </a:p>
          <a:p>
            <a:r>
              <a:rPr lang="en-US" b="1" dirty="0"/>
              <a:t>Expansion:</a:t>
            </a:r>
            <a:r>
              <a:rPr lang="en-US" dirty="0"/>
              <a:t> assertive and already mapped. Openings remain a relevant, with management noting that the expansion model is robust and should continue to be rolled out, with ample room mapped, especially in the NO/NE regions. Next vintages should follow the recent pattern (~70% NE, slightly more Center- West) in a favorable market as weakened independents open room for consolidation. Meanwhile, logistics is keeping pace, with a major DC opened this year and another coming in 2027.</a:t>
            </a:r>
          </a:p>
          <a:p>
            <a:r>
              <a:rPr lang="en-US" b="1" dirty="0"/>
              <a:t>Customer experience:</a:t>
            </a:r>
            <a:r>
              <a:rPr lang="en-US" dirty="0"/>
              <a:t> the overall priority. Capital allocation is being redirected toward experience, with digital and CRM as key areas of focus. Improvement points have been mapped, and the same discipline is being extended to store operations, with unproductive inventory targeted to fall and drive better WK dynamics. On marketplace risks, customer experience is set to be a key advantage, as capillarity remains a moat that is hard to beat.</a:t>
            </a:r>
          </a:p>
        </p:txBody>
      </p:sp>
      <p:sp>
        <p:nvSpPr>
          <p:cNvPr id="7" name="Text Placeholder 6">
            <a:extLst>
              <a:ext uri="{FF2B5EF4-FFF2-40B4-BE49-F238E27FC236}">
                <a16:creationId xmlns:a16="http://schemas.microsoft.com/office/drawing/2014/main" id="{6EED6256-714B-7F47-772B-2D85E8F820A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6723D3A-DF20-6AF6-B16E-E38D1F9D4E4B}"/>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F9299260-6A5C-1F61-185C-E257A0A487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C7B84A-5D3D-1A3B-9234-23FF2B86F72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964948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374A4-86F3-8735-631E-5D54907F822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Panvel (PNVL3)</a:t>
            </a:r>
          </a:p>
          <a:p>
            <a:r>
              <a:rPr lang="en-US" b="1" dirty="0"/>
              <a:t>Still solid momentum.</a:t>
            </a:r>
            <a:r>
              <a:rPr lang="en-US" dirty="0"/>
              <a:t> The company flagged a still-solid near-term outlook, with GLP-1 remaining strong and an overall well-behaved mix, translating into improving profitability as expenses continue to dilute. On a longer term, higher avg. sales per store should drive more dilution, especially on selling expenses, while G&amp;A efficiency should also be sought via AI. PL is another margin lever, with gross mgs 4-6p.p. above average, rising to nearly 10p.p. for Lifar-sourced SKUs, with room to reach 10% of ex-GLP sales.</a:t>
            </a:r>
          </a:p>
          <a:p>
            <a:r>
              <a:rPr lang="en-US" b="1" dirty="0"/>
              <a:t>A lot more to come on GLP.</a:t>
            </a:r>
            <a:r>
              <a:rPr lang="en-US" dirty="0"/>
              <a:t> Semaglutide is gaining share within the category, up ~10p.p. since Ozivy’s arrival. Ahead, new entrants should also drive margins up for the category, while generics are expected to arrive in 2027, introducing a new phase of price declines and broader access. Importantly, the GLP-1 customer buys more items per ticket, runs a largely digital journey (PBM-driven) and drives strong cross- sell with other categories such as vitamins and supplements.</a:t>
            </a:r>
          </a:p>
          <a:p>
            <a:r>
              <a:rPr lang="en-US" b="1" dirty="0"/>
              <a:t>Marketplaces:</a:t>
            </a:r>
            <a:r>
              <a:rPr lang="en-US" dirty="0"/>
              <a:t> capillarity and PBM as the moat. The company operates on Shopee with HPC and on iFood, both with markups and through their own logistics. In this sense, capillarity and PBM remain strong moats against such players.</a:t>
            </a:r>
          </a:p>
          <a:p>
            <a:r>
              <a:rPr lang="en-US" b="1" dirty="0"/>
              <a:t>RD Saúde (RADL3)</a:t>
            </a:r>
          </a:p>
          <a:p>
            <a:r>
              <a:rPr lang="en-US" b="1" dirty="0"/>
              <a:t>Marketplace risk in the spotlight.</a:t>
            </a:r>
            <a:r>
              <a:rPr lang="en-US" dirty="0"/>
              <a:t> This was a heavily discussed topic, with RD noting that the currently approved regulatory model is no different from iFood’s. RD is already present in this channel, where margins are broadly similar to those of its digital operation, although relevance remains low (a mid- single-digit share of digital sales). In this context, a partnership with another player under a model similar to iFood’s is not ruled out.</a:t>
            </a:r>
          </a:p>
          <a:p>
            <a:r>
              <a:rPr lang="en-US" b="1" dirty="0"/>
              <a:t>A new normal in HPC.</a:t>
            </a:r>
            <a:r>
              <a:rPr lang="en-US" dirty="0"/>
              <a:t> The company estimates gross mg declined by up to ~100bps but with higher bonifications offsetting most of the impact. They see a new market dynamic in place as the industry understands and values the importance of physical retail to its brand building.</a:t>
            </a:r>
          </a:p>
          <a:p>
            <a:r>
              <a:rPr lang="en-US" b="1" dirty="0"/>
              <a:t>GLP-1 margin build.</a:t>
            </a:r>
            <a:r>
              <a:rPr lang="en-US" dirty="0"/>
              <a:t> Profitability is improving gradually, though a more robust margin expansion should take place in 1-1.5 years; informality remains a major market issue, with Eli Lilly actively supporting Anvisa’s efforts against informal channels alongside RD.</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4096081688"/>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Riachuelo (RIAA3)</a:t>
            </a:r>
          </a:p>
          <a:p>
            <a:r>
              <a:rPr lang="en-US" b="1" dirty="0"/>
              <a:t>Solid outlook ahead.</a:t>
            </a:r>
            <a:r>
              <a:rPr lang="en-US" dirty="0"/>
              <a:t> Traffic has normalized following the World Cup, and mgmt. sees no need for aggressive markdowns into 2H26. SSS trends remain solid, with improving momentum expected in the coming quarters.</a:t>
            </a:r>
          </a:p>
          <a:p>
            <a:r>
              <a:rPr lang="en-US" b="1" dirty="0"/>
              <a:t>Competitive landscape as a topic.</a:t>
            </a:r>
            <a:r>
              <a:rPr lang="en-US" dirty="0"/>
              <a:t> Mgmt. remains confident in its competitive positioning, with product innovation and an enhanced in-store experience standing out as key levers to continue outperforming peers.</a:t>
            </a:r>
          </a:p>
          <a:p>
            <a:r>
              <a:rPr lang="en-US" b="1" dirty="0"/>
              <a:t>Tax Reform as a potential tailwind.</a:t>
            </a:r>
            <a:r>
              <a:rPr lang="en-US" dirty="0"/>
              <a:t> Mgmt. highlighted constructive discussions aimed at preserving its benefits in RN, while the split payment mechanism should ensure a smooth pass-through to the retail operation.</a:t>
            </a:r>
          </a:p>
          <a:p>
            <a:r>
              <a:rPr lang="en-US" b="1" dirty="0"/>
              <a:t>Smart Fit (SMFT3)</a:t>
            </a:r>
          </a:p>
          <a:p>
            <a:r>
              <a:rPr lang="en-US" b="1" dirty="0"/>
              <a:t>A higher bar for capital allocation.</a:t>
            </a:r>
            <a:r>
              <a:rPr lang="en-US" dirty="0"/>
              <a:t> Mgmt. reinforced its disciplined approach to capital allocation, with greater selectivity toward projects at the upper end of its 35–40% cash-on-cash return range amid a more uncertain macro backdrop. Near-term expansion should not change given ~134 units under construction and 200+ contracts already signed, while Brazil remains the easiest market to adjust given more flexible leases. Abroad, Colombia is the main LatAm priority, with Argentina and Morocco gradually ramping up. Buybacks remain an option, though constrained by program limits.</a:t>
            </a:r>
          </a:p>
          <a:p>
            <a:r>
              <a:rPr lang="en-US" b="1" dirty="0"/>
              <a:t>Brazil margin reflects temporary and expansion-related effects.</a:t>
            </a:r>
            <a:r>
              <a:rPr lang="en-US" dirty="0"/>
              <a:t> Mgmt. explained that ~1/3 of Brazil's 350bps y/y margin compression in Q2 stems from a one-off (higher credit usage inflating last year's base), with the remaining ~2/3 driven by competitive environment, recent vintages' ramp-up and cannibalization, as 1H26's vintage is younger and follows record openings in 2025.</a:t>
            </a:r>
          </a:p>
          <a:p>
            <a:r>
              <a:rPr lang="en-US" b="1" dirty="0"/>
              <a:t>TotalPass now structural to unit economics.</a:t>
            </a:r>
            <a:r>
              <a:rPr lang="en-US" dirty="0"/>
              <a:t> TP has become an input to gyms' viability analysis, similar to balconys pricing tiers, with the migration from TP1+ (R$89.90) to TP2 (R$119.90) underway. A TP member remains less profitable than balcony one, while economics per visit remain below those of traditional memberships, the gap is expected to narrow as revenue per access evolves.</a:t>
            </a:r>
          </a:p>
          <a:p>
            <a:r>
              <a:rPr lang="en-US" b="1" dirty="0"/>
              <a:t>Vivara (VIVA3)</a:t>
            </a:r>
          </a:p>
          <a:p>
            <a:r>
              <a:rPr lang="en-US" b="1" dirty="0"/>
              <a:t>Life’s acceleration.</a:t>
            </a:r>
            <a:r>
              <a:rPr lang="en-US" dirty="0"/>
              <a:t> Mgmt. made a conscious decision to reduce promotions, which sacrificed short-term momentum. However, they have been working on a more intense launches pipeline that should drive SSS acceleration towards YE26/2027 while they reinforced that they did not see Pandora’s repositioning impacting the brand’s performance.</a:t>
            </a:r>
          </a:p>
          <a:p>
            <a:r>
              <a:rPr lang="en-US" b="1" dirty="0"/>
              <a:t>Vivara to focus on volume growth now.</a:t>
            </a:r>
            <a:r>
              <a:rPr lang="en-US" dirty="0"/>
              <a:t> Mgmt. is targeting volume-led growth as they see less price hike opportunities across categories. In this sense, Duo line emerges as a lever, with room to keep gaining penetration on sales.</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7645-8128-43BC-8FDD-1AEA665D85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pPr algn="r"/>
            <a:r>
              <a:rPr lang="en-US" i="1" dirty="0"/>
              <a:t>by Bernardo Guttmann, Luís Chagas</a:t>
            </a:r>
          </a:p>
          <a:p>
            <a:r>
              <a:rPr lang="en-US" b="1" dirty="0"/>
              <a:t>Telecom:</a:t>
            </a:r>
            <a:r>
              <a:rPr lang="en-US" dirty="0"/>
              <a:t> competition remains intense, although there are some more constructive signals. Recent promotional activity shows that the competitive environment remains challenging. That said, both Vivo and TIM pointed to initiatives that could support better prepaid monetization and a somewhat more rational industry setup over time. We would see these as encouraging signals rather than evidence that the competitive debate is resolved.</a:t>
            </a:r>
          </a:p>
          <a:p>
            <a:r>
              <a:rPr lang="en-US" b="1" dirty="0"/>
              <a:t>Intelbras:</a:t>
            </a:r>
            <a:r>
              <a:rPr lang="en-US" dirty="0"/>
              <a:t> reasonable underlying trends with core businesses continuing to show healthy demand, but the GPON phase-out remains a drag on reported growth for 2H26 and input-cost pressure limits near-term margin upside. We see the setup as gradually improving rather than representing a sharp earnings inflection.</a:t>
            </a:r>
          </a:p>
          <a:p>
            <a:r>
              <a:rPr lang="en-US" b="1" dirty="0"/>
              <a:t>AI looks more like an opportunity than a threat for ERP.</a:t>
            </a:r>
            <a:r>
              <a:rPr lang="en-US" dirty="0"/>
              <a:t> Both TOTVS and Senior reinforced the view that AI should increasingly change how users interact with enterprise software and automate workflows, while the underlying ERP remains essential as the system of record, containing corporate data, permissions and business logic.</a:t>
            </a:r>
          </a:p>
          <a:p>
            <a:r>
              <a:rPr lang="en-US" b="1" dirty="0"/>
              <a:t>For Bemobi,</a:t>
            </a:r>
            <a:r>
              <a:rPr lang="en-US" dirty="0"/>
              <a:t> TAM looks materially larger than current revenues suggest. The key takeaway was not simply new client wins, but how much further Bemobi can penetrate existing large accounts and replicate its recurring-payments proposition across Utilities, Sanitation, Education and Healthcare.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1347233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73267-9637-D48F-4105-31E6E3D0A25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E9A8F95-BFCD-B3C1-A7F3-F8D5BD7D6EE7}"/>
              </a:ext>
            </a:extLst>
          </p:cNvPr>
          <p:cNvSpPr>
            <a:spLocks noGrp="1"/>
          </p:cNvSpPr>
          <p:nvPr>
            <p:ph type="body" sz="quarter" idx="20"/>
          </p:nvPr>
        </p:nvSpPr>
        <p:spPr>
          <a:xfrm>
            <a:off x="382828" y="1497015"/>
            <a:ext cx="6106871" cy="7956548"/>
          </a:xfrm>
          <a:noFill/>
        </p:spPr>
        <p:txBody>
          <a:bodyPr/>
          <a:lstStyle/>
          <a:p>
            <a:pPr algn="r"/>
            <a:r>
              <a:rPr lang="pt-BR" i="1" dirty="0" err="1"/>
              <a:t>by</a:t>
            </a:r>
            <a:r>
              <a:rPr lang="pt-BR" i="1" dirty="0"/>
              <a:t> Pedro Bruno, Matheus Sant’anna, João Ramiro</a:t>
            </a:r>
          </a:p>
          <a:p>
            <a:r>
              <a:rPr lang="en-US" b="1" dirty="0"/>
              <a:t>Investor demand overview.</a:t>
            </a:r>
            <a:r>
              <a:rPr lang="en-US" dirty="0"/>
              <a:t> We observed strong investor interest in the companies that participated in our conference, with an average of ~30 client requests per company. In terms of sector-specific engagement, the highest levels of interest were ranked as follows: (</a:t>
            </a:r>
            <a:r>
              <a:rPr lang="en-US" dirty="0" err="1"/>
              <a:t>i</a:t>
            </a:r>
            <a:r>
              <a:rPr lang="en-US" dirty="0"/>
              <a:t>) Car Rental: </a:t>
            </a:r>
            <a:r>
              <a:rPr lang="en-US" dirty="0" err="1"/>
              <a:t>Localiza</a:t>
            </a:r>
            <a:r>
              <a:rPr lang="en-US" dirty="0"/>
              <a:t> (#1) and Movida (#2); (ii) Infrastructure: Motiva (#3) and </a:t>
            </a:r>
            <a:r>
              <a:rPr lang="en-US" dirty="0" err="1"/>
              <a:t>Ecorodovias</a:t>
            </a:r>
            <a:r>
              <a:rPr lang="en-US" dirty="0"/>
              <a:t> (#5); and (iii) Heavy Rental: Vamos (#4) and </a:t>
            </a:r>
            <a:r>
              <a:rPr lang="en-US" dirty="0" err="1"/>
              <a:t>Armac</a:t>
            </a:r>
            <a:r>
              <a:rPr lang="en-US" dirty="0"/>
              <a:t> (#6).</a:t>
            </a:r>
          </a:p>
          <a:p>
            <a:r>
              <a:rPr lang="en-US" b="1" dirty="0"/>
              <a:t>A macro slowdown in 2H is a worry, with Infra being a safe space.</a:t>
            </a:r>
            <a:r>
              <a:rPr lang="en-US" dirty="0"/>
              <a:t> Investors were more cautious towards names related with macro trends and that could be impacted by a reduction in economic activity. We highlight: (</a:t>
            </a:r>
            <a:r>
              <a:rPr lang="en-US" dirty="0" err="1"/>
              <a:t>i</a:t>
            </a:r>
            <a:r>
              <a:rPr lang="en-US" dirty="0"/>
              <a:t>) “retail” oriented operations like car rental players seem to be facing a tougher scenario for </a:t>
            </a:r>
            <a:r>
              <a:rPr lang="en-US" dirty="0" err="1"/>
              <a:t>RaC</a:t>
            </a:r>
            <a:r>
              <a:rPr lang="en-US" dirty="0"/>
              <a:t> expansion and </a:t>
            </a:r>
            <a:r>
              <a:rPr lang="en-US" dirty="0" err="1"/>
              <a:t>Seminovos</a:t>
            </a:r>
            <a:r>
              <a:rPr lang="en-US" dirty="0"/>
              <a:t> profitability; (ii) heavy rental cos focusing on portfolio return after higher default rates from clients imposed a growth and asset-return challenge in some cases. On the other hand, toll roads were a name being discussed as a safer play due to its top-line resilience and recently strong operational performance.</a:t>
            </a:r>
          </a:p>
          <a:p>
            <a:r>
              <a:rPr lang="en-US" b="1" dirty="0"/>
              <a:t>Focusing on cost efficiencies amid a potentially tougher macro scenario.</a:t>
            </a:r>
            <a:r>
              <a:rPr lang="en-US" dirty="0"/>
              <a:t> Companies in some cases showed a more cautious stance regarding the outlook ahead, mainly due to concerns over a potentially tougher macro environment. In an attempt to mitigate this more challenging scenario (at least partially), companies are increasingly focusing on cost reduction initiatives, in many cases through technological implementation. Below is a summary of the key topics by each company.</a:t>
            </a:r>
          </a:p>
          <a:p>
            <a:pPr marL="171450" indent="-171450">
              <a:buFont typeface="Arial" panose="020B0604020202020204" pitchFamily="34" charset="0"/>
              <a:buChar char="•"/>
            </a:pPr>
            <a:r>
              <a:rPr lang="en-US" dirty="0"/>
              <a:t>RENT: (</a:t>
            </a:r>
            <a:r>
              <a:rPr lang="en-US" dirty="0" err="1"/>
              <a:t>i</a:t>
            </a:r>
            <a:r>
              <a:rPr lang="en-US" dirty="0"/>
              <a:t>) </a:t>
            </a:r>
            <a:r>
              <a:rPr lang="en-US" dirty="0" err="1"/>
              <a:t>Seminovos</a:t>
            </a:r>
            <a:r>
              <a:rPr lang="en-US" dirty="0"/>
              <a:t>’ dynamic; (ii) cost efficiency; and (iii) rental tariffs;</a:t>
            </a:r>
          </a:p>
          <a:p>
            <a:pPr marL="171450" indent="-171450">
              <a:buFont typeface="Arial" panose="020B0604020202020204" pitchFamily="34" charset="0"/>
              <a:buChar char="•"/>
            </a:pPr>
            <a:r>
              <a:rPr lang="en-US" dirty="0"/>
              <a:t>MOVI: (</a:t>
            </a:r>
            <a:r>
              <a:rPr lang="en-US" dirty="0" err="1"/>
              <a:t>i</a:t>
            </a:r>
            <a:r>
              <a:rPr lang="en-US" dirty="0"/>
              <a:t>) fleet impairment; (ii) cost reduction; and (iii) capital allocation;</a:t>
            </a:r>
          </a:p>
          <a:p>
            <a:pPr marL="171450" indent="-171450">
              <a:buFont typeface="Arial" panose="020B0604020202020204" pitchFamily="34" charset="0"/>
              <a:buChar char="•"/>
            </a:pPr>
            <a:r>
              <a:rPr lang="en-US" dirty="0"/>
              <a:t>MOTV: (</a:t>
            </a:r>
            <a:r>
              <a:rPr lang="en-US" dirty="0" err="1"/>
              <a:t>i</a:t>
            </a:r>
            <a:r>
              <a:rPr lang="en-US" dirty="0"/>
              <a:t>) capital allocation; (ii) airports sale; and (iii) </a:t>
            </a:r>
            <a:r>
              <a:rPr lang="en-US" dirty="0" err="1"/>
              <a:t>opex</a:t>
            </a:r>
            <a:r>
              <a:rPr lang="en-US" dirty="0"/>
              <a:t>/capex efficiency;</a:t>
            </a:r>
          </a:p>
          <a:p>
            <a:pPr marL="171450" indent="-171450">
              <a:buFont typeface="Arial" panose="020B0604020202020204" pitchFamily="34" charset="0"/>
              <a:buChar char="•"/>
            </a:pPr>
            <a:r>
              <a:rPr lang="en-US" dirty="0"/>
              <a:t>ECOR: (</a:t>
            </a:r>
            <a:r>
              <a:rPr lang="en-US" dirty="0" err="1"/>
              <a:t>i</a:t>
            </a:r>
            <a:r>
              <a:rPr lang="en-US" dirty="0"/>
              <a:t>) capital allocation; (ii) debt refinancing; and (iii) capital structure;</a:t>
            </a:r>
          </a:p>
          <a:p>
            <a:pPr marL="171450" indent="-171450">
              <a:buFont typeface="Arial" panose="020B0604020202020204" pitchFamily="34" charset="0"/>
              <a:buChar char="•"/>
            </a:pPr>
            <a:r>
              <a:rPr lang="en-US" dirty="0"/>
              <a:t>VAMO: (</a:t>
            </a:r>
            <a:r>
              <a:rPr lang="en-US" dirty="0" err="1"/>
              <a:t>i</a:t>
            </a:r>
            <a:r>
              <a:rPr lang="en-US" dirty="0"/>
              <a:t>) asset repossessions/sales; (ii) </a:t>
            </a:r>
            <a:r>
              <a:rPr lang="en-US" i="1" dirty="0"/>
              <a:t>Sempre Novo </a:t>
            </a:r>
            <a:r>
              <a:rPr lang="en-US" dirty="0"/>
              <a:t>program; and (iii) guidance revision;</a:t>
            </a:r>
          </a:p>
          <a:p>
            <a:pPr marL="171450" indent="-171450">
              <a:buFont typeface="Arial" panose="020B0604020202020204" pitchFamily="34" charset="0"/>
              <a:buChar char="•"/>
            </a:pPr>
            <a:r>
              <a:rPr lang="en-US" dirty="0"/>
              <a:t>MILS: (</a:t>
            </a:r>
            <a:r>
              <a:rPr lang="en-US" dirty="0" err="1"/>
              <a:t>i</a:t>
            </a:r>
            <a:r>
              <a:rPr lang="en-US" dirty="0"/>
              <a:t>) Chinese OEM competition; (ii) growth opportunities; and (iii) asset life extension;</a:t>
            </a:r>
          </a:p>
          <a:p>
            <a:pPr marL="171450" indent="-171450">
              <a:buFont typeface="Arial" panose="020B0604020202020204" pitchFamily="34" charset="0"/>
              <a:buChar char="•"/>
            </a:pPr>
            <a:r>
              <a:rPr lang="en-US" dirty="0"/>
              <a:t>ARML: (</a:t>
            </a:r>
            <a:r>
              <a:rPr lang="en-US" dirty="0" err="1"/>
              <a:t>i</a:t>
            </a:r>
            <a:r>
              <a:rPr lang="en-US" dirty="0"/>
              <a:t>) operational restructuring; (ii) new focus post restructuring; and (iii) asset sales;</a:t>
            </a:r>
          </a:p>
          <a:p>
            <a:pPr marL="171450" indent="-171450">
              <a:buFont typeface="Arial" panose="020B0604020202020204" pitchFamily="34" charset="0"/>
              <a:buChar char="•"/>
            </a:pPr>
            <a:r>
              <a:rPr lang="en-US" dirty="0"/>
              <a:t>PRNR: (</a:t>
            </a:r>
            <a:r>
              <a:rPr lang="en-US" dirty="0" err="1"/>
              <a:t>i</a:t>
            </a:r>
            <a:r>
              <a:rPr lang="en-US" dirty="0"/>
              <a:t>) inorganic movements; (ii) operational improvement expectations; and (iii) growth plans.</a:t>
            </a:r>
          </a:p>
        </p:txBody>
      </p:sp>
      <p:sp>
        <p:nvSpPr>
          <p:cNvPr id="7" name="Text Placeholder 6">
            <a:extLst>
              <a:ext uri="{FF2B5EF4-FFF2-40B4-BE49-F238E27FC236}">
                <a16:creationId xmlns:a16="http://schemas.microsoft.com/office/drawing/2014/main" id="{41A2BF56-7BD7-1793-3B5E-6AD1E08565F4}"/>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14B61AC-4599-A460-DAB0-FD7BC68DF557}"/>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1186EBF9-EA81-18AA-87B7-6C55FCC9B4B3}"/>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BE3233B2-A02D-C5EB-31E7-F486D00C87F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9025"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11047136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894FB-5068-42F6-4376-03D4DC4D66C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pPr algn="r"/>
            <a:r>
              <a:rPr lang="en-US" i="1" dirty="0"/>
              <a:t>by Raul Cavendish, Bruno Vidal, Ana Clara Ribeiro</a:t>
            </a:r>
          </a:p>
          <a:p>
            <a:r>
              <a:rPr lang="en-US" b="1" dirty="0"/>
              <a:t>Equatorial (EQTL3; Buy; YE27 TP of R$61.7) – Copasa takes center stage on efficiency focus, while DisCos turnaround continues</a:t>
            </a:r>
          </a:p>
          <a:p>
            <a:r>
              <a:rPr lang="en-US" dirty="0"/>
              <a:t>Equatorial reiterated that consolidated PMSO is growing below inflation per consumer on a consolidated basis, although the trajectory remains company-specific and largely driven by the timing of tariff reviews. On quality, CEEE remains the key challenge given weather exposure and its potential implications in meeting DEC/FEC standards. The capex pace continues to be elevated (~4x QRR) despite a slight QoQ decline on a consolidated level, driven by turnarounds, network redundancy, quality and volume growth. Quality-related investments now account for ~15-20% of total capex, with returns captured through lower compensation payments and future tariff recognition. Importantly, the company remains active on the regulatory agenda: management flagged potential upside from delinquency methodology (~R$340mn potential incremental recognition), the advance of the X Factor public hearing, while EQTL and other DisCos are pushing for a broader revision of the regulatory WACC methodology in 2027. On sanitation, Equatorial is now focused on Copasa’s operations and its potential low hanging fruits to unlock additional value going forward. The initial measures include a review of the leadership structure and the addition of new executives with expertise needed to support the upcoming universalization and operational efficiency agenda. EQTL believes that capex execution at Copasa should be less complex than at Sabesp, given the longer timeframe to deliver its universalization targets. Meanwhile, with Copasa’s historical payout ratio in the 50-60% range, EQTL sees room for higher dividend distributions from 2027 onward, which could also support EQTL’s holding deleveraging trajectory.</a:t>
            </a:r>
          </a:p>
          <a:p>
            <a:r>
              <a:rPr lang="en-US" b="1" dirty="0"/>
              <a:t>Energisa (ENGI11; Buy; YE26 TP of R$88.3) – Distribution returns in the LT should remain well-defended and ST leverage is no longer a concern</a:t>
            </a:r>
          </a:p>
          <a:p>
            <a:r>
              <a:rPr lang="en-US" dirty="0"/>
              <a:t>Energisa highlighted its continued progress on the quality front (~80% of distribution subsets meeting DEC/FEC by 2026, and potentially 85% by 2027), while remote and low-density areas (EMT, EMS, ERO, ETO) remain structurally harder under the current ANEEL methodology. The regulatory agenda remains an important potential catalyst. Energisa is pushing for an updated price bank ahead of the 2028 reviews, although the bulk of the EMT/EMS investment cycle remains exposed to the current outdated database. On X Factor, management sees room for further improvements, with one of the points that could potentially change being the replacement of the median towards a weighted average benchmark (including GD1/GD2 discontinuity), while pushing to include the regulatory WACC discussion into the regulatory agenda in 2027. Still in the X Factor public hearing, ANEEL could eventually consider the annual capex declaration made by DisCos and making ex-post adjustments once the RAB is validated at the review. ENGI still believes this to be less likely but the topic should be one of the many contributions made by DisCos. Gas distribution keeps scaling, as the company benefits from synergies using its DisCos’ regulatory know-how, with no asset disposals planned.</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8698402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Copel (CPLE3; Buy; YE26 TP of R$19.9) – A steady path ahead, with good yields and growth</a:t>
            </a:r>
          </a:p>
          <a:p>
            <a:r>
              <a:rPr lang="en-US" dirty="0"/>
              <a:t>Copel reinforced that its recently revised capital structure (leverage band to 2.6x-3.2x from 2.1x-3.1x) comes in a context of LRCAP auction’s higher upfront CAPEX requirements and a more challenging macro backdrop. The fact that the convergence period was also extended to up to 48 months from 24 months provided greater flexibility to balance dividends and growth. On capital allocation, Copel remains selective: in generation, it sees ~4GW of potential flexibility capacity, including reversible hydro and additional turbines that could be auctioned in future capacity auctions, but stressed that reversible projects still require a clearer regulatory framework for remuneration. In transmission, the focus is on M&amp;A rather than low-return auctions, while distribution opportunities could arise. Trading remains a key lever, with ~80% of 2026 contracted and the remaining 20% kept as a GSF buffer, with 2027 long position being progressively reduced at a premium as liquidity improves, though El Niño risk isn't yet fully priced in. The company continues to use a combination of deterministic and stochastic models to set contracting strategies, incorporating variables such as LRCAP and future battery auctions. Copel also highlighted the potential strategic value of Elejor, where it currently owns 70%, with the possibility of acquiring the remaining 30% if economically attractive. On DisCos, regulatory impact from the new X Factor methodology is expected to be neutral for the company, while other agendas might be an upside.</a:t>
            </a:r>
          </a:p>
          <a:p>
            <a:r>
              <a:rPr lang="en-US" b="1" dirty="0"/>
              <a:t>TAESA (TAEE11, Neutral; YE27 TP of R$40.5) — Concession uncertainty remains the key overhang, while M&amp;A broadens the growth runway</a:t>
            </a:r>
          </a:p>
          <a:p>
            <a:r>
              <a:rPr lang="en-US" dirty="0"/>
              <a:t>Taesa continues to favor concession renewals, although management currently sees re-auction as the more likely outcome based on regulatory signals to date. With ~R$3.6bn of non-depreciated assets at concession expiry, the main uncertainty remains the timing and form of compensation. At the same time, re-auction could create opportunities for bilateral asset exchanges across the industry, allowing operators to reshape their portfolios. Beyond greenfield auctions, Taesa is expanding its growth strategy through secondary-market M&amp;A and reinforcements. The five Energisa assets acquired in May are already being integrated and should generate operational synergies, although the transaction raised leverage to ~4.2x, limiting further M&amp;A until it falls below 4x, expected by year-end 2027. Reinforcements should contribute ~R$200mn of annual CAPEX, while BESS remains under evaluation pending greater clarity on the business model. Operationally, Juruá remains on track for Jan’28, while recent project deliveries reinforce Taesa’s execution capabilities. The company is also investing in climate resilience and sees potential efficiencies from tax reform and corporate simplification. Overall, concession outcomes and the timing of indemnification remain the main valuation swing factors, while M&amp;A and reinforcements broaden the company’s growth runway.</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Cemig (CMIG4; Neutral; YE26 TP of R$14.6) — 2028 marks the earnings inflection point, with stronger margins and cash generation ahead</a:t>
            </a:r>
          </a:p>
          <a:p>
            <a:r>
              <a:rPr lang="en-US" dirty="0"/>
              <a:t>Cemig expects a meaningful improvement in earnings from 2028 onward, with management estimating to grow EBITDA ~50% above current levels, driven by the distribution tariff review, that should bring substantial increase in CMIG’s net RAB and, at the G&amp;T the expiration of expensive legacy power purchase contracts will also be a booster to results. Trading margins should remain under pressure through 2026-27 as the company works through its existing portfolio, but management sees 2028 as a clear step-up in profitability. The DisCo delivered stronger-than-expected gross margins in the quarter, and the management sees the current level as recurring going forward, although there was little clarity as to why they believe that. Opex growth should remain moderate through the calendar year with Opex pressures decelerating in the 2nd half of the year. Cemig continues to work through a number of balance-sheet and regulatory items. The company has ~R$1bn of indemnifiable assets already recognized on its balance sheet, while its ~R$2bn GSF-related credit remains an important potential source of value, although the resolution is now more of a 2027+ agenda item. Leverage is expected to peak at ~2.8-2.9x net debt/EBITDA in 2027, reflecting higher interest rates and the need to preserve financial flexibility for potential capital commitments, before falling below 2.5x from 2028 onward. This should reopen meaningful M&amp;A capacity from 2028, while a 50% payout will remain until at least the end of the contractual covenant that finishes in 2029. Any corporate changes in Cemig relies heavily on the outcomes of this year’s election, although the privatization of Gasmig should advance regardless of such outcomes. Meanwhile, Belo Monte’s operational turnaround is progressing, with the asset expected to generate its first profit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Light (LIGT3, Buy; YE27 TP of R$5.5) — Regulatory events will determine the outcome of Light’s equity story</a:t>
            </a:r>
          </a:p>
          <a:p>
            <a:r>
              <a:rPr lang="en-US" dirty="0"/>
              <a:t>Light is nearing the end of its restructuring process, with the capital increase completed, paving the way for an exit from judicial recovery. The company should emerge with ~R$5bn of net debt on longer-dated, lower-cost terms and leverage falling below 2x EBITDA once the conversion is completed. The key near-term catalysts are the public hearing that will discuss non-technical losses and delinquency (hearing is expected to open in September) and the Mar’27 distribution tariff review, where management sees a significant opportunity to rebuild regulatory earnings. The potential earnings uplift is substantial: the current ~R$1.2-1.3bn EBITDA could reach ~R$2.0-2.5bn after the tariff review, driven by multiple regulatory levers. Applying the current loss methodology alone could halve the ~R$1bn losses, implying roughly R$500mn of incremental EBITDA, while updated delinquency data could add ~R$100-250mn, with a further R$200-250mn potentially emerging if 100% of the high-risk areas are passed-through to tariffs. The company believes the methodology should dynamically capture changes in risk areas rather than rely on a static snapshot; management believes its long-standing monitoring infrastructure puts it in a strong position. GenCo represents an additional strategic catalyst. Its HPPs will expire in 2028, with management expecting renewal without an auction through a ministerial decree currently under development. Even under a conservative no-renewal scenario, Light estimates ~R$1.3bn of indemnifiable value, while a successful renewal would create significant optionality given the asset’s strategic importance and potential for repowering. Management is also evaluating ways to optimize its ~R$1.0-1.25bn of dollar-denominated debt, including swaps, prepayment or a tender financed with new debt, particularly given the debt currently trading below par. Finally, judicial contingencies continue to decline, with several major cases already resolved favorably. Overall, the meeting reinforced Light as restructuring and regulatory turnaround story, with balance-sheet normalization providing the foundation for a potentially material EBITDA step-up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Aegea (Not Covered) - Deleveraging and simplification remains the priority</a:t>
            </a:r>
          </a:p>
          <a:p>
            <a:r>
              <a:rPr lang="en-US" dirty="0"/>
              <a:t>Aegea has been actively preparing its balance sheet for a potential IPO, with the restatement of 2024 financial statements leading to a rating downgrade and triggering a more aggressive deleveraging plan. The company received two equity injections this year (R$2bn approved in Dec’25 and another R$2.1bn following the financial restatement) bringing current leverage to ~3.6x. Management sees no risk of covenant breach and believes the holding company has sufficient liquidity to execute the deleveraging plan without additional fundraising. The main source of deleveraging should come from the subsidiaries, particularly Corsan as sewage coverage ramps up, while OPEX optimization and selective CAPEX deferrals should provide additional support. Headcount reductions are still underway, potentially resulting in one-off severance costs in 3Q26. Despite these initiatives, Aegea remains in a cash-burning phase and expects to reach cash-flow breakeven only around 2029. Corsan is the main capital allocation priority, although execution is constrained by the number of simultaneous works that can be carried out without materially disrupting the population. Aegea expects roughly R$700mn of additional equity injections across Rio de Janeiro and newer concessions in the South and Northeast, including Pará, Piauí, Ceará and Palhoça. The company is also pursuing verticalization of key inputs, particularly pipes and hydrochloride, including technology brought from China, as a way to secure supply and improve CAPEX execution. In energy, the company has largely migrated consumption to self-generation, while personnel remains the largest OPEX line; Aegea is increasingly deploying AI to reduce field headcount and optimize meter-reading routes.</a:t>
            </a:r>
          </a:p>
          <a:p>
            <a:r>
              <a:rPr lang="en-US" b="1" dirty="0"/>
              <a:t>Orizon (ORVR3; Buy; YE26 TP of R$24.4) — Capital allocation as the focus point: growth and dividends could walk hand in hand</a:t>
            </a:r>
          </a:p>
          <a:p>
            <a:r>
              <a:rPr lang="en-US" dirty="0"/>
              <a:t>Orizon emphasized a disciplined approach to capital allocation, with dividends ultimately dependent on leverage and minimum cash requirements. While the debate around a formal dividend policy has been a hot topic, management is still studying the best way to proceed, but has emphasized that running in a suboptimal capital structure won’t happen and therefore we should see robust dividends/buybacks if relevant allocation opportunities don’t emerge. On M&amp;A, the pipeline remains active, with 3-4mn tons of landfills with active M&amp;A discussions. Assuming recent transaction multiples this should imply to a potential R$1bn in potential opportunities. Additionally, there are also discussions with minorities in certain Vital assets that could also develop in the coming months. On the Biomethane front, the company is observing urban mobility as a potentially new relevant demand vector that could allow for new projects to be announced in the Southeast and Northeast. Lastly, the regulated CBIO market could provide an additional demand catalyst as the mandatory blending requirement begins to take effect. Operationally, Paulínia continues to ramp up, and management expects year-end production of ~150k m³/d. Lessons from the first plants have led to changes in licensing, contractual grace periods and operating procedures, including the intention to reduce ANP delivery grace periods from six to roughly three months for new projects. Macaúbas is the next plant, expected to be ready in November. Carbon credits represent another increasingly relevant source of optionality. Orizon currently has ~4mn registered credits, potentially rising to 6-7mn across the full portfolio, with voluntary-market prices stabilizing around US$6-7/t. Additional upside could come from qualifying credits in regulated international markets, while the Vital asset could add another 2-3mn credits to the portfolio. Overall, the meeting reinforced Orizon’s positioning as a high marginal return growth story that could combines yields to the thesis in the medium term.</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Axia (AXIA3; Buy; YE26 TP of R$63.3) — Transmission increasingly underpins the long-term thesis, while power</a:t>
            </a:r>
          </a:p>
          <a:p>
            <a:r>
              <a:rPr lang="en-US" dirty="0"/>
              <a:t>pricing remains positively skewed in the LT but weather-driven in the ST Axia highlighted improving liquidity in the forward power market, with 2027 prices already moving as participants increasingly incorporate different hydrological scenarios. Management sees a broad range of prices, while stressing that the SE rainfall regime under El Niño remains the key uncertainty. More broadly, Axia sees increasing system instability as intermittent capacity expands without a corresponding modernization of the grid, raising the risk of curtailment events. Transmission remains a key source of potential re-rating, as the market currently appears to value only part of Axia’s long-duration, lower-risk transmission earnings. Management targets ~R$10bn of reinforcement CAPEX by the end of the decade, with execution capacity currently the main constraint. De-bottlenecking the supply chain for transmission will be a relevant driver for the capex pace to increase, combined with organizational improvements in sourcing and internal processes.</a:t>
            </a:r>
          </a:p>
          <a:p>
            <a:r>
              <a:rPr lang="en-US" b="1" dirty="0"/>
              <a:t>Auren (AURE3; Neutral; YE26 TP of R$13.8) — Deleveraging expected to accelerate throughout 2027, with curtailment and trading as key swing factors</a:t>
            </a:r>
          </a:p>
          <a:p>
            <a:r>
              <a:rPr lang="en-US" dirty="0"/>
              <a:t>Auren expects 2027 to mark a clear inflection point in earnings and deleveraging, with leverage currently at ~5.3x and expected to end 2026 close to 5x. From 2027 onward, EBITDA growth from contracted capacity, the ramp-up of Cajuína 3 and a sharp reduction in CAPEX should drive cash generation above R$1bn and accelerate deleveraging. The company remains focused on execution despite the challenging regulatory and macro backdrop, with limited room for material M&amp;A over the next 12-24 months. The balance-sheet improvement should progressively increase Auren’s capacity to take risk and pursue opportunities from 2028-29 onward. Curtailment remains the most relevant regulatory swing factor. Auren currently carries ~R$1.9bn of liabilities related due to lower generation in regulated contracts that should be offset by ~R$300mn expected to be reimbursed by past curtailment events. The delay of the payment of this receivable tends to favor AURE as this liability is only adjusted by inflation (the company expects the R$1.6bn net liability to start the payments by Aug’27 and 70-80% being amortized in the twelve months following). The treatment of post-Nov’25 restrictions remains pending, particularly regarding whether restrictions will qualify for reimbursement. On CP45, management prefers the approach that maintains allocation by generation source and supports a deeper analysis through a shadow period, while viewing the removal of the proposed change that would classify all surplus-hour curtailment as energy-related as particularly important. This would prevent future curtailment from becoming predominantly classified as an energy constraint, which would be materially less favorable for the company. Auren is also evaluating participation in the upcoming BESS auction, although returns and the final competitive landscape will determine whether it proceeds. Management sees potential advantages from existing infrastructure, grid location, scale and available transformers, while the key uncertainty remains who ultimately bears the system costs, with a potential charge of R$13-18/MWh potentially weighing on renewable generators. On trading, Auren remains broadly neutral for 2027, with prices close to R$300/MWh, but with a wide range between dry and wet scenarios, while maintaining a long position for 2028. The company expects modulation gains to remain meaningful, although increasing BESS penetration should gradually compress intraday price spreads over the longer term. Overall, the meeting reinforced a 2027-led deleveraging story, with cash-flow normalization and curtailment reimbursements providing the main potential catalysts.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Engie (EGIE3; Neutral; YE26 TP of R$31.5) – Hydro renewals, BESS and transmission remain the key capital allocation priorities</a:t>
            </a:r>
          </a:p>
          <a:p>
            <a:r>
              <a:rPr lang="en-US" dirty="0"/>
              <a:t>Engie remains supportive of extending hydro concessions, but stressed that the methodology for calculating the renewal economics remains the key issue. For Salto Santiago, management sees a strong case for renewal, while for other plants it is trying to avoid re-auction given the operational distortions it can create. In particular, the risk of underinvestment in maintenance ahead of concession expiry can compromise asset availability, followed by a post-expiry “dead-period” during which energy generation is effectively lost until a new operator takes over. With almost 13GW of hydro capacity expiring through 2032, EGIE sees this relevant capacity “coming to the market” as a relevant allocation opportunity. On TAG, management remains strongly opposed to the proposed methodology, arguing that the approach has only been used once internationally and in a much smaller Australian pipeline. Engie believes the transporters have strong arguments in the regulatory debate. On BESS, management sees storage increasingly taking on characteristics similar to transmission assets, with reduced operational risk. Engie therefore questions the proposal to charge generators for BESS-related costs, as this could reduce the economic benefit of modulation and create misaligned incentives. The company believes BESS should potentially be incorporated into the transmission asset base and, given the fixed-revenue/low-implementation-risk characteristics, sees a lower required return than for conventional generation investments. Engie reinforced that is already one of the few global BESS operators with an established presence in Brazil and is prioritizing partnerships with local players ahead of the first auction, particularly given its local-content requirements. Management is not concerned by the headline ~300GW of registered projects, arguing that the number should fall sharply once financial guarantees are required; it estimates that only ~10GW could ultimately compete for 2-3GW of contracted capacity. Capital allocation remains focused on hydro, BESS and transmission, with selective interest in distressed wind brownfields. In trading, Engie remains disciplined, selling only P90 volumes and avoiding speculative positions.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Compass (PASS3; Buy; YE27 TP of R$36.7) – Gas distribution remains the cash engine, while EDGE comes as the growth lever</a:t>
            </a:r>
          </a:p>
          <a:p>
            <a:r>
              <a:rPr lang="en-US" dirty="0"/>
              <a:t>Compass reiterated its IPO targets, with the distribution business remaining the core cash-generation engine and significant room for organic growth as penetration is still low in its concessions. Operational efficiency remains a key differentiator, with shared engineering, procurement and market intelligence across the portfolio allowing Compass to reduce capex per connection while maintaining the same investment targets. EDGE remains the main growth vector, albeit with structurally lower returns than distribution. TRSP is currently delivering ~5.1mn m³/day, almost doubling volumes from 2024, while the number of free-market contracts has increased sharply. Management sees a potential ~R$500mn EBITDA contribution from LNG/LRCAP supply contracts. Compass believes the market will remain undersupplied in flexible-dispatch gas, potentially requiring additional LNG terminals. The longer-term optionality lies in LNG off-grid applications, particularly long-distance truck fleets. Compass estimates LNG can generate ~30% of savings versus diesel, making economics increasingly compelling, with truck availability now the key bottleneck rather than demand. The company has already signed its first contract covering 160 trucks by 2027, with a potential ramp-up to 2,000 trucks over 10 years, which would imply ~300mn m³/year of gas demand. Potentially lower gas prices due to new regulations to reduce market concentration and the increase in supply of low-cost molecules should stimulate demand and expand EDGE’s commercialization opportunities without directly affecting distribution tariffs.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85D475-4F41-4C99-9502-0E6FD8F73EFD}"/>
              </a:ext>
            </a:extLst>
          </p:cNvPr>
          <p:cNvSpPr>
            <a:spLocks noGrp="1"/>
          </p:cNvSpPr>
          <p:nvPr>
            <p:ph type="body" sz="quarter" idx="26"/>
          </p:nvPr>
        </p:nvSpPr>
        <p:spPr/>
        <p:txBody>
          <a:bodyPr/>
          <a:lstStyle/>
          <a:p>
            <a:endParaRPr lang="en-US"/>
          </a:p>
        </p:txBody>
      </p:sp>
      <p:sp>
        <p:nvSpPr>
          <p:cNvPr id="3" name="Date Placeholder 9">
            <a:extLst>
              <a:ext uri="{FF2B5EF4-FFF2-40B4-BE49-F238E27FC236}">
                <a16:creationId xmlns:a16="http://schemas.microsoft.com/office/drawing/2014/main" id="{5EFEB00F-997A-E04E-AA4F-79C850D6AB2A}"/>
              </a:ext>
            </a:extLst>
          </p:cNvPr>
          <p:cNvSpPr>
            <a:spLocks noGrp="1"/>
          </p:cNvSpPr>
          <p:nvPr>
            <p:ph type="dt" sz="half" idx="2"/>
          </p:nvPr>
        </p:nvSpPr>
        <p:spPr>
          <a:xfrm>
            <a:off x="3971925" y="438763"/>
            <a:ext cx="2517775" cy="184666"/>
          </a:xfrm>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4350632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42008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MM_SLIDE_TYPE" val="6"/>
</p:tagLst>
</file>

<file path=ppt/tags/tag54.xml><?xml version="1.0" encoding="utf-8"?>
<p:tagLst xmlns:a="http://schemas.openxmlformats.org/drawingml/2006/main" xmlns:r="http://schemas.openxmlformats.org/officeDocument/2006/relationships" xmlns:p="http://schemas.openxmlformats.org/presentationml/2006/main">
  <p:tag name="MM_SLIDE_TYPE" val="6"/>
</p:tagLst>
</file>

<file path=ppt/tags/tag55.xml><?xml version="1.0" encoding="utf-8"?>
<p:tagLst xmlns:a="http://schemas.openxmlformats.org/drawingml/2006/main" xmlns:r="http://schemas.openxmlformats.org/officeDocument/2006/relationships" xmlns:p="http://schemas.openxmlformats.org/presentationml/2006/main">
  <p:tag name="MM_SLIDE_TYPE" val="6"/>
</p:tagLst>
</file>

<file path=ppt/tags/tag56.xml><?xml version="1.0" encoding="utf-8"?>
<p:tagLst xmlns:a="http://schemas.openxmlformats.org/drawingml/2006/main" xmlns:r="http://schemas.openxmlformats.org/officeDocument/2006/relationships" xmlns:p="http://schemas.openxmlformats.org/presentationml/2006/main">
  <p:tag name="MM_SLIDE_TYPE" val="6"/>
</p:tagLst>
</file>

<file path=ppt/tags/tag57.xml><?xml version="1.0" encoding="utf-8"?>
<p:tagLst xmlns:a="http://schemas.openxmlformats.org/drawingml/2006/main" xmlns:r="http://schemas.openxmlformats.org/officeDocument/2006/relationships" xmlns:p="http://schemas.openxmlformats.org/presentationml/2006/main">
  <p:tag name="MM_SLIDE_TYPE" val="6"/>
</p:tagLst>
</file>

<file path=ppt/tags/tag58.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2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5bef5af-bbc1-4d24-bb43-47a55a90f763}" enabled="1" method="Standar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3584</TotalTime>
  <Words>10326</Words>
  <Application>Microsoft Office PowerPoint</Application>
  <PresentationFormat>A4 Paper (210x297 mm)</PresentationFormat>
  <Paragraphs>520</Paragraphs>
  <Slides>27</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27</vt:i4>
      </vt:variant>
    </vt:vector>
  </HeadingPairs>
  <TitlesOfParts>
    <vt:vector size="35" baseType="lpstr">
      <vt:lpstr>Arial</vt:lpstr>
      <vt:lpstr>Calibri</vt:lpstr>
      <vt:lpstr>Roboto</vt:lpstr>
      <vt:lpstr>Roboto Light</vt:lpstr>
      <vt:lpstr>Wingdings</vt:lpstr>
      <vt:lpstr>Tema IB 2021</vt:lpstr>
      <vt:lpstr>1_Tema IB 2021</vt:lpstr>
      <vt:lpstr>2_Tema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259</cp:revision>
  <dcterms:created xsi:type="dcterms:W3CDTF">2022-03-20T14:16:37Z</dcterms:created>
  <dcterms:modified xsi:type="dcterms:W3CDTF">2026-08-18T13:54:28Z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2024-08-07T13:35:27Z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b571ecd3-3a44-4687-ba08-7c2c7e9aba13</vt:lpwstr>
  </property>
  <property fmtid="{D5CDD505-2E9C-101B-9397-08002B2CF9AE}" pid="8" name="MSIP_Label_e6a9157b-bcf3-4eac-b03e-7cf007ba9fdf_ContentBits">
    <vt:lpwstr>2</vt:lpwstr>
  </property>
  <property fmtid="{D5CDD505-2E9C-101B-9397-08002B2CF9AE}" pid="9" name="ClassificationContentMarkingFooterLocations">
    <vt:lpwstr>Tema IB 2021:5</vt:lpwstr>
  </property>
  <property fmtid="{D5CDD505-2E9C-101B-9397-08002B2CF9AE}" pid="10" name="ClassificationContentMarkingFooterText">
    <vt:lpwstr>[ CLASSIFICAÇÃO: PÚBLICA ]</vt:lpwstr>
  </property>
</Properties>
</file>