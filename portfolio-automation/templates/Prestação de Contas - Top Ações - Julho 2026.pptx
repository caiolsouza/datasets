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1.xml" ContentType="application/vnd.openxmlformats-officedocument.themeOverride+xml"/>
  <Override PartName="/ppt/charts/chartEx1.xml" ContentType="application/vnd.ms-office.chartex+xml"/>
  <Override PartName="/ppt/charts/style3.xml" ContentType="application/vnd.ms-office.chartstyle+xml"/>
  <Override PartName="/ppt/charts/colors3.xml" ContentType="application/vnd.ms-office.chartcolorstyl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3" r:id="rId1"/>
    <p:sldMasterId id="2147483648" r:id="rId2"/>
  </p:sldMasterIdLst>
  <p:notesMasterIdLst>
    <p:notesMasterId r:id="rId6"/>
  </p:notesMasterIdLst>
  <p:sldIdLst>
    <p:sldId id="269" r:id="rId3"/>
    <p:sldId id="273" r:id="rId4"/>
    <p:sldId id="267" r:id="rId5"/>
  </p:sldIdLst>
  <p:sldSz cx="6858000" cy="9906000" type="A4"/>
  <p:notesSz cx="6858000" cy="9144000"/>
  <p:defaultTextStyle>
    <a:defPPr>
      <a:defRPr lang="en-US"/>
    </a:defPPr>
    <a:lvl1pPr marL="0" algn="l" defTabSz="473926" rtl="0" eaLnBrk="1" latinLnBrk="0" hangingPunct="1">
      <a:defRPr sz="1865" kern="1200">
        <a:solidFill>
          <a:schemeClr val="tx1"/>
        </a:solidFill>
        <a:latin typeface="+mn-lt"/>
        <a:ea typeface="+mn-ea"/>
        <a:cs typeface="+mn-cs"/>
      </a:defRPr>
    </a:lvl1pPr>
    <a:lvl2pPr marL="473926" algn="l" defTabSz="473926" rtl="0" eaLnBrk="1" latinLnBrk="0" hangingPunct="1">
      <a:defRPr sz="1865" kern="1200">
        <a:solidFill>
          <a:schemeClr val="tx1"/>
        </a:solidFill>
        <a:latin typeface="+mn-lt"/>
        <a:ea typeface="+mn-ea"/>
        <a:cs typeface="+mn-cs"/>
      </a:defRPr>
    </a:lvl2pPr>
    <a:lvl3pPr marL="947852" algn="l" defTabSz="473926" rtl="0" eaLnBrk="1" latinLnBrk="0" hangingPunct="1">
      <a:defRPr sz="1865" kern="1200">
        <a:solidFill>
          <a:schemeClr val="tx1"/>
        </a:solidFill>
        <a:latin typeface="+mn-lt"/>
        <a:ea typeface="+mn-ea"/>
        <a:cs typeface="+mn-cs"/>
      </a:defRPr>
    </a:lvl3pPr>
    <a:lvl4pPr marL="1421777" algn="l" defTabSz="473926" rtl="0" eaLnBrk="1" latinLnBrk="0" hangingPunct="1">
      <a:defRPr sz="1865" kern="1200">
        <a:solidFill>
          <a:schemeClr val="tx1"/>
        </a:solidFill>
        <a:latin typeface="+mn-lt"/>
        <a:ea typeface="+mn-ea"/>
        <a:cs typeface="+mn-cs"/>
      </a:defRPr>
    </a:lvl4pPr>
    <a:lvl5pPr marL="1895703" algn="l" defTabSz="473926" rtl="0" eaLnBrk="1" latinLnBrk="0" hangingPunct="1">
      <a:defRPr sz="1865" kern="1200">
        <a:solidFill>
          <a:schemeClr val="tx1"/>
        </a:solidFill>
        <a:latin typeface="+mn-lt"/>
        <a:ea typeface="+mn-ea"/>
        <a:cs typeface="+mn-cs"/>
      </a:defRPr>
    </a:lvl5pPr>
    <a:lvl6pPr marL="2369629" algn="l" defTabSz="473926" rtl="0" eaLnBrk="1" latinLnBrk="0" hangingPunct="1">
      <a:defRPr sz="1865" kern="1200">
        <a:solidFill>
          <a:schemeClr val="tx1"/>
        </a:solidFill>
        <a:latin typeface="+mn-lt"/>
        <a:ea typeface="+mn-ea"/>
        <a:cs typeface="+mn-cs"/>
      </a:defRPr>
    </a:lvl6pPr>
    <a:lvl7pPr marL="2843555" algn="l" defTabSz="473926" rtl="0" eaLnBrk="1" latinLnBrk="0" hangingPunct="1">
      <a:defRPr sz="1865" kern="1200">
        <a:solidFill>
          <a:schemeClr val="tx1"/>
        </a:solidFill>
        <a:latin typeface="+mn-lt"/>
        <a:ea typeface="+mn-ea"/>
        <a:cs typeface="+mn-cs"/>
      </a:defRPr>
    </a:lvl7pPr>
    <a:lvl8pPr marL="3317480" algn="l" defTabSz="473926" rtl="0" eaLnBrk="1" latinLnBrk="0" hangingPunct="1">
      <a:defRPr sz="1865" kern="1200">
        <a:solidFill>
          <a:schemeClr val="tx1"/>
        </a:solidFill>
        <a:latin typeface="+mn-lt"/>
        <a:ea typeface="+mn-ea"/>
        <a:cs typeface="+mn-cs"/>
      </a:defRPr>
    </a:lvl8pPr>
    <a:lvl9pPr marL="3791405" algn="l" defTabSz="473926" rtl="0" eaLnBrk="1" latinLnBrk="0" hangingPunct="1">
      <a:defRPr sz="18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A6A6A6"/>
    <a:srgbClr val="CC3333"/>
    <a:srgbClr val="0B844C"/>
    <a:srgbClr val="B6DA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CCD8F-60A7-44EF-9BE2-EECB5075B632}" v="1" dt="2026-05-15T18:09:43.33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6126" autoAdjust="0"/>
  </p:normalViewPr>
  <p:slideViewPr>
    <p:cSldViewPr snapToGrid="0">
      <p:cViewPr>
        <p:scale>
          <a:sx n="98" d="100"/>
          <a:sy n="98" d="100"/>
        </p:scale>
        <p:origin x="2820" y="-9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microsoft.com/office/2015/10/relationships/revisionInfo" Target="revisionInfo.xml"/><Relationship Id="rId5" Type="http://schemas.openxmlformats.org/officeDocument/2006/relationships/slide" Target="slides/slide3.xml"/><Relationship Id="rId10"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https://xpcorretora-my.sharepoint.com/personal/joao_faia_xpi_com_br/Documents/CVP/Estudo%20Carteiras%20Automatizadas/Gr&#225;fico%20Desomposi&#231;&#227;o%20dos%20resultados%20de%20carteira.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themeOverride" Target="../theme/themeOverride1.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package" Target="../embeddings/Microsoft_Excel_Worksheet.xlsx"/></Relationships>
</file>

<file path=ppt/charts/_rels/chartEx1.xml.rels><?xml version="1.0" encoding="UTF-8" standalone="yes"?>
<Relationships xmlns="http://schemas.openxmlformats.org/package/2006/relationships"><Relationship Id="rId3" Type="http://schemas.microsoft.com/office/2011/relationships/chartColorStyle" Target="colors3.xml"/><Relationship Id="rId2" Type="http://schemas.microsoft.com/office/2011/relationships/chartStyle" Target="style3.xml"/><Relationship Id="rId1" Type="http://schemas.openxmlformats.org/officeDocument/2006/relationships/oleObject" Target="file:///\\xpdocs\Research\Equities\Estrategia\Carteiras\Carteiras%20de%20A&#231;&#245;es%20XP\Charts%20L&#226;mina%20Carteiras.xlsm"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dLbls>
          <c:showLegendKey val="0"/>
          <c:showVal val="0"/>
          <c:showCatName val="0"/>
          <c:showSerName val="0"/>
          <c:showPercent val="0"/>
          <c:showBubbleSize val="0"/>
        </c:dLbls>
        <c:gapWidth val="50"/>
        <c:overlap val="-27"/>
        <c:axId val="260534992"/>
        <c:axId val="260530192"/>
      </c:barChart>
      <c:catAx>
        <c:axId val="260534992"/>
        <c:scaling>
          <c:orientation val="minMax"/>
        </c:scaling>
        <c:delete val="1"/>
        <c:axPos val="b"/>
        <c:numFmt formatCode="General" sourceLinked="0"/>
        <c:majorTickMark val="none"/>
        <c:minorTickMark val="none"/>
        <c:tickLblPos val="nextTo"/>
        <c:crossAx val="260530192"/>
        <c:crosses val="autoZero"/>
        <c:auto val="1"/>
        <c:lblAlgn val="ctr"/>
        <c:lblOffset val="100"/>
        <c:noMultiLvlLbl val="0"/>
      </c:catAx>
      <c:valAx>
        <c:axId val="260530192"/>
        <c:scaling>
          <c:orientation val="minMax"/>
        </c:scaling>
        <c:delete val="1"/>
        <c:axPos val="l"/>
        <c:numFmt formatCode="0.00%" sourceLinked="1"/>
        <c:majorTickMark val="none"/>
        <c:minorTickMark val="none"/>
        <c:tickLblPos val="nextTo"/>
        <c:crossAx val="260534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Top Ações XP</c:v>
          </c:tx>
          <c:spPr>
            <a:ln w="22225" cap="rnd">
              <a:solidFill>
                <a:schemeClr val="accent4"/>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numCache>
            </c:numRef>
          </c:cat>
          <c:val>
            <c:numRef>
              <c:f>'Charts Base 100'!$N$4:$N$10000</c:f>
              <c:numCache>
                <c:formatCode>0.0</c:formatCode>
                <c:ptCount val="9997"/>
                <c:pt idx="0" formatCode="General">
                  <c:v>100</c:v>
                </c:pt>
                <c:pt idx="1">
                  <c:v>99.925276546754816</c:v>
                </c:pt>
                <c:pt idx="2">
                  <c:v>100.3657370205059</c:v>
                </c:pt>
                <c:pt idx="3">
                  <c:v>101.52317693974339</c:v>
                </c:pt>
                <c:pt idx="4">
                  <c:v>101.0105231130281</c:v>
                </c:pt>
                <c:pt idx="5">
                  <c:v>100.343932042671</c:v>
                </c:pt>
                <c:pt idx="6">
                  <c:v>100.78495018970639</c:v>
                </c:pt>
                <c:pt idx="7">
                  <c:v>102.217468017622</c:v>
                </c:pt>
                <c:pt idx="8">
                  <c:v>103.6198584183245</c:v>
                </c:pt>
                <c:pt idx="9">
                  <c:v>104.6233952581786</c:v>
                </c:pt>
                <c:pt idx="10">
                  <c:v>105.73512029860569</c:v>
                </c:pt>
                <c:pt idx="11">
                  <c:v>106.6728572309411</c:v>
                </c:pt>
                <c:pt idx="12">
                  <c:v>106.31591104054159</c:v>
                </c:pt>
                <c:pt idx="13">
                  <c:v>106.4850273144301</c:v>
                </c:pt>
                <c:pt idx="14">
                  <c:v>106.0541853770779</c:v>
                </c:pt>
                <c:pt idx="15">
                  <c:v>106.64496127605361</c:v>
                </c:pt>
                <c:pt idx="16">
                  <c:v>107.07700149031371</c:v>
                </c:pt>
                <c:pt idx="17">
                  <c:v>107.8514661521759</c:v>
                </c:pt>
                <c:pt idx="18">
                  <c:v>106.86241344662599</c:v>
                </c:pt>
                <c:pt idx="19">
                  <c:v>105.16999541061</c:v>
                </c:pt>
                <c:pt idx="20">
                  <c:v>105.8889162201943</c:v>
                </c:pt>
                <c:pt idx="21">
                  <c:v>105.7102703380141</c:v>
                </c:pt>
                <c:pt idx="22">
                  <c:v>105.9759728402814</c:v>
                </c:pt>
                <c:pt idx="23">
                  <c:v>102.8404683036902</c:v>
                </c:pt>
                <c:pt idx="24">
                  <c:v>101.6097980905288</c:v>
                </c:pt>
                <c:pt idx="25">
                  <c:v>100.2950985827179</c:v>
                </c:pt>
                <c:pt idx="26">
                  <c:v>103.60409117459589</c:v>
                </c:pt>
                <c:pt idx="27">
                  <c:v>102.4164675510517</c:v>
                </c:pt>
                <c:pt idx="28">
                  <c:v>103.32213259009831</c:v>
                </c:pt>
                <c:pt idx="29">
                  <c:v>104.57572976915191</c:v>
                </c:pt>
                <c:pt idx="30">
                  <c:v>104.62195463483209</c:v>
                </c:pt>
                <c:pt idx="31">
                  <c:v>103.9433448134249</c:v>
                </c:pt>
                <c:pt idx="32">
                  <c:v>104.97261711026189</c:v>
                </c:pt>
                <c:pt idx="33">
                  <c:v>106.11296910655371</c:v>
                </c:pt>
                <c:pt idx="34">
                  <c:v>106.97070968042161</c:v>
                </c:pt>
                <c:pt idx="35">
                  <c:v>108.89857087445731</c:v>
                </c:pt>
                <c:pt idx="36">
                  <c:v>108.505184827596</c:v>
                </c:pt>
                <c:pt idx="37">
                  <c:v>108.9314633306339</c:v>
                </c:pt>
                <c:pt idx="38">
                  <c:v>108.6852765363482</c:v>
                </c:pt>
                <c:pt idx="39">
                  <c:v>108.8542280502689</c:v>
                </c:pt>
                <c:pt idx="40">
                  <c:v>109.5393698894534</c:v>
                </c:pt>
                <c:pt idx="41">
                  <c:v>107.83880638685881</c:v>
                </c:pt>
                <c:pt idx="42">
                  <c:v>107.2199244455542</c:v>
                </c:pt>
                <c:pt idx="43">
                  <c:v>107.3136350996656</c:v>
                </c:pt>
                <c:pt idx="44">
                  <c:v>108.7504970958769</c:v>
                </c:pt>
                <c:pt idx="45">
                  <c:v>109.4240225260131</c:v>
                </c:pt>
                <c:pt idx="46">
                  <c:v>109.5645507927769</c:v>
                </c:pt>
                <c:pt idx="47">
                  <c:v>111.5906640010728</c:v>
                </c:pt>
                <c:pt idx="48">
                  <c:v>111.5315987835904</c:v>
                </c:pt>
                <c:pt idx="49">
                  <c:v>112.2469048393358</c:v>
                </c:pt>
                <c:pt idx="50">
                  <c:v>112.2068887139574</c:v>
                </c:pt>
                <c:pt idx="51">
                  <c:v>112.3824788635317</c:v>
                </c:pt>
                <c:pt idx="52">
                  <c:v>113.04770532954591</c:v>
                </c:pt>
                <c:pt idx="53">
                  <c:v>111.09497377565491</c:v>
                </c:pt>
                <c:pt idx="54">
                  <c:v>111.0095661867624</c:v>
                </c:pt>
                <c:pt idx="55">
                  <c:v>111.2066488450339</c:v>
                </c:pt>
                <c:pt idx="56">
                  <c:v>111.3678672458669</c:v>
                </c:pt>
                <c:pt idx="57">
                  <c:v>111.8557496414638</c:v>
                </c:pt>
                <c:pt idx="58">
                  <c:v>111.34032661834711</c:v>
                </c:pt>
                <c:pt idx="59">
                  <c:v>110.95749893788761</c:v>
                </c:pt>
                <c:pt idx="60">
                  <c:v>110.217349910379</c:v>
                </c:pt>
                <c:pt idx="61">
                  <c:v>110.1017573820301</c:v>
                </c:pt>
                <c:pt idx="62">
                  <c:v>110.63654249743369</c:v>
                </c:pt>
                <c:pt idx="63">
                  <c:v>109.8571774014133</c:v>
                </c:pt>
                <c:pt idx="64">
                  <c:v>109.8456518611236</c:v>
                </c:pt>
                <c:pt idx="65">
                  <c:v>109.8238201171277</c:v>
                </c:pt>
                <c:pt idx="66">
                  <c:v>109.229733491885</c:v>
                </c:pt>
                <c:pt idx="67">
                  <c:v>110.0611122164392</c:v>
                </c:pt>
                <c:pt idx="68">
                  <c:v>110.7804470696334</c:v>
                </c:pt>
                <c:pt idx="69">
                  <c:v>111.1198406382987</c:v>
                </c:pt>
                <c:pt idx="70">
                  <c:v>110.7874557648173</c:v>
                </c:pt>
                <c:pt idx="71">
                  <c:v>112.5951898869464</c:v>
                </c:pt>
                <c:pt idx="72">
                  <c:v>112.4377392631019</c:v>
                </c:pt>
                <c:pt idx="73">
                  <c:v>111.6586251726937</c:v>
                </c:pt>
                <c:pt idx="74">
                  <c:v>110.265785157666</c:v>
                </c:pt>
                <c:pt idx="75">
                  <c:v>110.5107687248663</c:v>
                </c:pt>
                <c:pt idx="76">
                  <c:v>111.2779123480318</c:v>
                </c:pt>
                <c:pt idx="77">
                  <c:v>110.16522592211651</c:v>
                </c:pt>
                <c:pt idx="78">
                  <c:v>111.0330499701042</c:v>
                </c:pt>
                <c:pt idx="79">
                  <c:v>110.8509841595376</c:v>
                </c:pt>
                <c:pt idx="80">
                  <c:v>112.343042675595</c:v>
                </c:pt>
                <c:pt idx="81">
                  <c:v>112.43518022402471</c:v>
                </c:pt>
                <c:pt idx="82">
                  <c:v>110.80110355807309</c:v>
                </c:pt>
                <c:pt idx="83">
                  <c:v>112.34637876447201</c:v>
                </c:pt>
                <c:pt idx="84">
                  <c:v>112.5880972609083</c:v>
                </c:pt>
                <c:pt idx="85">
                  <c:v>111.46757947821349</c:v>
                </c:pt>
                <c:pt idx="86">
                  <c:v>111.6079063422204</c:v>
                </c:pt>
                <c:pt idx="87">
                  <c:v>110.56466646011221</c:v>
                </c:pt>
                <c:pt idx="88">
                  <c:v>109.5354862302939</c:v>
                </c:pt>
                <c:pt idx="89">
                  <c:v>108.7856131640299</c:v>
                </c:pt>
                <c:pt idx="90">
                  <c:v>107.6536098701598</c:v>
                </c:pt>
                <c:pt idx="91">
                  <c:v>108.3930476962163</c:v>
                </c:pt>
                <c:pt idx="92">
                  <c:v>108.39610309810109</c:v>
                </c:pt>
                <c:pt idx="93">
                  <c:v>108.65911293313989</c:v>
                </c:pt>
                <c:pt idx="94">
                  <c:v>106.17805049687441</c:v>
                </c:pt>
                <c:pt idx="95">
                  <c:v>105.9769414124714</c:v>
                </c:pt>
                <c:pt idx="96">
                  <c:v>105.5678336432436</c:v>
                </c:pt>
                <c:pt idx="97">
                  <c:v>106.5541200516101</c:v>
                </c:pt>
                <c:pt idx="98">
                  <c:v>104.9399268923692</c:v>
                </c:pt>
                <c:pt idx="99">
                  <c:v>104.760274656711</c:v>
                </c:pt>
                <c:pt idx="100">
                  <c:v>103.5616840828272</c:v>
                </c:pt>
                <c:pt idx="101">
                  <c:v>103.849188851848</c:v>
                </c:pt>
                <c:pt idx="102">
                  <c:v>104.9565144037109</c:v>
                </c:pt>
                <c:pt idx="103">
                  <c:v>103.94814339271031</c:v>
                </c:pt>
                <c:pt idx="104">
                  <c:v>103.784257387113</c:v>
                </c:pt>
                <c:pt idx="105">
                  <c:v>104.1538809964876</c:v>
                </c:pt>
                <c:pt idx="106">
                  <c:v>104.28309990697871</c:v>
                </c:pt>
                <c:pt idx="107">
                  <c:v>106.0344124883114</c:v>
                </c:pt>
                <c:pt idx="108">
                  <c:v>108.7271296700294</c:v>
                </c:pt>
                <c:pt idx="109">
                  <c:v>108.26941297365769</c:v>
                </c:pt>
                <c:pt idx="110">
                  <c:v>107.90418398115099</c:v>
                </c:pt>
                <c:pt idx="111">
                  <c:v>109.62465602566699</c:v>
                </c:pt>
                <c:pt idx="112">
                  <c:v>107.8723927402946</c:v>
                </c:pt>
                <c:pt idx="113">
                  <c:v>107.5553444602081</c:v>
                </c:pt>
                <c:pt idx="114">
                  <c:v>107.53106470757589</c:v>
                </c:pt>
                <c:pt idx="115">
                  <c:v>107.83342270834351</c:v>
                </c:pt>
                <c:pt idx="116">
                  <c:v>105.58423632684369</c:v>
                </c:pt>
                <c:pt idx="117">
                  <c:v>105.97522401517971</c:v>
                </c:pt>
                <c:pt idx="118">
                  <c:v>105.7830093231922</c:v>
                </c:pt>
                <c:pt idx="119">
                  <c:v>108.316840491451</c:v>
                </c:pt>
                <c:pt idx="120">
                  <c:v>108.54609941156041</c:v>
                </c:pt>
                <c:pt idx="121">
                  <c:v>107.96603335872589</c:v>
                </c:pt>
                <c:pt idx="122">
                  <c:v>109.369179577276</c:v>
                </c:pt>
                <c:pt idx="123">
                  <c:v>110.96697797529851</c:v>
                </c:pt>
                <c:pt idx="124">
                  <c:v>110.922125026476</c:v>
                </c:pt>
                <c:pt idx="125">
                  <c:v>111.104349725411</c:v>
                </c:pt>
                <c:pt idx="126">
                  <c:v>110.4596959049921</c:v>
                </c:pt>
                <c:pt idx="127">
                  <c:v>110.0901194733524</c:v>
                </c:pt>
                <c:pt idx="128">
                  <c:v>110.8500946822904</c:v>
                </c:pt>
                <c:pt idx="129">
                  <c:v>112.0958876586182</c:v>
                </c:pt>
                <c:pt idx="130">
                  <c:v>111.04243363185979</c:v>
                </c:pt>
                <c:pt idx="131">
                  <c:v>110.8953948100051</c:v>
                </c:pt>
                <c:pt idx="132">
                  <c:v>111.2982966111621</c:v>
                </c:pt>
                <c:pt idx="133">
                  <c:v>112.28201949920251</c:v>
                </c:pt>
                <c:pt idx="134">
                  <c:v>111.5532027851211</c:v>
                </c:pt>
                <c:pt idx="135">
                  <c:v>112.68948262516081</c:v>
                </c:pt>
                <c:pt idx="136">
                  <c:v>113.2122239331559</c:v>
                </c:pt>
                <c:pt idx="137">
                  <c:v>114.0767153996925</c:v>
                </c:pt>
                <c:pt idx="138">
                  <c:v>114.4610579812225</c:v>
                </c:pt>
                <c:pt idx="139">
                  <c:v>115.20631554186581</c:v>
                </c:pt>
                <c:pt idx="140">
                  <c:v>114.1803843856362</c:v>
                </c:pt>
                <c:pt idx="141">
                  <c:v>115.3367119595253</c:v>
                </c:pt>
                <c:pt idx="142">
                  <c:v>114.7673486625052</c:v>
                </c:pt>
                <c:pt idx="143">
                  <c:v>113.6725687674372</c:v>
                </c:pt>
                <c:pt idx="144">
                  <c:v>114.1978031555515</c:v>
                </c:pt>
                <c:pt idx="145">
                  <c:v>115.6563462053694</c:v>
                </c:pt>
                <c:pt idx="146">
                  <c:v>115.4232080204158</c:v>
                </c:pt>
                <c:pt idx="147">
                  <c:v>114.8578540182222</c:v>
                </c:pt>
                <c:pt idx="148">
                  <c:v>113.4953765922137</c:v>
                </c:pt>
                <c:pt idx="149">
                  <c:v>113.70559907803</c:v>
                </c:pt>
                <c:pt idx="150">
                  <c:v>112.3965118983693</c:v>
                </c:pt>
                <c:pt idx="151">
                  <c:v>110.50507967905131</c:v>
                </c:pt>
                <c:pt idx="152">
                  <c:v>110.7657567584414</c:v>
                </c:pt>
                <c:pt idx="153">
                  <c:v>110.3433782015816</c:v>
                </c:pt>
                <c:pt idx="154">
                  <c:v>109.77236045913629</c:v>
                </c:pt>
                <c:pt idx="155">
                  <c:v>110.2613741226881</c:v>
                </c:pt>
                <c:pt idx="156">
                  <c:v>109.8837714237854</c:v>
                </c:pt>
                <c:pt idx="157">
                  <c:v>110.62753917043899</c:v>
                </c:pt>
                <c:pt idx="158">
                  <c:v>110.50579786901891</c:v>
                </c:pt>
                <c:pt idx="159">
                  <c:v>111.6840129647463</c:v>
                </c:pt>
                <c:pt idx="160">
                  <c:v>113.2225017831837</c:v>
                </c:pt>
                <c:pt idx="161">
                  <c:v>112.94770305205979</c:v>
                </c:pt>
                <c:pt idx="162">
                  <c:v>114.0296538225162</c:v>
                </c:pt>
                <c:pt idx="163">
                  <c:v>114.2061846758628</c:v>
                </c:pt>
                <c:pt idx="164">
                  <c:v>114.7574361201121</c:v>
                </c:pt>
                <c:pt idx="165">
                  <c:v>115.4040821166187</c:v>
                </c:pt>
                <c:pt idx="166">
                  <c:v>115.35634272561011</c:v>
                </c:pt>
                <c:pt idx="167">
                  <c:v>116.0007644132309</c:v>
                </c:pt>
                <c:pt idx="168">
                  <c:v>116.4443524585548</c:v>
                </c:pt>
                <c:pt idx="169">
                  <c:v>117.47939322617761</c:v>
                </c:pt>
                <c:pt idx="170">
                  <c:v>118.2598438915529</c:v>
                </c:pt>
                <c:pt idx="171">
                  <c:v>118.6581781437477</c:v>
                </c:pt>
                <c:pt idx="172">
                  <c:v>120.567485985391</c:v>
                </c:pt>
                <c:pt idx="173">
                  <c:v>120.1355440382081</c:v>
                </c:pt>
                <c:pt idx="174">
                  <c:v>121.134510271396</c:v>
                </c:pt>
                <c:pt idx="175">
                  <c:v>121.9222528967943</c:v>
                </c:pt>
                <c:pt idx="176">
                  <c:v>123.9014788267761</c:v>
                </c:pt>
                <c:pt idx="177">
                  <c:v>123.0885073195499</c:v>
                </c:pt>
                <c:pt idx="178">
                  <c:v>122.928472130709</c:v>
                </c:pt>
                <c:pt idx="179">
                  <c:v>123.9762284522736</c:v>
                </c:pt>
                <c:pt idx="180">
                  <c:v>122.83180203730559</c:v>
                </c:pt>
                <c:pt idx="181">
                  <c:v>122.77885128019901</c:v>
                </c:pt>
                <c:pt idx="182">
                  <c:v>122.0043163673007</c:v>
                </c:pt>
                <c:pt idx="183">
                  <c:v>121.29022290365771</c:v>
                </c:pt>
                <c:pt idx="184">
                  <c:v>121.99821334644319</c:v>
                </c:pt>
                <c:pt idx="185">
                  <c:v>122.80850320919011</c:v>
                </c:pt>
                <c:pt idx="186">
                  <c:v>125.0856590158115</c:v>
                </c:pt>
                <c:pt idx="187">
                  <c:v>124.816101746817</c:v>
                </c:pt>
                <c:pt idx="188">
                  <c:v>125.5958197448717</c:v>
                </c:pt>
                <c:pt idx="189">
                  <c:v>125.7775624903708</c:v>
                </c:pt>
                <c:pt idx="190">
                  <c:v>127.9536884627512</c:v>
                </c:pt>
                <c:pt idx="191">
                  <c:v>128.8369476159784</c:v>
                </c:pt>
                <c:pt idx="192">
                  <c:v>131.464451127064</c:v>
                </c:pt>
                <c:pt idx="193">
                  <c:v>124.448279701372</c:v>
                </c:pt>
                <c:pt idx="194">
                  <c:v>125.3192274603451</c:v>
                </c:pt>
                <c:pt idx="195">
                  <c:v>125.1456570438867</c:v>
                </c:pt>
                <c:pt idx="196">
                  <c:v>125.9213770576734</c:v>
                </c:pt>
                <c:pt idx="197">
                  <c:v>126.6985270697222</c:v>
                </c:pt>
                <c:pt idx="198">
                  <c:v>128.08565668912951</c:v>
                </c:pt>
                <c:pt idx="199">
                  <c:v>129.2838041936995</c:v>
                </c:pt>
                <c:pt idx="200">
                  <c:v>125.1326039737794</c:v>
                </c:pt>
                <c:pt idx="201">
                  <c:v>123.7056199865217</c:v>
                </c:pt>
                <c:pt idx="202">
                  <c:v>124.21380691555569</c:v>
                </c:pt>
                <c:pt idx="203">
                  <c:v>124.2581731875502</c:v>
                </c:pt>
                <c:pt idx="204">
                  <c:v>123.8181374880475</c:v>
                </c:pt>
                <c:pt idx="205">
                  <c:v>126.1809172790327</c:v>
                </c:pt>
                <c:pt idx="206">
                  <c:v>126.6731331229079</c:v>
                </c:pt>
                <c:pt idx="207">
                  <c:v>125.4047195624705</c:v>
                </c:pt>
                <c:pt idx="208">
                  <c:v>126.50170057275371</c:v>
                </c:pt>
                <c:pt idx="209">
                  <c:v>125.4730749569853</c:v>
                </c:pt>
                <c:pt idx="210">
                  <c:v>128.24770537957059</c:v>
                </c:pt>
                <c:pt idx="211">
                  <c:v>129.86827574698981</c:v>
                </c:pt>
                <c:pt idx="212">
                  <c:v>128.01353080359559</c:v>
                </c:pt>
                <c:pt idx="213">
                  <c:v>129.18894814350861</c:v>
                </c:pt>
                <c:pt idx="214">
                  <c:v>130.0831177381877</c:v>
                </c:pt>
                <c:pt idx="215">
                  <c:v>130.03980301673079</c:v>
                </c:pt>
                <c:pt idx="216">
                  <c:v>128.64832677342631</c:v>
                </c:pt>
                <c:pt idx="217">
                  <c:v>130.4524596553259</c:v>
                </c:pt>
                <c:pt idx="218">
                  <c:v>130.727634344596</c:v>
                </c:pt>
                <c:pt idx="219">
                  <c:v>129.6607925484841</c:v>
                </c:pt>
                <c:pt idx="220">
                  <c:v>129.66276029423159</c:v>
                </c:pt>
                <c:pt idx="221">
                  <c:v>130.7169838563629</c:v>
                </c:pt>
                <c:pt idx="222">
                  <c:v>134.77318412283961</c:v>
                </c:pt>
                <c:pt idx="223">
                  <c:v>137.90755979513801</c:v>
                </c:pt>
                <c:pt idx="224">
                  <c:v>140.0791811145242</c:v>
                </c:pt>
                <c:pt idx="225">
                  <c:v>140.71589872173149</c:v>
                </c:pt>
                <c:pt idx="226">
                  <c:v>143.8023423695922</c:v>
                </c:pt>
                <c:pt idx="227">
                  <c:v>145.67659453187829</c:v>
                </c:pt>
                <c:pt idx="228">
                  <c:v>143.91252167548109</c:v>
                </c:pt>
                <c:pt idx="229">
                  <c:v>142.01012820075329</c:v>
                </c:pt>
                <c:pt idx="230">
                  <c:v>142.62937502101639</c:v>
                </c:pt>
                <c:pt idx="231">
                  <c:v>144.26361760406999</c:v>
                </c:pt>
                <c:pt idx="232">
                  <c:v>140.98368329333229</c:v>
                </c:pt>
                <c:pt idx="233">
                  <c:v>141.5836786875735</c:v>
                </c:pt>
                <c:pt idx="234">
                  <c:v>142.7415070719419</c:v>
                </c:pt>
                <c:pt idx="235">
                  <c:v>145.7693575219667</c:v>
                </c:pt>
                <c:pt idx="236">
                  <c:v>146.12302321310131</c:v>
                </c:pt>
                <c:pt idx="237">
                  <c:v>147.84112492452431</c:v>
                </c:pt>
                <c:pt idx="238">
                  <c:v>145.48379071960579</c:v>
                </c:pt>
                <c:pt idx="239">
                  <c:v>144.83526624174621</c:v>
                </c:pt>
                <c:pt idx="240">
                  <c:v>145.19762782822781</c:v>
                </c:pt>
                <c:pt idx="241">
                  <c:v>146.95593670214001</c:v>
                </c:pt>
                <c:pt idx="242">
                  <c:v>148.74008207532401</c:v>
                </c:pt>
                <c:pt idx="243">
                  <c:v>146.38650843047171</c:v>
                </c:pt>
                <c:pt idx="244">
                  <c:v>149.0293786154192</c:v>
                </c:pt>
                <c:pt idx="245">
                  <c:v>147.51058030552821</c:v>
                </c:pt>
                <c:pt idx="246">
                  <c:v>147.68464989923731</c:v>
                </c:pt>
                <c:pt idx="247">
                  <c:v>145.85212378075531</c:v>
                </c:pt>
                <c:pt idx="248">
                  <c:v>146.73955373058709</c:v>
                </c:pt>
                <c:pt idx="249">
                  <c:v>141.984356100317</c:v>
                </c:pt>
                <c:pt idx="250">
                  <c:v>144.71750657898281</c:v>
                </c:pt>
                <c:pt idx="251">
                  <c:v>140.37114895335171</c:v>
                </c:pt>
                <c:pt idx="252">
                  <c:v>139.5676698280916</c:v>
                </c:pt>
                <c:pt idx="253">
                  <c:v>140.04400612431081</c:v>
                </c:pt>
                <c:pt idx="254">
                  <c:v>142.83534600621579</c:v>
                </c:pt>
                <c:pt idx="255">
                  <c:v>143.54927739905841</c:v>
                </c:pt>
                <c:pt idx="256">
                  <c:v>140.04351372610409</c:v>
                </c:pt>
                <c:pt idx="257">
                  <c:v>138.1301701192377</c:v>
                </c:pt>
                <c:pt idx="258">
                  <c:v>140.27491453003199</c:v>
                </c:pt>
                <c:pt idx="259">
                  <c:v>141.2377071698036</c:v>
                </c:pt>
                <c:pt idx="260">
                  <c:v>141.01643992371359</c:v>
                </c:pt>
                <c:pt idx="261">
                  <c:v>141.0387294923039</c:v>
                </c:pt>
                <c:pt idx="262">
                  <c:v>136.77844254893731</c:v>
                </c:pt>
                <c:pt idx="263">
                  <c:v>142.311626449366</c:v>
                </c:pt>
                <c:pt idx="264">
                  <c:v>142.82035640964199</c:v>
                </c:pt>
                <c:pt idx="265">
                  <c:v>145.68803509357309</c:v>
                </c:pt>
                <c:pt idx="266">
                  <c:v>142.79252726769889</c:v>
                </c:pt>
                <c:pt idx="267">
                  <c:v>141.62294832894241</c:v>
                </c:pt>
                <c:pt idx="268">
                  <c:v>141.72881749994579</c:v>
                </c:pt>
                <c:pt idx="269">
                  <c:v>146.6683924517865</c:v>
                </c:pt>
                <c:pt idx="270">
                  <c:v>147.47912380807821</c:v>
                </c:pt>
                <c:pt idx="271">
                  <c:v>147.45329708010311</c:v>
                </c:pt>
                <c:pt idx="272">
                  <c:v>147.24422980090139</c:v>
                </c:pt>
                <c:pt idx="273">
                  <c:v>147.33314524424341</c:v>
                </c:pt>
                <c:pt idx="274">
                  <c:v>151.17413849234529</c:v>
                </c:pt>
                <c:pt idx="275">
                  <c:v>154.10471131843141</c:v>
                </c:pt>
                <c:pt idx="276">
                  <c:v>155.0982664961065</c:v>
                </c:pt>
                <c:pt idx="277">
                  <c:v>155.55639249569509</c:v>
                </c:pt>
                <c:pt idx="278">
                  <c:v>156.49999360240369</c:v>
                </c:pt>
                <c:pt idx="279">
                  <c:v>156.71259895255761</c:v>
                </c:pt>
                <c:pt idx="280">
                  <c:v>156.01115314257351</c:v>
                </c:pt>
                <c:pt idx="281">
                  <c:v>155.6173886901947</c:v>
                </c:pt>
                <c:pt idx="282">
                  <c:v>155.4342685759211</c:v>
                </c:pt>
                <c:pt idx="283">
                  <c:v>152.42845678159509</c:v>
                </c:pt>
                <c:pt idx="284">
                  <c:v>150.12545373397469</c:v>
                </c:pt>
                <c:pt idx="285">
                  <c:v>150.0633957026476</c:v>
                </c:pt>
                <c:pt idx="286">
                  <c:v>148.69827982938051</c:v>
                </c:pt>
                <c:pt idx="287">
                  <c:v>147.24792316374689</c:v>
                </c:pt>
                <c:pt idx="288">
                  <c:v>144.28715692674871</c:v>
                </c:pt>
                <c:pt idx="289">
                  <c:v>145.81765965162469</c:v>
                </c:pt>
                <c:pt idx="290">
                  <c:v>145.22686096781501</c:v>
                </c:pt>
                <c:pt idx="291">
                  <c:v>146.31476914165961</c:v>
                </c:pt>
                <c:pt idx="292">
                  <c:v>147.50588069127591</c:v>
                </c:pt>
                <c:pt idx="293">
                  <c:v>144.6564408791628</c:v>
                </c:pt>
                <c:pt idx="294">
                  <c:v>144.43171148401771</c:v>
                </c:pt>
                <c:pt idx="295">
                  <c:v>141.93398008808711</c:v>
                </c:pt>
                <c:pt idx="296">
                  <c:v>140.396641278917</c:v>
                </c:pt>
                <c:pt idx="297">
                  <c:v>137.00528185668321</c:v>
                </c:pt>
                <c:pt idx="298">
                  <c:v>138.9916759137144</c:v>
                </c:pt>
                <c:pt idx="299">
                  <c:v>137.88318030683681</c:v>
                </c:pt>
                <c:pt idx="300">
                  <c:v>137.63271807475169</c:v>
                </c:pt>
                <c:pt idx="301">
                  <c:v>135.46543663773571</c:v>
                </c:pt>
                <c:pt idx="302">
                  <c:v>138.83772092594091</c:v>
                </c:pt>
                <c:pt idx="303">
                  <c:v>138.92238177513781</c:v>
                </c:pt>
                <c:pt idx="304">
                  <c:v>137.76247963927759</c:v>
                </c:pt>
                <c:pt idx="305">
                  <c:v>139.533642563027</c:v>
                </c:pt>
                <c:pt idx="306">
                  <c:v>137.9721435151267</c:v>
                </c:pt>
                <c:pt idx="307">
                  <c:v>137.2079362198613</c:v>
                </c:pt>
                <c:pt idx="308">
                  <c:v>136.98683818727159</c:v>
                </c:pt>
                <c:pt idx="309">
                  <c:v>136.08309703157741</c:v>
                </c:pt>
                <c:pt idx="310">
                  <c:v>135.1267095281228</c:v>
                </c:pt>
                <c:pt idx="311">
                  <c:v>135.91728277434501</c:v>
                </c:pt>
                <c:pt idx="312">
                  <c:v>132.3277518502735</c:v>
                </c:pt>
                <c:pt idx="313">
                  <c:v>132.2782680655497</c:v>
                </c:pt>
                <c:pt idx="314">
                  <c:v>131.76669591768331</c:v>
                </c:pt>
                <c:pt idx="315">
                  <c:v>132.4617556512564</c:v>
                </c:pt>
                <c:pt idx="316">
                  <c:v>130.22669151561911</c:v>
                </c:pt>
                <c:pt idx="317">
                  <c:v>133.11474429840121</c:v>
                </c:pt>
                <c:pt idx="318">
                  <c:v>132.60660834744081</c:v>
                </c:pt>
                <c:pt idx="319">
                  <c:v>132.04617739494759</c:v>
                </c:pt>
                <c:pt idx="320">
                  <c:v>131.33142139997571</c:v>
                </c:pt>
                <c:pt idx="321">
                  <c:v>130.3021812676082</c:v>
                </c:pt>
                <c:pt idx="322">
                  <c:v>129.90006356682451</c:v>
                </c:pt>
                <c:pt idx="323">
                  <c:v>129.83561100338349</c:v>
                </c:pt>
                <c:pt idx="324">
                  <c:v>131.6105659998253</c:v>
                </c:pt>
                <c:pt idx="325">
                  <c:v>132.09363945788311</c:v>
                </c:pt>
                <c:pt idx="326">
                  <c:v>132.35052388180429</c:v>
                </c:pt>
                <c:pt idx="327">
                  <c:v>133.2961322664508</c:v>
                </c:pt>
                <c:pt idx="328">
                  <c:v>135.32084373277959</c:v>
                </c:pt>
                <c:pt idx="329">
                  <c:v>134.7053353104821</c:v>
                </c:pt>
                <c:pt idx="330">
                  <c:v>133.81821968402519</c:v>
                </c:pt>
              </c:numCache>
            </c:numRef>
          </c:val>
          <c:smooth val="0"/>
          <c:extLst>
            <c:ext xmlns:c16="http://schemas.microsoft.com/office/drawing/2014/chart" uri="{C3380CC4-5D6E-409C-BE32-E72D297353CC}">
              <c16:uniqueId val="{00000000-D80D-46EB-9484-5F5304E6E167}"/>
            </c:ext>
          </c:extLst>
        </c:ser>
        <c:ser>
          <c:idx val="1"/>
          <c:order val="1"/>
          <c:tx>
            <c:v>Ibovespa</c:v>
          </c:tx>
          <c:spPr>
            <a:ln w="22225" cap="rnd">
              <a:solidFill>
                <a:srgbClr val="7E7E7E"/>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numCache>
            </c:numRef>
          </c:cat>
          <c:val>
            <c:numRef>
              <c:f>'Charts Base 100'!$O$4:$O$10000</c:f>
              <c:numCache>
                <c:formatCode>0.0</c:formatCode>
                <c:ptCount val="9997"/>
                <c:pt idx="0" formatCode="General">
                  <c:v>100</c:v>
                </c:pt>
                <c:pt idx="1">
                  <c:v>100.20176045278509</c:v>
                </c:pt>
                <c:pt idx="2">
                  <c:v>100.4547753570487</c:v>
                </c:pt>
                <c:pt idx="3">
                  <c:v>101.82048580327429</c:v>
                </c:pt>
                <c:pt idx="4">
                  <c:v>101.4008980033973</c:v>
                </c:pt>
                <c:pt idx="5">
                  <c:v>100.57676323171449</c:v>
                </c:pt>
                <c:pt idx="6">
                  <c:v>100.86678981090169</c:v>
                </c:pt>
                <c:pt idx="7">
                  <c:v>102.31110833150311</c:v>
                </c:pt>
                <c:pt idx="8">
                  <c:v>105.0146951414705</c:v>
                </c:pt>
                <c:pt idx="9">
                  <c:v>106.5431022330866</c:v>
                </c:pt>
                <c:pt idx="10">
                  <c:v>107.06490577413889</c:v>
                </c:pt>
                <c:pt idx="11">
                  <c:v>107.9067035431615</c:v>
                </c:pt>
                <c:pt idx="12">
                  <c:v>107.4559265870781</c:v>
                </c:pt>
                <c:pt idx="13">
                  <c:v>107.7735022303504</c:v>
                </c:pt>
                <c:pt idx="14">
                  <c:v>106.9400758588683</c:v>
                </c:pt>
                <c:pt idx="15">
                  <c:v>107.5477758019217</c:v>
                </c:pt>
                <c:pt idx="16">
                  <c:v>107.9158078451559</c:v>
                </c:pt>
                <c:pt idx="17">
                  <c:v>108.42812434522109</c:v>
                </c:pt>
                <c:pt idx="18">
                  <c:v>107.4129946728433</c:v>
                </c:pt>
                <c:pt idx="19">
                  <c:v>106.0753300370548</c:v>
                </c:pt>
                <c:pt idx="20">
                  <c:v>106.7982588470322</c:v>
                </c:pt>
                <c:pt idx="21">
                  <c:v>106.8333161100787</c:v>
                </c:pt>
                <c:pt idx="22">
                  <c:v>106.79285164083871</c:v>
                </c:pt>
                <c:pt idx="23">
                  <c:v>103.6294324330905</c:v>
                </c:pt>
                <c:pt idx="24">
                  <c:v>102.2711894689122</c:v>
                </c:pt>
                <c:pt idx="25">
                  <c:v>100.92248240601781</c:v>
                </c:pt>
                <c:pt idx="26">
                  <c:v>104.069118101771</c:v>
                </c:pt>
                <c:pt idx="27">
                  <c:v>102.8955100563042</c:v>
                </c:pt>
                <c:pt idx="28">
                  <c:v>103.97666627659861</c:v>
                </c:pt>
                <c:pt idx="29">
                  <c:v>105.4192746868075</c:v>
                </c:pt>
                <c:pt idx="30">
                  <c:v>105.2494688682139</c:v>
                </c:pt>
                <c:pt idx="31">
                  <c:v>104.493355773239</c:v>
                </c:pt>
                <c:pt idx="32">
                  <c:v>105.5789827107025</c:v>
                </c:pt>
                <c:pt idx="33">
                  <c:v>106.2421390907701</c:v>
                </c:pt>
                <c:pt idx="34">
                  <c:v>107.6686073162269</c:v>
                </c:pt>
                <c:pt idx="35">
                  <c:v>109.5939961770075</c:v>
                </c:pt>
                <c:pt idx="36">
                  <c:v>109.72335381312681</c:v>
                </c:pt>
                <c:pt idx="37">
                  <c:v>109.94860792535189</c:v>
                </c:pt>
                <c:pt idx="38">
                  <c:v>110.0113934069055</c:v>
                </c:pt>
                <c:pt idx="39">
                  <c:v>109.990204324804</c:v>
                </c:pt>
                <c:pt idx="40">
                  <c:v>110.0446916992626</c:v>
                </c:pt>
                <c:pt idx="41">
                  <c:v>108.7070189200914</c:v>
                </c:pt>
                <c:pt idx="42">
                  <c:v>108.7270434984494</c:v>
                </c:pt>
                <c:pt idx="43">
                  <c:v>108.6307072796712</c:v>
                </c:pt>
                <c:pt idx="44">
                  <c:v>110.9388514198273</c:v>
                </c:pt>
                <c:pt idx="45">
                  <c:v>111.16684985206319</c:v>
                </c:pt>
                <c:pt idx="46">
                  <c:v>111.2086254059375</c:v>
                </c:pt>
                <c:pt idx="47">
                  <c:v>113.1629802794141</c:v>
                </c:pt>
                <c:pt idx="48">
                  <c:v>112.7230177357177</c:v>
                </c:pt>
                <c:pt idx="49">
                  <c:v>113.4653196534274</c:v>
                </c:pt>
                <c:pt idx="50">
                  <c:v>113.3456200693344</c:v>
                </c:pt>
                <c:pt idx="51">
                  <c:v>113.7112742447847</c:v>
                </c:pt>
                <c:pt idx="52">
                  <c:v>114.096635406663</c:v>
                </c:pt>
                <c:pt idx="53">
                  <c:v>112.2819965522546</c:v>
                </c:pt>
                <c:pt idx="54">
                  <c:v>111.7863251266764</c:v>
                </c:pt>
                <c:pt idx="55">
                  <c:v>112.2355955569378</c:v>
                </c:pt>
                <c:pt idx="56">
                  <c:v>112.4895469502258</c:v>
                </c:pt>
                <c:pt idx="57">
                  <c:v>113.63376552708981</c:v>
                </c:pt>
                <c:pt idx="58">
                  <c:v>113.10166060676831</c:v>
                </c:pt>
                <c:pt idx="59">
                  <c:v>112.8132952776767</c:v>
                </c:pt>
                <c:pt idx="60">
                  <c:v>111.5860223394164</c:v>
                </c:pt>
                <c:pt idx="61">
                  <c:v>111.3906055818492</c:v>
                </c:pt>
                <c:pt idx="62">
                  <c:v>112.009185084352</c:v>
                </c:pt>
                <c:pt idx="63">
                  <c:v>111.5656313088313</c:v>
                </c:pt>
                <c:pt idx="64">
                  <c:v>110.9424915119485</c:v>
                </c:pt>
                <c:pt idx="65">
                  <c:v>110.8331503108044</c:v>
                </c:pt>
                <c:pt idx="66">
                  <c:v>110.5051999978176</c:v>
                </c:pt>
                <c:pt idx="67">
                  <c:v>111.1051148668936</c:v>
                </c:pt>
                <c:pt idx="68">
                  <c:v>111.6686125279919</c:v>
                </c:pt>
                <c:pt idx="69">
                  <c:v>112.21560355211101</c:v>
                </c:pt>
                <c:pt idx="70">
                  <c:v>111.73749740327879</c:v>
                </c:pt>
                <c:pt idx="71">
                  <c:v>113.4014185284272</c:v>
                </c:pt>
                <c:pt idx="72">
                  <c:v>113.06274338026449</c:v>
                </c:pt>
                <c:pt idx="73">
                  <c:v>112.962270323013</c:v>
                </c:pt>
                <c:pt idx="74">
                  <c:v>111.6586694575668</c:v>
                </c:pt>
                <c:pt idx="75">
                  <c:v>111.1982995965198</c:v>
                </c:pt>
                <c:pt idx="76">
                  <c:v>111.69839287897</c:v>
                </c:pt>
                <c:pt idx="77">
                  <c:v>110.5605017105583</c:v>
                </c:pt>
                <c:pt idx="78">
                  <c:v>111.65708964129951</c:v>
                </c:pt>
                <c:pt idx="79">
                  <c:v>111.4550523134984</c:v>
                </c:pt>
                <c:pt idx="80">
                  <c:v>113.0746164324182</c:v>
                </c:pt>
                <c:pt idx="81">
                  <c:v>113.6404431010034</c:v>
                </c:pt>
                <c:pt idx="82">
                  <c:v>113.2344954673524</c:v>
                </c:pt>
                <c:pt idx="83">
                  <c:v>114.76295141926541</c:v>
                </c:pt>
                <c:pt idx="84">
                  <c:v>115.0363247805827</c:v>
                </c:pt>
                <c:pt idx="85">
                  <c:v>113.5918026754107</c:v>
                </c:pt>
                <c:pt idx="86">
                  <c:v>113.4396435673913</c:v>
                </c:pt>
                <c:pt idx="87">
                  <c:v>111.95587035701971</c:v>
                </c:pt>
                <c:pt idx="88">
                  <c:v>111.3552714437868</c:v>
                </c:pt>
                <c:pt idx="89">
                  <c:v>110.90254007582629</c:v>
                </c:pt>
                <c:pt idx="90">
                  <c:v>110.17914709302811</c:v>
                </c:pt>
                <c:pt idx="91">
                  <c:v>110.1393340944139</c:v>
                </c:pt>
                <c:pt idx="92">
                  <c:v>110.3517868088436</c:v>
                </c:pt>
                <c:pt idx="93">
                  <c:v>110.39555749150909</c:v>
                </c:pt>
                <c:pt idx="94">
                  <c:v>108.6177267274538</c:v>
                </c:pt>
                <c:pt idx="95">
                  <c:v>109.2570962862998</c:v>
                </c:pt>
                <c:pt idx="96">
                  <c:v>109.1504179713384</c:v>
                </c:pt>
                <c:pt idx="97">
                  <c:v>110.2355644492154</c:v>
                </c:pt>
                <c:pt idx="98">
                  <c:v>108.96464297903189</c:v>
                </c:pt>
                <c:pt idx="99">
                  <c:v>108.7338513664881</c:v>
                </c:pt>
                <c:pt idx="100">
                  <c:v>107.59791460995351</c:v>
                </c:pt>
                <c:pt idx="101">
                  <c:v>108.08360224819261</c:v>
                </c:pt>
                <c:pt idx="102">
                  <c:v>109.1129746971252</c:v>
                </c:pt>
                <c:pt idx="103">
                  <c:v>108.3648502606982</c:v>
                </c:pt>
                <c:pt idx="104">
                  <c:v>107.84883666483201</c:v>
                </c:pt>
                <c:pt idx="105">
                  <c:v>108.28353858322571</c:v>
                </c:pt>
                <c:pt idx="106">
                  <c:v>108.4302009078406</c:v>
                </c:pt>
                <c:pt idx="107">
                  <c:v>109.5591343551487</c:v>
                </c:pt>
                <c:pt idx="108">
                  <c:v>111.17965939324139</c:v>
                </c:pt>
                <c:pt idx="109">
                  <c:v>110.6793625262207</c:v>
                </c:pt>
                <c:pt idx="110">
                  <c:v>110.44312299056941</c:v>
                </c:pt>
                <c:pt idx="111">
                  <c:v>112.30838925597899</c:v>
                </c:pt>
                <c:pt idx="112">
                  <c:v>111.3097173602834</c:v>
                </c:pt>
                <c:pt idx="113">
                  <c:v>111.03973164621991</c:v>
                </c:pt>
                <c:pt idx="114">
                  <c:v>111.0275084286048</c:v>
                </c:pt>
                <c:pt idx="115">
                  <c:v>111.8262684194158</c:v>
                </c:pt>
                <c:pt idx="116">
                  <c:v>109.4733356737416</c:v>
                </c:pt>
                <c:pt idx="117">
                  <c:v>109.66405369942071</c:v>
                </c:pt>
                <c:pt idx="118">
                  <c:v>109.5373345193356</c:v>
                </c:pt>
                <c:pt idx="119">
                  <c:v>112.3527462622076</c:v>
                </c:pt>
                <c:pt idx="120">
                  <c:v>112.3991798310558</c:v>
                </c:pt>
                <c:pt idx="121">
                  <c:v>112.1925170618121</c:v>
                </c:pt>
                <c:pt idx="122">
                  <c:v>113.36062018049159</c:v>
                </c:pt>
                <c:pt idx="123">
                  <c:v>114.8617632264213</c:v>
                </c:pt>
                <c:pt idx="124">
                  <c:v>115.1655602659596</c:v>
                </c:pt>
                <c:pt idx="125">
                  <c:v>115.05216366017051</c:v>
                </c:pt>
                <c:pt idx="126">
                  <c:v>114.280293119436</c:v>
                </c:pt>
                <c:pt idx="127">
                  <c:v>113.8963081892545</c:v>
                </c:pt>
                <c:pt idx="128">
                  <c:v>114.8162009995351</c:v>
                </c:pt>
                <c:pt idx="129">
                  <c:v>116.1573265730227</c:v>
                </c:pt>
                <c:pt idx="130">
                  <c:v>115.4663116803227</c:v>
                </c:pt>
                <c:pt idx="131">
                  <c:v>115.32519499940921</c:v>
                </c:pt>
                <c:pt idx="132">
                  <c:v>115.9199958240733</c:v>
                </c:pt>
                <c:pt idx="133">
                  <c:v>116.57320913371591</c:v>
                </c:pt>
                <c:pt idx="134">
                  <c:v>115.85719405575399</c:v>
                </c:pt>
                <c:pt idx="135">
                  <c:v>116.8954753654933</c:v>
                </c:pt>
                <c:pt idx="136">
                  <c:v>117.314989874925</c:v>
                </c:pt>
                <c:pt idx="137">
                  <c:v>118.56246654596541</c:v>
                </c:pt>
                <c:pt idx="138">
                  <c:v>118.48580474008401</c:v>
                </c:pt>
                <c:pt idx="139">
                  <c:v>118.78354310280309</c:v>
                </c:pt>
                <c:pt idx="140">
                  <c:v>118.1680173688584</c:v>
                </c:pt>
                <c:pt idx="141">
                  <c:v>119.23943410329829</c:v>
                </c:pt>
                <c:pt idx="142">
                  <c:v>119.2938400439287</c:v>
                </c:pt>
                <c:pt idx="143">
                  <c:v>118.32842572367601</c:v>
                </c:pt>
                <c:pt idx="144">
                  <c:v>118.44278324863809</c:v>
                </c:pt>
                <c:pt idx="145">
                  <c:v>119.16765832710971</c:v>
                </c:pt>
                <c:pt idx="146">
                  <c:v>119.08640365331701</c:v>
                </c:pt>
                <c:pt idx="147">
                  <c:v>118.5003488218032</c:v>
                </c:pt>
                <c:pt idx="148">
                  <c:v>117.2237025534961</c:v>
                </c:pt>
                <c:pt idx="149">
                  <c:v>117.4281096056982</c:v>
                </c:pt>
                <c:pt idx="150">
                  <c:v>116.9455571698455</c:v>
                </c:pt>
                <c:pt idx="151">
                  <c:v>115.11195237684581</c:v>
                </c:pt>
                <c:pt idx="152">
                  <c:v>115.75442456454689</c:v>
                </c:pt>
                <c:pt idx="153">
                  <c:v>115.3984040109743</c:v>
                </c:pt>
                <c:pt idx="154">
                  <c:v>114.561386407668</c:v>
                </c:pt>
                <c:pt idx="155">
                  <c:v>115.4596178196434</c:v>
                </c:pt>
                <c:pt idx="156">
                  <c:v>115.3778826862642</c:v>
                </c:pt>
                <c:pt idx="157">
                  <c:v>116.1276195124899</c:v>
                </c:pt>
                <c:pt idx="158">
                  <c:v>115.7989200082834</c:v>
                </c:pt>
                <c:pt idx="159">
                  <c:v>116.7749940166495</c:v>
                </c:pt>
                <c:pt idx="160">
                  <c:v>117.679471403249</c:v>
                </c:pt>
                <c:pt idx="161">
                  <c:v>117.3340535341101</c:v>
                </c:pt>
                <c:pt idx="162">
                  <c:v>117.9754589386615</c:v>
                </c:pt>
                <c:pt idx="163">
                  <c:v>118.6661725261971</c:v>
                </c:pt>
                <c:pt idx="164">
                  <c:v>119.0336263892509</c:v>
                </c:pt>
                <c:pt idx="165">
                  <c:v>119.68256442291229</c:v>
                </c:pt>
                <c:pt idx="166">
                  <c:v>120.05699716504409</c:v>
                </c:pt>
                <c:pt idx="167">
                  <c:v>121.03748488689941</c:v>
                </c:pt>
                <c:pt idx="168">
                  <c:v>121.1574287724771</c:v>
                </c:pt>
                <c:pt idx="169">
                  <c:v>121.7764968779492</c:v>
                </c:pt>
                <c:pt idx="170">
                  <c:v>122.5206473435593</c:v>
                </c:pt>
                <c:pt idx="171">
                  <c:v>122.72419934056521</c:v>
                </c:pt>
                <c:pt idx="172">
                  <c:v>124.8335309325175</c:v>
                </c:pt>
                <c:pt idx="173">
                  <c:v>124.8695165412056</c:v>
                </c:pt>
                <c:pt idx="174">
                  <c:v>125.4598303619351</c:v>
                </c:pt>
                <c:pt idx="175">
                  <c:v>126.4319711163983</c:v>
                </c:pt>
                <c:pt idx="176">
                  <c:v>128.46072393533211</c:v>
                </c:pt>
                <c:pt idx="177">
                  <c:v>128.36650499608751</c:v>
                </c:pt>
                <c:pt idx="178">
                  <c:v>127.9833832644851</c:v>
                </c:pt>
                <c:pt idx="179">
                  <c:v>128.45265384295601</c:v>
                </c:pt>
                <c:pt idx="180">
                  <c:v>127.8453529256609</c:v>
                </c:pt>
                <c:pt idx="181">
                  <c:v>127.4619624624254</c:v>
                </c:pt>
                <c:pt idx="182">
                  <c:v>126.53241974350141</c:v>
                </c:pt>
                <c:pt idx="183">
                  <c:v>126.0352173619528</c:v>
                </c:pt>
                <c:pt idx="184">
                  <c:v>126.4484614666118</c:v>
                </c:pt>
                <c:pt idx="185">
                  <c:v>126.9636281506646</c:v>
                </c:pt>
                <c:pt idx="186">
                  <c:v>129.11735746575971</c:v>
                </c:pt>
                <c:pt idx="187">
                  <c:v>128.95841491984999</c:v>
                </c:pt>
                <c:pt idx="188">
                  <c:v>129.53852508190411</c:v>
                </c:pt>
                <c:pt idx="189">
                  <c:v>129.1630174132398</c:v>
                </c:pt>
                <c:pt idx="190">
                  <c:v>131.18358613243799</c:v>
                </c:pt>
                <c:pt idx="191">
                  <c:v>131.72343540982271</c:v>
                </c:pt>
                <c:pt idx="192">
                  <c:v>133.92249893708501</c:v>
                </c:pt>
                <c:pt idx="193">
                  <c:v>128.15189428521009</c:v>
                </c:pt>
                <c:pt idx="194">
                  <c:v>128.8180800036873</c:v>
                </c:pt>
                <c:pt idx="195">
                  <c:v>128.65008201608009</c:v>
                </c:pt>
                <c:pt idx="196">
                  <c:v>129.54083780262539</c:v>
                </c:pt>
                <c:pt idx="197">
                  <c:v>129.63377823076701</c:v>
                </c:pt>
                <c:pt idx="198">
                  <c:v>130.9182095730514</c:v>
                </c:pt>
                <c:pt idx="199">
                  <c:v>132.3151010321005</c:v>
                </c:pt>
                <c:pt idx="200">
                  <c:v>129.13603838595219</c:v>
                </c:pt>
                <c:pt idx="201">
                  <c:v>128.11761064353161</c:v>
                </c:pt>
                <c:pt idx="202">
                  <c:v>128.60302140675469</c:v>
                </c:pt>
                <c:pt idx="203">
                  <c:v>129.05064687368611</c:v>
                </c:pt>
                <c:pt idx="204">
                  <c:v>128.7807995971306</c:v>
                </c:pt>
                <c:pt idx="205">
                  <c:v>130.66532496291299</c:v>
                </c:pt>
                <c:pt idx="206">
                  <c:v>131.02429342106689</c:v>
                </c:pt>
                <c:pt idx="207">
                  <c:v>130.69339520349871</c:v>
                </c:pt>
                <c:pt idx="208">
                  <c:v>131.2105570163427</c:v>
                </c:pt>
                <c:pt idx="209">
                  <c:v>130.73280103297179</c:v>
                </c:pt>
                <c:pt idx="210">
                  <c:v>131.8167422901912</c:v>
                </c:pt>
                <c:pt idx="211">
                  <c:v>133.2777628889595</c:v>
                </c:pt>
                <c:pt idx="212">
                  <c:v>131.90263869219231</c:v>
                </c:pt>
                <c:pt idx="213">
                  <c:v>132.68541322252469</c:v>
                </c:pt>
                <c:pt idx="214">
                  <c:v>133.0386975994692</c:v>
                </c:pt>
                <c:pt idx="215">
                  <c:v>132.8595757509278</c:v>
                </c:pt>
                <c:pt idx="216">
                  <c:v>131.9008552913543</c:v>
                </c:pt>
                <c:pt idx="217">
                  <c:v>134.48469365693191</c:v>
                </c:pt>
                <c:pt idx="218">
                  <c:v>134.82862128701441</c:v>
                </c:pt>
                <c:pt idx="219">
                  <c:v>134.20293261130851</c:v>
                </c:pt>
                <c:pt idx="220">
                  <c:v>134.24307134523551</c:v>
                </c:pt>
                <c:pt idx="221">
                  <c:v>135.40564510697919</c:v>
                </c:pt>
                <c:pt idx="222">
                  <c:v>139.91689189227711</c:v>
                </c:pt>
                <c:pt idx="223">
                  <c:v>142.98912964257309</c:v>
                </c:pt>
                <c:pt idx="224">
                  <c:v>145.6513562111902</c:v>
                </c:pt>
                <c:pt idx="225">
                  <c:v>145.53909153561321</c:v>
                </c:pt>
                <c:pt idx="226">
                  <c:v>148.14371181415109</c:v>
                </c:pt>
                <c:pt idx="227">
                  <c:v>150.40099238520409</c:v>
                </c:pt>
                <c:pt idx="228">
                  <c:v>149.13282337841429</c:v>
                </c:pt>
                <c:pt idx="229">
                  <c:v>147.69156676975379</c:v>
                </c:pt>
                <c:pt idx="230">
                  <c:v>148.85566334408509</c:v>
                </c:pt>
                <c:pt idx="231">
                  <c:v>151.20179636510329</c:v>
                </c:pt>
                <c:pt idx="232">
                  <c:v>147.97196787044601</c:v>
                </c:pt>
                <c:pt idx="233">
                  <c:v>148.31319189743181</c:v>
                </c:pt>
                <c:pt idx="234">
                  <c:v>148.9830095646474</c:v>
                </c:pt>
                <c:pt idx="235">
                  <c:v>151.6632981563626</c:v>
                </c:pt>
                <c:pt idx="236">
                  <c:v>151.409371193223</c:v>
                </c:pt>
                <c:pt idx="237">
                  <c:v>154.4792555058836</c:v>
                </c:pt>
                <c:pt idx="238">
                  <c:v>152.90538390797519</c:v>
                </c:pt>
                <c:pt idx="239">
                  <c:v>151.84501774402401</c:v>
                </c:pt>
                <c:pt idx="240">
                  <c:v>151.4802023370043</c:v>
                </c:pt>
                <c:pt idx="241">
                  <c:v>153.53079570866529</c:v>
                </c:pt>
                <c:pt idx="242">
                  <c:v>155.15947227296229</c:v>
                </c:pt>
                <c:pt idx="243">
                  <c:v>153.79062662435041</c:v>
                </c:pt>
                <c:pt idx="244">
                  <c:v>155.93796338393059</c:v>
                </c:pt>
                <c:pt idx="245">
                  <c:v>155.74012804166551</c:v>
                </c:pt>
                <c:pt idx="246">
                  <c:v>155.5426998685414</c:v>
                </c:pt>
                <c:pt idx="247">
                  <c:v>153.73646498520469</c:v>
                </c:pt>
                <c:pt idx="248">
                  <c:v>154.15995346545321</c:v>
                </c:pt>
                <c:pt idx="249">
                  <c:v>149.10930528882591</c:v>
                </c:pt>
                <c:pt idx="250">
                  <c:v>150.9509883175844</c:v>
                </c:pt>
                <c:pt idx="251">
                  <c:v>146.95861345552319</c:v>
                </c:pt>
                <c:pt idx="252">
                  <c:v>146.06363939667631</c:v>
                </c:pt>
                <c:pt idx="253">
                  <c:v>147.3263034766789</c:v>
                </c:pt>
                <c:pt idx="254">
                  <c:v>149.3879148452973</c:v>
                </c:pt>
                <c:pt idx="255">
                  <c:v>149.8132844469776</c:v>
                </c:pt>
                <c:pt idx="256">
                  <c:v>145.99822360247131</c:v>
                </c:pt>
                <c:pt idx="257">
                  <c:v>144.66989128339631</c:v>
                </c:pt>
                <c:pt idx="258">
                  <c:v>146.479456810307</c:v>
                </c:pt>
                <c:pt idx="259">
                  <c:v>146.9145496110761</c:v>
                </c:pt>
                <c:pt idx="260">
                  <c:v>146.28765571471251</c:v>
                </c:pt>
                <c:pt idx="261">
                  <c:v>146.80126701264641</c:v>
                </c:pt>
                <c:pt idx="262">
                  <c:v>143.50220347724081</c:v>
                </c:pt>
                <c:pt idx="263">
                  <c:v>148.1541353441626</c:v>
                </c:pt>
                <c:pt idx="264">
                  <c:v>148.62417954400149</c:v>
                </c:pt>
                <c:pt idx="265">
                  <c:v>150.9980896438239</c:v>
                </c:pt>
                <c:pt idx="266">
                  <c:v>148.80620858021021</c:v>
                </c:pt>
                <c:pt idx="267">
                  <c:v>147.84862005084889</c:v>
                </c:pt>
                <c:pt idx="268">
                  <c:v>148.62830009570919</c:v>
                </c:pt>
                <c:pt idx="269">
                  <c:v>152.6573527539984</c:v>
                </c:pt>
                <c:pt idx="270">
                  <c:v>153.0572498542131</c:v>
                </c:pt>
                <c:pt idx="271">
                  <c:v>153.13795892135681</c:v>
                </c:pt>
                <c:pt idx="272">
                  <c:v>153.2274954154791</c:v>
                </c:pt>
                <c:pt idx="273">
                  <c:v>153.30643736855049</c:v>
                </c:pt>
                <c:pt idx="274">
                  <c:v>156.51676246135051</c:v>
                </c:pt>
                <c:pt idx="275">
                  <c:v>158.9012182419267</c:v>
                </c:pt>
                <c:pt idx="276">
                  <c:v>160.68838132269551</c:v>
                </c:pt>
                <c:pt idx="277">
                  <c:v>161.23955804558491</c:v>
                </c:pt>
                <c:pt idx="278">
                  <c:v>161.77426884840921</c:v>
                </c:pt>
                <c:pt idx="279">
                  <c:v>161.0253056435516</c:v>
                </c:pt>
                <c:pt idx="280">
                  <c:v>160.27691247549151</c:v>
                </c:pt>
                <c:pt idx="281">
                  <c:v>159.39329029229779</c:v>
                </c:pt>
                <c:pt idx="282">
                  <c:v>159.71784481464809</c:v>
                </c:pt>
                <c:pt idx="283">
                  <c:v>157.0768643318122</c:v>
                </c:pt>
                <c:pt idx="284">
                  <c:v>155.84678192647851</c:v>
                </c:pt>
                <c:pt idx="285">
                  <c:v>155.3309719151828</c:v>
                </c:pt>
                <c:pt idx="286">
                  <c:v>154.38126618039271</c:v>
                </c:pt>
                <c:pt idx="287">
                  <c:v>153.59941999570191</c:v>
                </c:pt>
                <c:pt idx="288">
                  <c:v>150.44933964901529</c:v>
                </c:pt>
                <c:pt idx="289">
                  <c:v>152.53992517371259</c:v>
                </c:pt>
                <c:pt idx="290">
                  <c:v>151.14128288735691</c:v>
                </c:pt>
                <c:pt idx="291">
                  <c:v>152.08078496347159</c:v>
                </c:pt>
                <c:pt idx="292">
                  <c:v>152.84385250737611</c:v>
                </c:pt>
                <c:pt idx="293">
                  <c:v>149.2016431066387</c:v>
                </c:pt>
                <c:pt idx="294">
                  <c:v>149.92642860789931</c:v>
                </c:pt>
                <c:pt idx="295">
                  <c:v>148.1353567033762</c:v>
                </c:pt>
                <c:pt idx="296">
                  <c:v>146.85966321085931</c:v>
                </c:pt>
                <c:pt idx="297">
                  <c:v>144.21791725003831</c:v>
                </c:pt>
                <c:pt idx="298">
                  <c:v>145.25014802634121</c:v>
                </c:pt>
                <c:pt idx="299">
                  <c:v>144.36900957490809</c:v>
                </c:pt>
                <c:pt idx="300">
                  <c:v>144.11818524062349</c:v>
                </c:pt>
                <c:pt idx="301">
                  <c:v>141.92194746720031</c:v>
                </c:pt>
                <c:pt idx="302">
                  <c:v>144.42756049739461</c:v>
                </c:pt>
                <c:pt idx="303">
                  <c:v>144.66708181632291</c:v>
                </c:pt>
                <c:pt idx="304">
                  <c:v>143.49423110545851</c:v>
                </c:pt>
                <c:pt idx="305">
                  <c:v>144.80214796380011</c:v>
                </c:pt>
                <c:pt idx="306">
                  <c:v>143.8032073364713</c:v>
                </c:pt>
                <c:pt idx="307">
                  <c:v>143.11536836307181</c:v>
                </c:pt>
                <c:pt idx="308">
                  <c:v>142.5608365664599</c:v>
                </c:pt>
                <c:pt idx="309">
                  <c:v>141.52180606550101</c:v>
                </c:pt>
                <c:pt idx="310">
                  <c:v>140.2269837667364</c:v>
                </c:pt>
                <c:pt idx="311">
                  <c:v>141.85580691192419</c:v>
                </c:pt>
                <c:pt idx="312">
                  <c:v>138.70675263147311</c:v>
                </c:pt>
                <c:pt idx="313">
                  <c:v>137.6387398310525</c:v>
                </c:pt>
                <c:pt idx="314">
                  <c:v>137.35339569698769</c:v>
                </c:pt>
                <c:pt idx="315">
                  <c:v>138.28534885722689</c:v>
                </c:pt>
                <c:pt idx="316">
                  <c:v>137.3131185255526</c:v>
                </c:pt>
                <c:pt idx="317">
                  <c:v>139.65676781481039</c:v>
                </c:pt>
                <c:pt idx="318">
                  <c:v>139.35987636390459</c:v>
                </c:pt>
                <c:pt idx="319">
                  <c:v>138.77556421631459</c:v>
                </c:pt>
                <c:pt idx="320">
                  <c:v>138.15124362892271</c:v>
                </c:pt>
                <c:pt idx="321">
                  <c:v>137.178483977365</c:v>
                </c:pt>
                <c:pt idx="322">
                  <c:v>137.0348509911596</c:v>
                </c:pt>
                <c:pt idx="323">
                  <c:v>137.0805027952569</c:v>
                </c:pt>
                <c:pt idx="324">
                  <c:v>138.7391225781885</c:v>
                </c:pt>
                <c:pt idx="325">
                  <c:v>139.4626539984946</c:v>
                </c:pt>
                <c:pt idx="326">
                  <c:v>138.8501005992797</c:v>
                </c:pt>
                <c:pt idx="327">
                  <c:v>140.0582040143783</c:v>
                </c:pt>
                <c:pt idx="328">
                  <c:v>141.1208666122852</c:v>
                </c:pt>
                <c:pt idx="329">
                  <c:v>141.04774717793109</c:v>
                </c:pt>
                <c:pt idx="330">
                  <c:v>140.08582636890881</c:v>
                </c:pt>
              </c:numCache>
            </c:numRef>
          </c:val>
          <c:smooth val="0"/>
          <c:extLst>
            <c:ext xmlns:c16="http://schemas.microsoft.com/office/drawing/2014/chart" uri="{C3380CC4-5D6E-409C-BE32-E72D297353CC}">
              <c16:uniqueId val="{00000001-D80D-46EB-9484-5F5304E6E16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Condensed" pitchFamily="2" charset="0"/>
          <a:ea typeface="Roboto Condensed" pitchFamily="2" charset="0"/>
          <a:cs typeface="Roboto Light" panose="02000000000000000000" pitchFamily="2" charset="0"/>
        </a:defRPr>
      </a:pPr>
      <a:endParaRPr lang="pt-BR"/>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'Desempenho ativo tables_last'!$C$42:$C$58</cx:f>
        <cx:lvl ptCount="17">
          <cx:pt idx="0">ITUB4</cx:pt>
          <cx:pt idx="1">EMBJ3</cx:pt>
          <cx:pt idx="2">CPLE3</cx:pt>
          <cx:pt idx="3">SBSP3</cx:pt>
          <cx:pt idx="4">ROXO34</cx:pt>
          <cx:pt idx="5">LREN3</cx:pt>
          <cx:pt idx="6">BPAC11</cx:pt>
          <cx:pt idx="7">RENT3</cx:pt>
          <cx:pt idx="8">ORVR3</cx:pt>
          <cx:pt idx="9">IGTI11</cx:pt>
          <cx:pt idx="10">VALE3</cx:pt>
          <cx:pt idx="11">PETR4</cx:pt>
          <cx:pt idx="12">GGBR4</cx:pt>
          <cx:pt idx="13">TOTS3</cx:pt>
          <cx:pt idx="14">B3SA3</cx:pt>
          <cx:pt idx="15">PRIO3</cx:pt>
          <cx:pt idx="16">Top Ações</cx:pt>
        </cx:lvl>
      </cx:strDim>
      <cx:numDim type="val">
        <cx:f>'Desempenho ativo tables_last'!$D$42:$D$58</cx:f>
        <cx:lvl ptCount="17" formatCode="0.0%">
          <cx:pt idx="0">0.0063429554589486299</cx:pt>
          <cx:pt idx="1">0.0059708939186142503</cx:pt>
          <cx:pt idx="2">0.0031593406593406481</cx:pt>
          <cx:pt idx="3">0.003023255813953496</cx:pt>
          <cx:pt idx="4">0.0016772438803263846</cx:pt>
          <cx:pt idx="5">0.00032381904664249286</cx:pt>
          <cx:pt idx="6">0.00031627906976744447</cx:pt>
          <cx:pt idx="7">0.0001005298367672713</cx:pt>
          <cx:pt idx="8">-0.00057730303778710801</cx:pt>
          <cx:pt idx="9">-0.0029683885890516514</cx:pt>
          <cx:pt idx="10">-0.002982371407872492</cx:pt>
          <cx:pt idx="11">-0.0042429923504119782</cx:pt>
          <cx:pt idx="12">-0.0043697848045674116</cx:pt>
          <cx:pt idx="13">-0.0063402554830612953</cx:pt>
          <cx:pt idx="14">-0.0079641129134741164</cx:pt>
          <cx:pt idx="15">-0.0081124497991967841</cx:pt>
          <cx:pt idx="16">-0.016643340701062222</cx:pt>
        </cx:lvl>
      </cx:numDim>
    </cx:data>
  </cx:chartData>
  <cx:chart>
    <cx:title pos="t" align="ctr" overlay="0">
      <cx:tx>
        <cx:txData>
          <cx:v/>
        </cx:txData>
      </cx:tx>
      <cx:txPr>
        <a:bodyPr spcFirstLastPara="1" vertOverflow="ellipsis" horzOverflow="overflow" wrap="square" lIns="0" tIns="0" rIns="0" bIns="0" anchor="ctr" anchorCtr="1"/>
        <a:lstStyle/>
        <a:p>
          <a:pPr algn="ctr" rtl="0">
            <a:defRPr>
              <a:latin typeface="Roboto Condensed" pitchFamily="2" charset="0"/>
              <a:ea typeface="Roboto Condensed" pitchFamily="2" charset="0"/>
              <a:cs typeface="Roboto Condensed" pitchFamily="2" charset="0"/>
            </a:defRPr>
          </a:pPr>
          <a:endParaRPr lang="en-US" sz="1400" b="0" i="0" u="none" strike="noStrike" baseline="0">
            <a:solidFill>
              <a:sysClr val="windowText" lastClr="000000">
                <a:lumMod val="65000"/>
                <a:lumOff val="35000"/>
              </a:sysClr>
            </a:solidFill>
            <a:latin typeface="Roboto Condensed" pitchFamily="2" charset="0"/>
            <a:ea typeface="Roboto Condensed" pitchFamily="2" charset="0"/>
          </a:endParaRPr>
        </a:p>
      </cx:txPr>
    </cx:title>
    <cx:plotArea>
      <cx:plotAreaRegion>
        <cx:series layoutId="waterfall" uniqueId="{00000001-0DF3-4D48-91AA-71CB1540F764}" formatIdx="1">
          <cx:tx>
            <cx:txData>
              <cx:f>'Desempenho ativo tables_last'!$D$41</cx:f>
              <cx:v>Contribuição</cx:v>
            </cx:txData>
          </cx:tx>
          <cx:spPr>
            <a:solidFill>
              <a:srgbClr val="7E7E7E"/>
            </a:solidFill>
          </cx:spPr>
          <cx:dataPt idx="16">
            <cx:spPr>
              <a:solidFill>
                <a:srgbClr val="FFC000"/>
              </a:solidFill>
            </cx:spPr>
          </cx:dataPt>
          <cx:dataLabels pos="outEnd">
            <cx:numFmt formatCode="0,0%" sourceLinked="0"/>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visibility seriesName="0" categoryName="0" value="1"/>
            <cx:separator>, </cx:separator>
          </cx:dataLabels>
          <cx:dataId val="0"/>
          <cx:layoutPr>
            <cx:subtotals>
              <cx:idx val="16"/>
            </cx:subtotals>
          </cx:layoutPr>
        </cx:series>
      </cx:plotAreaRegion>
      <cx:axis id="0">
        <cx:catScaling gapWidth="0.5"/>
        <cx:tickLabels/>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axis>
      <cx:axis id="1" hidden="1">
        <cx:valScaling/>
        <cx:tickLabels/>
        <cx:txPr>
          <a:bodyPr vertOverflow="overflow" horzOverflow="overflow" wrap="square" lIns="0" tIns="0" rIns="0" bIns="0"/>
          <a:lstStyle/>
          <a:p>
            <a:pPr algn="ctr" rtl="0">
              <a:defRPr sz="1400" b="0" i="0">
                <a:solidFill>
                  <a:srgbClr val="595959"/>
                </a:solidFill>
                <a:latin typeface="Roboto Condensed" pitchFamily="2" charset="0"/>
                <a:ea typeface="Roboto Condensed" pitchFamily="2" charset="0"/>
                <a:cs typeface="Roboto Condensed" pitchFamily="2" charset="0"/>
              </a:defRPr>
            </a:pPr>
            <a:endParaRPr lang="pt-BR" sz="1400">
              <a:latin typeface="Roboto Condensed" pitchFamily="2" charset="0"/>
              <a:ea typeface="Roboto Condensed" pitchFamily="2"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3B1FA-7387-4CD0-BE7E-512DADC150D8}" type="datetimeFigureOut">
              <a:rPr lang="pt-BR" smtClean="0"/>
              <a:t>02/07/2026</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A0273-8E8A-4A97-A786-FD3980DEB8D9}" type="slidenum">
              <a:rPr lang="pt-BR" smtClean="0"/>
              <a:t>‹#›</a:t>
            </a:fld>
            <a:endParaRPr lang="pt-BR"/>
          </a:p>
        </p:txBody>
      </p:sp>
    </p:spTree>
    <p:extLst>
      <p:ext uri="{BB962C8B-B14F-4D97-AF65-F5344CB8AC3E}">
        <p14:creationId xmlns:p14="http://schemas.microsoft.com/office/powerpoint/2010/main" val="201898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DF1A-2D71-636A-81A5-C05FB47450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72612D-2C06-BFCB-82FA-3CDED0E161F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BB3F00F-9204-4E3B-5556-250F477D537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E570600-B829-6198-9F9C-8C93DD4BA23C}"/>
              </a:ext>
            </a:extLst>
          </p:cNvPr>
          <p:cNvSpPr>
            <a:spLocks noGrp="1"/>
          </p:cNvSpPr>
          <p:nvPr>
            <p:ph type="sldNum" sz="quarter" idx="5"/>
          </p:nvPr>
        </p:nvSpPr>
        <p:spPr/>
        <p:txBody>
          <a:bodyPr/>
          <a:lstStyle/>
          <a:p>
            <a:fld id="{345A0273-8E8A-4A97-A786-FD3980DEB8D9}" type="slidenum">
              <a:rPr lang="pt-BR" smtClean="0"/>
              <a:t>1</a:t>
            </a:fld>
            <a:endParaRPr lang="pt-BR"/>
          </a:p>
        </p:txBody>
      </p:sp>
    </p:spTree>
    <p:extLst>
      <p:ext uri="{BB962C8B-B14F-4D97-AF65-F5344CB8AC3E}">
        <p14:creationId xmlns:p14="http://schemas.microsoft.com/office/powerpoint/2010/main" val="283323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5035-5A00-E84B-C03E-B33C4A0CEC3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1BF292-FA3C-F66A-AF3A-04FA37C75C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87BAC2-26AF-33DE-981A-96B77197544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55456E1-D085-2841-1040-E3851316886A}"/>
              </a:ext>
            </a:extLst>
          </p:cNvPr>
          <p:cNvSpPr>
            <a:spLocks noGrp="1"/>
          </p:cNvSpPr>
          <p:nvPr>
            <p:ph type="sldNum" sz="quarter" idx="5"/>
          </p:nvPr>
        </p:nvSpPr>
        <p:spPr/>
        <p:txBody>
          <a:bodyPr/>
          <a:lstStyle/>
          <a:p>
            <a:fld id="{345A0273-8E8A-4A97-A786-FD3980DEB8D9}" type="slidenum">
              <a:rPr lang="pt-BR" smtClean="0"/>
              <a:t>2</a:t>
            </a:fld>
            <a:endParaRPr lang="pt-BR"/>
          </a:p>
        </p:txBody>
      </p:sp>
    </p:spTree>
    <p:extLst>
      <p:ext uri="{BB962C8B-B14F-4D97-AF65-F5344CB8AC3E}">
        <p14:creationId xmlns:p14="http://schemas.microsoft.com/office/powerpoint/2010/main" val="184493077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1" y="2"/>
            <a:ext cx="6858000" cy="213326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1938508" y="2"/>
            <a:ext cx="4919492" cy="2133261"/>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5693919" y="2353291"/>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1"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189311" y="272873"/>
            <a:ext cx="4688979" cy="756904"/>
          </a:xfrm>
          <a:prstGeom prst="rect">
            <a:avLst/>
          </a:prstGeom>
        </p:spPr>
        <p:txBody>
          <a:bodyPr vert="horz" lIns="0" tIns="0" rIns="0" bIns="0" rtlCol="0" anchor="ctr">
            <a:noAutofit/>
          </a:bodyPr>
          <a:lstStyle>
            <a:lvl1pPr>
              <a:defRPr lang="pt-BR" sz="135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189000" y="2198707"/>
            <a:ext cx="5388631" cy="1229580"/>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338"/>
              </a:spcBef>
              <a:buFont typeface="Arial" panose="020B0604020202020204" pitchFamily="34" charset="0"/>
              <a:buNone/>
              <a:defRPr sz="563"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4906862" y="440790"/>
            <a:ext cx="1761828" cy="304121"/>
          </a:xfrm>
          <a:prstGeom prst="rect">
            <a:avLst/>
          </a:prstGeom>
        </p:spPr>
        <p:txBody>
          <a:bodyPr vert="horz" lIns="0" tIns="0" rIns="0" bIns="0" rtlCol="0" anchor="ctr"/>
          <a:lstStyle>
            <a:lvl1pPr algn="r">
              <a:defRPr sz="619">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189310" y="1606581"/>
            <a:ext cx="6479381" cy="292981"/>
          </a:xfrm>
          <a:prstGeom prst="rect">
            <a:avLst/>
          </a:prstGeom>
        </p:spPr>
        <p:txBody>
          <a:bodyPr vert="horz" lIns="0" tIns="0" rIns="0" bIns="0" rtlCol="0" anchor="t">
            <a:noAutofit/>
          </a:bodyPr>
          <a:lstStyle>
            <a:lvl1pPr>
              <a:defRPr lang="pt-BR" sz="67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5693919" y="266351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5693919" y="293933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5693919" y="341533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5693919" y="372555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5693919" y="400138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5693919" y="448376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5693919" y="479398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5693919" y="5069808"/>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189002" y="1120198"/>
            <a:ext cx="6479381" cy="432841"/>
          </a:xfrm>
          <a:prstGeom prst="rect">
            <a:avLst/>
          </a:prstGeom>
        </p:spPr>
        <p:txBody>
          <a:bodyPr vert="horz" lIns="0" tIns="45720" rIns="91440" bIns="45720" rtlCol="0" anchor="t">
            <a:noAutofit/>
          </a:bodyPr>
          <a:lstStyle>
            <a:lvl1pPr>
              <a:defRPr lang="pt-BR" sz="112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4906862" y="819937"/>
            <a:ext cx="1761828" cy="205246"/>
          </a:xfrm>
          <a:prstGeom prst="rect">
            <a:avLst/>
          </a:prstGeom>
        </p:spPr>
        <p:txBody>
          <a:bodyPr vert="horz" lIns="0" tIns="0" rIns="0" bIns="0" rtlCol="0" anchor="t">
            <a:noAutofit/>
          </a:bodyPr>
          <a:lstStyle>
            <a:lvl1pPr algn="r">
              <a:defRPr lang="pt-BR" sz="619"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443360" y="9100896"/>
            <a:ext cx="5569316" cy="516182"/>
          </a:xfrm>
          <a:prstGeom prst="rect">
            <a:avLst/>
          </a:prstGeom>
        </p:spPr>
        <p:txBody>
          <a:bodyPr vert="horz" lIns="0" tIns="0" rIns="0" bIns="0" rtlCol="0" anchor="ctr" anchorCtr="0">
            <a:noAutofit/>
          </a:bodyPr>
          <a:lstStyle>
            <a:lvl1pPr>
              <a:lnSpc>
                <a:spcPct val="100000"/>
              </a:lnSpc>
              <a:spcBef>
                <a:spcPts val="0"/>
              </a:spcBef>
              <a:defRPr lang="pt-BR" sz="394"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6389219" y="1203094"/>
            <a:ext cx="281109" cy="65114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sz="1013">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188998" y="3483879"/>
            <a:ext cx="5388630" cy="3652738"/>
          </a:xfrm>
          <a:prstGeom prst="rect">
            <a:avLst/>
          </a:prstGeom>
        </p:spPr>
        <p:txBody>
          <a:bodyPr lIns="0">
            <a:noAutofit/>
          </a:bodyPr>
          <a:lstStyle>
            <a:lvl1pPr marL="0" indent="0" algn="just">
              <a:lnSpc>
                <a:spcPct val="125000"/>
              </a:lnSpc>
              <a:spcBef>
                <a:spcPts val="338"/>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5693919" y="6115844"/>
            <a:ext cx="1076736" cy="26699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563"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5693919" y="5720865"/>
            <a:ext cx="1076736" cy="265586"/>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563"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1507" userDrawn="1">
          <p15:clr>
            <a:srgbClr val="FBAE40"/>
          </p15:clr>
        </p15:guide>
        <p15:guide id="1" pos="1427" userDrawn="1">
          <p15:clr>
            <a:srgbClr val="FBAE40"/>
          </p15:clr>
        </p15:guide>
        <p15:guide id="2" pos="2811" userDrawn="1">
          <p15:clr>
            <a:srgbClr val="FBAE40"/>
          </p15:clr>
        </p15:guide>
        <p15:guide id="3" pos="289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4" name="Holder 4"/>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537166" y="0"/>
            <a:ext cx="478229" cy="2688431"/>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1" y="9906000"/>
            <a:ext cx="6858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6085626" y="9192842"/>
            <a:ext cx="492868" cy="333424"/>
          </a:xfrm>
          <a:prstGeom prst="rect">
            <a:avLst/>
          </a:prstGeom>
        </p:spPr>
        <p:txBody>
          <a:bodyPr vert="horz" wrap="square" lIns="0" tIns="14466" rIns="0" bIns="14466"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45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389245" y="9095908"/>
            <a:ext cx="0" cy="52729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4898827" y="499265"/>
            <a:ext cx="1769864" cy="304121"/>
          </a:xfrm>
          <a:prstGeom prst="rect">
            <a:avLst/>
          </a:prstGeom>
        </p:spPr>
        <p:txBody>
          <a:bodyPr vert="horz" lIns="91440" tIns="45720" rIns="91440" bIns="45720" rtlCol="0" anchor="ctr"/>
          <a:lstStyle>
            <a:lvl1pPr algn="r">
              <a:defRPr sz="619">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189311" y="9183353"/>
            <a:ext cx="152137" cy="352401"/>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sz="1013"/>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4906862" y="819937"/>
            <a:ext cx="1761828" cy="205246"/>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619" err="1"/>
              <a:t>Estratégia</a:t>
            </a:r>
            <a:r>
              <a:rPr lang="en-US" sz="619"/>
              <a:t> | </a:t>
            </a:r>
            <a:r>
              <a:rPr lang="en-US" sz="619" err="1"/>
              <a:t>Carteira</a:t>
            </a:r>
            <a:r>
              <a:rPr lang="en-US" sz="619"/>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78" userDrawn="1">
          <p15:clr>
            <a:srgbClr val="F26B43"/>
          </p15:clr>
        </p15:guide>
        <p15:guide id="2" pos="119" userDrawn="1">
          <p15:clr>
            <a:srgbClr val="F26B43"/>
          </p15:clr>
        </p15:guide>
        <p15:guide id="3" pos="4201" userDrawn="1">
          <p15:clr>
            <a:srgbClr val="F26B43"/>
          </p15:clr>
        </p15:guide>
        <p15:guide id="4" orient="horz" pos="3283" userDrawn="1">
          <p15:clr>
            <a:srgbClr val="F26B43"/>
          </p15:clr>
        </p15:guide>
        <p15:guide id="5" orient="horz" pos="10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17" name="bg object 17"/>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2" name="Holder 2"/>
          <p:cNvSpPr>
            <a:spLocks noGrp="1"/>
          </p:cNvSpPr>
          <p:nvPr>
            <p:ph type="title"/>
          </p:nvPr>
        </p:nvSpPr>
        <p:spPr>
          <a:xfrm>
            <a:off x="377443" y="768351"/>
            <a:ext cx="3808095" cy="1066164"/>
          </a:xfrm>
          <a:prstGeom prst="rect">
            <a:avLst/>
          </a:prstGeom>
        </p:spPr>
        <p:txBody>
          <a:bodyPr wrap="square" lIns="0" tIns="0" rIns="0" bIns="0">
            <a:spAutoFit/>
          </a:bodyPr>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a:xfrm>
            <a:off x="377443" y="2996564"/>
            <a:ext cx="3759835" cy="4407534"/>
          </a:xfrm>
          <a:prstGeom prst="rect">
            <a:avLst/>
          </a:prstGeom>
        </p:spPr>
        <p:txBody>
          <a:bodyPr wrap="square" lIns="0" tIns="0" rIns="0" bIns="0">
            <a:spAutoFit/>
          </a:bodyPr>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a:xfrm>
            <a:off x="2331720" y="9212580"/>
            <a:ext cx="2194560" cy="4953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a:xfrm>
            <a:off x="6335903" y="9577590"/>
            <a:ext cx="146685" cy="145415"/>
          </a:xfrm>
          <a:prstGeom prst="rect">
            <a:avLst/>
          </a:prstGeom>
        </p:spPr>
        <p:txBody>
          <a:bodyPr wrap="square" lIns="0" tIns="0" rIns="0" bIns="0">
            <a:spAutoFit/>
          </a:bodyPr>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5" r:id="rId1"/>
    <p:sldLayoutId id="2147483662"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microsoft.com/office/2014/relationships/chartEx" Target="../charts/chartEx1.xml"/><Relationship Id="rId5" Type="http://schemas.openxmlformats.org/officeDocument/2006/relationships/chart" Target="../charts/char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4419-C5BC-5400-BF83-5C8D609060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78753D-4385-BB72-BB0C-E08970CF29B1}"/>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3" name="object 3">
            <a:extLst>
              <a:ext uri="{FF2B5EF4-FFF2-40B4-BE49-F238E27FC236}">
                <a16:creationId xmlns:a16="http://schemas.microsoft.com/office/drawing/2014/main" id="{9F62409C-EC29-F1C2-7635-45424A7C02BA}"/>
              </a:ext>
            </a:extLst>
          </p:cNvPr>
          <p:cNvGrpSpPr/>
          <p:nvPr/>
        </p:nvGrpSpPr>
        <p:grpSpPr>
          <a:xfrm>
            <a:off x="0" y="0"/>
            <a:ext cx="6857999" cy="1234433"/>
            <a:chOff x="0" y="0"/>
            <a:chExt cx="6857999" cy="1517058"/>
          </a:xfrm>
        </p:grpSpPr>
        <p:pic>
          <p:nvPicPr>
            <p:cNvPr id="4" name="object 4">
              <a:extLst>
                <a:ext uri="{FF2B5EF4-FFF2-40B4-BE49-F238E27FC236}">
                  <a16:creationId xmlns:a16="http://schemas.microsoft.com/office/drawing/2014/main" id="{A6A906E3-A81A-D608-FCC6-70FFB0F75C4C}"/>
                </a:ext>
              </a:extLst>
            </p:cNvPr>
            <p:cNvPicPr/>
            <p:nvPr/>
          </p:nvPicPr>
          <p:blipFill>
            <a:blip r:embed="rId3" cstate="print"/>
            <a:stretch>
              <a:fillRect/>
            </a:stretch>
          </p:blipFill>
          <p:spPr>
            <a:xfrm>
              <a:off x="0" y="0"/>
              <a:ext cx="6857999" cy="1517058"/>
            </a:xfrm>
            <a:prstGeom prst="rect">
              <a:avLst/>
            </a:prstGeom>
          </p:spPr>
        </p:pic>
        <p:sp>
          <p:nvSpPr>
            <p:cNvPr id="5" name="object 5">
              <a:extLst>
                <a:ext uri="{FF2B5EF4-FFF2-40B4-BE49-F238E27FC236}">
                  <a16:creationId xmlns:a16="http://schemas.microsoft.com/office/drawing/2014/main" id="{C78468A7-C827-2915-29E4-58672CE5D187}"/>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7" name="object 7">
            <a:extLst>
              <a:ext uri="{FF2B5EF4-FFF2-40B4-BE49-F238E27FC236}">
                <a16:creationId xmlns:a16="http://schemas.microsoft.com/office/drawing/2014/main" id="{3E991D63-D8FA-C038-3440-2CF7C224E177}"/>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Julho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14" name="object 14">
            <a:extLst>
              <a:ext uri="{FF2B5EF4-FFF2-40B4-BE49-F238E27FC236}">
                <a16:creationId xmlns:a16="http://schemas.microsoft.com/office/drawing/2014/main" id="{2C0F188C-CB88-21FD-66FA-CAC1339BB4D8}"/>
              </a:ext>
            </a:extLst>
          </p:cNvPr>
          <p:cNvSpPr txBox="1">
            <a:spLocks noGrp="1"/>
          </p:cNvSpPr>
          <p:nvPr>
            <p:ph type="sldNum" sz="quarter" idx="7"/>
          </p:nvPr>
        </p:nvSpPr>
        <p:spPr>
          <a:xfrm>
            <a:off x="65931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1</a:t>
            </a:fld>
            <a:endParaRPr spc="-50">
              <a:latin typeface="Roboto Condensed" pitchFamily="2" charset="0"/>
              <a:ea typeface="Roboto Condensed" pitchFamily="2" charset="0"/>
            </a:endParaRPr>
          </a:p>
        </p:txBody>
      </p:sp>
      <p:sp>
        <p:nvSpPr>
          <p:cNvPr id="8" name="object 8">
            <a:extLst>
              <a:ext uri="{FF2B5EF4-FFF2-40B4-BE49-F238E27FC236}">
                <a16:creationId xmlns:a16="http://schemas.microsoft.com/office/drawing/2014/main" id="{14B5839D-E281-7630-229F-77C7012913A7}"/>
              </a:ext>
            </a:extLst>
          </p:cNvPr>
          <p:cNvSpPr txBox="1">
            <a:spLocks noGrp="1"/>
          </p:cNvSpPr>
          <p:nvPr>
            <p:ph type="title"/>
          </p:nvPr>
        </p:nvSpPr>
        <p:spPr>
          <a:xfrm>
            <a:off x="128607" y="49869"/>
            <a:ext cx="4806808"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10" name="CaixaDeTexto 9">
            <a:extLst>
              <a:ext uri="{FF2B5EF4-FFF2-40B4-BE49-F238E27FC236}">
                <a16:creationId xmlns:a16="http://schemas.microsoft.com/office/drawing/2014/main" id="{B3E855C4-87C5-C53D-A7AA-76FF5687FB19}"/>
              </a:ext>
            </a:extLst>
          </p:cNvPr>
          <p:cNvSpPr txBox="1"/>
          <p:nvPr/>
        </p:nvSpPr>
        <p:spPr>
          <a:xfrm>
            <a:off x="1148557" y="2936179"/>
            <a:ext cx="4560886" cy="5032147"/>
          </a:xfrm>
          <a:prstGeom prst="rect">
            <a:avLst/>
          </a:prstGeom>
          <a:noFill/>
        </p:spPr>
        <p:txBody>
          <a:bodyPr wrap="square">
            <a:spAutoFit/>
          </a:bodyPr>
          <a:lstStyle/>
          <a:p>
            <a:pPr algn="just"/>
            <a:r>
              <a:rPr lang="pt-BR" sz="1050" b="1" dirty="0">
                <a:latin typeface="Roboto Condensed" pitchFamily="2" charset="0"/>
                <a:ea typeface="Roboto Condensed" pitchFamily="2" charset="0"/>
              </a:rPr>
              <a:t>Comentários do Analista – Desempenho mensal e perspectivas</a:t>
            </a:r>
          </a:p>
          <a:p>
            <a:pPr algn="just"/>
            <a:endParaRPr lang="pt-BR" sz="105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 bolsa brasileira viveu um semestre de duas metades. No começo do ano, o mercado foi impulsionado por uma forte entrada de capital estrangeiro, em especial para nomes ligados a valor e </a:t>
            </a:r>
            <a:r>
              <a:rPr lang="pt-BR" sz="1000" i="1" dirty="0">
                <a:latin typeface="Roboto Condensed" pitchFamily="2" charset="0"/>
                <a:ea typeface="Roboto Condensed" pitchFamily="2" charset="0"/>
              </a:rPr>
              <a:t>commodities</a:t>
            </a:r>
            <a:r>
              <a:rPr lang="pt-BR" sz="1000" dirty="0">
                <a:latin typeface="Roboto Condensed" pitchFamily="2" charset="0"/>
                <a:ea typeface="Roboto Condensed" pitchFamily="2" charset="0"/>
              </a:rPr>
              <a:t>, o que levou o Ibovespa a renovar máximas. Esse movimento foi favorecido pela rotação global para fora de ativos americanos e pelo interesse em mercados emergentes. Ao longo dos meses, porém, esse ímpeto perdeu força. A volta do apetite global pelo tema de inteligência artificial, somada à piora do pano de fundo doméstico, reduziu o momentum do mercado local.</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Em junho, as ações globais também perderam tração com o arrefecimento do trade de IA. Já o Brasil seguiu pressionado com saídas de fluxo estrangeiro e a abertura da curva de juros.</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Olhando para o segundo semestre, nosso modelo quantitativo indica que o Brasil já entrou em um regime de inflação alta e pode migrar para um cenário de juros em alta, combinação que historicamente costuma ser mais negativa para a Bolsa ao olhar para esse fator isoladamente.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Além do macro, a eleição presidencial deve adicionar volatilidade aos ativos locais. O mercado já começou a precificar o efeito das eleições, com impacto tanto em ações quanto em câmbio. Mais do que o resultado eleitoral em si, o ponto central para os investidores será a sinalização sobre a trajetória fiscal. Uma perspectiva crível de estabilização da dívida e de melhora estrutural das contas públicas será muito relevante para uma alta sustentável das ações brasileiras durante os próximos meses.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Por outro lado, dois fatores sustentam uma visão mais construtiva: (i) preço, à medida que o nosso índice de sentimento segue em pessimismo extremo, indicando condições sobrevendidas; (</a:t>
            </a:r>
            <a:r>
              <a:rPr lang="pt-BR" sz="1000" dirty="0" err="1">
                <a:latin typeface="Roboto Condensed" pitchFamily="2" charset="0"/>
                <a:ea typeface="Roboto Condensed" pitchFamily="2" charset="0"/>
              </a:rPr>
              <a:t>ii</a:t>
            </a:r>
            <a:r>
              <a:rPr lang="pt-BR" sz="1000" dirty="0">
                <a:latin typeface="Roboto Condensed" pitchFamily="2" charset="0"/>
                <a:ea typeface="Roboto Condensed" pitchFamily="2" charset="0"/>
              </a:rPr>
              <a:t>) </a:t>
            </a:r>
            <a:r>
              <a:rPr lang="pt-BR" sz="1000" dirty="0" err="1">
                <a:latin typeface="Roboto Condensed" pitchFamily="2" charset="0"/>
                <a:ea typeface="Roboto Condensed" pitchFamily="2" charset="0"/>
              </a:rPr>
              <a:t>valuation</a:t>
            </a:r>
            <a:r>
              <a:rPr lang="pt-BR" sz="1000" dirty="0">
                <a:latin typeface="Roboto Condensed" pitchFamily="2" charset="0"/>
                <a:ea typeface="Roboto Condensed" pitchFamily="2" charset="0"/>
              </a:rPr>
              <a:t>, com a Bolsa brasileira permanecendo significativamente descontada tanto em relação à sua média histórica quanto a outros mercados globais. Além disso, caso o trade de IA continue perdendo força, o Brasil pode voltar a atrair capital estrangeiro.</a:t>
            </a:r>
          </a:p>
        </p:txBody>
      </p:sp>
      <p:graphicFrame>
        <p:nvGraphicFramePr>
          <p:cNvPr id="11" name="Tabela 10">
            <a:extLst>
              <a:ext uri="{FF2B5EF4-FFF2-40B4-BE49-F238E27FC236}">
                <a16:creationId xmlns:a16="http://schemas.microsoft.com/office/drawing/2014/main" id="{C95A109B-D0ED-1C53-8E41-2054C486835F}"/>
              </a:ext>
            </a:extLst>
          </p:cNvPr>
          <p:cNvGraphicFramePr>
            <a:graphicFrameLocks noGrp="1"/>
          </p:cNvGraphicFramePr>
          <p:nvPr>
            <p:extLst>
              <p:ext uri="{D42A27DB-BD31-4B8C-83A1-F6EECF244321}">
                <p14:modId xmlns:p14="http://schemas.microsoft.com/office/powerpoint/2010/main" val="4172640912"/>
              </p:ext>
            </p:extLst>
          </p:nvPr>
        </p:nvGraphicFramePr>
        <p:xfrm>
          <a:off x="1148556" y="1562271"/>
          <a:ext cx="4560888" cy="836535"/>
        </p:xfrm>
        <a:graphic>
          <a:graphicData uri="http://schemas.openxmlformats.org/drawingml/2006/table">
            <a:tbl>
              <a:tblPr firstRow="1" bandRow="1">
                <a:tableStyleId>{5C22544A-7EE6-4342-B048-85BDC9FD1C3A}</a:tableStyleId>
              </a:tblPr>
              <a:tblGrid>
                <a:gridCol w="1474788">
                  <a:extLst>
                    <a:ext uri="{9D8B030D-6E8A-4147-A177-3AD203B41FA5}">
                      <a16:colId xmlns:a16="http://schemas.microsoft.com/office/drawing/2014/main" val="812542690"/>
                    </a:ext>
                  </a:extLst>
                </a:gridCol>
                <a:gridCol w="876300">
                  <a:extLst>
                    <a:ext uri="{9D8B030D-6E8A-4147-A177-3AD203B41FA5}">
                      <a16:colId xmlns:a16="http://schemas.microsoft.com/office/drawing/2014/main" val="4249182816"/>
                    </a:ext>
                  </a:extLst>
                </a:gridCol>
                <a:gridCol w="1079500">
                  <a:extLst>
                    <a:ext uri="{9D8B030D-6E8A-4147-A177-3AD203B41FA5}">
                      <a16:colId xmlns:a16="http://schemas.microsoft.com/office/drawing/2014/main" val="2534495382"/>
                    </a:ext>
                  </a:extLst>
                </a:gridCol>
                <a:gridCol w="1130300">
                  <a:extLst>
                    <a:ext uri="{9D8B030D-6E8A-4147-A177-3AD203B41FA5}">
                      <a16:colId xmlns:a16="http://schemas.microsoft.com/office/drawing/2014/main" val="4210503825"/>
                    </a:ext>
                  </a:extLst>
                </a:gridCol>
              </a:tblGrid>
              <a:tr h="278845">
                <a:tc>
                  <a:txBody>
                    <a:bodyPr/>
                    <a:lstStyle/>
                    <a:p>
                      <a:r>
                        <a:rPr lang="pt-BR" sz="1000" b="1" dirty="0">
                          <a:solidFill>
                            <a:schemeClr val="tx1"/>
                          </a:solidFill>
                          <a:latin typeface="Roboto Condensed" pitchFamily="2" charset="0"/>
                          <a:ea typeface="Roboto Condensed" pitchFamily="2" charset="0"/>
                        </a:rPr>
                        <a:t>Desempenho</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Junho 2026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Acumulado 2026</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Últimos 12 meses</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708980"/>
                  </a:ext>
                </a:extLst>
              </a:tr>
              <a:tr h="278845">
                <a:tc>
                  <a:txBody>
                    <a:bodyPr/>
                    <a:lstStyle/>
                    <a:p>
                      <a:r>
                        <a:rPr lang="pt-BR" sz="1000" b="1" dirty="0">
                          <a:solidFill>
                            <a:schemeClr val="tx1"/>
                          </a:solidFill>
                          <a:latin typeface="Roboto Condensed" pitchFamily="2" charset="0"/>
                          <a:ea typeface="Roboto Condensed" pitchFamily="2" charset="0"/>
                        </a:rPr>
                        <a:t>Carteira Top Ações XP</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-1,7%</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5,8%</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19,1%</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241228"/>
                  </a:ext>
                </a:extLst>
              </a:tr>
              <a:tr h="278845">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000" b="1" dirty="0">
                          <a:solidFill>
                            <a:schemeClr val="tx1"/>
                          </a:solidFill>
                          <a:latin typeface="Roboto Condensed" pitchFamily="2" charset="0"/>
                          <a:ea typeface="Roboto Condensed" pitchFamily="2" charset="0"/>
                        </a:rPr>
                        <a:t>Ibovespa</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-1,0%</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6,8%</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23,9%</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925921"/>
                  </a:ext>
                </a:extLst>
              </a:tr>
            </a:tbl>
          </a:graphicData>
        </a:graphic>
      </p:graphicFrame>
      <p:sp>
        <p:nvSpPr>
          <p:cNvPr id="12" name="CaixaDeTexto 11">
            <a:extLst>
              <a:ext uri="{FF2B5EF4-FFF2-40B4-BE49-F238E27FC236}">
                <a16:creationId xmlns:a16="http://schemas.microsoft.com/office/drawing/2014/main" id="{1038F5CA-AE18-A836-5FB3-1FCF1CE76F61}"/>
              </a:ext>
            </a:extLst>
          </p:cNvPr>
          <p:cNvSpPr txBox="1"/>
          <p:nvPr/>
        </p:nvSpPr>
        <p:spPr>
          <a:xfrm>
            <a:off x="1148556" y="2398807"/>
            <a:ext cx="4560887" cy="461665"/>
          </a:xfrm>
          <a:prstGeom prst="rect">
            <a:avLst/>
          </a:prstGeom>
          <a:noFill/>
        </p:spPr>
        <p:txBody>
          <a:bodyPr wrap="square" rtlCol="0">
            <a:spAutoFit/>
          </a:bodyPr>
          <a:lstStyle/>
          <a:p>
            <a:pPr algn="just"/>
            <a:r>
              <a:rPr lang="pt-BR" sz="800" dirty="0">
                <a:latin typeface="Roboto Condensed" pitchFamily="2" charset="0"/>
                <a:ea typeface="Roboto Condensed" pitchFamily="2" charset="0"/>
              </a:rPr>
              <a:t>*Rentabilidade bruta calculada com base no preço de fechamento  dos ativos que compõem a carteira no dia anterior ao rebalanceamento, adicionalmente ao fluxo do pagamento de proventos. Os desempenhos anteriores não são necessariamente indicativos de resultados futuros.</a:t>
            </a:r>
          </a:p>
        </p:txBody>
      </p:sp>
      <p:sp>
        <p:nvSpPr>
          <p:cNvPr id="6" name="CaixaDeTexto 5">
            <a:extLst>
              <a:ext uri="{FF2B5EF4-FFF2-40B4-BE49-F238E27FC236}">
                <a16:creationId xmlns:a16="http://schemas.microsoft.com/office/drawing/2014/main" id="{6A952A99-2373-50CC-826A-CA815EC87307}"/>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Tree>
    <p:extLst>
      <p:ext uri="{BB962C8B-B14F-4D97-AF65-F5344CB8AC3E}">
        <p14:creationId xmlns:p14="http://schemas.microsoft.com/office/powerpoint/2010/main" val="69594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A4BF-2BAE-5F88-9660-016E97C4B5F6}"/>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0BA6389C-DDD5-A7AF-47DF-6EB28EEA1785}"/>
              </a:ext>
            </a:extLst>
          </p:cNvPr>
          <p:cNvSpPr txBox="1">
            <a:spLocks noGrp="1"/>
          </p:cNvSpPr>
          <p:nvPr>
            <p:ph type="sldNum" sz="quarter" idx="7"/>
          </p:nvPr>
        </p:nvSpPr>
        <p:spPr>
          <a:xfrm>
            <a:off x="65296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2</a:t>
            </a:fld>
            <a:endParaRPr spc="-50" dirty="0">
              <a:latin typeface="Roboto Condensed" pitchFamily="2" charset="0"/>
              <a:ea typeface="Roboto Condensed" pitchFamily="2" charset="0"/>
            </a:endParaRPr>
          </a:p>
        </p:txBody>
      </p:sp>
      <p:sp>
        <p:nvSpPr>
          <p:cNvPr id="3" name="object 2">
            <a:extLst>
              <a:ext uri="{FF2B5EF4-FFF2-40B4-BE49-F238E27FC236}">
                <a16:creationId xmlns:a16="http://schemas.microsoft.com/office/drawing/2014/main" id="{C7368201-D206-ADF2-4EAB-3BEDD7F83F72}"/>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5" name="object 3">
            <a:extLst>
              <a:ext uri="{FF2B5EF4-FFF2-40B4-BE49-F238E27FC236}">
                <a16:creationId xmlns:a16="http://schemas.microsoft.com/office/drawing/2014/main" id="{2B0270B9-A927-4C64-D18C-0C64BBBDD38F}"/>
              </a:ext>
            </a:extLst>
          </p:cNvPr>
          <p:cNvGrpSpPr/>
          <p:nvPr/>
        </p:nvGrpSpPr>
        <p:grpSpPr>
          <a:xfrm>
            <a:off x="0" y="0"/>
            <a:ext cx="6857999" cy="1234433"/>
            <a:chOff x="0" y="0"/>
            <a:chExt cx="6857999" cy="1517058"/>
          </a:xfrm>
        </p:grpSpPr>
        <p:pic>
          <p:nvPicPr>
            <p:cNvPr id="20" name="object 4">
              <a:extLst>
                <a:ext uri="{FF2B5EF4-FFF2-40B4-BE49-F238E27FC236}">
                  <a16:creationId xmlns:a16="http://schemas.microsoft.com/office/drawing/2014/main" id="{8FBE80AC-46B4-E62D-A2D9-5FD336B2334B}"/>
                </a:ext>
              </a:extLst>
            </p:cNvPr>
            <p:cNvPicPr/>
            <p:nvPr/>
          </p:nvPicPr>
          <p:blipFill>
            <a:blip r:embed="rId3" cstate="print"/>
            <a:stretch>
              <a:fillRect/>
            </a:stretch>
          </p:blipFill>
          <p:spPr>
            <a:xfrm>
              <a:off x="0" y="0"/>
              <a:ext cx="6857999" cy="1517058"/>
            </a:xfrm>
            <a:prstGeom prst="rect">
              <a:avLst/>
            </a:prstGeom>
          </p:spPr>
        </p:pic>
        <p:sp>
          <p:nvSpPr>
            <p:cNvPr id="21" name="object 5">
              <a:extLst>
                <a:ext uri="{FF2B5EF4-FFF2-40B4-BE49-F238E27FC236}">
                  <a16:creationId xmlns:a16="http://schemas.microsoft.com/office/drawing/2014/main" id="{60713F52-BB5F-109E-8217-9DB1682A7BEA}"/>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22" name="object 7">
            <a:extLst>
              <a:ext uri="{FF2B5EF4-FFF2-40B4-BE49-F238E27FC236}">
                <a16:creationId xmlns:a16="http://schemas.microsoft.com/office/drawing/2014/main" id="{EF5DAC11-C07D-A59E-9D98-784704C0183C}"/>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Junho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23" name="object 8">
            <a:extLst>
              <a:ext uri="{FF2B5EF4-FFF2-40B4-BE49-F238E27FC236}">
                <a16:creationId xmlns:a16="http://schemas.microsoft.com/office/drawing/2014/main" id="{EBBE76EB-5497-13B3-F317-6F901F5BAFB4}"/>
              </a:ext>
            </a:extLst>
          </p:cNvPr>
          <p:cNvSpPr txBox="1">
            <a:spLocks noGrp="1"/>
          </p:cNvSpPr>
          <p:nvPr>
            <p:ph type="title"/>
          </p:nvPr>
        </p:nvSpPr>
        <p:spPr>
          <a:xfrm>
            <a:off x="128607" y="49869"/>
            <a:ext cx="4879931"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6" name="CaixaDeTexto 5">
            <a:extLst>
              <a:ext uri="{FF2B5EF4-FFF2-40B4-BE49-F238E27FC236}">
                <a16:creationId xmlns:a16="http://schemas.microsoft.com/office/drawing/2014/main" id="{995636A9-4EF6-69E2-79C5-270402FB8256}"/>
              </a:ext>
            </a:extLst>
          </p:cNvPr>
          <p:cNvSpPr txBox="1"/>
          <p:nvPr/>
        </p:nvSpPr>
        <p:spPr>
          <a:xfrm>
            <a:off x="145144" y="6657546"/>
            <a:ext cx="3242021" cy="246221"/>
          </a:xfrm>
          <a:prstGeom prst="rect">
            <a:avLst/>
          </a:prstGeom>
          <a:noFill/>
        </p:spPr>
        <p:txBody>
          <a:bodyPr wrap="square" rtlCol="0">
            <a:spAutoFit/>
          </a:bodyPr>
          <a:lstStyle/>
          <a:p>
            <a:r>
              <a:rPr lang="pt-BR" sz="1000" b="1" dirty="0">
                <a:latin typeface="Roboto Condensed" pitchFamily="2" charset="0"/>
                <a:ea typeface="Roboto Condensed" pitchFamily="2" charset="0"/>
              </a:rPr>
              <a:t>Performance desde o início vs. Ibovespa (100 = fev. 2025)</a:t>
            </a:r>
          </a:p>
        </p:txBody>
      </p:sp>
      <p:cxnSp>
        <p:nvCxnSpPr>
          <p:cNvPr id="7" name="Conector reto 6">
            <a:extLst>
              <a:ext uri="{FF2B5EF4-FFF2-40B4-BE49-F238E27FC236}">
                <a16:creationId xmlns:a16="http://schemas.microsoft.com/office/drawing/2014/main" id="{4F619E79-AE5F-48FC-CC81-EDD0F81D7738}"/>
              </a:ext>
            </a:extLst>
          </p:cNvPr>
          <p:cNvCxnSpPr>
            <a:cxnSpLocks/>
          </p:cNvCxnSpPr>
          <p:nvPr/>
        </p:nvCxnSpPr>
        <p:spPr>
          <a:xfrm>
            <a:off x="211289" y="6903767"/>
            <a:ext cx="292294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8AE66083-AD2C-CA43-DB5A-1DE32D1B3FB0}"/>
              </a:ext>
            </a:extLst>
          </p:cNvPr>
          <p:cNvSpPr txBox="1"/>
          <p:nvPr/>
        </p:nvSpPr>
        <p:spPr>
          <a:xfrm>
            <a:off x="141307" y="4220863"/>
            <a:ext cx="3132745" cy="2662267"/>
          </a:xfrm>
          <a:prstGeom prst="rect">
            <a:avLst/>
          </a:prstGeom>
          <a:noFill/>
        </p:spPr>
        <p:txBody>
          <a:bodyPr wrap="square">
            <a:spAutoFit/>
          </a:bodyPr>
          <a:lstStyle/>
          <a:p>
            <a:pPr algn="just"/>
            <a:r>
              <a:rPr lang="pt-BR" sz="1100" b="1" dirty="0">
                <a:latin typeface="Roboto Condensed" pitchFamily="2" charset="0"/>
                <a:ea typeface="Roboto Condensed" pitchFamily="2" charset="0"/>
              </a:rPr>
              <a:t>Alterações na Carteira – Julho</a:t>
            </a:r>
          </a:p>
          <a:p>
            <a:pPr algn="just"/>
            <a:endParaRPr lang="pt-BR" sz="700" dirty="0">
              <a:latin typeface="Roboto Condensed" pitchFamily="2" charset="0"/>
              <a:ea typeface="Roboto Condensed" pitchFamily="2" charset="0"/>
            </a:endParaRPr>
          </a:p>
          <a:p>
            <a:pPr algn="just"/>
            <a:r>
              <a:rPr lang="pt-BR" sz="800" dirty="0">
                <a:latin typeface="Roboto Condensed" pitchFamily="2" charset="0"/>
                <a:ea typeface="Roboto Condensed" pitchFamily="2" charset="0"/>
              </a:rPr>
              <a:t>Estamos adicionando RDOR3. Vemos a RDOR como líder de mercado, com posicionamento forte tanto em hospitais quanto em saúde suplementar, sustentando ganhos contínuos de </a:t>
            </a:r>
            <a:r>
              <a:rPr lang="pt-BR" sz="800" dirty="0" err="1">
                <a:latin typeface="Roboto Condensed" pitchFamily="2" charset="0"/>
                <a:ea typeface="Roboto Condensed" pitchFamily="2" charset="0"/>
              </a:rPr>
              <a:t>market</a:t>
            </a:r>
            <a:r>
              <a:rPr lang="pt-BR" sz="800" dirty="0">
                <a:latin typeface="Roboto Condensed" pitchFamily="2" charset="0"/>
                <a:ea typeface="Roboto Condensed" pitchFamily="2" charset="0"/>
              </a:rPr>
              <a:t> </a:t>
            </a:r>
            <a:r>
              <a:rPr lang="pt-BR" sz="800" dirty="0" err="1">
                <a:latin typeface="Roboto Condensed" pitchFamily="2" charset="0"/>
                <a:ea typeface="Roboto Condensed" pitchFamily="2" charset="0"/>
              </a:rPr>
              <a:t>share</a:t>
            </a:r>
            <a:r>
              <a:rPr lang="pt-BR" sz="800" dirty="0">
                <a:latin typeface="Roboto Condensed" pitchFamily="2" charset="0"/>
                <a:ea typeface="Roboto Condensed" pitchFamily="2" charset="0"/>
              </a:rPr>
              <a:t>. A maturação de ativos deve permitir uma expansão gradual de margem, enquanto a SulAmérica adiciona resiliência, com o excesso de provisionamento de IBNR sustentando a estabilidade do MLR no curto prazo. Estamos aumentando ORVR3 para 5,0%, de 2,5%,. Em nossa visão, o mercado ainda não precificou integralmente a criação de valor da transação com a Vital. A transação consolidou a </a:t>
            </a:r>
            <a:r>
              <a:rPr lang="pt-BR" sz="800" dirty="0" err="1">
                <a:latin typeface="Roboto Condensed" pitchFamily="2" charset="0"/>
                <a:ea typeface="Roboto Condensed" pitchFamily="2" charset="0"/>
              </a:rPr>
              <a:t>Orizon</a:t>
            </a:r>
            <a:r>
              <a:rPr lang="pt-BR" sz="800" dirty="0">
                <a:latin typeface="Roboto Condensed" pitchFamily="2" charset="0"/>
                <a:ea typeface="Roboto Condensed" pitchFamily="2" charset="0"/>
              </a:rPr>
              <a:t> como a maior plataforma de valorização de resíduos e economia circular da América Latina. Também acreditamos que a companhia segue bem posicionada para buscar novas oportunidades de crescimento inorgânico. Estamos removendo CPLE3, após a forte performance da ação nos últimos meses. Os papéis reagiram positivamente à contratação das usinas hidrelétricas Foz do Areia e Segredo no LRCAP. Com esse evento agora majoritariamente refletido no preço da ação, vemos uma relação risco-retorno mais equilibrada. </a:t>
            </a:r>
          </a:p>
          <a:p>
            <a:pPr algn="just"/>
            <a:endParaRPr lang="pt-BR" sz="700" dirty="0">
              <a:latin typeface="Roboto Condensed" pitchFamily="2" charset="0"/>
              <a:ea typeface="Roboto Condensed" pitchFamily="2" charset="0"/>
            </a:endParaRPr>
          </a:p>
          <a:p>
            <a:pPr algn="just"/>
            <a:r>
              <a:rPr lang="pt-BR" sz="700" dirty="0">
                <a:latin typeface="Roboto Condensed" pitchFamily="2" charset="0"/>
                <a:ea typeface="Roboto Condensed" pitchFamily="2" charset="0"/>
              </a:rPr>
              <a:t>.</a:t>
            </a:r>
          </a:p>
          <a:p>
            <a:pPr algn="just"/>
            <a:endParaRPr lang="pt-BR" sz="700" dirty="0">
              <a:latin typeface="Roboto Condensed" pitchFamily="2" charset="0"/>
              <a:ea typeface="Roboto Condensed" pitchFamily="2" charset="0"/>
            </a:endParaRPr>
          </a:p>
        </p:txBody>
      </p:sp>
      <p:sp>
        <p:nvSpPr>
          <p:cNvPr id="25" name="CaixaDeTexto 24">
            <a:extLst>
              <a:ext uri="{FF2B5EF4-FFF2-40B4-BE49-F238E27FC236}">
                <a16:creationId xmlns:a16="http://schemas.microsoft.com/office/drawing/2014/main" id="{FFE38AAF-1768-8A4D-6ED7-783C40E512A2}"/>
              </a:ext>
            </a:extLst>
          </p:cNvPr>
          <p:cNvSpPr txBox="1"/>
          <p:nvPr/>
        </p:nvSpPr>
        <p:spPr>
          <a:xfrm>
            <a:off x="150173" y="1264764"/>
            <a:ext cx="6392209" cy="246221"/>
          </a:xfrm>
          <a:prstGeom prst="rect">
            <a:avLst/>
          </a:prstGeom>
          <a:noFill/>
        </p:spPr>
        <p:txBody>
          <a:bodyPr wrap="square" rtlCol="0">
            <a:spAutoFit/>
          </a:bodyPr>
          <a:lstStyle/>
          <a:p>
            <a:r>
              <a:rPr lang="pt-BR" sz="1000" b="1" dirty="0">
                <a:latin typeface="Roboto Condensed" pitchFamily="2" charset="0"/>
                <a:ea typeface="Roboto Condensed" pitchFamily="2" charset="0"/>
              </a:rPr>
              <a:t>Decomposição do retorno da carteira (Junho/26)</a:t>
            </a:r>
          </a:p>
        </p:txBody>
      </p:sp>
      <p:cxnSp>
        <p:nvCxnSpPr>
          <p:cNvPr id="26" name="Conector reto 25">
            <a:extLst>
              <a:ext uri="{FF2B5EF4-FFF2-40B4-BE49-F238E27FC236}">
                <a16:creationId xmlns:a16="http://schemas.microsoft.com/office/drawing/2014/main" id="{68C30B80-8A37-D7BF-7855-4A73C0D39B5E}"/>
              </a:ext>
            </a:extLst>
          </p:cNvPr>
          <p:cNvCxnSpPr>
            <a:cxnSpLocks/>
          </p:cNvCxnSpPr>
          <p:nvPr/>
        </p:nvCxnSpPr>
        <p:spPr>
          <a:xfrm>
            <a:off x="229019" y="1510985"/>
            <a:ext cx="6161414"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Gráfico 45">
            <a:extLst>
              <a:ext uri="{FF2B5EF4-FFF2-40B4-BE49-F238E27FC236}">
                <a16:creationId xmlns:a16="http://schemas.microsoft.com/office/drawing/2014/main" id="{6889935D-08C8-1BBC-2CA1-FB1B5C85B627}"/>
              </a:ext>
            </a:extLst>
          </p:cNvPr>
          <p:cNvGraphicFramePr>
            <a:graphicFrameLocks/>
          </p:cNvGraphicFramePr>
          <p:nvPr>
            <p:extLst>
              <p:ext uri="{D42A27DB-BD31-4B8C-83A1-F6EECF244321}">
                <p14:modId xmlns:p14="http://schemas.microsoft.com/office/powerpoint/2010/main" val="2429042318"/>
              </p:ext>
            </p:extLst>
          </p:nvPr>
        </p:nvGraphicFramePr>
        <p:xfrm>
          <a:off x="5930182" y="3482702"/>
          <a:ext cx="728297" cy="678914"/>
        </p:xfrm>
        <a:graphic>
          <a:graphicData uri="http://schemas.openxmlformats.org/drawingml/2006/chart">
            <c:chart xmlns:c="http://schemas.openxmlformats.org/drawingml/2006/chart" xmlns:r="http://schemas.openxmlformats.org/officeDocument/2006/relationships" r:id="rId4"/>
          </a:graphicData>
        </a:graphic>
      </p:graphicFrame>
      <p:sp>
        <p:nvSpPr>
          <p:cNvPr id="8" name="CaixaDeTexto 7">
            <a:extLst>
              <a:ext uri="{FF2B5EF4-FFF2-40B4-BE49-F238E27FC236}">
                <a16:creationId xmlns:a16="http://schemas.microsoft.com/office/drawing/2014/main" id="{BB5FB993-204E-8B87-A1F8-4C34D22983CA}"/>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
        <p:nvSpPr>
          <p:cNvPr id="10" name="CaixaDeTexto 9">
            <a:extLst>
              <a:ext uri="{FF2B5EF4-FFF2-40B4-BE49-F238E27FC236}">
                <a16:creationId xmlns:a16="http://schemas.microsoft.com/office/drawing/2014/main" id="{513887DD-F3F6-0C18-4BAB-21BF4DA9D0EF}"/>
              </a:ext>
            </a:extLst>
          </p:cNvPr>
          <p:cNvSpPr txBox="1"/>
          <p:nvPr/>
        </p:nvSpPr>
        <p:spPr>
          <a:xfrm>
            <a:off x="3428999" y="4227950"/>
            <a:ext cx="3132745" cy="430887"/>
          </a:xfrm>
          <a:prstGeom prst="rect">
            <a:avLst/>
          </a:prstGeom>
          <a:noFill/>
        </p:spPr>
        <p:txBody>
          <a:bodyPr wrap="square">
            <a:spAutoFit/>
          </a:bodyPr>
          <a:lstStyle/>
          <a:p>
            <a:pPr algn="just"/>
            <a:r>
              <a:rPr lang="pt-BR" sz="1100" b="1" dirty="0">
                <a:latin typeface="Roboto Condensed" pitchFamily="2" charset="0"/>
                <a:ea typeface="Roboto Condensed" pitchFamily="2" charset="0"/>
              </a:rPr>
              <a:t>Composição da Carteira – Julho de 26</a:t>
            </a:r>
          </a:p>
          <a:p>
            <a:pPr algn="just"/>
            <a:endParaRPr lang="pt-BR" sz="1100" dirty="0">
              <a:latin typeface="Roboto Condensed" pitchFamily="2" charset="0"/>
              <a:ea typeface="Roboto Condensed" pitchFamily="2" charset="0"/>
            </a:endParaRPr>
          </a:p>
        </p:txBody>
      </p:sp>
      <p:graphicFrame>
        <p:nvGraphicFramePr>
          <p:cNvPr id="11" name="Chart 10">
            <a:extLst>
              <a:ext uri="{FF2B5EF4-FFF2-40B4-BE49-F238E27FC236}">
                <a16:creationId xmlns:a16="http://schemas.microsoft.com/office/drawing/2014/main" id="{FED6ADC2-5398-DF99-DF70-23A51436000C}"/>
              </a:ext>
            </a:extLst>
          </p:cNvPr>
          <p:cNvGraphicFramePr>
            <a:graphicFrameLocks/>
          </p:cNvGraphicFramePr>
          <p:nvPr>
            <p:extLst>
              <p:ext uri="{D42A27DB-BD31-4B8C-83A1-F6EECF244321}">
                <p14:modId xmlns:p14="http://schemas.microsoft.com/office/powerpoint/2010/main" val="3713992383"/>
              </p:ext>
            </p:extLst>
          </p:nvPr>
        </p:nvGraphicFramePr>
        <p:xfrm>
          <a:off x="199520" y="7024849"/>
          <a:ext cx="2922949" cy="22583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Table 12">
            <a:extLst>
              <a:ext uri="{FF2B5EF4-FFF2-40B4-BE49-F238E27FC236}">
                <a16:creationId xmlns:a16="http://schemas.microsoft.com/office/drawing/2014/main" id="{4E8C9BF4-C108-9E0C-8C9D-7108133BF41C}"/>
              </a:ext>
            </a:extLst>
          </p:cNvPr>
          <p:cNvGraphicFramePr>
            <a:graphicFrameLocks noGrp="1"/>
          </p:cNvGraphicFramePr>
          <p:nvPr>
            <p:extLst>
              <p:ext uri="{D42A27DB-BD31-4B8C-83A1-F6EECF244321}">
                <p14:modId xmlns:p14="http://schemas.microsoft.com/office/powerpoint/2010/main" val="919832647"/>
              </p:ext>
            </p:extLst>
          </p:nvPr>
        </p:nvGraphicFramePr>
        <p:xfrm>
          <a:off x="3470837" y="4518275"/>
          <a:ext cx="3217711" cy="4632738"/>
        </p:xfrm>
        <a:graphic>
          <a:graphicData uri="http://schemas.openxmlformats.org/drawingml/2006/table">
            <a:tbl>
              <a:tblPr/>
              <a:tblGrid>
                <a:gridCol w="917994">
                  <a:extLst>
                    <a:ext uri="{9D8B030D-6E8A-4147-A177-3AD203B41FA5}">
                      <a16:colId xmlns:a16="http://schemas.microsoft.com/office/drawing/2014/main" val="1363450678"/>
                    </a:ext>
                  </a:extLst>
                </a:gridCol>
                <a:gridCol w="1277621">
                  <a:extLst>
                    <a:ext uri="{9D8B030D-6E8A-4147-A177-3AD203B41FA5}">
                      <a16:colId xmlns:a16="http://schemas.microsoft.com/office/drawing/2014/main" val="2854111778"/>
                    </a:ext>
                  </a:extLst>
                </a:gridCol>
                <a:gridCol w="511048">
                  <a:extLst>
                    <a:ext uri="{9D8B030D-6E8A-4147-A177-3AD203B41FA5}">
                      <a16:colId xmlns:a16="http://schemas.microsoft.com/office/drawing/2014/main" val="162076156"/>
                    </a:ext>
                  </a:extLst>
                </a:gridCol>
                <a:gridCol w="511048">
                  <a:extLst>
                    <a:ext uri="{9D8B030D-6E8A-4147-A177-3AD203B41FA5}">
                      <a16:colId xmlns:a16="http://schemas.microsoft.com/office/drawing/2014/main" val="3981928813"/>
                    </a:ext>
                  </a:extLst>
                </a:gridCol>
              </a:tblGrid>
              <a:tr h="272514">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Condensed" pitchFamily="2" charset="0"/>
                          <a:ea typeface="Roboto Condensed"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02963081"/>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3362251"/>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71276165"/>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80974509"/>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108413687"/>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Lojas Renner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LREN3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6331192"/>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Localiza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RENT3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39288782"/>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31738115"/>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6783727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814035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506036600"/>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19695986"/>
                  </a:ext>
                </a:extLst>
              </a:tr>
              <a:tr h="272514">
                <a:tc vMerge="1">
                  <a:txBody>
                    <a:bodyPr/>
                    <a:lstStyle/>
                    <a:p>
                      <a:endParaRPr lang="pt-BR"/>
                    </a:p>
                  </a:txBody>
                  <a:tcPr/>
                </a:tc>
                <a:tc>
                  <a:txBody>
                    <a:bodyPr/>
                    <a:lstStyle/>
                    <a:p>
                      <a:pPr algn="ctr" fontAlgn="ctr">
                        <a:buNone/>
                      </a:pPr>
                      <a:r>
                        <a:rPr lang="pt-BR" sz="900" b="0" i="0" u="none" strike="noStrike" dirty="0" err="1">
                          <a:solidFill>
                            <a:srgbClr val="000000"/>
                          </a:solidFill>
                          <a:effectLst/>
                          <a:latin typeface="Roboto Condensed" pitchFamily="2" charset="0"/>
                          <a:ea typeface="Roboto Condensed" pitchFamily="2" charset="0"/>
                        </a:rPr>
                        <a:t>Orizon</a:t>
                      </a:r>
                      <a:endParaRPr lang="pt-BR" sz="900" b="0" i="0" u="none" strike="noStrike" dirty="0">
                        <a:solidFill>
                          <a:srgbClr val="000000"/>
                        </a:solidFill>
                        <a:effectLst/>
                        <a:latin typeface="Roboto Condensed" pitchFamily="2" charset="0"/>
                        <a:ea typeface="Roboto Condensed"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6126723"/>
                  </a:ext>
                </a:extLst>
              </a:tr>
              <a:tr h="272514">
                <a:tc rowSpan="4">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28312067"/>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39244425"/>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906025285"/>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6452979"/>
                  </a:ext>
                </a:extLst>
              </a:tr>
            </a:tbl>
          </a:graphicData>
        </a:graphic>
      </p:graphicFrame>
      <mc:AlternateContent xmlns:mc="http://schemas.openxmlformats.org/markup-compatibility/2006">
        <mc:Choice xmlns:cx1="http://schemas.microsoft.com/office/drawing/2015/9/8/chartex" Requires="cx1">
          <p:graphicFrame>
            <p:nvGraphicFramePr>
              <p:cNvPr id="4" name="Chart 3">
                <a:extLst>
                  <a:ext uri="{FF2B5EF4-FFF2-40B4-BE49-F238E27FC236}">
                    <a16:creationId xmlns:a16="http://schemas.microsoft.com/office/drawing/2014/main" id="{3777E7EA-7C7D-A56D-D3DC-7DC78FEC9DB4}"/>
                  </a:ext>
                </a:extLst>
              </p:cNvPr>
              <p:cNvGraphicFramePr/>
              <p:nvPr>
                <p:extLst>
                  <p:ext uri="{D42A27DB-BD31-4B8C-83A1-F6EECF244321}">
                    <p14:modId xmlns:p14="http://schemas.microsoft.com/office/powerpoint/2010/main" val="2067184380"/>
                  </p:ext>
                </p:extLst>
              </p:nvPr>
            </p:nvGraphicFramePr>
            <p:xfrm>
              <a:off x="229019" y="1577319"/>
              <a:ext cx="6148714" cy="2366991"/>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4" name="Chart 3">
                <a:extLst>
                  <a:ext uri="{FF2B5EF4-FFF2-40B4-BE49-F238E27FC236}">
                    <a16:creationId xmlns:a16="http://schemas.microsoft.com/office/drawing/2014/main" id="{3777E7EA-7C7D-A56D-D3DC-7DC78FEC9DB4}"/>
                  </a:ext>
                </a:extLst>
              </p:cNvPr>
              <p:cNvPicPr>
                <a:picLocks noGrp="1" noRot="1" noChangeAspect="1" noMove="1" noResize="1" noEditPoints="1" noAdjustHandles="1" noChangeArrowheads="1" noChangeShapeType="1"/>
              </p:cNvPicPr>
              <p:nvPr/>
            </p:nvPicPr>
            <p:blipFill>
              <a:blip r:embed="rId7"/>
              <a:stretch>
                <a:fillRect/>
              </a:stretch>
            </p:blipFill>
            <p:spPr>
              <a:xfrm>
                <a:off x="229019" y="1577319"/>
                <a:ext cx="6148714" cy="2366991"/>
              </a:xfrm>
              <a:prstGeom prst="rect">
                <a:avLst/>
              </a:prstGeom>
            </p:spPr>
          </p:pic>
        </mc:Fallback>
      </mc:AlternateContent>
    </p:spTree>
    <p:extLst>
      <p:ext uri="{BB962C8B-B14F-4D97-AF65-F5344CB8AC3E}">
        <p14:creationId xmlns:p14="http://schemas.microsoft.com/office/powerpoint/2010/main" val="92916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3" name="object 3"/>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4" name="object 4"/>
          <p:cNvSpPr txBox="1"/>
          <p:nvPr/>
        </p:nvSpPr>
        <p:spPr>
          <a:xfrm>
            <a:off x="377443" y="400304"/>
            <a:ext cx="135191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3E3E3E"/>
                </a:solidFill>
                <a:latin typeface="Trebuchet MS"/>
                <a:cs typeface="Trebuchet MS"/>
              </a:rPr>
              <a:t>Estratégia</a:t>
            </a:r>
            <a:r>
              <a:rPr sz="1200" spc="-25">
                <a:solidFill>
                  <a:srgbClr val="3E3E3E"/>
                </a:solidFill>
                <a:latin typeface="Trebuchet MS"/>
                <a:cs typeface="Trebuchet MS"/>
              </a:rPr>
              <a:t> </a:t>
            </a:r>
            <a:r>
              <a:rPr sz="1200" spc="-20">
                <a:solidFill>
                  <a:srgbClr val="3E3E3E"/>
                </a:solidFill>
                <a:latin typeface="Trebuchet MS"/>
                <a:cs typeface="Trebuchet MS"/>
              </a:rPr>
              <a:t>de</a:t>
            </a:r>
            <a:r>
              <a:rPr sz="1200" spc="-45">
                <a:solidFill>
                  <a:srgbClr val="3E3E3E"/>
                </a:solidFill>
                <a:latin typeface="Trebuchet MS"/>
                <a:cs typeface="Trebuchet MS"/>
              </a:rPr>
              <a:t> </a:t>
            </a:r>
            <a:r>
              <a:rPr sz="1200" spc="-20">
                <a:solidFill>
                  <a:srgbClr val="3E3E3E"/>
                </a:solidFill>
                <a:latin typeface="Trebuchet MS"/>
                <a:cs typeface="Trebuchet MS"/>
              </a:rPr>
              <a:t>Ações</a:t>
            </a:r>
            <a:endParaRPr sz="1200">
              <a:latin typeface="Trebuchet MS"/>
              <a:cs typeface="Trebuchet MS"/>
            </a:endParaRPr>
          </a:p>
        </p:txBody>
      </p:sp>
      <p:sp>
        <p:nvSpPr>
          <p:cNvPr id="5" name="object 5"/>
          <p:cNvSpPr txBox="1"/>
          <p:nvPr/>
        </p:nvSpPr>
        <p:spPr>
          <a:xfrm>
            <a:off x="377443" y="760602"/>
            <a:ext cx="6036945" cy="6796091"/>
          </a:xfrm>
          <a:prstGeom prst="rect">
            <a:avLst/>
          </a:prstGeom>
        </p:spPr>
        <p:txBody>
          <a:bodyPr vert="horz" wrap="square" lIns="0" tIns="12065" rIns="0" bIns="0" rtlCol="0">
            <a:spAutoFit/>
          </a:bodyPr>
          <a:lstStyle/>
          <a:p>
            <a:pPr marL="12700">
              <a:lnSpc>
                <a:spcPct val="100000"/>
              </a:lnSpc>
              <a:spcBef>
                <a:spcPts val="95"/>
              </a:spcBef>
            </a:pPr>
            <a:r>
              <a:rPr sz="1900" b="1" spc="-10" dirty="0">
                <a:solidFill>
                  <a:srgbClr val="17181A"/>
                </a:solidFill>
                <a:latin typeface="Trebuchet MS" panose="020B0603020202020204" pitchFamily="34" charset="0"/>
                <a:cs typeface="Trebuchet MS"/>
              </a:rPr>
              <a:t>Disclaimer</a:t>
            </a:r>
            <a:endParaRPr lang="pt-BR" sz="1900" b="1" spc="-10" dirty="0">
              <a:solidFill>
                <a:srgbClr val="17181A"/>
              </a:solidFill>
              <a:latin typeface="Trebuchet MS" panose="020B0603020202020204" pitchFamily="34" charset="0"/>
              <a:cs typeface="Trebuchet MS"/>
            </a:endParaRPr>
          </a:p>
          <a:p>
            <a:pPr marL="12700">
              <a:lnSpc>
                <a:spcPct val="100000"/>
              </a:lnSpc>
              <a:spcBef>
                <a:spcPts val="95"/>
              </a:spcBef>
            </a:pPr>
            <a:endParaRPr lang="pt-BR" sz="1900" b="1" spc="-10" dirty="0">
              <a:solidFill>
                <a:srgbClr val="17181A"/>
              </a:solidFill>
              <a:latin typeface="Trebuchet MS" panose="020B0603020202020204" pitchFamily="34" charset="0"/>
              <a:cs typeface="Trebuchet MS"/>
            </a:endParaRPr>
          </a:p>
          <a:p>
            <a:pPr marL="457200" lvl="0" indent="-457200">
              <a:buFont typeface="+mj-lt"/>
              <a:buAutoNum type="arabicPeriod"/>
            </a:pPr>
            <a:r>
              <a:rPr lang="pt-BR" sz="600" dirty="0">
                <a:latin typeface="Trebuchet MS" panose="020B0603020202020204" pitchFamily="34"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457200" lvl="0" indent="-457200">
              <a:buFont typeface="+mj-lt"/>
              <a:buAutoNum type="arabicPeriod"/>
            </a:pPr>
            <a:r>
              <a:rPr lang="pt-BR" sz="600" dirty="0">
                <a:latin typeface="Trebuchet MS" panose="020B0603020202020204" pitchFamily="34" charset="0"/>
              </a:rPr>
              <a:t>Este relatório foi elaborado considerando a classificação de risco dos produtos de modo a gerar resultados de alocação para cada perfil de investidor. </a:t>
            </a:r>
          </a:p>
          <a:p>
            <a:pPr marL="457200" lvl="0" indent="-457200">
              <a:buFont typeface="+mj-lt"/>
              <a:buAutoNum type="arabicPeriod"/>
            </a:pPr>
            <a:r>
              <a:rPr lang="pt-BR" sz="600" dirty="0">
                <a:latin typeface="Trebuchet MS" panose="020B0603020202020204" pitchFamily="34"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marL="457200" lvl="0" indent="-457200">
              <a:buFont typeface="+mj-lt"/>
              <a:buAutoNum type="arabicPeriod"/>
            </a:pPr>
            <a:r>
              <a:rPr lang="pt-BR" sz="600" dirty="0">
                <a:latin typeface="Trebuchet MS" panose="020B0603020202020204" pitchFamily="34"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457200" lvl="0" indent="-457200">
              <a:buFont typeface="+mj-lt"/>
              <a:buAutoNum type="arabicPeriod"/>
            </a:pPr>
            <a:r>
              <a:rPr lang="pt-BR" sz="600" dirty="0">
                <a:latin typeface="Trebuchet MS" panose="020B0603020202020204" pitchFamily="34"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457200" lvl="0" indent="-457200">
              <a:buFont typeface="+mj-lt"/>
              <a:buAutoNum type="arabicPeriod"/>
            </a:pPr>
            <a:r>
              <a:rPr lang="pt-BR" sz="600" dirty="0">
                <a:latin typeface="Trebuchet MS" panose="020B0603020202020204" pitchFamily="34"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457200" lvl="0" indent="-457200">
              <a:buFont typeface="+mj-lt"/>
              <a:buAutoNum type="arabicPeriod"/>
            </a:pPr>
            <a:r>
              <a:rPr lang="pt-BR" sz="600" dirty="0">
                <a:latin typeface="Trebuchet MS" panose="020B0603020202020204" pitchFamily="34"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600" dirty="0" err="1">
                <a:latin typeface="Trebuchet MS" panose="020B0603020202020204" pitchFamily="34" charset="0"/>
              </a:rPr>
              <a:t>Suitability</a:t>
            </a:r>
            <a:r>
              <a:rPr lang="pt-BR" sz="600" dirty="0">
                <a:latin typeface="Trebuchet MS" panose="020B0603020202020204" pitchFamily="34"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457200" lvl="0" indent="-457200">
              <a:buFont typeface="+mj-lt"/>
              <a:buAutoNum type="arabicPeriod"/>
            </a:pPr>
            <a:r>
              <a:rPr lang="pt-BR" sz="600" dirty="0">
                <a:latin typeface="Trebuchet MS" panose="020B0603020202020204" pitchFamily="34"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457200" lvl="0" indent="-457200">
              <a:buFont typeface="+mj-lt"/>
              <a:buAutoNum type="arabicPeriod"/>
            </a:pPr>
            <a:r>
              <a:rPr lang="pt-BR" sz="600" dirty="0">
                <a:latin typeface="Trebuchet MS" panose="020B0603020202020204" pitchFamily="34"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457200" lvl="0" indent="-457200">
              <a:buFont typeface="+mj-lt"/>
              <a:buAutoNum type="arabicPeriod"/>
            </a:pPr>
            <a:r>
              <a:rPr lang="pt-BR" sz="600" dirty="0">
                <a:latin typeface="Trebuchet MS" panose="020B0603020202020204" pitchFamily="34"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457200" lvl="0" indent="-457200">
              <a:buFont typeface="+mj-lt"/>
              <a:buAutoNum type="arabicPeriod"/>
            </a:pPr>
            <a:r>
              <a:rPr lang="pt-BR" sz="600" dirty="0">
                <a:latin typeface="Trebuchet MS" panose="020B0603020202020204" pitchFamily="34" charset="0"/>
              </a:rPr>
              <a:t>O custo da operação e a política de cobrança estão definidos nas tabelas de custos operacionais disponibilizadas no site da XP Investimentos: www.xpi.com.br. </a:t>
            </a:r>
          </a:p>
          <a:p>
            <a:pPr marL="457200" lvl="0" indent="-457200">
              <a:buFont typeface="+mj-lt"/>
              <a:buAutoNum type="arabicPeriod"/>
            </a:pPr>
            <a:r>
              <a:rPr lang="pt-BR" sz="600" dirty="0">
                <a:latin typeface="Trebuchet MS" panose="020B0603020202020204" pitchFamily="34" charset="0"/>
              </a:rPr>
              <a:t>A XP Investimentos se exime de qualquer responsabilidade por quaisquer prejuízos, diretos ou indiretos, que venham a decorrer da utilização deste relatório ou seu conteúdo. </a:t>
            </a:r>
          </a:p>
          <a:p>
            <a:pPr marL="457200" lvl="0" indent="-457200">
              <a:buFont typeface="+mj-lt"/>
              <a:buAutoNum type="arabicPeriod"/>
            </a:pPr>
            <a:r>
              <a:rPr lang="pt-BR" sz="600" dirty="0">
                <a:latin typeface="Trebuchet MS" panose="020B0603020202020204" pitchFamily="34" charset="0"/>
              </a:rPr>
              <a:t>A Avaliação Técnica e a Avaliação de Fundamentos seguem diferentes metodologias de análise. A Análise Técnica é executada seguindo conceitos como tendência, suporte, resistência, </a:t>
            </a:r>
            <a:r>
              <a:rPr lang="pt-BR" sz="600" dirty="0" err="1">
                <a:latin typeface="Trebuchet MS" panose="020B0603020202020204" pitchFamily="34" charset="0"/>
              </a:rPr>
              <a:t>candles</a:t>
            </a:r>
            <a:r>
              <a:rPr lang="pt-BR" sz="600" dirty="0">
                <a:latin typeface="Trebuchet MS" panose="020B0603020202020204" pitchFamily="34"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600" dirty="0" err="1">
                <a:latin typeface="Trebuchet MS" panose="020B0603020202020204" pitchFamily="34" charset="0"/>
              </a:rPr>
              <a:t>stops</a:t>
            </a:r>
            <a:r>
              <a:rPr lang="pt-BR" sz="600" dirty="0">
                <a:latin typeface="Trebuchet MS" panose="020B0603020202020204" pitchFamily="34" charset="0"/>
              </a:rPr>
              <a:t>” para limitar as possíveis perdas.  </a:t>
            </a:r>
          </a:p>
          <a:p>
            <a:pPr marL="457200" lvl="0" indent="-457200">
              <a:buFont typeface="+mj-lt"/>
              <a:buAutoNum type="arabicPeriod"/>
            </a:pPr>
            <a:r>
              <a:rPr lang="pt-BR" sz="600" dirty="0">
                <a:latin typeface="Trebuchet MS" panose="020B0603020202020204" pitchFamily="34"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457200" lvl="0" indent="-457200">
              <a:buFont typeface="+mj-lt"/>
              <a:buAutoNum type="arabicPeriod"/>
            </a:pPr>
            <a:r>
              <a:rPr lang="pt-BR" sz="600" dirty="0">
                <a:latin typeface="Trebuchet MS" panose="020B0603020202020204" pitchFamily="34" charset="0"/>
              </a:rPr>
              <a:t>O investimento em opções é preferencialmente indicado para investidores de perfil agressivo, de acordo com a política de </a:t>
            </a:r>
            <a:r>
              <a:rPr lang="pt-BR" sz="600" dirty="0" err="1">
                <a:latin typeface="Trebuchet MS" panose="020B0603020202020204" pitchFamily="34" charset="0"/>
              </a:rPr>
              <a:t>suitability</a:t>
            </a:r>
            <a:r>
              <a:rPr lang="pt-BR" sz="600" dirty="0">
                <a:latin typeface="Trebuchet MS" panose="020B0603020202020204" pitchFamily="34"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457200" lvl="0" indent="-457200">
              <a:buFont typeface="+mj-lt"/>
              <a:buAutoNum type="arabicPeriod"/>
            </a:pPr>
            <a:r>
              <a:rPr lang="pt-BR" sz="600" dirty="0">
                <a:latin typeface="Trebuchet MS" panose="020B0603020202020204" pitchFamily="34"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457200" lvl="0" indent="-457200">
              <a:buFont typeface="+mj-lt"/>
              <a:buAutoNum type="arabicPeriod"/>
            </a:pPr>
            <a:r>
              <a:rPr lang="pt-BR" sz="600" dirty="0">
                <a:latin typeface="Trebuchet MS" panose="020B0603020202020204" pitchFamily="34"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457200" indent="-457200">
              <a:buFont typeface="+mj-lt"/>
              <a:buAutoNum type="arabicPeriod"/>
            </a:pPr>
            <a:r>
              <a:rPr lang="pt-BR" sz="600" dirty="0">
                <a:latin typeface="Trebuchet MS" panose="020B0603020202020204" pitchFamily="34" charset="0"/>
              </a:rPr>
              <a:t>ESTA INSTITUIÇÃO É ADERENTE AO CÓDIGO ANBIMA DE DISTRIBUIÇÃO DE PRODUTOS DE INVESTIMENTO.</a:t>
            </a:r>
            <a:endParaRPr lang="pt-BR" sz="6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6" name="object 6"/>
          <p:cNvSpPr/>
          <p:nvPr/>
        </p:nvSpPr>
        <p:spPr>
          <a:xfrm>
            <a:off x="390143" y="734568"/>
            <a:ext cx="6099810" cy="0"/>
          </a:xfrm>
          <a:custGeom>
            <a:avLst/>
            <a:gdLst/>
            <a:ahLst/>
            <a:cxnLst/>
            <a:rect l="l" t="t" r="r" b="b"/>
            <a:pathLst>
              <a:path w="6099810">
                <a:moveTo>
                  <a:pt x="0" y="0"/>
                </a:moveTo>
                <a:lnTo>
                  <a:pt x="6099556" y="0"/>
                </a:lnTo>
              </a:path>
            </a:pathLst>
          </a:custGeom>
          <a:ln w="6350">
            <a:solidFill>
              <a:srgbClr val="000000"/>
            </a:solidFill>
          </a:ln>
        </p:spPr>
        <p:txBody>
          <a:bodyPr wrap="square" lIns="0" tIns="0" rIns="0" bIns="0" rtlCol="0"/>
          <a:lstStyle/>
          <a:p>
            <a:endParaRPr/>
          </a:p>
        </p:txBody>
      </p:sp>
      <p:sp>
        <p:nvSpPr>
          <p:cNvPr id="7" name="object 7"/>
          <p:cNvSpPr txBox="1"/>
          <p:nvPr/>
        </p:nvSpPr>
        <p:spPr>
          <a:xfrm>
            <a:off x="5127752" y="419481"/>
            <a:ext cx="1376045" cy="197490"/>
          </a:xfrm>
          <a:prstGeom prst="rect">
            <a:avLst/>
          </a:prstGeom>
          <a:noFill/>
        </p:spPr>
        <p:txBody>
          <a:bodyPr vert="horz" wrap="square" lIns="0" tIns="12700" rIns="0" bIns="0" rtlCol="0">
            <a:spAutoFit/>
          </a:bodyPr>
          <a:lstStyle/>
          <a:p>
            <a:pPr marL="12700">
              <a:lnSpc>
                <a:spcPct val="100000"/>
              </a:lnSpc>
              <a:spcBef>
                <a:spcPts val="100"/>
              </a:spcBef>
            </a:pPr>
            <a:r>
              <a:rPr lang="pt-BR" sz="1200" dirty="0">
                <a:solidFill>
                  <a:srgbClr val="74797B"/>
                </a:solidFill>
                <a:latin typeface="Trebuchet MS"/>
                <a:cs typeface="Trebuchet MS"/>
              </a:rPr>
              <a:t>1 de Junho de 2026</a:t>
            </a:r>
            <a:endParaRPr sz="1200" dirty="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t>3</a:t>
            </a:fld>
            <a:endParaRPr spc="-50"/>
          </a:p>
        </p:txBody>
      </p:sp>
    </p:spTree>
    <p:extLst>
      <p:ext uri="{BB962C8B-B14F-4D97-AF65-F5344CB8AC3E}">
        <p14:creationId xmlns:p14="http://schemas.microsoft.com/office/powerpoint/2010/main" val="1782999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BAAA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2727</TotalTime>
  <Words>2363</Words>
  <Application>Microsoft Office PowerPoint</Application>
  <PresentationFormat>A4 Paper (210x297 mm)</PresentationFormat>
  <Paragraphs>132</Paragraphs>
  <Slides>3</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Aptos</vt:lpstr>
      <vt:lpstr>Arial</vt:lpstr>
      <vt:lpstr>Calibri</vt:lpstr>
      <vt:lpstr>Roboto</vt:lpstr>
      <vt:lpstr>Roboto Condensed</vt:lpstr>
      <vt:lpstr>Roboto Light</vt:lpstr>
      <vt:lpstr>Trebuchet MS</vt:lpstr>
      <vt:lpstr>3_Template DGA 16-9</vt:lpstr>
      <vt:lpstr>Office Theme</vt:lpstr>
      <vt:lpstr>Top Ações XP Research XP Fernando Ferreira, Raphael Figueredo e Caio Souza</vt:lpstr>
      <vt:lpstr>Top Ações XP Research XP Fernando Ferreira, Raphael Figueredo e Caio Souza</vt:lpstr>
      <vt:lpstr>PowerPoint Presentation</vt:lpstr>
    </vt:vector>
  </TitlesOfParts>
  <Company>XP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Joao Faia</dc:creator>
  <cp:lastModifiedBy>Caio Souza</cp:lastModifiedBy>
  <cp:revision>18</cp:revision>
  <dcterms:created xsi:type="dcterms:W3CDTF">2025-05-08T16:00:11Z</dcterms:created>
  <dcterms:modified xsi:type="dcterms:W3CDTF">2026-07-02T22:26:41Z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2025-05-08T16:01:18Z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c403dce8-7fdd-447e-8d9c-9aeac315da6b</vt:lpwstr>
  </property>
  <property fmtid="{D5CDD505-2E9C-101B-9397-08002B2CF9AE}" pid="8" name="MSIP_Label_e6a9157b-bcf3-4eac-b03e-7cf007ba9fdf_ContentBits">
    <vt:lpwstr>2</vt:lpwstr>
  </property>
  <property fmtid="{D5CDD505-2E9C-101B-9397-08002B2CF9AE}" pid="9" name="ClassificationContentMarkingFooterLocations">
    <vt:lpwstr>Tema do Office:8</vt:lpwstr>
  </property>
  <property fmtid="{D5CDD505-2E9C-101B-9397-08002B2CF9AE}" pid="10" name="ClassificationContentMarkingFooterText">
    <vt:lpwstr>[ CLASSIFICAÇÃO: PÚBLICA ]</vt:lpwstr>
  </property>
</Properties>
</file>