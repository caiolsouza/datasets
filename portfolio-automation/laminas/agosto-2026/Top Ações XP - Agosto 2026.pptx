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1.xml" ContentType="application/vnd.openxmlformats-officedocument.drawingml.chart+xml"/>
  <Override PartName="/ppt/charts/colors1.xml" ContentType="application/vnd.ms-office.chartcolorstyle+xml"/>
  <Override PartName="/ppt/charts/style1.xml" ContentType="application/vnd.ms-office.chartstyle+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 Id="rId6" Type="http://schemas.openxmlformats.org/officeDocument/2006/relationships/custom-properties" Target="docProps/custom.xml"/><Relationship Id="rId7"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83" r:id="rId4"/>
  </p:sldMasterIdLst>
  <p:notesMasterIdLst>
    <p:notesMasterId r:id="rId11"/>
  </p:notesMasterIdLst>
  <p:handoutMasterIdLst>
    <p:handoutMasterId r:id="rId12"/>
  </p:handoutMasterIdLst>
  <p:sldIdLst>
    <p:sldId id="312" r:id="rId5"/>
    <p:sldId id="264" r:id="rId6"/>
    <p:sldId id="304" r:id="rId7"/>
    <p:sldId id="314" r:id="rId8"/>
    <p:sldId id="313" r:id="rId9"/>
    <p:sldId id="271" r:id="rId10"/>
  </p:sldIdLst>
  <p:sldSz cx="12192000" cy="6858000"/>
  <p:notesSz cx="6950075" cy="9236075"/>
  <p:custDataLst>
    <p:tags r:id="rId13"/>
  </p:custDataLst>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pos="3840" userDrawn="1">
          <p15:clr>
            <a:srgbClr val="A4A3A4"/>
          </p15:clr>
        </p15:guide>
        <p15:guide id="6" orient="horz" pos="3634"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B42ED4F-8EBE-474C-3F8A-8E5FC5FA0DDD}" name="Caio Souza" initials="CS" userId="S::caio.lsouza@xpi.com.br::3c9a17a9-6dee-4d8b-b93c-2a0cbe4083ed"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Alexandre Charro" initials="AC" lastIdx="1" clrIdx="0">
    <p:extLst>
      <p:ext uri="{19B8F6BF-5375-455C-9EA6-DF929625EA0E}">
        <p15:presenceInfo xmlns:p15="http://schemas.microsoft.com/office/powerpoint/2012/main" userId="S-1-5-21-825419234-150732314-3353524455-56516" providerId="AD"/>
      </p:ext>
    </p:extLst>
  </p:cmAuthor>
  <p:cmAuthor id="2" name="Celine Castilho" initials="CC" lastIdx="2" clrIdx="1">
    <p:extLst>
      <p:ext uri="{19B8F6BF-5375-455C-9EA6-DF929625EA0E}">
        <p15:presenceInfo xmlns:p15="http://schemas.microsoft.com/office/powerpoint/2012/main" userId="S::celine.castilho@xpi.com.br::2590b44e-83a4-4c1a-b270-b76c45ed9cae"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62130"/>
    <a:srgbClr val="D2D2D2"/>
    <a:srgbClr val="F2F2F2"/>
    <a:srgbClr val="E7E6E6"/>
    <a:srgbClr val="000000"/>
    <a:srgbClr val="18191A"/>
    <a:srgbClr val="D9D9D9"/>
    <a:srgbClr val="263C3E"/>
    <a:srgbClr val="498F87"/>
    <a:srgbClr val="C8F9F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Estilo Médio 2 - Ênfase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191" autoAdjust="0"/>
    <p:restoredTop sz="91895" autoAdjust="0"/>
  </p:normalViewPr>
  <p:slideViewPr>
    <p:cSldViewPr snapToGrid="0">
      <p:cViewPr varScale="1">
        <p:scale>
          <a:sx n="111" d="100"/>
          <a:sy n="111" d="100"/>
        </p:scale>
        <p:origin x="924" y="96"/>
      </p:cViewPr>
      <p:guideLst>
        <p:guide pos="3840"/>
        <p:guide orient="horz" pos="3634"/>
      </p:guideLst>
    </p:cSldViewPr>
  </p:slideViewPr>
  <p:outlineViewPr>
    <p:cViewPr>
      <p:scale>
        <a:sx n="33" d="100"/>
        <a:sy n="33" d="100"/>
      </p:scale>
      <p:origin x="0" y="-13122"/>
    </p:cViewPr>
  </p:outlineViewPr>
  <p:notesTextViewPr>
    <p:cViewPr>
      <p:scale>
        <a:sx n="3" d="2"/>
        <a:sy n="3" d="2"/>
      </p:scale>
      <p:origin x="0" y="0"/>
    </p:cViewPr>
  </p:notesTextViewPr>
  <p:sorterViewPr>
    <p:cViewPr varScale="1">
      <p:scale>
        <a:sx n="1" d="1"/>
        <a:sy n="1" d="1"/>
      </p:scale>
      <p:origin x="0" y="-7806"/>
    </p:cViewPr>
  </p:sorterViewPr>
  <p:notesViewPr>
    <p:cSldViewPr snapToGrid="0">
      <p:cViewPr varScale="1">
        <p:scale>
          <a:sx n="83" d="100"/>
          <a:sy n="83" d="100"/>
        </p:scale>
        <p:origin x="3828" y="96"/>
      </p:cViewPr>
      <p:guideLst/>
    </p:cSldViewPr>
  </p:notesViewPr>
  <p:gridSpacing cx="59999" cy="59999"/>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notesMaster" Target="notesMasters/notesMaster1.xml"/><Relationship Id="rId12" Type="http://schemas.openxmlformats.org/officeDocument/2006/relationships/handoutMaster" Target="handoutMasters/handoutMaster1.xml"/><Relationship Id="rId13" Type="http://schemas.openxmlformats.org/officeDocument/2006/relationships/tags" Target="tags/tag1.xml"/><Relationship Id="rId14" Type="http://schemas.openxmlformats.org/officeDocument/2006/relationships/commentAuthors" Target="commentAuthors.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microsoft.com/office/2018/10/relationships/authors" Target="authors.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themeOverride" Target="../theme/themeOverride1.xml"/><Relationship Id="rId4"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lineChart>
        <c:grouping val="standard"/>
        <c:varyColors val="0"/>
        <c:ser>
          <c:idx val="0"/>
          <c:order val="0"/>
          <c:tx>
            <c:strRef>
              <c:f>Sheet1!$B$1</c:f>
              <c:strCache>
                <c:ptCount val="1"/>
                <c:pt idx="0">
                  <c:v>Top Ações XP</c:v>
                </c:pt>
              </c:strCache>
            </c:strRef>
          </c:tx>
          <c:spPr>
            <a:ln w="22225" cap="rnd">
              <a:solidFill>
                <a:schemeClr val="accent4"/>
              </a:solidFill>
              <a:round/>
            </a:ln>
            <a:effectLst/>
          </c:spPr>
          <c:marker>
            <c:symbol val="none"/>
          </c:marker>
          <c:cat>
            <c:numRef>
              <c:f>Sheet1!$A$2:$A$355</c:f>
              <c:numCache>
                <c:formatCode>yyyy\-mm\-dd</c:formatCode>
                <c:ptCount val="354"/>
                <c:pt idx="0">
                  <c:v>45716.0</c:v>
                </c:pt>
                <c:pt idx="1">
                  <c:v>45721.0</c:v>
                </c:pt>
                <c:pt idx="2">
                  <c:v>45722.0</c:v>
                </c:pt>
                <c:pt idx="3">
                  <c:v>45723.0</c:v>
                </c:pt>
                <c:pt idx="4">
                  <c:v>45726.0</c:v>
                </c:pt>
                <c:pt idx="5">
                  <c:v>45727.0</c:v>
                </c:pt>
                <c:pt idx="6">
                  <c:v>45728.0</c:v>
                </c:pt>
                <c:pt idx="7">
                  <c:v>45729.0</c:v>
                </c:pt>
                <c:pt idx="8">
                  <c:v>45730.0</c:v>
                </c:pt>
                <c:pt idx="9">
                  <c:v>45733.0</c:v>
                </c:pt>
                <c:pt idx="10">
                  <c:v>45734.0</c:v>
                </c:pt>
                <c:pt idx="11">
                  <c:v>45735.0</c:v>
                </c:pt>
                <c:pt idx="12">
                  <c:v>45736.0</c:v>
                </c:pt>
                <c:pt idx="13">
                  <c:v>45737.0</c:v>
                </c:pt>
                <c:pt idx="14">
                  <c:v>45740.0</c:v>
                </c:pt>
                <c:pt idx="15">
                  <c:v>45741.0</c:v>
                </c:pt>
                <c:pt idx="16">
                  <c:v>45742.0</c:v>
                </c:pt>
                <c:pt idx="17">
                  <c:v>45743.0</c:v>
                </c:pt>
                <c:pt idx="18">
                  <c:v>45744.0</c:v>
                </c:pt>
                <c:pt idx="19">
                  <c:v>45747.0</c:v>
                </c:pt>
                <c:pt idx="20">
                  <c:v>45748.0</c:v>
                </c:pt>
                <c:pt idx="21">
                  <c:v>45749.0</c:v>
                </c:pt>
                <c:pt idx="22">
                  <c:v>45750.0</c:v>
                </c:pt>
                <c:pt idx="23">
                  <c:v>45751.0</c:v>
                </c:pt>
                <c:pt idx="24">
                  <c:v>45754.0</c:v>
                </c:pt>
                <c:pt idx="25">
                  <c:v>45755.0</c:v>
                </c:pt>
                <c:pt idx="26">
                  <c:v>45756.0</c:v>
                </c:pt>
                <c:pt idx="27">
                  <c:v>45757.0</c:v>
                </c:pt>
                <c:pt idx="28">
                  <c:v>45758.0</c:v>
                </c:pt>
                <c:pt idx="29">
                  <c:v>45761.0</c:v>
                </c:pt>
                <c:pt idx="30">
                  <c:v>45762.0</c:v>
                </c:pt>
                <c:pt idx="31">
                  <c:v>45763.0</c:v>
                </c:pt>
                <c:pt idx="32">
                  <c:v>45764.0</c:v>
                </c:pt>
                <c:pt idx="33">
                  <c:v>45769.0</c:v>
                </c:pt>
                <c:pt idx="34">
                  <c:v>45770.0</c:v>
                </c:pt>
                <c:pt idx="35">
                  <c:v>45771.0</c:v>
                </c:pt>
                <c:pt idx="36">
                  <c:v>45772.0</c:v>
                </c:pt>
                <c:pt idx="37">
                  <c:v>45775.0</c:v>
                </c:pt>
                <c:pt idx="38">
                  <c:v>45776.0</c:v>
                </c:pt>
                <c:pt idx="39">
                  <c:v>45777.0</c:v>
                </c:pt>
                <c:pt idx="40">
                  <c:v>45779.0</c:v>
                </c:pt>
                <c:pt idx="41">
                  <c:v>45782.0</c:v>
                </c:pt>
                <c:pt idx="42">
                  <c:v>45783.0</c:v>
                </c:pt>
                <c:pt idx="43">
                  <c:v>45784.0</c:v>
                </c:pt>
                <c:pt idx="44">
                  <c:v>45785.0</c:v>
                </c:pt>
                <c:pt idx="45">
                  <c:v>45786.0</c:v>
                </c:pt>
                <c:pt idx="46">
                  <c:v>45789.0</c:v>
                </c:pt>
                <c:pt idx="47">
                  <c:v>45790.0</c:v>
                </c:pt>
                <c:pt idx="48">
                  <c:v>45791.0</c:v>
                </c:pt>
                <c:pt idx="49">
                  <c:v>45792.0</c:v>
                </c:pt>
                <c:pt idx="50">
                  <c:v>45793.0</c:v>
                </c:pt>
                <c:pt idx="51">
                  <c:v>45796.0</c:v>
                </c:pt>
                <c:pt idx="52">
                  <c:v>45797.0</c:v>
                </c:pt>
                <c:pt idx="53">
                  <c:v>45798.0</c:v>
                </c:pt>
                <c:pt idx="54">
                  <c:v>45799.0</c:v>
                </c:pt>
                <c:pt idx="55">
                  <c:v>45800.0</c:v>
                </c:pt>
                <c:pt idx="56">
                  <c:v>45803.0</c:v>
                </c:pt>
                <c:pt idx="57">
                  <c:v>45804.0</c:v>
                </c:pt>
                <c:pt idx="58">
                  <c:v>45805.0</c:v>
                </c:pt>
                <c:pt idx="59">
                  <c:v>45806.0</c:v>
                </c:pt>
                <c:pt idx="60">
                  <c:v>45807.0</c:v>
                </c:pt>
                <c:pt idx="61">
                  <c:v>45810.0</c:v>
                </c:pt>
                <c:pt idx="62">
                  <c:v>45811.0</c:v>
                </c:pt>
                <c:pt idx="63">
                  <c:v>45812.0</c:v>
                </c:pt>
                <c:pt idx="64">
                  <c:v>45813.0</c:v>
                </c:pt>
                <c:pt idx="65">
                  <c:v>45814.0</c:v>
                </c:pt>
                <c:pt idx="66">
                  <c:v>45817.0</c:v>
                </c:pt>
                <c:pt idx="67">
                  <c:v>45818.0</c:v>
                </c:pt>
                <c:pt idx="68">
                  <c:v>45819.0</c:v>
                </c:pt>
                <c:pt idx="69">
                  <c:v>45820.0</c:v>
                </c:pt>
                <c:pt idx="70">
                  <c:v>45821.0</c:v>
                </c:pt>
                <c:pt idx="71">
                  <c:v>45824.0</c:v>
                </c:pt>
                <c:pt idx="72">
                  <c:v>45825.0</c:v>
                </c:pt>
                <c:pt idx="73">
                  <c:v>45826.0</c:v>
                </c:pt>
                <c:pt idx="74">
                  <c:v>45828.0</c:v>
                </c:pt>
                <c:pt idx="75">
                  <c:v>45831.0</c:v>
                </c:pt>
                <c:pt idx="76">
                  <c:v>45832.0</c:v>
                </c:pt>
                <c:pt idx="77">
                  <c:v>45833.0</c:v>
                </c:pt>
                <c:pt idx="78">
                  <c:v>45834.0</c:v>
                </c:pt>
                <c:pt idx="79">
                  <c:v>45835.0</c:v>
                </c:pt>
                <c:pt idx="80">
                  <c:v>45838.0</c:v>
                </c:pt>
                <c:pt idx="81">
                  <c:v>45839.0</c:v>
                </c:pt>
                <c:pt idx="82">
                  <c:v>45840.0</c:v>
                </c:pt>
                <c:pt idx="83">
                  <c:v>45841.0</c:v>
                </c:pt>
                <c:pt idx="84">
                  <c:v>45842.0</c:v>
                </c:pt>
                <c:pt idx="85">
                  <c:v>45845.0</c:v>
                </c:pt>
                <c:pt idx="86">
                  <c:v>45846.0</c:v>
                </c:pt>
                <c:pt idx="87">
                  <c:v>45847.0</c:v>
                </c:pt>
                <c:pt idx="88">
                  <c:v>45848.0</c:v>
                </c:pt>
                <c:pt idx="89">
                  <c:v>45849.0</c:v>
                </c:pt>
                <c:pt idx="90">
                  <c:v>45852.0</c:v>
                </c:pt>
                <c:pt idx="91">
                  <c:v>45853.0</c:v>
                </c:pt>
                <c:pt idx="92">
                  <c:v>45854.0</c:v>
                </c:pt>
                <c:pt idx="93">
                  <c:v>45855.0</c:v>
                </c:pt>
                <c:pt idx="94">
                  <c:v>45856.0</c:v>
                </c:pt>
                <c:pt idx="95">
                  <c:v>45859.0</c:v>
                </c:pt>
                <c:pt idx="96">
                  <c:v>45860.0</c:v>
                </c:pt>
                <c:pt idx="97">
                  <c:v>45861.0</c:v>
                </c:pt>
                <c:pt idx="98">
                  <c:v>45862.0</c:v>
                </c:pt>
                <c:pt idx="99">
                  <c:v>45863.0</c:v>
                </c:pt>
                <c:pt idx="100">
                  <c:v>45866.0</c:v>
                </c:pt>
                <c:pt idx="101">
                  <c:v>45867.0</c:v>
                </c:pt>
                <c:pt idx="102">
                  <c:v>45868.0</c:v>
                </c:pt>
                <c:pt idx="103">
                  <c:v>45869.0</c:v>
                </c:pt>
                <c:pt idx="104">
                  <c:v>45870.0</c:v>
                </c:pt>
                <c:pt idx="105">
                  <c:v>45873.0</c:v>
                </c:pt>
                <c:pt idx="106">
                  <c:v>45874.0</c:v>
                </c:pt>
                <c:pt idx="107">
                  <c:v>45875.0</c:v>
                </c:pt>
                <c:pt idx="108">
                  <c:v>45876.0</c:v>
                </c:pt>
                <c:pt idx="109">
                  <c:v>45877.0</c:v>
                </c:pt>
                <c:pt idx="110">
                  <c:v>45880.0</c:v>
                </c:pt>
                <c:pt idx="111">
                  <c:v>45881.0</c:v>
                </c:pt>
                <c:pt idx="112">
                  <c:v>45882.0</c:v>
                </c:pt>
                <c:pt idx="113">
                  <c:v>45883.0</c:v>
                </c:pt>
                <c:pt idx="114">
                  <c:v>45884.0</c:v>
                </c:pt>
                <c:pt idx="115">
                  <c:v>45887.0</c:v>
                </c:pt>
                <c:pt idx="116">
                  <c:v>45888.0</c:v>
                </c:pt>
                <c:pt idx="117">
                  <c:v>45889.0</c:v>
                </c:pt>
                <c:pt idx="118">
                  <c:v>45890.0</c:v>
                </c:pt>
                <c:pt idx="119">
                  <c:v>45891.0</c:v>
                </c:pt>
                <c:pt idx="120">
                  <c:v>45894.0</c:v>
                </c:pt>
                <c:pt idx="121">
                  <c:v>45895.0</c:v>
                </c:pt>
                <c:pt idx="122">
                  <c:v>45896.0</c:v>
                </c:pt>
                <c:pt idx="123">
                  <c:v>45897.0</c:v>
                </c:pt>
                <c:pt idx="124">
                  <c:v>45898.0</c:v>
                </c:pt>
                <c:pt idx="125">
                  <c:v>45901.0</c:v>
                </c:pt>
                <c:pt idx="126">
                  <c:v>45902.0</c:v>
                </c:pt>
                <c:pt idx="127">
                  <c:v>45903.0</c:v>
                </c:pt>
                <c:pt idx="128">
                  <c:v>45904.0</c:v>
                </c:pt>
                <c:pt idx="129">
                  <c:v>45905.0</c:v>
                </c:pt>
                <c:pt idx="130">
                  <c:v>45908.0</c:v>
                </c:pt>
                <c:pt idx="131">
                  <c:v>45909.0</c:v>
                </c:pt>
                <c:pt idx="132">
                  <c:v>45910.0</c:v>
                </c:pt>
                <c:pt idx="133">
                  <c:v>45911.0</c:v>
                </c:pt>
                <c:pt idx="134">
                  <c:v>45912.0</c:v>
                </c:pt>
                <c:pt idx="135">
                  <c:v>45915.0</c:v>
                </c:pt>
                <c:pt idx="136">
                  <c:v>45916.0</c:v>
                </c:pt>
                <c:pt idx="137">
                  <c:v>45917.0</c:v>
                </c:pt>
                <c:pt idx="138">
                  <c:v>45918.0</c:v>
                </c:pt>
                <c:pt idx="139">
                  <c:v>45919.0</c:v>
                </c:pt>
                <c:pt idx="140">
                  <c:v>45922.0</c:v>
                </c:pt>
                <c:pt idx="141">
                  <c:v>45923.0</c:v>
                </c:pt>
                <c:pt idx="142">
                  <c:v>45924.0</c:v>
                </c:pt>
                <c:pt idx="143">
                  <c:v>45925.0</c:v>
                </c:pt>
                <c:pt idx="144">
                  <c:v>45926.0</c:v>
                </c:pt>
                <c:pt idx="145">
                  <c:v>45929.0</c:v>
                </c:pt>
                <c:pt idx="146">
                  <c:v>45930.0</c:v>
                </c:pt>
                <c:pt idx="147">
                  <c:v>45931.0</c:v>
                </c:pt>
                <c:pt idx="148">
                  <c:v>45932.0</c:v>
                </c:pt>
                <c:pt idx="149">
                  <c:v>45933.0</c:v>
                </c:pt>
                <c:pt idx="150">
                  <c:v>45936.0</c:v>
                </c:pt>
                <c:pt idx="151">
                  <c:v>45937.0</c:v>
                </c:pt>
                <c:pt idx="152">
                  <c:v>45938.0</c:v>
                </c:pt>
                <c:pt idx="153">
                  <c:v>45939.0</c:v>
                </c:pt>
                <c:pt idx="154">
                  <c:v>45940.0</c:v>
                </c:pt>
                <c:pt idx="155">
                  <c:v>45943.0</c:v>
                </c:pt>
                <c:pt idx="156">
                  <c:v>45944.0</c:v>
                </c:pt>
                <c:pt idx="157">
                  <c:v>45945.0</c:v>
                </c:pt>
                <c:pt idx="158">
                  <c:v>45946.0</c:v>
                </c:pt>
                <c:pt idx="159">
                  <c:v>45947.0</c:v>
                </c:pt>
                <c:pt idx="160">
                  <c:v>45950.0</c:v>
                </c:pt>
                <c:pt idx="161">
                  <c:v>45951.0</c:v>
                </c:pt>
                <c:pt idx="162">
                  <c:v>45952.0</c:v>
                </c:pt>
                <c:pt idx="163">
                  <c:v>45953.0</c:v>
                </c:pt>
                <c:pt idx="164">
                  <c:v>45954.0</c:v>
                </c:pt>
                <c:pt idx="165">
                  <c:v>45957.0</c:v>
                </c:pt>
                <c:pt idx="166">
                  <c:v>45958.0</c:v>
                </c:pt>
                <c:pt idx="167">
                  <c:v>45959.0</c:v>
                </c:pt>
                <c:pt idx="168">
                  <c:v>45960.0</c:v>
                </c:pt>
                <c:pt idx="169">
                  <c:v>45961.0</c:v>
                </c:pt>
                <c:pt idx="170">
                  <c:v>45964.0</c:v>
                </c:pt>
                <c:pt idx="171">
                  <c:v>45965.0</c:v>
                </c:pt>
                <c:pt idx="172">
                  <c:v>45966.0</c:v>
                </c:pt>
                <c:pt idx="173">
                  <c:v>45967.0</c:v>
                </c:pt>
                <c:pt idx="174">
                  <c:v>45968.0</c:v>
                </c:pt>
                <c:pt idx="175">
                  <c:v>45971.0</c:v>
                </c:pt>
                <c:pt idx="176">
                  <c:v>45972.0</c:v>
                </c:pt>
                <c:pt idx="177">
                  <c:v>45973.0</c:v>
                </c:pt>
                <c:pt idx="178">
                  <c:v>45974.0</c:v>
                </c:pt>
                <c:pt idx="179">
                  <c:v>45975.0</c:v>
                </c:pt>
                <c:pt idx="180">
                  <c:v>45978.0</c:v>
                </c:pt>
                <c:pt idx="181">
                  <c:v>45979.0</c:v>
                </c:pt>
                <c:pt idx="182">
                  <c:v>45980.0</c:v>
                </c:pt>
                <c:pt idx="183">
                  <c:v>45982.0</c:v>
                </c:pt>
                <c:pt idx="184">
                  <c:v>45985.0</c:v>
                </c:pt>
                <c:pt idx="185">
                  <c:v>45986.0</c:v>
                </c:pt>
                <c:pt idx="186">
                  <c:v>45987.0</c:v>
                </c:pt>
                <c:pt idx="187">
                  <c:v>45988.0</c:v>
                </c:pt>
                <c:pt idx="188">
                  <c:v>45989.0</c:v>
                </c:pt>
                <c:pt idx="189">
                  <c:v>45992.0</c:v>
                </c:pt>
                <c:pt idx="190">
                  <c:v>45993.0</c:v>
                </c:pt>
                <c:pt idx="191">
                  <c:v>45994.0</c:v>
                </c:pt>
                <c:pt idx="192">
                  <c:v>45995.0</c:v>
                </c:pt>
                <c:pt idx="193">
                  <c:v>45996.0</c:v>
                </c:pt>
                <c:pt idx="194">
                  <c:v>45999.0</c:v>
                </c:pt>
                <c:pt idx="195">
                  <c:v>46000.0</c:v>
                </c:pt>
                <c:pt idx="196">
                  <c:v>46001.0</c:v>
                </c:pt>
                <c:pt idx="197">
                  <c:v>46002.0</c:v>
                </c:pt>
                <c:pt idx="198">
                  <c:v>46003.0</c:v>
                </c:pt>
                <c:pt idx="199">
                  <c:v>46006.0</c:v>
                </c:pt>
                <c:pt idx="200">
                  <c:v>46007.0</c:v>
                </c:pt>
                <c:pt idx="201">
                  <c:v>46008.0</c:v>
                </c:pt>
                <c:pt idx="202">
                  <c:v>46009.0</c:v>
                </c:pt>
                <c:pt idx="203">
                  <c:v>46010.0</c:v>
                </c:pt>
                <c:pt idx="204">
                  <c:v>46013.0</c:v>
                </c:pt>
                <c:pt idx="205">
                  <c:v>46014.0</c:v>
                </c:pt>
                <c:pt idx="206">
                  <c:v>46017.0</c:v>
                </c:pt>
                <c:pt idx="207">
                  <c:v>46020.0</c:v>
                </c:pt>
                <c:pt idx="208">
                  <c:v>46021.0</c:v>
                </c:pt>
                <c:pt idx="209">
                  <c:v>46024.0</c:v>
                </c:pt>
                <c:pt idx="210">
                  <c:v>46027.0</c:v>
                </c:pt>
                <c:pt idx="211">
                  <c:v>46028.0</c:v>
                </c:pt>
                <c:pt idx="212">
                  <c:v>46029.0</c:v>
                </c:pt>
                <c:pt idx="213">
                  <c:v>46030.0</c:v>
                </c:pt>
                <c:pt idx="214">
                  <c:v>46031.0</c:v>
                </c:pt>
                <c:pt idx="215">
                  <c:v>46034.0</c:v>
                </c:pt>
                <c:pt idx="216">
                  <c:v>46035.0</c:v>
                </c:pt>
                <c:pt idx="217">
                  <c:v>46036.0</c:v>
                </c:pt>
                <c:pt idx="218">
                  <c:v>46037.0</c:v>
                </c:pt>
                <c:pt idx="219">
                  <c:v>46038.0</c:v>
                </c:pt>
                <c:pt idx="220">
                  <c:v>46041.0</c:v>
                </c:pt>
                <c:pt idx="221">
                  <c:v>46042.0</c:v>
                </c:pt>
                <c:pt idx="222">
                  <c:v>46043.0</c:v>
                </c:pt>
                <c:pt idx="223">
                  <c:v>46044.0</c:v>
                </c:pt>
                <c:pt idx="224">
                  <c:v>46045.0</c:v>
                </c:pt>
                <c:pt idx="225">
                  <c:v>46048.0</c:v>
                </c:pt>
                <c:pt idx="226">
                  <c:v>46049.0</c:v>
                </c:pt>
                <c:pt idx="227">
                  <c:v>46050.0</c:v>
                </c:pt>
                <c:pt idx="228">
                  <c:v>46051.0</c:v>
                </c:pt>
                <c:pt idx="229">
                  <c:v>46052.0</c:v>
                </c:pt>
                <c:pt idx="230">
                  <c:v>46055.0</c:v>
                </c:pt>
                <c:pt idx="231">
                  <c:v>46056.0</c:v>
                </c:pt>
                <c:pt idx="232">
                  <c:v>46057.0</c:v>
                </c:pt>
                <c:pt idx="233">
                  <c:v>46058.0</c:v>
                </c:pt>
                <c:pt idx="234">
                  <c:v>46059.0</c:v>
                </c:pt>
                <c:pt idx="235">
                  <c:v>46062.0</c:v>
                </c:pt>
                <c:pt idx="236">
                  <c:v>46063.0</c:v>
                </c:pt>
                <c:pt idx="237">
                  <c:v>46064.0</c:v>
                </c:pt>
                <c:pt idx="238">
                  <c:v>46065.0</c:v>
                </c:pt>
                <c:pt idx="239">
                  <c:v>46066.0</c:v>
                </c:pt>
                <c:pt idx="240">
                  <c:v>46071.0</c:v>
                </c:pt>
                <c:pt idx="241">
                  <c:v>46072.0</c:v>
                </c:pt>
                <c:pt idx="242">
                  <c:v>46073.0</c:v>
                </c:pt>
                <c:pt idx="243">
                  <c:v>46076.0</c:v>
                </c:pt>
                <c:pt idx="244">
                  <c:v>46077.0</c:v>
                </c:pt>
                <c:pt idx="245">
                  <c:v>46078.0</c:v>
                </c:pt>
                <c:pt idx="246">
                  <c:v>46079.0</c:v>
                </c:pt>
                <c:pt idx="247">
                  <c:v>46080.0</c:v>
                </c:pt>
                <c:pt idx="248">
                  <c:v>46083.0</c:v>
                </c:pt>
                <c:pt idx="249">
                  <c:v>46084.0</c:v>
                </c:pt>
                <c:pt idx="250">
                  <c:v>46085.0</c:v>
                </c:pt>
                <c:pt idx="251">
                  <c:v>46086.0</c:v>
                </c:pt>
                <c:pt idx="252">
                  <c:v>46087.0</c:v>
                </c:pt>
                <c:pt idx="253">
                  <c:v>46090.0</c:v>
                </c:pt>
                <c:pt idx="254">
                  <c:v>46091.0</c:v>
                </c:pt>
                <c:pt idx="255">
                  <c:v>46092.0</c:v>
                </c:pt>
                <c:pt idx="256">
                  <c:v>46093.0</c:v>
                </c:pt>
                <c:pt idx="257">
                  <c:v>46094.0</c:v>
                </c:pt>
                <c:pt idx="258">
                  <c:v>46097.0</c:v>
                </c:pt>
                <c:pt idx="259">
                  <c:v>46098.0</c:v>
                </c:pt>
                <c:pt idx="260">
                  <c:v>46099.0</c:v>
                </c:pt>
                <c:pt idx="261">
                  <c:v>46100.0</c:v>
                </c:pt>
                <c:pt idx="262">
                  <c:v>46101.0</c:v>
                </c:pt>
                <c:pt idx="263">
                  <c:v>46104.0</c:v>
                </c:pt>
                <c:pt idx="264">
                  <c:v>46105.0</c:v>
                </c:pt>
                <c:pt idx="265">
                  <c:v>46106.0</c:v>
                </c:pt>
                <c:pt idx="266">
                  <c:v>46107.0</c:v>
                </c:pt>
                <c:pt idx="267">
                  <c:v>46108.0</c:v>
                </c:pt>
                <c:pt idx="268">
                  <c:v>46111.0</c:v>
                </c:pt>
                <c:pt idx="269">
                  <c:v>46112.0</c:v>
                </c:pt>
                <c:pt idx="270">
                  <c:v>46113.0</c:v>
                </c:pt>
                <c:pt idx="271">
                  <c:v>46114.0</c:v>
                </c:pt>
                <c:pt idx="272">
                  <c:v>46118.0</c:v>
                </c:pt>
                <c:pt idx="273">
                  <c:v>46119.0</c:v>
                </c:pt>
                <c:pt idx="274">
                  <c:v>46120.0</c:v>
                </c:pt>
                <c:pt idx="275">
                  <c:v>46121.0</c:v>
                </c:pt>
                <c:pt idx="276">
                  <c:v>46122.0</c:v>
                </c:pt>
                <c:pt idx="277">
                  <c:v>46125.0</c:v>
                </c:pt>
                <c:pt idx="278">
                  <c:v>46126.0</c:v>
                </c:pt>
                <c:pt idx="279">
                  <c:v>46127.0</c:v>
                </c:pt>
                <c:pt idx="280">
                  <c:v>46128.0</c:v>
                </c:pt>
                <c:pt idx="281">
                  <c:v>46129.0</c:v>
                </c:pt>
                <c:pt idx="282">
                  <c:v>46132.0</c:v>
                </c:pt>
                <c:pt idx="283">
                  <c:v>46134.0</c:v>
                </c:pt>
                <c:pt idx="284">
                  <c:v>46135.0</c:v>
                </c:pt>
                <c:pt idx="285">
                  <c:v>46136.0</c:v>
                </c:pt>
                <c:pt idx="286">
                  <c:v>46139.0</c:v>
                </c:pt>
                <c:pt idx="287">
                  <c:v>46140.0</c:v>
                </c:pt>
                <c:pt idx="288">
                  <c:v>46141.0</c:v>
                </c:pt>
                <c:pt idx="289">
                  <c:v>46142.0</c:v>
                </c:pt>
                <c:pt idx="290">
                  <c:v>46146.0</c:v>
                </c:pt>
                <c:pt idx="291">
                  <c:v>46147.0</c:v>
                </c:pt>
                <c:pt idx="292">
                  <c:v>46148.0</c:v>
                </c:pt>
                <c:pt idx="293">
                  <c:v>46149.0</c:v>
                </c:pt>
                <c:pt idx="294">
                  <c:v>46150.0</c:v>
                </c:pt>
                <c:pt idx="295">
                  <c:v>46153.0</c:v>
                </c:pt>
                <c:pt idx="296">
                  <c:v>46154.0</c:v>
                </c:pt>
                <c:pt idx="297">
                  <c:v>46155.0</c:v>
                </c:pt>
                <c:pt idx="298">
                  <c:v>46156.0</c:v>
                </c:pt>
                <c:pt idx="299">
                  <c:v>46157.0</c:v>
                </c:pt>
                <c:pt idx="300">
                  <c:v>46160.0</c:v>
                </c:pt>
                <c:pt idx="301">
                  <c:v>46161.0</c:v>
                </c:pt>
                <c:pt idx="302">
                  <c:v>46162.0</c:v>
                </c:pt>
                <c:pt idx="303">
                  <c:v>46163.0</c:v>
                </c:pt>
                <c:pt idx="304">
                  <c:v>46164.0</c:v>
                </c:pt>
                <c:pt idx="305">
                  <c:v>46167.0</c:v>
                </c:pt>
                <c:pt idx="306">
                  <c:v>46168.0</c:v>
                </c:pt>
                <c:pt idx="307">
                  <c:v>46169.0</c:v>
                </c:pt>
                <c:pt idx="308">
                  <c:v>46170.0</c:v>
                </c:pt>
                <c:pt idx="309">
                  <c:v>46171.0</c:v>
                </c:pt>
                <c:pt idx="310">
                  <c:v>46174.0</c:v>
                </c:pt>
                <c:pt idx="311">
                  <c:v>46175.0</c:v>
                </c:pt>
                <c:pt idx="312">
                  <c:v>46176.0</c:v>
                </c:pt>
                <c:pt idx="313">
                  <c:v>46178.0</c:v>
                </c:pt>
                <c:pt idx="314">
                  <c:v>46181.0</c:v>
                </c:pt>
                <c:pt idx="315">
                  <c:v>46182.0</c:v>
                </c:pt>
                <c:pt idx="316">
                  <c:v>46183.0</c:v>
                </c:pt>
                <c:pt idx="317">
                  <c:v>46184.0</c:v>
                </c:pt>
                <c:pt idx="318">
                  <c:v>46185.0</c:v>
                </c:pt>
                <c:pt idx="319">
                  <c:v>46188.0</c:v>
                </c:pt>
                <c:pt idx="320">
                  <c:v>46189.0</c:v>
                </c:pt>
                <c:pt idx="321">
                  <c:v>46190.0</c:v>
                </c:pt>
                <c:pt idx="322">
                  <c:v>46191.0</c:v>
                </c:pt>
                <c:pt idx="323">
                  <c:v>46192.0</c:v>
                </c:pt>
                <c:pt idx="324">
                  <c:v>46195.0</c:v>
                </c:pt>
                <c:pt idx="325">
                  <c:v>46196.0</c:v>
                </c:pt>
                <c:pt idx="326">
                  <c:v>46197.0</c:v>
                </c:pt>
                <c:pt idx="327">
                  <c:v>46198.0</c:v>
                </c:pt>
                <c:pt idx="328">
                  <c:v>46199.0</c:v>
                </c:pt>
                <c:pt idx="329">
                  <c:v>46202.0</c:v>
                </c:pt>
                <c:pt idx="330">
                  <c:v>46203.0</c:v>
                </c:pt>
                <c:pt idx="331">
                  <c:v>46204.0</c:v>
                </c:pt>
                <c:pt idx="332">
                  <c:v>46205.0</c:v>
                </c:pt>
                <c:pt idx="333">
                  <c:v>46206.0</c:v>
                </c:pt>
                <c:pt idx="334">
                  <c:v>46209.0</c:v>
                </c:pt>
                <c:pt idx="335">
                  <c:v>46210.0</c:v>
                </c:pt>
                <c:pt idx="336">
                  <c:v>46211.0</c:v>
                </c:pt>
                <c:pt idx="337">
                  <c:v>46212.0</c:v>
                </c:pt>
                <c:pt idx="338">
                  <c:v>46213.0</c:v>
                </c:pt>
                <c:pt idx="339">
                  <c:v>46216.0</c:v>
                </c:pt>
                <c:pt idx="340">
                  <c:v>46217.0</c:v>
                </c:pt>
                <c:pt idx="341">
                  <c:v>46218.0</c:v>
                </c:pt>
                <c:pt idx="342">
                  <c:v>46219.0</c:v>
                </c:pt>
                <c:pt idx="343">
                  <c:v>46220.0</c:v>
                </c:pt>
                <c:pt idx="344">
                  <c:v>46223.0</c:v>
                </c:pt>
                <c:pt idx="345">
                  <c:v>46224.0</c:v>
                </c:pt>
                <c:pt idx="346">
                  <c:v>46225.0</c:v>
                </c:pt>
                <c:pt idx="347">
                  <c:v>46226.0</c:v>
                </c:pt>
                <c:pt idx="348">
                  <c:v>46227.0</c:v>
                </c:pt>
                <c:pt idx="349">
                  <c:v>46230.0</c:v>
                </c:pt>
                <c:pt idx="350">
                  <c:v>46231.0</c:v>
                </c:pt>
                <c:pt idx="351">
                  <c:v>46232.0</c:v>
                </c:pt>
                <c:pt idx="352">
                  <c:v>46233.0</c:v>
                </c:pt>
                <c:pt idx="353">
                  <c:v>46234.0</c:v>
                </c:pt>
              </c:numCache>
            </c:numRef>
          </c:cat>
          <c:val>
            <c:numRef>
              <c:f>Sheet1!$B$2:$B$355</c:f>
              <c:numCache>
                <c:formatCode>General</c:formatCode>
                <c:ptCount val="354"/>
                <c:pt idx="0">
                  <c:v>100.0</c:v>
                </c:pt>
                <c:pt idx="1">
                  <c:v>99.92527654649929</c:v>
                </c:pt>
                <c:pt idx="2">
                  <c:v>100.3657370197848</c:v>
                </c:pt>
                <c:pt idx="3">
                  <c:v>101.5231769394335</c:v>
                </c:pt>
                <c:pt idx="4">
                  <c:v>101.010523112899</c:v>
                </c:pt>
                <c:pt idx="5">
                  <c:v>100.3439320422607</c:v>
                </c:pt>
                <c:pt idx="6">
                  <c:v>100.7849501897649</c:v>
                </c:pt>
                <c:pt idx="7">
                  <c:v>102.2174680175553</c:v>
                </c:pt>
                <c:pt idx="8">
                  <c:v>103.6198584176098</c:v>
                </c:pt>
                <c:pt idx="9">
                  <c:v>104.6233952580233</c:v>
                </c:pt>
                <c:pt idx="10">
                  <c:v>105.7351202982919</c:v>
                </c:pt>
                <c:pt idx="11">
                  <c:v>106.6728572306382</c:v>
                </c:pt>
                <c:pt idx="12">
                  <c:v>106.3159110402619</c:v>
                </c:pt>
                <c:pt idx="13">
                  <c:v>106.4850273140838</c:v>
                </c:pt>
                <c:pt idx="14">
                  <c:v>106.05418537712</c:v>
                </c:pt>
                <c:pt idx="15">
                  <c:v>106.6449612757458</c:v>
                </c:pt>
                <c:pt idx="16">
                  <c:v>107.0770014902386</c:v>
                </c:pt>
                <c:pt idx="17">
                  <c:v>107.851466152106</c:v>
                </c:pt>
                <c:pt idx="18">
                  <c:v>106.8624134464911</c:v>
                </c:pt>
                <c:pt idx="19">
                  <c:v>105.1699954108993</c:v>
                </c:pt>
                <c:pt idx="20">
                  <c:v>105.8889162204984</c:v>
                </c:pt>
                <c:pt idx="21">
                  <c:v>105.7102703378709</c:v>
                </c:pt>
                <c:pt idx="22">
                  <c:v>105.9759728405397</c:v>
                </c:pt>
                <c:pt idx="23">
                  <c:v>102.8404683034192</c:v>
                </c:pt>
                <c:pt idx="24">
                  <c:v>101.6097980902996</c:v>
                </c:pt>
                <c:pt idx="25">
                  <c:v>100.2950985824853</c:v>
                </c:pt>
                <c:pt idx="26">
                  <c:v>103.6040911747489</c:v>
                </c:pt>
                <c:pt idx="27">
                  <c:v>102.4164675509766</c:v>
                </c:pt>
                <c:pt idx="28">
                  <c:v>103.3221325894381</c:v>
                </c:pt>
                <c:pt idx="29">
                  <c:v>104.5757297692526</c:v>
                </c:pt>
                <c:pt idx="30">
                  <c:v>104.6219546345039</c:v>
                </c:pt>
                <c:pt idx="31">
                  <c:v>103.9433448138179</c:v>
                </c:pt>
                <c:pt idx="32">
                  <c:v>104.9726171096726</c:v>
                </c:pt>
                <c:pt idx="33">
                  <c:v>106.1129691062562</c:v>
                </c:pt>
                <c:pt idx="34">
                  <c:v>106.970709680168</c:v>
                </c:pt>
                <c:pt idx="35">
                  <c:v>108.8985708741582</c:v>
                </c:pt>
                <c:pt idx="36">
                  <c:v>108.5051848273356</c:v>
                </c:pt>
                <c:pt idx="37">
                  <c:v>108.9314633302884</c:v>
                </c:pt>
                <c:pt idx="38">
                  <c:v>108.685276536041</c:v>
                </c:pt>
                <c:pt idx="39">
                  <c:v>108.8542280501458</c:v>
                </c:pt>
                <c:pt idx="40">
                  <c:v>109.5393698893348</c:v>
                </c:pt>
                <c:pt idx="41">
                  <c:v>107.8388063868157</c:v>
                </c:pt>
                <c:pt idx="42">
                  <c:v>107.2199244455506</c:v>
                </c:pt>
                <c:pt idx="43">
                  <c:v>107.3136350992883</c:v>
                </c:pt>
                <c:pt idx="44">
                  <c:v>108.7504970957942</c:v>
                </c:pt>
                <c:pt idx="45">
                  <c:v>109.4240225256295</c:v>
                </c:pt>
                <c:pt idx="46">
                  <c:v>109.5645507921611</c:v>
                </c:pt>
                <c:pt idx="47">
                  <c:v>111.5906640011873</c:v>
                </c:pt>
                <c:pt idx="48">
                  <c:v>111.5315987832771</c:v>
                </c:pt>
                <c:pt idx="49">
                  <c:v>112.2469048392388</c:v>
                </c:pt>
                <c:pt idx="50">
                  <c:v>112.2068887138431</c:v>
                </c:pt>
                <c:pt idx="51">
                  <c:v>112.3824788631697</c:v>
                </c:pt>
                <c:pt idx="52">
                  <c:v>113.0477053293589</c:v>
                </c:pt>
                <c:pt idx="53">
                  <c:v>111.0949737755521</c:v>
                </c:pt>
                <c:pt idx="54">
                  <c:v>111.0095661862458</c:v>
                </c:pt>
                <c:pt idx="55">
                  <c:v>111.2066488452341</c:v>
                </c:pt>
                <c:pt idx="56">
                  <c:v>111.3678672453618</c:v>
                </c:pt>
                <c:pt idx="57">
                  <c:v>111.8557496412855</c:v>
                </c:pt>
                <c:pt idx="58">
                  <c:v>111.3403266181275</c:v>
                </c:pt>
                <c:pt idx="59">
                  <c:v>110.9574989378391</c:v>
                </c:pt>
                <c:pt idx="60">
                  <c:v>110.2173499097574</c:v>
                </c:pt>
                <c:pt idx="61">
                  <c:v>110.1017573818487</c:v>
                </c:pt>
                <c:pt idx="62">
                  <c:v>110.6365424972779</c:v>
                </c:pt>
                <c:pt idx="63">
                  <c:v>109.8571774015236</c:v>
                </c:pt>
                <c:pt idx="64">
                  <c:v>109.8456518608565</c:v>
                </c:pt>
                <c:pt idx="65">
                  <c:v>109.8238201167944</c:v>
                </c:pt>
                <c:pt idx="66">
                  <c:v>109.2297334913601</c:v>
                </c:pt>
                <c:pt idx="67">
                  <c:v>110.061112216092</c:v>
                </c:pt>
                <c:pt idx="68">
                  <c:v>110.7804470698138</c:v>
                </c:pt>
                <c:pt idx="69">
                  <c:v>111.1198406379548</c:v>
                </c:pt>
                <c:pt idx="70">
                  <c:v>110.7874557646279</c:v>
                </c:pt>
                <c:pt idx="71">
                  <c:v>112.5951898867577</c:v>
                </c:pt>
                <c:pt idx="72">
                  <c:v>112.4377392629948</c:v>
                </c:pt>
                <c:pt idx="73">
                  <c:v>111.6586251725434</c:v>
                </c:pt>
                <c:pt idx="74">
                  <c:v>110.2657851575804</c:v>
                </c:pt>
                <c:pt idx="75">
                  <c:v>110.5107687244596</c:v>
                </c:pt>
                <c:pt idx="76">
                  <c:v>111.2779123477922</c:v>
                </c:pt>
                <c:pt idx="77">
                  <c:v>110.1652259219421</c:v>
                </c:pt>
                <c:pt idx="78">
                  <c:v>111.033049970231</c:v>
                </c:pt>
                <c:pt idx="79">
                  <c:v>110.8509841595393</c:v>
                </c:pt>
                <c:pt idx="80">
                  <c:v>112.3430426756466</c:v>
                </c:pt>
                <c:pt idx="81">
                  <c:v>112.435180223814</c:v>
                </c:pt>
                <c:pt idx="82">
                  <c:v>110.8011035576017</c:v>
                </c:pt>
                <c:pt idx="83">
                  <c:v>112.346378764536</c:v>
                </c:pt>
                <c:pt idx="84">
                  <c:v>112.5880972606688</c:v>
                </c:pt>
                <c:pt idx="85">
                  <c:v>111.4675794783357</c:v>
                </c:pt>
                <c:pt idx="86">
                  <c:v>111.6079063421045</c:v>
                </c:pt>
                <c:pt idx="87">
                  <c:v>110.5646664600041</c:v>
                </c:pt>
                <c:pt idx="88">
                  <c:v>109.535486229921</c:v>
                </c:pt>
                <c:pt idx="89">
                  <c:v>108.7856131636175</c:v>
                </c:pt>
                <c:pt idx="90">
                  <c:v>107.6536098696888</c:v>
                </c:pt>
                <c:pt idx="91">
                  <c:v>108.3930476959004</c:v>
                </c:pt>
                <c:pt idx="92">
                  <c:v>108.3961030978881</c:v>
                </c:pt>
                <c:pt idx="93">
                  <c:v>108.6591129328443</c:v>
                </c:pt>
                <c:pt idx="94">
                  <c:v>106.1780504965987</c:v>
                </c:pt>
                <c:pt idx="95">
                  <c:v>105.9769414124857</c:v>
                </c:pt>
                <c:pt idx="96">
                  <c:v>105.5678336434732</c:v>
                </c:pt>
                <c:pt idx="97">
                  <c:v>106.5541200512972</c:v>
                </c:pt>
                <c:pt idx="98">
                  <c:v>104.939926892601</c:v>
                </c:pt>
                <c:pt idx="99">
                  <c:v>104.7602746565645</c:v>
                </c:pt>
                <c:pt idx="100">
                  <c:v>103.5616840826337</c:v>
                </c:pt>
                <c:pt idx="101">
                  <c:v>103.8491888519187</c:v>
                </c:pt>
                <c:pt idx="102">
                  <c:v>104.9565144037298</c:v>
                </c:pt>
                <c:pt idx="103">
                  <c:v>103.9481433927922</c:v>
                </c:pt>
                <c:pt idx="104">
                  <c:v>103.7842573872381</c:v>
                </c:pt>
                <c:pt idx="105">
                  <c:v>104.1538809967735</c:v>
                </c:pt>
                <c:pt idx="106">
                  <c:v>104.2830999067822</c:v>
                </c:pt>
                <c:pt idx="107">
                  <c:v>106.0344124879648</c:v>
                </c:pt>
                <c:pt idx="108">
                  <c:v>108.7271296696533</c:v>
                </c:pt>
                <c:pt idx="109">
                  <c:v>108.2694129734434</c:v>
                </c:pt>
                <c:pt idx="110">
                  <c:v>107.9041839808273</c:v>
                </c:pt>
                <c:pt idx="111">
                  <c:v>109.6246560257157</c:v>
                </c:pt>
                <c:pt idx="112">
                  <c:v>107.8723927401758</c:v>
                </c:pt>
                <c:pt idx="113">
                  <c:v>107.5553444597279</c:v>
                </c:pt>
                <c:pt idx="114">
                  <c:v>107.5310647069968</c:v>
                </c:pt>
                <c:pt idx="115">
                  <c:v>107.8334227082205</c:v>
                </c:pt>
                <c:pt idx="116">
                  <c:v>105.5842363265989</c:v>
                </c:pt>
                <c:pt idx="117">
                  <c:v>105.9752240150371</c:v>
                </c:pt>
                <c:pt idx="118">
                  <c:v>105.7830093231488</c:v>
                </c:pt>
                <c:pt idx="119">
                  <c:v>108.3168404916719</c:v>
                </c:pt>
                <c:pt idx="120">
                  <c:v>108.5460994113467</c:v>
                </c:pt>
                <c:pt idx="121">
                  <c:v>107.9660333586868</c:v>
                </c:pt>
                <c:pt idx="122">
                  <c:v>109.3691795774027</c:v>
                </c:pt>
                <c:pt idx="123">
                  <c:v>110.9669779754288</c:v>
                </c:pt>
                <c:pt idx="124">
                  <c:v>110.9221250262575</c:v>
                </c:pt>
                <c:pt idx="125">
                  <c:v>111.104349725119</c:v>
                </c:pt>
                <c:pt idx="126">
                  <c:v>110.4596959049995</c:v>
                </c:pt>
                <c:pt idx="127">
                  <c:v>110.0901194736834</c:v>
                </c:pt>
                <c:pt idx="128">
                  <c:v>110.8500946821117</c:v>
                </c:pt>
                <c:pt idx="129">
                  <c:v>112.0958876587042</c:v>
                </c:pt>
                <c:pt idx="130">
                  <c:v>111.0424336317414</c:v>
                </c:pt>
                <c:pt idx="131">
                  <c:v>110.8953948100242</c:v>
                </c:pt>
                <c:pt idx="132">
                  <c:v>111.2982966109443</c:v>
                </c:pt>
                <c:pt idx="133">
                  <c:v>112.2820194994931</c:v>
                </c:pt>
                <c:pt idx="134">
                  <c:v>111.5532027850791</c:v>
                </c:pt>
                <c:pt idx="135">
                  <c:v>112.6894826250237</c:v>
                </c:pt>
                <c:pt idx="136">
                  <c:v>113.2122239328923</c:v>
                </c:pt>
                <c:pt idx="137">
                  <c:v>114.0767153999223</c:v>
                </c:pt>
                <c:pt idx="138">
                  <c:v>114.4610579810574</c:v>
                </c:pt>
                <c:pt idx="139">
                  <c:v>115.2063155417232</c:v>
                </c:pt>
                <c:pt idx="140">
                  <c:v>114.180384386024</c:v>
                </c:pt>
                <c:pt idx="141">
                  <c:v>115.3367119596117</c:v>
                </c:pt>
                <c:pt idx="142">
                  <c:v>114.767348662356</c:v>
                </c:pt>
                <c:pt idx="143">
                  <c:v>113.6725687675049</c:v>
                </c:pt>
                <c:pt idx="144">
                  <c:v>114.1978031551562</c:v>
                </c:pt>
                <c:pt idx="145">
                  <c:v>115.6563462052561</c:v>
                </c:pt>
                <c:pt idx="146">
                  <c:v>115.4232080203819</c:v>
                </c:pt>
                <c:pt idx="147">
                  <c:v>114.8578540176118</c:v>
                </c:pt>
                <c:pt idx="148">
                  <c:v>113.4953765924306</c:v>
                </c:pt>
                <c:pt idx="149">
                  <c:v>113.7055990779338</c:v>
                </c:pt>
                <c:pt idx="150">
                  <c:v>112.3965118983303</c:v>
                </c:pt>
                <c:pt idx="151">
                  <c:v>110.5050796791985</c:v>
                </c:pt>
                <c:pt idx="152">
                  <c:v>110.765756758567</c:v>
                </c:pt>
                <c:pt idx="153">
                  <c:v>110.3433782014946</c:v>
                </c:pt>
                <c:pt idx="154">
                  <c:v>109.7723604592115</c:v>
                </c:pt>
                <c:pt idx="155">
                  <c:v>110.2613741226048</c:v>
                </c:pt>
                <c:pt idx="156">
                  <c:v>109.8837714237388</c:v>
                </c:pt>
                <c:pt idx="157">
                  <c:v>110.6275391704575</c:v>
                </c:pt>
                <c:pt idx="158">
                  <c:v>110.5057978689766</c:v>
                </c:pt>
                <c:pt idx="159">
                  <c:v>111.684012964358</c:v>
                </c:pt>
                <c:pt idx="160">
                  <c:v>113.2225017827296</c:v>
                </c:pt>
                <c:pt idx="161">
                  <c:v>112.9477030519684</c:v>
                </c:pt>
                <c:pt idx="162">
                  <c:v>114.029653822359</c:v>
                </c:pt>
                <c:pt idx="163">
                  <c:v>114.2061846757786</c:v>
                </c:pt>
                <c:pt idx="164">
                  <c:v>114.7574361201346</c:v>
                </c:pt>
                <c:pt idx="165">
                  <c:v>115.404082116119</c:v>
                </c:pt>
                <c:pt idx="166">
                  <c:v>115.356342725645</c:v>
                </c:pt>
                <c:pt idx="167">
                  <c:v>116.0007644132816</c:v>
                </c:pt>
                <c:pt idx="168">
                  <c:v>116.4443524584735</c:v>
                </c:pt>
                <c:pt idx="169">
                  <c:v>117.4793932259967</c:v>
                </c:pt>
                <c:pt idx="170">
                  <c:v>118.2598438917734</c:v>
                </c:pt>
                <c:pt idx="171">
                  <c:v>118.6581781442012</c:v>
                </c:pt>
                <c:pt idx="172">
                  <c:v>120.5674859852123</c:v>
                </c:pt>
                <c:pt idx="173">
                  <c:v>120.1355440387352</c:v>
                </c:pt>
                <c:pt idx="174">
                  <c:v>121.1345102713758</c:v>
                </c:pt>
                <c:pt idx="175">
                  <c:v>121.9222528968845</c:v>
                </c:pt>
                <c:pt idx="176">
                  <c:v>123.9014788270095</c:v>
                </c:pt>
                <c:pt idx="177">
                  <c:v>123.0885073197559</c:v>
                </c:pt>
                <c:pt idx="178">
                  <c:v>122.9284721303825</c:v>
                </c:pt>
                <c:pt idx="179">
                  <c:v>123.976228452288</c:v>
                </c:pt>
                <c:pt idx="180">
                  <c:v>122.8318020369248</c:v>
                </c:pt>
                <c:pt idx="181">
                  <c:v>122.7788512799293</c:v>
                </c:pt>
                <c:pt idx="182">
                  <c:v>122.0043163676467</c:v>
                </c:pt>
                <c:pt idx="183">
                  <c:v>121.2902229037042</c:v>
                </c:pt>
                <c:pt idx="184">
                  <c:v>121.9982133464955</c:v>
                </c:pt>
                <c:pt idx="185">
                  <c:v>122.8085032089678</c:v>
                </c:pt>
                <c:pt idx="186">
                  <c:v>125.0856590158815</c:v>
                </c:pt>
                <c:pt idx="187">
                  <c:v>124.8161017467225</c:v>
                </c:pt>
                <c:pt idx="188">
                  <c:v>125.5958197445712</c:v>
                </c:pt>
                <c:pt idx="189">
                  <c:v>125.7775624899948</c:v>
                </c:pt>
                <c:pt idx="190">
                  <c:v>127.9536884621609</c:v>
                </c:pt>
                <c:pt idx="191">
                  <c:v>128.8369476155366</c:v>
                </c:pt>
                <c:pt idx="192">
                  <c:v>131.4644511269385</c:v>
                </c:pt>
                <c:pt idx="193">
                  <c:v>124.4482797016235</c:v>
                </c:pt>
                <c:pt idx="194">
                  <c:v>125.3192274603701</c:v>
                </c:pt>
                <c:pt idx="195">
                  <c:v>125.1456570437769</c:v>
                </c:pt>
                <c:pt idx="196">
                  <c:v>125.9213770576539</c:v>
                </c:pt>
                <c:pt idx="197">
                  <c:v>126.6985270700397</c:v>
                </c:pt>
                <c:pt idx="198">
                  <c:v>128.0856566894799</c:v>
                </c:pt>
                <c:pt idx="199">
                  <c:v>129.2838041928679</c:v>
                </c:pt>
                <c:pt idx="200">
                  <c:v>125.1326039741097</c:v>
                </c:pt>
                <c:pt idx="201">
                  <c:v>123.7056199865777</c:v>
                </c:pt>
                <c:pt idx="202">
                  <c:v>124.2138069153843</c:v>
                </c:pt>
                <c:pt idx="203">
                  <c:v>124.2581731877102</c:v>
                </c:pt>
                <c:pt idx="204">
                  <c:v>123.8181374881448</c:v>
                </c:pt>
                <c:pt idx="205">
                  <c:v>126.1809172786377</c:v>
                </c:pt>
                <c:pt idx="206">
                  <c:v>126.6731331230573</c:v>
                </c:pt>
                <c:pt idx="207">
                  <c:v>125.4047195620665</c:v>
                </c:pt>
                <c:pt idx="208">
                  <c:v>126.5017005730377</c:v>
                </c:pt>
                <c:pt idx="209">
                  <c:v>125.4730749575013</c:v>
                </c:pt>
                <c:pt idx="210">
                  <c:v>128.2477053791138</c:v>
                </c:pt>
                <c:pt idx="211">
                  <c:v>129.8682757470847</c:v>
                </c:pt>
                <c:pt idx="212">
                  <c:v>128.0135308038837</c:v>
                </c:pt>
                <c:pt idx="213">
                  <c:v>129.1889481436076</c:v>
                </c:pt>
                <c:pt idx="214">
                  <c:v>130.0831177378171</c:v>
                </c:pt>
                <c:pt idx="215">
                  <c:v>130.039803016132</c:v>
                </c:pt>
                <c:pt idx="216">
                  <c:v>128.6483267729827</c:v>
                </c:pt>
                <c:pt idx="217">
                  <c:v>130.4524596550874</c:v>
                </c:pt>
                <c:pt idx="218">
                  <c:v>130.7276343442169</c:v>
                </c:pt>
                <c:pt idx="219">
                  <c:v>129.6607925480748</c:v>
                </c:pt>
                <c:pt idx="220">
                  <c:v>129.6627602937229</c:v>
                </c:pt>
                <c:pt idx="221">
                  <c:v>130.7169838559935</c:v>
                </c:pt>
                <c:pt idx="222">
                  <c:v>134.7731841221982</c:v>
                </c:pt>
                <c:pt idx="223">
                  <c:v>137.9075597944649</c:v>
                </c:pt>
                <c:pt idx="224">
                  <c:v>140.0791811140378</c:v>
                </c:pt>
                <c:pt idx="225">
                  <c:v>140.7158987216454</c:v>
                </c:pt>
                <c:pt idx="226">
                  <c:v>143.8023423696057</c:v>
                </c:pt>
                <c:pt idx="227">
                  <c:v>145.6765945315608</c:v>
                </c:pt>
                <c:pt idx="228">
                  <c:v>143.9125216750656</c:v>
                </c:pt>
                <c:pt idx="229">
                  <c:v>142.0101282006237</c:v>
                </c:pt>
                <c:pt idx="230">
                  <c:v>142.6293750209359</c:v>
                </c:pt>
                <c:pt idx="231">
                  <c:v>144.2636176040974</c:v>
                </c:pt>
                <c:pt idx="232">
                  <c:v>140.9836832933931</c:v>
                </c:pt>
                <c:pt idx="233">
                  <c:v>141.583678687437</c:v>
                </c:pt>
                <c:pt idx="234">
                  <c:v>142.7415070717648</c:v>
                </c:pt>
                <c:pt idx="235">
                  <c:v>145.7693575217002</c:v>
                </c:pt>
                <c:pt idx="236">
                  <c:v>146.1230232131437</c:v>
                </c:pt>
                <c:pt idx="237">
                  <c:v>147.8411249248796</c:v>
                </c:pt>
                <c:pt idx="238">
                  <c:v>145.4837907193979</c:v>
                </c:pt>
                <c:pt idx="239">
                  <c:v>144.8352662416621</c:v>
                </c:pt>
                <c:pt idx="240">
                  <c:v>145.1976278285642</c:v>
                </c:pt>
                <c:pt idx="241">
                  <c:v>146.9559367020557</c:v>
                </c:pt>
                <c:pt idx="242">
                  <c:v>148.7400820749838</c:v>
                </c:pt>
                <c:pt idx="243">
                  <c:v>146.3865084308947</c:v>
                </c:pt>
                <c:pt idx="244">
                  <c:v>149.0293786151365</c:v>
                </c:pt>
                <c:pt idx="245">
                  <c:v>147.5105803053414</c:v>
                </c:pt>
                <c:pt idx="246">
                  <c:v>147.6846498987126</c:v>
                </c:pt>
                <c:pt idx="247">
                  <c:v>145.8521237803476</c:v>
                </c:pt>
                <c:pt idx="248">
                  <c:v>146.7395537304041</c:v>
                </c:pt>
                <c:pt idx="249">
                  <c:v>141.9843560995617</c:v>
                </c:pt>
                <c:pt idx="250">
                  <c:v>144.7175065786649</c:v>
                </c:pt>
                <c:pt idx="251">
                  <c:v>140.3711489532141</c:v>
                </c:pt>
                <c:pt idx="252">
                  <c:v>139.5676698271253</c:v>
                </c:pt>
                <c:pt idx="253">
                  <c:v>140.0440061242681</c:v>
                </c:pt>
                <c:pt idx="254">
                  <c:v>142.8353460054518</c:v>
                </c:pt>
                <c:pt idx="255">
                  <c:v>143.5492773985926</c:v>
                </c:pt>
                <c:pt idx="256">
                  <c:v>140.0435137255458</c:v>
                </c:pt>
                <c:pt idx="257">
                  <c:v>138.130170119512</c:v>
                </c:pt>
                <c:pt idx="258">
                  <c:v>140.274914529759</c:v>
                </c:pt>
                <c:pt idx="259">
                  <c:v>141.2377071694648</c:v>
                </c:pt>
                <c:pt idx="260">
                  <c:v>141.0164399236397</c:v>
                </c:pt>
                <c:pt idx="261">
                  <c:v>141.0387294918614</c:v>
                </c:pt>
                <c:pt idx="262">
                  <c:v>136.7784425490196</c:v>
                </c:pt>
                <c:pt idx="263">
                  <c:v>142.3116264489754</c:v>
                </c:pt>
                <c:pt idx="264">
                  <c:v>142.8203564094966</c:v>
                </c:pt>
                <c:pt idx="265">
                  <c:v>145.6880350928383</c:v>
                </c:pt>
                <c:pt idx="266">
                  <c:v>142.7925272670899</c:v>
                </c:pt>
                <c:pt idx="267">
                  <c:v>141.6229483290989</c:v>
                </c:pt>
                <c:pt idx="268">
                  <c:v>141.728817499931</c:v>
                </c:pt>
                <c:pt idx="269">
                  <c:v>146.6683924515822</c:v>
                </c:pt>
                <c:pt idx="270">
                  <c:v>147.4791238078171</c:v>
                </c:pt>
                <c:pt idx="271">
                  <c:v>147.4532970801751</c:v>
                </c:pt>
                <c:pt idx="272">
                  <c:v>147.2442298005762</c:v>
                </c:pt>
                <c:pt idx="273">
                  <c:v>147.3331452433751</c:v>
                </c:pt>
                <c:pt idx="274">
                  <c:v>151.174138491767</c:v>
                </c:pt>
                <c:pt idx="275">
                  <c:v>154.104711318191</c:v>
                </c:pt>
                <c:pt idx="276">
                  <c:v>155.0982664962277</c:v>
                </c:pt>
                <c:pt idx="277">
                  <c:v>155.5563924953487</c:v>
                </c:pt>
                <c:pt idx="278">
                  <c:v>156.4999936023148</c:v>
                </c:pt>
                <c:pt idx="279">
                  <c:v>156.7125989521839</c:v>
                </c:pt>
                <c:pt idx="280">
                  <c:v>156.0111531426919</c:v>
                </c:pt>
                <c:pt idx="281">
                  <c:v>155.6173886899068</c:v>
                </c:pt>
                <c:pt idx="282">
                  <c:v>155.4342685755827</c:v>
                </c:pt>
                <c:pt idx="283">
                  <c:v>152.4284567812479</c:v>
                </c:pt>
                <c:pt idx="284">
                  <c:v>150.1254537331629</c:v>
                </c:pt>
                <c:pt idx="285">
                  <c:v>150.0633957019976</c:v>
                </c:pt>
                <c:pt idx="286">
                  <c:v>148.6982798292113</c:v>
                </c:pt>
                <c:pt idx="287">
                  <c:v>147.2479231635864</c:v>
                </c:pt>
                <c:pt idx="288">
                  <c:v>144.2871569262542</c:v>
                </c:pt>
                <c:pt idx="289">
                  <c:v>145.8176596515182</c:v>
                </c:pt>
                <c:pt idx="290">
                  <c:v>145.2268609676782</c:v>
                </c:pt>
                <c:pt idx="291">
                  <c:v>146.314769140972</c:v>
                </c:pt>
                <c:pt idx="292">
                  <c:v>147.505880691241</c:v>
                </c:pt>
                <c:pt idx="293">
                  <c:v>144.656440878964</c:v>
                </c:pt>
                <c:pt idx="294">
                  <c:v>144.431711484137</c:v>
                </c:pt>
                <c:pt idx="295">
                  <c:v>141.9339800879684</c:v>
                </c:pt>
                <c:pt idx="296">
                  <c:v>140.3966412789702</c:v>
                </c:pt>
                <c:pt idx="297">
                  <c:v>137.0052818565511</c:v>
                </c:pt>
                <c:pt idx="298">
                  <c:v>138.9916759133514</c:v>
                </c:pt>
                <c:pt idx="299">
                  <c:v>137.8831803065987</c:v>
                </c:pt>
                <c:pt idx="300">
                  <c:v>137.6327180744422</c:v>
                </c:pt>
                <c:pt idx="301">
                  <c:v>135.46543663763</c:v>
                </c:pt>
                <c:pt idx="302">
                  <c:v>138.8377209262166</c:v>
                </c:pt>
                <c:pt idx="303">
                  <c:v>138.9223817745264</c:v>
                </c:pt>
                <c:pt idx="304">
                  <c:v>137.7624796393772</c:v>
                </c:pt>
                <c:pt idx="305">
                  <c:v>139.5336425628863</c:v>
                </c:pt>
                <c:pt idx="306">
                  <c:v>137.9721435149648</c:v>
                </c:pt>
                <c:pt idx="307">
                  <c:v>137.2079362198195</c:v>
                </c:pt>
                <c:pt idx="308">
                  <c:v>136.9868381871973</c:v>
                </c:pt>
                <c:pt idx="309">
                  <c:v>136.0830970312045</c:v>
                </c:pt>
                <c:pt idx="310">
                  <c:v>135.1267095277888</c:v>
                </c:pt>
                <c:pt idx="311">
                  <c:v>135.9172827743721</c:v>
                </c:pt>
                <c:pt idx="312">
                  <c:v>132.3277518500439</c:v>
                </c:pt>
                <c:pt idx="313">
                  <c:v>132.2782680652321</c:v>
                </c:pt>
                <c:pt idx="314">
                  <c:v>131.766695917569</c:v>
                </c:pt>
                <c:pt idx="315">
                  <c:v>132.4617556506211</c:v>
                </c:pt>
                <c:pt idx="316">
                  <c:v>130.2266915153714</c:v>
                </c:pt>
                <c:pt idx="317">
                  <c:v>133.1147442980082</c:v>
                </c:pt>
                <c:pt idx="318">
                  <c:v>132.6066083473409</c:v>
                </c:pt>
                <c:pt idx="319">
                  <c:v>132.0461773948507</c:v>
                </c:pt>
                <c:pt idx="320">
                  <c:v>131.3314213993765</c:v>
                </c:pt>
                <c:pt idx="321">
                  <c:v>130.302181267594</c:v>
                </c:pt>
                <c:pt idx="322">
                  <c:v>129.9000635669196</c:v>
                </c:pt>
                <c:pt idx="323">
                  <c:v>129.8356110030081</c:v>
                </c:pt>
                <c:pt idx="324">
                  <c:v>131.6105659999328</c:v>
                </c:pt>
                <c:pt idx="325">
                  <c:v>132.0936394578359</c:v>
                </c:pt>
                <c:pt idx="326">
                  <c:v>132.3505238816624</c:v>
                </c:pt>
                <c:pt idx="327">
                  <c:v>133.2961322659068</c:v>
                </c:pt>
                <c:pt idx="328">
                  <c:v>135.3208437322142</c:v>
                </c:pt>
                <c:pt idx="329">
                  <c:v>134.7053353101638</c:v>
                </c:pt>
                <c:pt idx="330">
                  <c:v>133.8182196839424</c:v>
                </c:pt>
                <c:pt idx="331">
                  <c:v>134.211987592672</c:v>
                </c:pt>
                <c:pt idx="332">
                  <c:v>135.1169455381991</c:v>
                </c:pt>
                <c:pt idx="333">
                  <c:v>136.3738497825292</c:v>
                </c:pt>
                <c:pt idx="334">
                  <c:v>134.6565048877901</c:v>
                </c:pt>
                <c:pt idx="335">
                  <c:v>133.6082713900544</c:v>
                </c:pt>
                <c:pt idx="336">
                  <c:v>132.1762215736842</c:v>
                </c:pt>
                <c:pt idx="337">
                  <c:v>134.793499202407</c:v>
                </c:pt>
                <c:pt idx="338">
                  <c:v>138.694370329796</c:v>
                </c:pt>
                <c:pt idx="339">
                  <c:v>136.7329140287377</c:v>
                </c:pt>
                <c:pt idx="340">
                  <c:v>137.5769326196813</c:v>
                </c:pt>
                <c:pt idx="341">
                  <c:v>138.0405057203841</c:v>
                </c:pt>
                <c:pt idx="342">
                  <c:v>135.7327717160442</c:v>
                </c:pt>
                <c:pt idx="343">
                  <c:v>134.7632205610378</c:v>
                </c:pt>
                <c:pt idx="344">
                  <c:v>134.1869554776563</c:v>
                </c:pt>
                <c:pt idx="345">
                  <c:v>133.1243221927663</c:v>
                </c:pt>
                <c:pt idx="346">
                  <c:v>135.9916940071244</c:v>
                </c:pt>
                <c:pt idx="347">
                  <c:v>134.7011223301633</c:v>
                </c:pt>
                <c:pt idx="348">
                  <c:v>133.0533533747042</c:v>
                </c:pt>
                <c:pt idx="349">
                  <c:v>135.1903854881437</c:v>
                </c:pt>
                <c:pt idx="350">
                  <c:v>136.7912431638107</c:v>
                </c:pt>
                <c:pt idx="351">
                  <c:v>133.6944699384825</c:v>
                </c:pt>
                <c:pt idx="352">
                  <c:v>136.5884619339739</c:v>
                </c:pt>
                <c:pt idx="353">
                  <c:v>136.8079232800595</c:v>
                </c:pt>
              </c:numCache>
            </c:numRef>
          </c:val>
          <c:smooth val="0"/>
          <c:extLst>
            <c:ext xmlns:c16="http://schemas.microsoft.com/office/drawing/2014/chart" uri="{C3380CC4-5D6E-409C-BE32-E72D297353CC}">
              <c16:uniqueId val="{00000000-E7A6-40FB-B8E4-CDDE057B7709}"/>
            </c:ext>
          </c:extLst>
        </c:ser>
        <c:ser>
          <c:idx val="1"/>
          <c:order val="1"/>
          <c:tx>
            <c:strRef>
              <c:f>Sheet1!$C$1</c:f>
              <c:strCache>
                <c:ptCount val="1"/>
                <c:pt idx="0">
                  <c:v>Ibovespa</c:v>
                </c:pt>
              </c:strCache>
            </c:strRef>
          </c:tx>
          <c:spPr>
            <a:ln w="22225" cap="rnd">
              <a:solidFill>
                <a:srgbClr val="7E7E7E"/>
              </a:solidFill>
              <a:round/>
            </a:ln>
            <a:effectLst/>
          </c:spPr>
          <c:marker>
            <c:symbol val="none"/>
          </c:marker>
          <c:cat>
            <c:numRef>
              <c:f>Sheet1!$A$2:$A$355</c:f>
              <c:numCache>
                <c:formatCode>yyyy\-mm\-dd</c:formatCode>
                <c:ptCount val="354"/>
                <c:pt idx="0">
                  <c:v>45716.0</c:v>
                </c:pt>
                <c:pt idx="1">
                  <c:v>45721.0</c:v>
                </c:pt>
                <c:pt idx="2">
                  <c:v>45722.0</c:v>
                </c:pt>
                <c:pt idx="3">
                  <c:v>45723.0</c:v>
                </c:pt>
                <c:pt idx="4">
                  <c:v>45726.0</c:v>
                </c:pt>
                <c:pt idx="5">
                  <c:v>45727.0</c:v>
                </c:pt>
                <c:pt idx="6">
                  <c:v>45728.0</c:v>
                </c:pt>
                <c:pt idx="7">
                  <c:v>45729.0</c:v>
                </c:pt>
                <c:pt idx="8">
                  <c:v>45730.0</c:v>
                </c:pt>
                <c:pt idx="9">
                  <c:v>45733.0</c:v>
                </c:pt>
                <c:pt idx="10">
                  <c:v>45734.0</c:v>
                </c:pt>
                <c:pt idx="11">
                  <c:v>45735.0</c:v>
                </c:pt>
                <c:pt idx="12">
                  <c:v>45736.0</c:v>
                </c:pt>
                <c:pt idx="13">
                  <c:v>45737.0</c:v>
                </c:pt>
                <c:pt idx="14">
                  <c:v>45740.0</c:v>
                </c:pt>
                <c:pt idx="15">
                  <c:v>45741.0</c:v>
                </c:pt>
                <c:pt idx="16">
                  <c:v>45742.0</c:v>
                </c:pt>
                <c:pt idx="17">
                  <c:v>45743.0</c:v>
                </c:pt>
                <c:pt idx="18">
                  <c:v>45744.0</c:v>
                </c:pt>
                <c:pt idx="19">
                  <c:v>45747.0</c:v>
                </c:pt>
                <c:pt idx="20">
                  <c:v>45748.0</c:v>
                </c:pt>
                <c:pt idx="21">
                  <c:v>45749.0</c:v>
                </c:pt>
                <c:pt idx="22">
                  <c:v>45750.0</c:v>
                </c:pt>
                <c:pt idx="23">
                  <c:v>45751.0</c:v>
                </c:pt>
                <c:pt idx="24">
                  <c:v>45754.0</c:v>
                </c:pt>
                <c:pt idx="25">
                  <c:v>45755.0</c:v>
                </c:pt>
                <c:pt idx="26">
                  <c:v>45756.0</c:v>
                </c:pt>
                <c:pt idx="27">
                  <c:v>45757.0</c:v>
                </c:pt>
                <c:pt idx="28">
                  <c:v>45758.0</c:v>
                </c:pt>
                <c:pt idx="29">
                  <c:v>45761.0</c:v>
                </c:pt>
                <c:pt idx="30">
                  <c:v>45762.0</c:v>
                </c:pt>
                <c:pt idx="31">
                  <c:v>45763.0</c:v>
                </c:pt>
                <c:pt idx="32">
                  <c:v>45764.0</c:v>
                </c:pt>
                <c:pt idx="33">
                  <c:v>45769.0</c:v>
                </c:pt>
                <c:pt idx="34">
                  <c:v>45770.0</c:v>
                </c:pt>
                <c:pt idx="35">
                  <c:v>45771.0</c:v>
                </c:pt>
                <c:pt idx="36">
                  <c:v>45772.0</c:v>
                </c:pt>
                <c:pt idx="37">
                  <c:v>45775.0</c:v>
                </c:pt>
                <c:pt idx="38">
                  <c:v>45776.0</c:v>
                </c:pt>
                <c:pt idx="39">
                  <c:v>45777.0</c:v>
                </c:pt>
                <c:pt idx="40">
                  <c:v>45779.0</c:v>
                </c:pt>
                <c:pt idx="41">
                  <c:v>45782.0</c:v>
                </c:pt>
                <c:pt idx="42">
                  <c:v>45783.0</c:v>
                </c:pt>
                <c:pt idx="43">
                  <c:v>45784.0</c:v>
                </c:pt>
                <c:pt idx="44">
                  <c:v>45785.0</c:v>
                </c:pt>
                <c:pt idx="45">
                  <c:v>45786.0</c:v>
                </c:pt>
                <c:pt idx="46">
                  <c:v>45789.0</c:v>
                </c:pt>
                <c:pt idx="47">
                  <c:v>45790.0</c:v>
                </c:pt>
                <c:pt idx="48">
                  <c:v>45791.0</c:v>
                </c:pt>
                <c:pt idx="49">
                  <c:v>45792.0</c:v>
                </c:pt>
                <c:pt idx="50">
                  <c:v>45793.0</c:v>
                </c:pt>
                <c:pt idx="51">
                  <c:v>45796.0</c:v>
                </c:pt>
                <c:pt idx="52">
                  <c:v>45797.0</c:v>
                </c:pt>
                <c:pt idx="53">
                  <c:v>45798.0</c:v>
                </c:pt>
                <c:pt idx="54">
                  <c:v>45799.0</c:v>
                </c:pt>
                <c:pt idx="55">
                  <c:v>45800.0</c:v>
                </c:pt>
                <c:pt idx="56">
                  <c:v>45803.0</c:v>
                </c:pt>
                <c:pt idx="57">
                  <c:v>45804.0</c:v>
                </c:pt>
                <c:pt idx="58">
                  <c:v>45805.0</c:v>
                </c:pt>
                <c:pt idx="59">
                  <c:v>45806.0</c:v>
                </c:pt>
                <c:pt idx="60">
                  <c:v>45807.0</c:v>
                </c:pt>
                <c:pt idx="61">
                  <c:v>45810.0</c:v>
                </c:pt>
                <c:pt idx="62">
                  <c:v>45811.0</c:v>
                </c:pt>
                <c:pt idx="63">
                  <c:v>45812.0</c:v>
                </c:pt>
                <c:pt idx="64">
                  <c:v>45813.0</c:v>
                </c:pt>
                <c:pt idx="65">
                  <c:v>45814.0</c:v>
                </c:pt>
                <c:pt idx="66">
                  <c:v>45817.0</c:v>
                </c:pt>
                <c:pt idx="67">
                  <c:v>45818.0</c:v>
                </c:pt>
                <c:pt idx="68">
                  <c:v>45819.0</c:v>
                </c:pt>
                <c:pt idx="69">
                  <c:v>45820.0</c:v>
                </c:pt>
                <c:pt idx="70">
                  <c:v>45821.0</c:v>
                </c:pt>
                <c:pt idx="71">
                  <c:v>45824.0</c:v>
                </c:pt>
                <c:pt idx="72">
                  <c:v>45825.0</c:v>
                </c:pt>
                <c:pt idx="73">
                  <c:v>45826.0</c:v>
                </c:pt>
                <c:pt idx="74">
                  <c:v>45828.0</c:v>
                </c:pt>
                <c:pt idx="75">
                  <c:v>45831.0</c:v>
                </c:pt>
                <c:pt idx="76">
                  <c:v>45832.0</c:v>
                </c:pt>
                <c:pt idx="77">
                  <c:v>45833.0</c:v>
                </c:pt>
                <c:pt idx="78">
                  <c:v>45834.0</c:v>
                </c:pt>
                <c:pt idx="79">
                  <c:v>45835.0</c:v>
                </c:pt>
                <c:pt idx="80">
                  <c:v>45838.0</c:v>
                </c:pt>
                <c:pt idx="81">
                  <c:v>45839.0</c:v>
                </c:pt>
                <c:pt idx="82">
                  <c:v>45840.0</c:v>
                </c:pt>
                <c:pt idx="83">
                  <c:v>45841.0</c:v>
                </c:pt>
                <c:pt idx="84">
                  <c:v>45842.0</c:v>
                </c:pt>
                <c:pt idx="85">
                  <c:v>45845.0</c:v>
                </c:pt>
                <c:pt idx="86">
                  <c:v>45846.0</c:v>
                </c:pt>
                <c:pt idx="87">
                  <c:v>45847.0</c:v>
                </c:pt>
                <c:pt idx="88">
                  <c:v>45848.0</c:v>
                </c:pt>
                <c:pt idx="89">
                  <c:v>45849.0</c:v>
                </c:pt>
                <c:pt idx="90">
                  <c:v>45852.0</c:v>
                </c:pt>
                <c:pt idx="91">
                  <c:v>45853.0</c:v>
                </c:pt>
                <c:pt idx="92">
                  <c:v>45854.0</c:v>
                </c:pt>
                <c:pt idx="93">
                  <c:v>45855.0</c:v>
                </c:pt>
                <c:pt idx="94">
                  <c:v>45856.0</c:v>
                </c:pt>
                <c:pt idx="95">
                  <c:v>45859.0</c:v>
                </c:pt>
                <c:pt idx="96">
                  <c:v>45860.0</c:v>
                </c:pt>
                <c:pt idx="97">
                  <c:v>45861.0</c:v>
                </c:pt>
                <c:pt idx="98">
                  <c:v>45862.0</c:v>
                </c:pt>
                <c:pt idx="99">
                  <c:v>45863.0</c:v>
                </c:pt>
                <c:pt idx="100">
                  <c:v>45866.0</c:v>
                </c:pt>
                <c:pt idx="101">
                  <c:v>45867.0</c:v>
                </c:pt>
                <c:pt idx="102">
                  <c:v>45868.0</c:v>
                </c:pt>
                <c:pt idx="103">
                  <c:v>45869.0</c:v>
                </c:pt>
                <c:pt idx="104">
                  <c:v>45870.0</c:v>
                </c:pt>
                <c:pt idx="105">
                  <c:v>45873.0</c:v>
                </c:pt>
                <c:pt idx="106">
                  <c:v>45874.0</c:v>
                </c:pt>
                <c:pt idx="107">
                  <c:v>45875.0</c:v>
                </c:pt>
                <c:pt idx="108">
                  <c:v>45876.0</c:v>
                </c:pt>
                <c:pt idx="109">
                  <c:v>45877.0</c:v>
                </c:pt>
                <c:pt idx="110">
                  <c:v>45880.0</c:v>
                </c:pt>
                <c:pt idx="111">
                  <c:v>45881.0</c:v>
                </c:pt>
                <c:pt idx="112">
                  <c:v>45882.0</c:v>
                </c:pt>
                <c:pt idx="113">
                  <c:v>45883.0</c:v>
                </c:pt>
                <c:pt idx="114">
                  <c:v>45884.0</c:v>
                </c:pt>
                <c:pt idx="115">
                  <c:v>45887.0</c:v>
                </c:pt>
                <c:pt idx="116">
                  <c:v>45888.0</c:v>
                </c:pt>
                <c:pt idx="117">
                  <c:v>45889.0</c:v>
                </c:pt>
                <c:pt idx="118">
                  <c:v>45890.0</c:v>
                </c:pt>
                <c:pt idx="119">
                  <c:v>45891.0</c:v>
                </c:pt>
                <c:pt idx="120">
                  <c:v>45894.0</c:v>
                </c:pt>
                <c:pt idx="121">
                  <c:v>45895.0</c:v>
                </c:pt>
                <c:pt idx="122">
                  <c:v>45896.0</c:v>
                </c:pt>
                <c:pt idx="123">
                  <c:v>45897.0</c:v>
                </c:pt>
                <c:pt idx="124">
                  <c:v>45898.0</c:v>
                </c:pt>
                <c:pt idx="125">
                  <c:v>45901.0</c:v>
                </c:pt>
                <c:pt idx="126">
                  <c:v>45902.0</c:v>
                </c:pt>
                <c:pt idx="127">
                  <c:v>45903.0</c:v>
                </c:pt>
                <c:pt idx="128">
                  <c:v>45904.0</c:v>
                </c:pt>
                <c:pt idx="129">
                  <c:v>45905.0</c:v>
                </c:pt>
                <c:pt idx="130">
                  <c:v>45908.0</c:v>
                </c:pt>
                <c:pt idx="131">
                  <c:v>45909.0</c:v>
                </c:pt>
                <c:pt idx="132">
                  <c:v>45910.0</c:v>
                </c:pt>
                <c:pt idx="133">
                  <c:v>45911.0</c:v>
                </c:pt>
                <c:pt idx="134">
                  <c:v>45912.0</c:v>
                </c:pt>
                <c:pt idx="135">
                  <c:v>45915.0</c:v>
                </c:pt>
                <c:pt idx="136">
                  <c:v>45916.0</c:v>
                </c:pt>
                <c:pt idx="137">
                  <c:v>45917.0</c:v>
                </c:pt>
                <c:pt idx="138">
                  <c:v>45918.0</c:v>
                </c:pt>
                <c:pt idx="139">
                  <c:v>45919.0</c:v>
                </c:pt>
                <c:pt idx="140">
                  <c:v>45922.0</c:v>
                </c:pt>
                <c:pt idx="141">
                  <c:v>45923.0</c:v>
                </c:pt>
                <c:pt idx="142">
                  <c:v>45924.0</c:v>
                </c:pt>
                <c:pt idx="143">
                  <c:v>45925.0</c:v>
                </c:pt>
                <c:pt idx="144">
                  <c:v>45926.0</c:v>
                </c:pt>
                <c:pt idx="145">
                  <c:v>45929.0</c:v>
                </c:pt>
                <c:pt idx="146">
                  <c:v>45930.0</c:v>
                </c:pt>
                <c:pt idx="147">
                  <c:v>45931.0</c:v>
                </c:pt>
                <c:pt idx="148">
                  <c:v>45932.0</c:v>
                </c:pt>
                <c:pt idx="149">
                  <c:v>45933.0</c:v>
                </c:pt>
                <c:pt idx="150">
                  <c:v>45936.0</c:v>
                </c:pt>
                <c:pt idx="151">
                  <c:v>45937.0</c:v>
                </c:pt>
                <c:pt idx="152">
                  <c:v>45938.0</c:v>
                </c:pt>
                <c:pt idx="153">
                  <c:v>45939.0</c:v>
                </c:pt>
                <c:pt idx="154">
                  <c:v>45940.0</c:v>
                </c:pt>
                <c:pt idx="155">
                  <c:v>45943.0</c:v>
                </c:pt>
                <c:pt idx="156">
                  <c:v>45944.0</c:v>
                </c:pt>
                <c:pt idx="157">
                  <c:v>45945.0</c:v>
                </c:pt>
                <c:pt idx="158">
                  <c:v>45946.0</c:v>
                </c:pt>
                <c:pt idx="159">
                  <c:v>45947.0</c:v>
                </c:pt>
                <c:pt idx="160">
                  <c:v>45950.0</c:v>
                </c:pt>
                <c:pt idx="161">
                  <c:v>45951.0</c:v>
                </c:pt>
                <c:pt idx="162">
                  <c:v>45952.0</c:v>
                </c:pt>
                <c:pt idx="163">
                  <c:v>45953.0</c:v>
                </c:pt>
                <c:pt idx="164">
                  <c:v>45954.0</c:v>
                </c:pt>
                <c:pt idx="165">
                  <c:v>45957.0</c:v>
                </c:pt>
                <c:pt idx="166">
                  <c:v>45958.0</c:v>
                </c:pt>
                <c:pt idx="167">
                  <c:v>45959.0</c:v>
                </c:pt>
                <c:pt idx="168">
                  <c:v>45960.0</c:v>
                </c:pt>
                <c:pt idx="169">
                  <c:v>45961.0</c:v>
                </c:pt>
                <c:pt idx="170">
                  <c:v>45964.0</c:v>
                </c:pt>
                <c:pt idx="171">
                  <c:v>45965.0</c:v>
                </c:pt>
                <c:pt idx="172">
                  <c:v>45966.0</c:v>
                </c:pt>
                <c:pt idx="173">
                  <c:v>45967.0</c:v>
                </c:pt>
                <c:pt idx="174">
                  <c:v>45968.0</c:v>
                </c:pt>
                <c:pt idx="175">
                  <c:v>45971.0</c:v>
                </c:pt>
                <c:pt idx="176">
                  <c:v>45972.0</c:v>
                </c:pt>
                <c:pt idx="177">
                  <c:v>45973.0</c:v>
                </c:pt>
                <c:pt idx="178">
                  <c:v>45974.0</c:v>
                </c:pt>
                <c:pt idx="179">
                  <c:v>45975.0</c:v>
                </c:pt>
                <c:pt idx="180">
                  <c:v>45978.0</c:v>
                </c:pt>
                <c:pt idx="181">
                  <c:v>45979.0</c:v>
                </c:pt>
                <c:pt idx="182">
                  <c:v>45980.0</c:v>
                </c:pt>
                <c:pt idx="183">
                  <c:v>45982.0</c:v>
                </c:pt>
                <c:pt idx="184">
                  <c:v>45985.0</c:v>
                </c:pt>
                <c:pt idx="185">
                  <c:v>45986.0</c:v>
                </c:pt>
                <c:pt idx="186">
                  <c:v>45987.0</c:v>
                </c:pt>
                <c:pt idx="187">
                  <c:v>45988.0</c:v>
                </c:pt>
                <c:pt idx="188">
                  <c:v>45989.0</c:v>
                </c:pt>
                <c:pt idx="189">
                  <c:v>45992.0</c:v>
                </c:pt>
                <c:pt idx="190">
                  <c:v>45993.0</c:v>
                </c:pt>
                <c:pt idx="191">
                  <c:v>45994.0</c:v>
                </c:pt>
                <c:pt idx="192">
                  <c:v>45995.0</c:v>
                </c:pt>
                <c:pt idx="193">
                  <c:v>45996.0</c:v>
                </c:pt>
                <c:pt idx="194">
                  <c:v>45999.0</c:v>
                </c:pt>
                <c:pt idx="195">
                  <c:v>46000.0</c:v>
                </c:pt>
                <c:pt idx="196">
                  <c:v>46001.0</c:v>
                </c:pt>
                <c:pt idx="197">
                  <c:v>46002.0</c:v>
                </c:pt>
                <c:pt idx="198">
                  <c:v>46003.0</c:v>
                </c:pt>
                <c:pt idx="199">
                  <c:v>46006.0</c:v>
                </c:pt>
                <c:pt idx="200">
                  <c:v>46007.0</c:v>
                </c:pt>
                <c:pt idx="201">
                  <c:v>46008.0</c:v>
                </c:pt>
                <c:pt idx="202">
                  <c:v>46009.0</c:v>
                </c:pt>
                <c:pt idx="203">
                  <c:v>46010.0</c:v>
                </c:pt>
                <c:pt idx="204">
                  <c:v>46013.0</c:v>
                </c:pt>
                <c:pt idx="205">
                  <c:v>46014.0</c:v>
                </c:pt>
                <c:pt idx="206">
                  <c:v>46017.0</c:v>
                </c:pt>
                <c:pt idx="207">
                  <c:v>46020.0</c:v>
                </c:pt>
                <c:pt idx="208">
                  <c:v>46021.0</c:v>
                </c:pt>
                <c:pt idx="209">
                  <c:v>46024.0</c:v>
                </c:pt>
                <c:pt idx="210">
                  <c:v>46027.0</c:v>
                </c:pt>
                <c:pt idx="211">
                  <c:v>46028.0</c:v>
                </c:pt>
                <c:pt idx="212">
                  <c:v>46029.0</c:v>
                </c:pt>
                <c:pt idx="213">
                  <c:v>46030.0</c:v>
                </c:pt>
                <c:pt idx="214">
                  <c:v>46031.0</c:v>
                </c:pt>
                <c:pt idx="215">
                  <c:v>46034.0</c:v>
                </c:pt>
                <c:pt idx="216">
                  <c:v>46035.0</c:v>
                </c:pt>
                <c:pt idx="217">
                  <c:v>46036.0</c:v>
                </c:pt>
                <c:pt idx="218">
                  <c:v>46037.0</c:v>
                </c:pt>
                <c:pt idx="219">
                  <c:v>46038.0</c:v>
                </c:pt>
                <c:pt idx="220">
                  <c:v>46041.0</c:v>
                </c:pt>
                <c:pt idx="221">
                  <c:v>46042.0</c:v>
                </c:pt>
                <c:pt idx="222">
                  <c:v>46043.0</c:v>
                </c:pt>
                <c:pt idx="223">
                  <c:v>46044.0</c:v>
                </c:pt>
                <c:pt idx="224">
                  <c:v>46045.0</c:v>
                </c:pt>
                <c:pt idx="225">
                  <c:v>46048.0</c:v>
                </c:pt>
                <c:pt idx="226">
                  <c:v>46049.0</c:v>
                </c:pt>
                <c:pt idx="227">
                  <c:v>46050.0</c:v>
                </c:pt>
                <c:pt idx="228">
                  <c:v>46051.0</c:v>
                </c:pt>
                <c:pt idx="229">
                  <c:v>46052.0</c:v>
                </c:pt>
                <c:pt idx="230">
                  <c:v>46055.0</c:v>
                </c:pt>
                <c:pt idx="231">
                  <c:v>46056.0</c:v>
                </c:pt>
                <c:pt idx="232">
                  <c:v>46057.0</c:v>
                </c:pt>
                <c:pt idx="233">
                  <c:v>46058.0</c:v>
                </c:pt>
                <c:pt idx="234">
                  <c:v>46059.0</c:v>
                </c:pt>
                <c:pt idx="235">
                  <c:v>46062.0</c:v>
                </c:pt>
                <c:pt idx="236">
                  <c:v>46063.0</c:v>
                </c:pt>
                <c:pt idx="237">
                  <c:v>46064.0</c:v>
                </c:pt>
                <c:pt idx="238">
                  <c:v>46065.0</c:v>
                </c:pt>
                <c:pt idx="239">
                  <c:v>46066.0</c:v>
                </c:pt>
                <c:pt idx="240">
                  <c:v>46071.0</c:v>
                </c:pt>
                <c:pt idx="241">
                  <c:v>46072.0</c:v>
                </c:pt>
                <c:pt idx="242">
                  <c:v>46073.0</c:v>
                </c:pt>
                <c:pt idx="243">
                  <c:v>46076.0</c:v>
                </c:pt>
                <c:pt idx="244">
                  <c:v>46077.0</c:v>
                </c:pt>
                <c:pt idx="245">
                  <c:v>46078.0</c:v>
                </c:pt>
                <c:pt idx="246">
                  <c:v>46079.0</c:v>
                </c:pt>
                <c:pt idx="247">
                  <c:v>46080.0</c:v>
                </c:pt>
                <c:pt idx="248">
                  <c:v>46083.0</c:v>
                </c:pt>
                <c:pt idx="249">
                  <c:v>46084.0</c:v>
                </c:pt>
                <c:pt idx="250">
                  <c:v>46085.0</c:v>
                </c:pt>
                <c:pt idx="251">
                  <c:v>46086.0</c:v>
                </c:pt>
                <c:pt idx="252">
                  <c:v>46087.0</c:v>
                </c:pt>
                <c:pt idx="253">
                  <c:v>46090.0</c:v>
                </c:pt>
                <c:pt idx="254">
                  <c:v>46091.0</c:v>
                </c:pt>
                <c:pt idx="255">
                  <c:v>46092.0</c:v>
                </c:pt>
                <c:pt idx="256">
                  <c:v>46093.0</c:v>
                </c:pt>
                <c:pt idx="257">
                  <c:v>46094.0</c:v>
                </c:pt>
                <c:pt idx="258">
                  <c:v>46097.0</c:v>
                </c:pt>
                <c:pt idx="259">
                  <c:v>46098.0</c:v>
                </c:pt>
                <c:pt idx="260">
                  <c:v>46099.0</c:v>
                </c:pt>
                <c:pt idx="261">
                  <c:v>46100.0</c:v>
                </c:pt>
                <c:pt idx="262">
                  <c:v>46101.0</c:v>
                </c:pt>
                <c:pt idx="263">
                  <c:v>46104.0</c:v>
                </c:pt>
                <c:pt idx="264">
                  <c:v>46105.0</c:v>
                </c:pt>
                <c:pt idx="265">
                  <c:v>46106.0</c:v>
                </c:pt>
                <c:pt idx="266">
                  <c:v>46107.0</c:v>
                </c:pt>
                <c:pt idx="267">
                  <c:v>46108.0</c:v>
                </c:pt>
                <c:pt idx="268">
                  <c:v>46111.0</c:v>
                </c:pt>
                <c:pt idx="269">
                  <c:v>46112.0</c:v>
                </c:pt>
                <c:pt idx="270">
                  <c:v>46113.0</c:v>
                </c:pt>
                <c:pt idx="271">
                  <c:v>46114.0</c:v>
                </c:pt>
                <c:pt idx="272">
                  <c:v>46118.0</c:v>
                </c:pt>
                <c:pt idx="273">
                  <c:v>46119.0</c:v>
                </c:pt>
                <c:pt idx="274">
                  <c:v>46120.0</c:v>
                </c:pt>
                <c:pt idx="275">
                  <c:v>46121.0</c:v>
                </c:pt>
                <c:pt idx="276">
                  <c:v>46122.0</c:v>
                </c:pt>
                <c:pt idx="277">
                  <c:v>46125.0</c:v>
                </c:pt>
                <c:pt idx="278">
                  <c:v>46126.0</c:v>
                </c:pt>
                <c:pt idx="279">
                  <c:v>46127.0</c:v>
                </c:pt>
                <c:pt idx="280">
                  <c:v>46128.0</c:v>
                </c:pt>
                <c:pt idx="281">
                  <c:v>46129.0</c:v>
                </c:pt>
                <c:pt idx="282">
                  <c:v>46132.0</c:v>
                </c:pt>
                <c:pt idx="283">
                  <c:v>46134.0</c:v>
                </c:pt>
                <c:pt idx="284">
                  <c:v>46135.0</c:v>
                </c:pt>
                <c:pt idx="285">
                  <c:v>46136.0</c:v>
                </c:pt>
                <c:pt idx="286">
                  <c:v>46139.0</c:v>
                </c:pt>
                <c:pt idx="287">
                  <c:v>46140.0</c:v>
                </c:pt>
                <c:pt idx="288">
                  <c:v>46141.0</c:v>
                </c:pt>
                <c:pt idx="289">
                  <c:v>46142.0</c:v>
                </c:pt>
                <c:pt idx="290">
                  <c:v>46146.0</c:v>
                </c:pt>
                <c:pt idx="291">
                  <c:v>46147.0</c:v>
                </c:pt>
                <c:pt idx="292">
                  <c:v>46148.0</c:v>
                </c:pt>
                <c:pt idx="293">
                  <c:v>46149.0</c:v>
                </c:pt>
                <c:pt idx="294">
                  <c:v>46150.0</c:v>
                </c:pt>
                <c:pt idx="295">
                  <c:v>46153.0</c:v>
                </c:pt>
                <c:pt idx="296">
                  <c:v>46154.0</c:v>
                </c:pt>
                <c:pt idx="297">
                  <c:v>46155.0</c:v>
                </c:pt>
                <c:pt idx="298">
                  <c:v>46156.0</c:v>
                </c:pt>
                <c:pt idx="299">
                  <c:v>46157.0</c:v>
                </c:pt>
                <c:pt idx="300">
                  <c:v>46160.0</c:v>
                </c:pt>
                <c:pt idx="301">
                  <c:v>46161.0</c:v>
                </c:pt>
                <c:pt idx="302">
                  <c:v>46162.0</c:v>
                </c:pt>
                <c:pt idx="303">
                  <c:v>46163.0</c:v>
                </c:pt>
                <c:pt idx="304">
                  <c:v>46164.0</c:v>
                </c:pt>
                <c:pt idx="305">
                  <c:v>46167.0</c:v>
                </c:pt>
                <c:pt idx="306">
                  <c:v>46168.0</c:v>
                </c:pt>
                <c:pt idx="307">
                  <c:v>46169.0</c:v>
                </c:pt>
                <c:pt idx="308">
                  <c:v>46170.0</c:v>
                </c:pt>
                <c:pt idx="309">
                  <c:v>46171.0</c:v>
                </c:pt>
                <c:pt idx="310">
                  <c:v>46174.0</c:v>
                </c:pt>
                <c:pt idx="311">
                  <c:v>46175.0</c:v>
                </c:pt>
                <c:pt idx="312">
                  <c:v>46176.0</c:v>
                </c:pt>
                <c:pt idx="313">
                  <c:v>46178.0</c:v>
                </c:pt>
                <c:pt idx="314">
                  <c:v>46181.0</c:v>
                </c:pt>
                <c:pt idx="315">
                  <c:v>46182.0</c:v>
                </c:pt>
                <c:pt idx="316">
                  <c:v>46183.0</c:v>
                </c:pt>
                <c:pt idx="317">
                  <c:v>46184.0</c:v>
                </c:pt>
                <c:pt idx="318">
                  <c:v>46185.0</c:v>
                </c:pt>
                <c:pt idx="319">
                  <c:v>46188.0</c:v>
                </c:pt>
                <c:pt idx="320">
                  <c:v>46189.0</c:v>
                </c:pt>
                <c:pt idx="321">
                  <c:v>46190.0</c:v>
                </c:pt>
                <c:pt idx="322">
                  <c:v>46191.0</c:v>
                </c:pt>
                <c:pt idx="323">
                  <c:v>46192.0</c:v>
                </c:pt>
                <c:pt idx="324">
                  <c:v>46195.0</c:v>
                </c:pt>
                <c:pt idx="325">
                  <c:v>46196.0</c:v>
                </c:pt>
                <c:pt idx="326">
                  <c:v>46197.0</c:v>
                </c:pt>
                <c:pt idx="327">
                  <c:v>46198.0</c:v>
                </c:pt>
                <c:pt idx="328">
                  <c:v>46199.0</c:v>
                </c:pt>
                <c:pt idx="329">
                  <c:v>46202.0</c:v>
                </c:pt>
                <c:pt idx="330">
                  <c:v>46203.0</c:v>
                </c:pt>
                <c:pt idx="331">
                  <c:v>46204.0</c:v>
                </c:pt>
                <c:pt idx="332">
                  <c:v>46205.0</c:v>
                </c:pt>
                <c:pt idx="333">
                  <c:v>46206.0</c:v>
                </c:pt>
                <c:pt idx="334">
                  <c:v>46209.0</c:v>
                </c:pt>
                <c:pt idx="335">
                  <c:v>46210.0</c:v>
                </c:pt>
                <c:pt idx="336">
                  <c:v>46211.0</c:v>
                </c:pt>
                <c:pt idx="337">
                  <c:v>46212.0</c:v>
                </c:pt>
                <c:pt idx="338">
                  <c:v>46213.0</c:v>
                </c:pt>
                <c:pt idx="339">
                  <c:v>46216.0</c:v>
                </c:pt>
                <c:pt idx="340">
                  <c:v>46217.0</c:v>
                </c:pt>
                <c:pt idx="341">
                  <c:v>46218.0</c:v>
                </c:pt>
                <c:pt idx="342">
                  <c:v>46219.0</c:v>
                </c:pt>
                <c:pt idx="343">
                  <c:v>46220.0</c:v>
                </c:pt>
                <c:pt idx="344">
                  <c:v>46223.0</c:v>
                </c:pt>
                <c:pt idx="345">
                  <c:v>46224.0</c:v>
                </c:pt>
                <c:pt idx="346">
                  <c:v>46225.0</c:v>
                </c:pt>
                <c:pt idx="347">
                  <c:v>46226.0</c:v>
                </c:pt>
                <c:pt idx="348">
                  <c:v>46227.0</c:v>
                </c:pt>
                <c:pt idx="349">
                  <c:v>46230.0</c:v>
                </c:pt>
                <c:pt idx="350">
                  <c:v>46231.0</c:v>
                </c:pt>
                <c:pt idx="351">
                  <c:v>46232.0</c:v>
                </c:pt>
                <c:pt idx="352">
                  <c:v>46233.0</c:v>
                </c:pt>
                <c:pt idx="353">
                  <c:v>46234.0</c:v>
                </c:pt>
              </c:numCache>
            </c:numRef>
          </c:cat>
          <c:val>
            <c:numRef>
              <c:f>Sheet1!$C$2:$C$355</c:f>
              <c:numCache>
                <c:formatCode>General</c:formatCode>
                <c:ptCount val="354"/>
                <c:pt idx="0">
                  <c:v>100.0</c:v>
                </c:pt>
                <c:pt idx="1">
                  <c:v>100.2017604527851</c:v>
                </c:pt>
                <c:pt idx="2">
                  <c:v>100.4547753570487</c:v>
                </c:pt>
                <c:pt idx="3">
                  <c:v>101.8204858032743</c:v>
                </c:pt>
                <c:pt idx="4">
                  <c:v>101.4008980033973</c:v>
                </c:pt>
                <c:pt idx="5">
                  <c:v>100.5767632317145</c:v>
                </c:pt>
                <c:pt idx="6">
                  <c:v>100.8667898109017</c:v>
                </c:pt>
                <c:pt idx="7">
                  <c:v>102.3111083315031</c:v>
                </c:pt>
                <c:pt idx="8">
                  <c:v>105.0146951414705</c:v>
                </c:pt>
                <c:pt idx="9">
                  <c:v>106.5431022330866</c:v>
                </c:pt>
                <c:pt idx="10">
                  <c:v>107.0649057741389</c:v>
                </c:pt>
                <c:pt idx="11">
                  <c:v>107.9067035431615</c:v>
                </c:pt>
                <c:pt idx="12">
                  <c:v>107.4559265870781</c:v>
                </c:pt>
                <c:pt idx="13">
                  <c:v>107.7735022303504</c:v>
                </c:pt>
                <c:pt idx="14">
                  <c:v>106.9400758588683</c:v>
                </c:pt>
                <c:pt idx="15">
                  <c:v>107.5477758019217</c:v>
                </c:pt>
                <c:pt idx="16">
                  <c:v>107.9158078451559</c:v>
                </c:pt>
                <c:pt idx="17">
                  <c:v>108.4281243452211</c:v>
                </c:pt>
                <c:pt idx="18">
                  <c:v>107.4129946728433</c:v>
                </c:pt>
                <c:pt idx="19">
                  <c:v>106.0753300370548</c:v>
                </c:pt>
                <c:pt idx="20">
                  <c:v>106.7982588470322</c:v>
                </c:pt>
                <c:pt idx="21">
                  <c:v>106.8333161100787</c:v>
                </c:pt>
                <c:pt idx="22">
                  <c:v>106.7928516408387</c:v>
                </c:pt>
                <c:pt idx="23">
                  <c:v>103.6294324330905</c:v>
                </c:pt>
                <c:pt idx="24">
                  <c:v>102.2711894689122</c:v>
                </c:pt>
                <c:pt idx="25">
                  <c:v>100.9224824060178</c:v>
                </c:pt>
                <c:pt idx="26">
                  <c:v>104.069118101771</c:v>
                </c:pt>
                <c:pt idx="27">
                  <c:v>102.8955100563042</c:v>
                </c:pt>
                <c:pt idx="28">
                  <c:v>103.9766662765986</c:v>
                </c:pt>
                <c:pt idx="29">
                  <c:v>105.4192746868075</c:v>
                </c:pt>
                <c:pt idx="30">
                  <c:v>105.2494688682139</c:v>
                </c:pt>
                <c:pt idx="31">
                  <c:v>104.493355773239</c:v>
                </c:pt>
                <c:pt idx="32">
                  <c:v>105.5789827107025</c:v>
                </c:pt>
                <c:pt idx="33">
                  <c:v>106.2421390907701</c:v>
                </c:pt>
                <c:pt idx="34">
                  <c:v>107.6686073162269</c:v>
                </c:pt>
                <c:pt idx="35">
                  <c:v>109.5939961770075</c:v>
                </c:pt>
                <c:pt idx="36">
                  <c:v>109.7233538131268</c:v>
                </c:pt>
                <c:pt idx="37">
                  <c:v>109.9486079253519</c:v>
                </c:pt>
                <c:pt idx="38">
                  <c:v>110.0113934069055</c:v>
                </c:pt>
                <c:pt idx="39">
                  <c:v>109.990204324804</c:v>
                </c:pt>
                <c:pt idx="40">
                  <c:v>110.0446916992626</c:v>
                </c:pt>
                <c:pt idx="41">
                  <c:v>108.7070189200914</c:v>
                </c:pt>
                <c:pt idx="42">
                  <c:v>108.7270434984494</c:v>
                </c:pt>
                <c:pt idx="43">
                  <c:v>108.6307072796712</c:v>
                </c:pt>
                <c:pt idx="44">
                  <c:v>110.9388514198273</c:v>
                </c:pt>
                <c:pt idx="45">
                  <c:v>111.1668498520632</c:v>
                </c:pt>
                <c:pt idx="46">
                  <c:v>111.2086254059375</c:v>
                </c:pt>
                <c:pt idx="47">
                  <c:v>113.1629802794141</c:v>
                </c:pt>
                <c:pt idx="48">
                  <c:v>112.7230177357177</c:v>
                </c:pt>
                <c:pt idx="49">
                  <c:v>113.4653196534274</c:v>
                </c:pt>
                <c:pt idx="50">
                  <c:v>113.3456200693344</c:v>
                </c:pt>
                <c:pt idx="51">
                  <c:v>113.7112742447847</c:v>
                </c:pt>
                <c:pt idx="52">
                  <c:v>114.096635406663</c:v>
                </c:pt>
                <c:pt idx="53">
                  <c:v>112.2819965522546</c:v>
                </c:pt>
                <c:pt idx="54">
                  <c:v>111.7863251266764</c:v>
                </c:pt>
                <c:pt idx="55">
                  <c:v>112.2355955569378</c:v>
                </c:pt>
                <c:pt idx="56">
                  <c:v>112.4895469502258</c:v>
                </c:pt>
                <c:pt idx="57">
                  <c:v>113.6337655270898</c:v>
                </c:pt>
                <c:pt idx="58">
                  <c:v>113.1016606067683</c:v>
                </c:pt>
                <c:pt idx="59">
                  <c:v>112.8132952776767</c:v>
                </c:pt>
                <c:pt idx="60">
                  <c:v>111.5860223394164</c:v>
                </c:pt>
                <c:pt idx="61">
                  <c:v>111.3906055818492</c:v>
                </c:pt>
                <c:pt idx="62">
                  <c:v>112.009185084352</c:v>
                </c:pt>
                <c:pt idx="63">
                  <c:v>111.5656313088313</c:v>
                </c:pt>
                <c:pt idx="64">
                  <c:v>110.9424915119485</c:v>
                </c:pt>
                <c:pt idx="65">
                  <c:v>110.8331503108044</c:v>
                </c:pt>
                <c:pt idx="66">
                  <c:v>110.5051999978176</c:v>
                </c:pt>
                <c:pt idx="67">
                  <c:v>111.1051148668936</c:v>
                </c:pt>
                <c:pt idx="68">
                  <c:v>111.6686125279919</c:v>
                </c:pt>
                <c:pt idx="69">
                  <c:v>112.215603552111</c:v>
                </c:pt>
                <c:pt idx="70">
                  <c:v>111.7374974032788</c:v>
                </c:pt>
                <c:pt idx="71">
                  <c:v>113.4014185284272</c:v>
                </c:pt>
                <c:pt idx="72">
                  <c:v>113.0627433802645</c:v>
                </c:pt>
                <c:pt idx="73">
                  <c:v>112.962270323013</c:v>
                </c:pt>
                <c:pt idx="74">
                  <c:v>111.6586694575668</c:v>
                </c:pt>
                <c:pt idx="75">
                  <c:v>111.1982995965198</c:v>
                </c:pt>
                <c:pt idx="76">
                  <c:v>111.69839287897</c:v>
                </c:pt>
                <c:pt idx="77">
                  <c:v>110.5605017105583</c:v>
                </c:pt>
                <c:pt idx="78">
                  <c:v>111.6570896412995</c:v>
                </c:pt>
                <c:pt idx="79">
                  <c:v>111.4550523134984</c:v>
                </c:pt>
                <c:pt idx="80">
                  <c:v>113.0746164324182</c:v>
                </c:pt>
                <c:pt idx="81">
                  <c:v>113.6404431010034</c:v>
                </c:pt>
                <c:pt idx="82">
                  <c:v>113.2344954673524</c:v>
                </c:pt>
                <c:pt idx="83">
                  <c:v>114.7629514192654</c:v>
                </c:pt>
                <c:pt idx="84">
                  <c:v>115.0363247805827</c:v>
                </c:pt>
                <c:pt idx="85">
                  <c:v>113.5918026754107</c:v>
                </c:pt>
                <c:pt idx="86">
                  <c:v>113.4396435673913</c:v>
                </c:pt>
                <c:pt idx="87">
                  <c:v>111.9558703570197</c:v>
                </c:pt>
                <c:pt idx="88">
                  <c:v>111.3552714437868</c:v>
                </c:pt>
                <c:pt idx="89">
                  <c:v>110.9025400758263</c:v>
                </c:pt>
                <c:pt idx="90">
                  <c:v>110.1791470930281</c:v>
                </c:pt>
                <c:pt idx="91">
                  <c:v>110.1393340944139</c:v>
                </c:pt>
                <c:pt idx="92">
                  <c:v>110.3517868088436</c:v>
                </c:pt>
                <c:pt idx="93">
                  <c:v>110.3955574915091</c:v>
                </c:pt>
                <c:pt idx="94">
                  <c:v>108.6177267274538</c:v>
                </c:pt>
                <c:pt idx="95">
                  <c:v>109.2570962862998</c:v>
                </c:pt>
                <c:pt idx="96">
                  <c:v>109.1504179713384</c:v>
                </c:pt>
                <c:pt idx="97">
                  <c:v>110.2355644492154</c:v>
                </c:pt>
                <c:pt idx="98">
                  <c:v>108.9646429790319</c:v>
                </c:pt>
                <c:pt idx="99">
                  <c:v>108.7338513664881</c:v>
                </c:pt>
                <c:pt idx="100">
                  <c:v>107.5979146099535</c:v>
                </c:pt>
                <c:pt idx="101">
                  <c:v>108.0836022481926</c:v>
                </c:pt>
                <c:pt idx="102">
                  <c:v>109.1129746971252</c:v>
                </c:pt>
                <c:pt idx="103">
                  <c:v>108.3648502606982</c:v>
                </c:pt>
                <c:pt idx="104">
                  <c:v>107.848836664832</c:v>
                </c:pt>
                <c:pt idx="105">
                  <c:v>108.2835385832257</c:v>
                </c:pt>
                <c:pt idx="106">
                  <c:v>108.4302009078406</c:v>
                </c:pt>
                <c:pt idx="107">
                  <c:v>109.5591343551487</c:v>
                </c:pt>
                <c:pt idx="108">
                  <c:v>111.1796593932414</c:v>
                </c:pt>
                <c:pt idx="109">
                  <c:v>110.6793625262207</c:v>
                </c:pt>
                <c:pt idx="110">
                  <c:v>110.4431229905694</c:v>
                </c:pt>
                <c:pt idx="111">
                  <c:v>112.308389255979</c:v>
                </c:pt>
                <c:pt idx="112">
                  <c:v>111.3097173602834</c:v>
                </c:pt>
                <c:pt idx="113">
                  <c:v>111.0397316462199</c:v>
                </c:pt>
                <c:pt idx="114">
                  <c:v>111.0275084286048</c:v>
                </c:pt>
                <c:pt idx="115">
                  <c:v>111.8262684194158</c:v>
                </c:pt>
                <c:pt idx="116">
                  <c:v>109.4733356737416</c:v>
                </c:pt>
                <c:pt idx="117">
                  <c:v>109.6640536994207</c:v>
                </c:pt>
                <c:pt idx="118">
                  <c:v>109.5373345193356</c:v>
                </c:pt>
                <c:pt idx="119">
                  <c:v>112.3527462622076</c:v>
                </c:pt>
                <c:pt idx="120">
                  <c:v>112.3991798310558</c:v>
                </c:pt>
                <c:pt idx="121">
                  <c:v>112.1925170618121</c:v>
                </c:pt>
                <c:pt idx="122">
                  <c:v>113.3606201804916</c:v>
                </c:pt>
                <c:pt idx="123">
                  <c:v>114.8617632264213</c:v>
                </c:pt>
                <c:pt idx="124">
                  <c:v>115.1655602659596</c:v>
                </c:pt>
                <c:pt idx="125">
                  <c:v>115.0521636601705</c:v>
                </c:pt>
                <c:pt idx="126">
                  <c:v>114.280293119436</c:v>
                </c:pt>
                <c:pt idx="127">
                  <c:v>113.8963081892545</c:v>
                </c:pt>
                <c:pt idx="128">
                  <c:v>114.8162009995351</c:v>
                </c:pt>
                <c:pt idx="129">
                  <c:v>116.1573265730227</c:v>
                </c:pt>
                <c:pt idx="130">
                  <c:v>115.4663116803227</c:v>
                </c:pt>
                <c:pt idx="131">
                  <c:v>115.3251949994092</c:v>
                </c:pt>
                <c:pt idx="132">
                  <c:v>115.9199958240733</c:v>
                </c:pt>
                <c:pt idx="133">
                  <c:v>116.5732091337159</c:v>
                </c:pt>
                <c:pt idx="134">
                  <c:v>115.857194055754</c:v>
                </c:pt>
                <c:pt idx="135">
                  <c:v>116.8954753654933</c:v>
                </c:pt>
                <c:pt idx="136">
                  <c:v>117.314989874925</c:v>
                </c:pt>
                <c:pt idx="137">
                  <c:v>118.5624665459654</c:v>
                </c:pt>
                <c:pt idx="138">
                  <c:v>118.485804740084</c:v>
                </c:pt>
                <c:pt idx="139">
                  <c:v>118.7835431028031</c:v>
                </c:pt>
                <c:pt idx="140">
                  <c:v>118.1680173688584</c:v>
                </c:pt>
                <c:pt idx="141">
                  <c:v>119.2394341032983</c:v>
                </c:pt>
                <c:pt idx="142">
                  <c:v>119.2938400439287</c:v>
                </c:pt>
                <c:pt idx="143">
                  <c:v>118.328425723676</c:v>
                </c:pt>
                <c:pt idx="144">
                  <c:v>118.4427832486381</c:v>
                </c:pt>
                <c:pt idx="145">
                  <c:v>119.1676583271097</c:v>
                </c:pt>
                <c:pt idx="146">
                  <c:v>119.086403653317</c:v>
                </c:pt>
                <c:pt idx="147">
                  <c:v>118.5003488218032</c:v>
                </c:pt>
                <c:pt idx="148">
                  <c:v>117.2237025534961</c:v>
                </c:pt>
                <c:pt idx="149">
                  <c:v>117.4281096056982</c:v>
                </c:pt>
                <c:pt idx="150">
                  <c:v>116.9455571698455</c:v>
                </c:pt>
                <c:pt idx="151">
                  <c:v>115.1119523768458</c:v>
                </c:pt>
                <c:pt idx="152">
                  <c:v>115.7544245645469</c:v>
                </c:pt>
                <c:pt idx="153">
                  <c:v>115.3984040109743</c:v>
                </c:pt>
                <c:pt idx="154">
                  <c:v>114.561386407668</c:v>
                </c:pt>
                <c:pt idx="155">
                  <c:v>115.4596178196434</c:v>
                </c:pt>
                <c:pt idx="156">
                  <c:v>115.3778826862642</c:v>
                </c:pt>
                <c:pt idx="157">
                  <c:v>116.1276195124899</c:v>
                </c:pt>
                <c:pt idx="158">
                  <c:v>115.7989200082834</c:v>
                </c:pt>
                <c:pt idx="159">
                  <c:v>116.7749940166495</c:v>
                </c:pt>
                <c:pt idx="160">
                  <c:v>117.679471403249</c:v>
                </c:pt>
                <c:pt idx="161">
                  <c:v>117.3340535341101</c:v>
                </c:pt>
                <c:pt idx="162">
                  <c:v>117.9754589386615</c:v>
                </c:pt>
                <c:pt idx="163">
                  <c:v>118.6661725261971</c:v>
                </c:pt>
                <c:pt idx="164">
                  <c:v>119.0336263892509</c:v>
                </c:pt>
                <c:pt idx="165">
                  <c:v>119.6825644229123</c:v>
                </c:pt>
                <c:pt idx="166">
                  <c:v>120.0569971650441</c:v>
                </c:pt>
                <c:pt idx="167">
                  <c:v>121.0374848868994</c:v>
                </c:pt>
                <c:pt idx="168">
                  <c:v>121.1574287724771</c:v>
                </c:pt>
                <c:pt idx="169">
                  <c:v>121.7764968779492</c:v>
                </c:pt>
                <c:pt idx="170">
                  <c:v>122.5206473435593</c:v>
                </c:pt>
                <c:pt idx="171">
                  <c:v>122.7241993405652</c:v>
                </c:pt>
                <c:pt idx="172">
                  <c:v>124.8335309325175</c:v>
                </c:pt>
                <c:pt idx="173">
                  <c:v>124.8695165412056</c:v>
                </c:pt>
                <c:pt idx="174">
                  <c:v>125.4598303619351</c:v>
                </c:pt>
                <c:pt idx="175">
                  <c:v>126.4319711163983</c:v>
                </c:pt>
                <c:pt idx="176">
                  <c:v>128.4607239353321</c:v>
                </c:pt>
                <c:pt idx="177">
                  <c:v>128.3665049960875</c:v>
                </c:pt>
                <c:pt idx="178">
                  <c:v>127.9833832644851</c:v>
                </c:pt>
                <c:pt idx="179">
                  <c:v>128.452653842956</c:v>
                </c:pt>
                <c:pt idx="180">
                  <c:v>127.8453529256609</c:v>
                </c:pt>
                <c:pt idx="181">
                  <c:v>127.4619624624254</c:v>
                </c:pt>
                <c:pt idx="182">
                  <c:v>126.5324197435014</c:v>
                </c:pt>
                <c:pt idx="183">
                  <c:v>126.0352173619528</c:v>
                </c:pt>
                <c:pt idx="184">
                  <c:v>126.4484614666118</c:v>
                </c:pt>
                <c:pt idx="185">
                  <c:v>126.9636281506646</c:v>
                </c:pt>
                <c:pt idx="186">
                  <c:v>129.1173574657597</c:v>
                </c:pt>
                <c:pt idx="187">
                  <c:v>128.95841491985</c:v>
                </c:pt>
                <c:pt idx="188">
                  <c:v>129.5385250819041</c:v>
                </c:pt>
                <c:pt idx="189">
                  <c:v>129.1630174132398</c:v>
                </c:pt>
                <c:pt idx="190">
                  <c:v>131.183586132438</c:v>
                </c:pt>
                <c:pt idx="191">
                  <c:v>131.7234354098227</c:v>
                </c:pt>
                <c:pt idx="192">
                  <c:v>133.922498937085</c:v>
                </c:pt>
                <c:pt idx="193">
                  <c:v>128.1518942852101</c:v>
                </c:pt>
                <c:pt idx="194">
                  <c:v>128.8180800036873</c:v>
                </c:pt>
                <c:pt idx="195">
                  <c:v>128.6500820160801</c:v>
                </c:pt>
                <c:pt idx="196">
                  <c:v>129.5408378026254</c:v>
                </c:pt>
                <c:pt idx="197">
                  <c:v>129.633778230767</c:v>
                </c:pt>
                <c:pt idx="198">
                  <c:v>130.9182095730514</c:v>
                </c:pt>
                <c:pt idx="199">
                  <c:v>132.3151010321005</c:v>
                </c:pt>
                <c:pt idx="200">
                  <c:v>129.1360383859522</c:v>
                </c:pt>
                <c:pt idx="201">
                  <c:v>128.1176106435316</c:v>
                </c:pt>
                <c:pt idx="202">
                  <c:v>128.6030214067547</c:v>
                </c:pt>
                <c:pt idx="203">
                  <c:v>129.0506468736861</c:v>
                </c:pt>
                <c:pt idx="204">
                  <c:v>128.7807995971306</c:v>
                </c:pt>
                <c:pt idx="205">
                  <c:v>130.665324962913</c:v>
                </c:pt>
                <c:pt idx="206">
                  <c:v>131.0242934210669</c:v>
                </c:pt>
                <c:pt idx="207">
                  <c:v>130.6933952034987</c:v>
                </c:pt>
                <c:pt idx="208">
                  <c:v>131.2105570163427</c:v>
                </c:pt>
                <c:pt idx="209">
                  <c:v>130.7328010329718</c:v>
                </c:pt>
                <c:pt idx="210">
                  <c:v>131.8167422901912</c:v>
                </c:pt>
                <c:pt idx="211">
                  <c:v>133.2777628889595</c:v>
                </c:pt>
                <c:pt idx="212">
                  <c:v>131.9026386921923</c:v>
                </c:pt>
                <c:pt idx="213">
                  <c:v>132.6854132225247</c:v>
                </c:pt>
                <c:pt idx="214">
                  <c:v>133.0386975994692</c:v>
                </c:pt>
                <c:pt idx="215">
                  <c:v>132.8595757509278</c:v>
                </c:pt>
                <c:pt idx="216">
                  <c:v>131.9008552913543</c:v>
                </c:pt>
                <c:pt idx="217">
                  <c:v>134.4846936569319</c:v>
                </c:pt>
                <c:pt idx="218">
                  <c:v>134.8286212870144</c:v>
                </c:pt>
                <c:pt idx="219">
                  <c:v>134.2029326113085</c:v>
                </c:pt>
                <c:pt idx="220">
                  <c:v>134.2430713452355</c:v>
                </c:pt>
                <c:pt idx="221">
                  <c:v>135.4056451069792</c:v>
                </c:pt>
                <c:pt idx="222">
                  <c:v>139.9168918922771</c:v>
                </c:pt>
                <c:pt idx="223">
                  <c:v>142.9891296425731</c:v>
                </c:pt>
                <c:pt idx="224">
                  <c:v>145.6513562111902</c:v>
                </c:pt>
                <c:pt idx="225">
                  <c:v>145.5390915356132</c:v>
                </c:pt>
                <c:pt idx="226">
                  <c:v>148.1437118141511</c:v>
                </c:pt>
                <c:pt idx="227">
                  <c:v>150.4009923852041</c:v>
                </c:pt>
                <c:pt idx="228">
                  <c:v>149.1328233784143</c:v>
                </c:pt>
                <c:pt idx="229">
                  <c:v>147.6915667697538</c:v>
                </c:pt>
                <c:pt idx="230">
                  <c:v>148.8556633440851</c:v>
                </c:pt>
                <c:pt idx="231">
                  <c:v>151.2017963651033</c:v>
                </c:pt>
                <c:pt idx="232">
                  <c:v>147.971967870446</c:v>
                </c:pt>
                <c:pt idx="233">
                  <c:v>148.3131918974318</c:v>
                </c:pt>
                <c:pt idx="234">
                  <c:v>148.9830095646474</c:v>
                </c:pt>
                <c:pt idx="235">
                  <c:v>151.6632981563626</c:v>
                </c:pt>
                <c:pt idx="236">
                  <c:v>151.409371193223</c:v>
                </c:pt>
                <c:pt idx="237">
                  <c:v>154.4792555058836</c:v>
                </c:pt>
                <c:pt idx="238">
                  <c:v>152.9053839079752</c:v>
                </c:pt>
                <c:pt idx="239">
                  <c:v>151.845017744024</c:v>
                </c:pt>
                <c:pt idx="240">
                  <c:v>151.4802023370043</c:v>
                </c:pt>
                <c:pt idx="241">
                  <c:v>153.5307957086653</c:v>
                </c:pt>
                <c:pt idx="242">
                  <c:v>155.1594722729623</c:v>
                </c:pt>
                <c:pt idx="243">
                  <c:v>153.7906266243504</c:v>
                </c:pt>
                <c:pt idx="244">
                  <c:v>155.9379633839306</c:v>
                </c:pt>
                <c:pt idx="245">
                  <c:v>155.7401280416655</c:v>
                </c:pt>
                <c:pt idx="246">
                  <c:v>155.5426998685414</c:v>
                </c:pt>
                <c:pt idx="247">
                  <c:v>153.7364649852047</c:v>
                </c:pt>
                <c:pt idx="248">
                  <c:v>154.1599534654532</c:v>
                </c:pt>
                <c:pt idx="249">
                  <c:v>149.1093052888259</c:v>
                </c:pt>
                <c:pt idx="250">
                  <c:v>150.9509883175844</c:v>
                </c:pt>
                <c:pt idx="251">
                  <c:v>146.9586134555232</c:v>
                </c:pt>
                <c:pt idx="252">
                  <c:v>146.0636393966763</c:v>
                </c:pt>
                <c:pt idx="253">
                  <c:v>147.3263034766789</c:v>
                </c:pt>
                <c:pt idx="254">
                  <c:v>149.3879148452973</c:v>
                </c:pt>
                <c:pt idx="255">
                  <c:v>149.8132844469776</c:v>
                </c:pt>
                <c:pt idx="256">
                  <c:v>145.9982236024713</c:v>
                </c:pt>
                <c:pt idx="257">
                  <c:v>144.6698912833963</c:v>
                </c:pt>
                <c:pt idx="258">
                  <c:v>146.479456810307</c:v>
                </c:pt>
                <c:pt idx="259">
                  <c:v>146.9145496110761</c:v>
                </c:pt>
                <c:pt idx="260">
                  <c:v>146.2876557147125</c:v>
                </c:pt>
                <c:pt idx="261">
                  <c:v>146.8012670126464</c:v>
                </c:pt>
                <c:pt idx="262">
                  <c:v>143.5022034772408</c:v>
                </c:pt>
                <c:pt idx="263">
                  <c:v>148.1541353441626</c:v>
                </c:pt>
                <c:pt idx="264">
                  <c:v>148.6241795440015</c:v>
                </c:pt>
                <c:pt idx="265">
                  <c:v>150.9980896438239</c:v>
                </c:pt>
                <c:pt idx="266">
                  <c:v>148.8062085802102</c:v>
                </c:pt>
                <c:pt idx="267">
                  <c:v>147.8486200508489</c:v>
                </c:pt>
                <c:pt idx="268">
                  <c:v>148.6283000957092</c:v>
                </c:pt>
                <c:pt idx="269">
                  <c:v>152.6573527539984</c:v>
                </c:pt>
                <c:pt idx="270">
                  <c:v>153.0572498542131</c:v>
                </c:pt>
                <c:pt idx="271">
                  <c:v>153.1379589213568</c:v>
                </c:pt>
                <c:pt idx="272">
                  <c:v>153.2274954154791</c:v>
                </c:pt>
                <c:pt idx="273">
                  <c:v>153.3064373685505</c:v>
                </c:pt>
                <c:pt idx="274">
                  <c:v>156.5167624613505</c:v>
                </c:pt>
                <c:pt idx="275">
                  <c:v>158.9012182419267</c:v>
                </c:pt>
                <c:pt idx="276">
                  <c:v>160.6883813226955</c:v>
                </c:pt>
                <c:pt idx="277">
                  <c:v>161.23955804558491</c:v>
                </c:pt>
                <c:pt idx="278">
                  <c:v>161.7742688484092</c:v>
                </c:pt>
                <c:pt idx="279">
                  <c:v>161.0253056435516</c:v>
                </c:pt>
                <c:pt idx="280">
                  <c:v>160.2769124754915</c:v>
                </c:pt>
                <c:pt idx="281">
                  <c:v>159.3932902922978</c:v>
                </c:pt>
                <c:pt idx="282">
                  <c:v>159.7178448146481</c:v>
                </c:pt>
                <c:pt idx="283">
                  <c:v>157.0768643318122</c:v>
                </c:pt>
                <c:pt idx="284">
                  <c:v>155.8467819264785</c:v>
                </c:pt>
                <c:pt idx="285">
                  <c:v>155.3309719151828</c:v>
                </c:pt>
                <c:pt idx="286">
                  <c:v>154.3812661803927</c:v>
                </c:pt>
                <c:pt idx="287">
                  <c:v>153.5994199957019</c:v>
                </c:pt>
                <c:pt idx="288">
                  <c:v>150.4493396490153</c:v>
                </c:pt>
                <c:pt idx="289">
                  <c:v>152.5399251737126</c:v>
                </c:pt>
                <c:pt idx="290">
                  <c:v>151.1412828873569</c:v>
                </c:pt>
                <c:pt idx="291">
                  <c:v>152.0807849634716</c:v>
                </c:pt>
                <c:pt idx="292">
                  <c:v>152.8438525073761</c:v>
                </c:pt>
                <c:pt idx="293">
                  <c:v>149.2016431066387</c:v>
                </c:pt>
                <c:pt idx="294">
                  <c:v>149.9264286078993</c:v>
                </c:pt>
                <c:pt idx="295">
                  <c:v>148.1353567033762</c:v>
                </c:pt>
                <c:pt idx="296">
                  <c:v>146.8596632108593</c:v>
                </c:pt>
                <c:pt idx="297">
                  <c:v>144.2179172500383</c:v>
                </c:pt>
                <c:pt idx="298">
                  <c:v>145.2501480263412</c:v>
                </c:pt>
                <c:pt idx="299">
                  <c:v>144.3690095749081</c:v>
                </c:pt>
                <c:pt idx="300">
                  <c:v>144.1181852406235</c:v>
                </c:pt>
                <c:pt idx="301">
                  <c:v>141.9219474672003</c:v>
                </c:pt>
                <c:pt idx="302">
                  <c:v>144.4275604973946</c:v>
                </c:pt>
                <c:pt idx="303">
                  <c:v>144.6670818163229</c:v>
                </c:pt>
                <c:pt idx="304">
                  <c:v>143.4942311054585</c:v>
                </c:pt>
                <c:pt idx="305">
                  <c:v>144.8021479638001</c:v>
                </c:pt>
                <c:pt idx="306">
                  <c:v>143.8032073364713</c:v>
                </c:pt>
                <c:pt idx="307">
                  <c:v>143.1153683630718</c:v>
                </c:pt>
                <c:pt idx="308">
                  <c:v>142.5608365664599</c:v>
                </c:pt>
                <c:pt idx="309">
                  <c:v>141.521806065501</c:v>
                </c:pt>
                <c:pt idx="310">
                  <c:v>140.2269837667364</c:v>
                </c:pt>
                <c:pt idx="311">
                  <c:v>141.8558069119242</c:v>
                </c:pt>
                <c:pt idx="312">
                  <c:v>138.7067526314731</c:v>
                </c:pt>
                <c:pt idx="313">
                  <c:v>137.6387398310525</c:v>
                </c:pt>
                <c:pt idx="314">
                  <c:v>137.3533956969877</c:v>
                </c:pt>
                <c:pt idx="315">
                  <c:v>138.2853488572269</c:v>
                </c:pt>
                <c:pt idx="316">
                  <c:v>137.3131185255526</c:v>
                </c:pt>
                <c:pt idx="317">
                  <c:v>139.6567678148104</c:v>
                </c:pt>
                <c:pt idx="318">
                  <c:v>139.3598763639046</c:v>
                </c:pt>
                <c:pt idx="319">
                  <c:v>138.7755642163146</c:v>
                </c:pt>
                <c:pt idx="320">
                  <c:v>138.1512436289227</c:v>
                </c:pt>
                <c:pt idx="321">
                  <c:v>137.178483977365</c:v>
                </c:pt>
                <c:pt idx="322">
                  <c:v>137.0348509911596</c:v>
                </c:pt>
                <c:pt idx="323">
                  <c:v>137.0805027952569</c:v>
                </c:pt>
                <c:pt idx="324">
                  <c:v>138.7391225781885</c:v>
                </c:pt>
                <c:pt idx="325">
                  <c:v>139.4626539984946</c:v>
                </c:pt>
                <c:pt idx="326">
                  <c:v>138.8501005992797</c:v>
                </c:pt>
                <c:pt idx="327">
                  <c:v>140.0582040143783</c:v>
                </c:pt>
                <c:pt idx="328">
                  <c:v>141.1208666122852</c:v>
                </c:pt>
                <c:pt idx="329">
                  <c:v>141.0477471779311</c:v>
                </c:pt>
                <c:pt idx="330">
                  <c:v>140.0858263689088</c:v>
                </c:pt>
                <c:pt idx="331">
                  <c:v>139.8126077318651</c:v>
                </c:pt>
                <c:pt idx="332">
                  <c:v>140.7075736473292</c:v>
                </c:pt>
                <c:pt idx="333">
                  <c:v>141.7520846449269</c:v>
                </c:pt>
                <c:pt idx="334">
                  <c:v>140.4306660578674</c:v>
                </c:pt>
                <c:pt idx="335">
                  <c:v>140.0830250452182</c:v>
                </c:pt>
                <c:pt idx="336">
                  <c:v>138.9696373157163</c:v>
                </c:pt>
                <c:pt idx="337">
                  <c:v>140.6705212554914</c:v>
                </c:pt>
                <c:pt idx="338">
                  <c:v>144.8433941977909</c:v>
                </c:pt>
                <c:pt idx="339">
                  <c:v>143.1110605135592</c:v>
                </c:pt>
                <c:pt idx="340">
                  <c:v>143.8456099308228</c:v>
                </c:pt>
                <c:pt idx="341">
                  <c:v>143.3324139454128</c:v>
                </c:pt>
                <c:pt idx="342">
                  <c:v>141.5525717658005</c:v>
                </c:pt>
                <c:pt idx="343">
                  <c:v>141.4620254922085</c:v>
                </c:pt>
                <c:pt idx="344">
                  <c:v>141.1829273327677</c:v>
                </c:pt>
                <c:pt idx="345">
                  <c:v>141.1457120732735</c:v>
                </c:pt>
                <c:pt idx="346">
                  <c:v>144.5837831534419</c:v>
                </c:pt>
                <c:pt idx="347">
                  <c:v>143.9128091258657</c:v>
                </c:pt>
                <c:pt idx="348">
                  <c:v>141.7290225847765</c:v>
                </c:pt>
                <c:pt idx="349">
                  <c:v>142.7815629578363</c:v>
                </c:pt>
                <c:pt idx="350">
                  <c:v>143.7834352029807</c:v>
                </c:pt>
                <c:pt idx="351">
                  <c:v>141.6014890664092</c:v>
                </c:pt>
                <c:pt idx="352">
                  <c:v>144.267241719788</c:v>
                </c:pt>
                <c:pt idx="353">
                  <c:v>144.9513998841522</c:v>
                </c:pt>
              </c:numCache>
            </c:numRef>
          </c:val>
          <c:smooth val="0"/>
          <c:extLst>
            <c:ext xmlns:c16="http://schemas.microsoft.com/office/drawing/2014/chart" uri="{C3380CC4-5D6E-409C-BE32-E72D297353CC}">
              <c16:uniqueId val="{00000001-E7A6-40FB-B8E4-CDDE057B7709}"/>
            </c:ext>
          </c:extLst>
        </c:ser>
        <c:dLbls>
          <c:showLegendKey val="0"/>
          <c:showVal val="0"/>
          <c:showCatName val="0"/>
          <c:showSerName val="0"/>
          <c:showPercent val="0"/>
          <c:showBubbleSize val="0"/>
        </c:dLbls>
        <c:smooth val="0"/>
        <c:axId val="466100159"/>
        <c:axId val="466101119"/>
      </c:lineChart>
      <c:dateAx>
        <c:axId val="466100159"/>
        <c:scaling>
          <c:orientation val="minMax"/>
        </c:scaling>
        <c:delete val="0"/>
        <c:axPos val="b"/>
        <c:numFmt formatCode="[$-416]mmm\-yy;@" sourceLinked="0"/>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crossAx val="466101119"/>
        <c:crosses val="autoZero"/>
        <c:auto val="1"/>
        <c:lblOffset val="100"/>
        <c:baseTimeUnit val="days"/>
        <c:majorUnit val="2"/>
        <c:majorTimeUnit val="months"/>
      </c:dateAx>
      <c:valAx>
        <c:axId val="466101119"/>
        <c:scaling>
          <c:orientation val="minMax"/>
          <c:min val="80"/>
        </c:scaling>
        <c:delete val="0"/>
        <c:axPos val="l"/>
        <c:majorGridlines>
          <c:spPr>
            <a:ln w="6350" cap="flat" cmpd="sng" algn="ctr">
              <a:solidFill>
                <a:schemeClr val="tx1">
                  <a:lumMod val="15000"/>
                  <a:lumOff val="85000"/>
                </a:schemeClr>
              </a:solidFill>
              <a:prstDash val="dash"/>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crossAx val="466100159"/>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sz="800">
          <a:latin typeface="Roboto Light" panose="02000000000000000000" pitchFamily="2" charset="0"/>
          <a:ea typeface="Roboto Light" panose="02000000000000000000" pitchFamily="2" charset="0"/>
          <a:cs typeface="Roboto Light" panose="02000000000000000000" pitchFamily="2" charset="0"/>
        </a:defRPr>
      </a:pPr>
      <a:endParaRPr lang="pt-BR"/>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1"/>
            <a:ext cx="3012457" cy="462622"/>
          </a:xfrm>
          <a:prstGeom prst="rect">
            <a:avLst/>
          </a:prstGeom>
        </p:spPr>
        <p:txBody>
          <a:bodyPr vert="horz" lIns="91440" tIns="45720" rIns="91440" bIns="45720" rtlCol="0"/>
          <a:lstStyle>
            <a:lvl1pPr algn="l">
              <a:defRPr sz="1200"/>
            </a:lvl1pPr>
          </a:lstStyle>
          <a:p>
            <a:endParaRPr lang="pt-BR" dirty="0">
              <a:latin typeface="Arial" panose="020B0604020202020204" pitchFamily="34" charset="0"/>
            </a:endParaRPr>
          </a:p>
        </p:txBody>
      </p:sp>
      <p:sp>
        <p:nvSpPr>
          <p:cNvPr id="3" name="Espaço Reservado para Data 2"/>
          <p:cNvSpPr>
            <a:spLocks noGrp="1"/>
          </p:cNvSpPr>
          <p:nvPr>
            <p:ph type="dt" sz="quarter" idx="1"/>
          </p:nvPr>
        </p:nvSpPr>
        <p:spPr>
          <a:xfrm>
            <a:off x="3935996" y="1"/>
            <a:ext cx="3012457" cy="462622"/>
          </a:xfrm>
          <a:prstGeom prst="rect">
            <a:avLst/>
          </a:prstGeom>
        </p:spPr>
        <p:txBody>
          <a:bodyPr vert="horz" lIns="91440" tIns="45720" rIns="91440" bIns="45720" rtlCol="0"/>
          <a:lstStyle>
            <a:lvl1pPr algn="r">
              <a:defRPr sz="1200"/>
            </a:lvl1pPr>
          </a:lstStyle>
          <a:p>
            <a:fld id="{5DAB6854-BA43-4188-8D71-6CA4AD99B547}" type="datetimeFigureOut">
              <a:rPr lang="pt-BR" smtClean="0">
                <a:latin typeface="Arial" panose="020B0604020202020204" pitchFamily="34" charset="0"/>
              </a:rPr>
              <a:t>02/07/2026</a:t>
            </a:fld>
            <a:endParaRPr lang="pt-BR" dirty="0">
              <a:latin typeface="Arial" panose="020B0604020202020204" pitchFamily="34" charset="0"/>
            </a:endParaRPr>
          </a:p>
        </p:txBody>
      </p:sp>
      <p:sp>
        <p:nvSpPr>
          <p:cNvPr id="4" name="Espaço Reservado para Rodapé 3"/>
          <p:cNvSpPr>
            <a:spLocks noGrp="1"/>
          </p:cNvSpPr>
          <p:nvPr>
            <p:ph type="ftr" sz="quarter" idx="2"/>
          </p:nvPr>
        </p:nvSpPr>
        <p:spPr>
          <a:xfrm>
            <a:off x="0" y="8773453"/>
            <a:ext cx="3012457" cy="462622"/>
          </a:xfrm>
          <a:prstGeom prst="rect">
            <a:avLst/>
          </a:prstGeom>
        </p:spPr>
        <p:txBody>
          <a:bodyPr vert="horz" lIns="91440" tIns="45720" rIns="91440" bIns="45720" rtlCol="0" anchor="b"/>
          <a:lstStyle>
            <a:lvl1pPr algn="l">
              <a:defRPr sz="1200"/>
            </a:lvl1pPr>
          </a:lstStyle>
          <a:p>
            <a:endParaRPr lang="pt-BR" dirty="0">
              <a:latin typeface="Arial" panose="020B0604020202020204" pitchFamily="34" charset="0"/>
            </a:endParaRPr>
          </a:p>
        </p:txBody>
      </p:sp>
      <p:sp>
        <p:nvSpPr>
          <p:cNvPr id="5" name="Espaço Reservado para Número de Slide 4"/>
          <p:cNvSpPr>
            <a:spLocks noGrp="1"/>
          </p:cNvSpPr>
          <p:nvPr>
            <p:ph type="sldNum" sz="quarter" idx="3"/>
          </p:nvPr>
        </p:nvSpPr>
        <p:spPr>
          <a:xfrm>
            <a:off x="3935996" y="8773453"/>
            <a:ext cx="3012457" cy="462622"/>
          </a:xfrm>
          <a:prstGeom prst="rect">
            <a:avLst/>
          </a:prstGeom>
        </p:spPr>
        <p:txBody>
          <a:bodyPr vert="horz" lIns="91440" tIns="45720" rIns="91440" bIns="45720" rtlCol="0" anchor="b"/>
          <a:lstStyle>
            <a:lvl1pPr algn="r">
              <a:defRPr sz="1200"/>
            </a:lvl1pPr>
          </a:lstStyle>
          <a:p>
            <a:fld id="{EF65063B-5E6C-4857-89F3-772EE25A036D}" type="slidenum">
              <a:rPr lang="pt-BR" smtClean="0">
                <a:latin typeface="Arial" panose="020B0604020202020204" pitchFamily="34" charset="0"/>
              </a:rPr>
              <a:t>‹#›</a:t>
            </a:fld>
            <a:endParaRPr lang="pt-BR" dirty="0">
              <a:latin typeface="Arial" panose="020B0604020202020204" pitchFamily="34" charset="0"/>
            </a:endParaRPr>
          </a:p>
        </p:txBody>
      </p:sp>
    </p:spTree>
    <p:extLst>
      <p:ext uri="{BB962C8B-B14F-4D97-AF65-F5344CB8AC3E}">
        <p14:creationId xmlns:p14="http://schemas.microsoft.com/office/powerpoint/2010/main" val="292547172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1"/>
            <a:ext cx="3012457" cy="462622"/>
          </a:xfrm>
          <a:prstGeom prst="rect">
            <a:avLst/>
          </a:prstGeom>
        </p:spPr>
        <p:txBody>
          <a:bodyPr vert="horz" lIns="91440" tIns="45720" rIns="91440" bIns="45720" rtlCol="0"/>
          <a:lstStyle>
            <a:lvl1pPr algn="l">
              <a:defRPr sz="1200">
                <a:latin typeface="Arial" panose="020B0604020202020204" pitchFamily="34" charset="0"/>
              </a:defRPr>
            </a:lvl1pPr>
          </a:lstStyle>
          <a:p>
            <a:endParaRPr lang="pt-BR" dirty="0"/>
          </a:p>
        </p:txBody>
      </p:sp>
      <p:sp>
        <p:nvSpPr>
          <p:cNvPr id="3" name="Espaço Reservado para Data 2"/>
          <p:cNvSpPr>
            <a:spLocks noGrp="1"/>
          </p:cNvSpPr>
          <p:nvPr>
            <p:ph type="dt" idx="1"/>
          </p:nvPr>
        </p:nvSpPr>
        <p:spPr>
          <a:xfrm>
            <a:off x="3935996" y="1"/>
            <a:ext cx="3012457" cy="462622"/>
          </a:xfrm>
          <a:prstGeom prst="rect">
            <a:avLst/>
          </a:prstGeom>
        </p:spPr>
        <p:txBody>
          <a:bodyPr vert="horz" lIns="91440" tIns="45720" rIns="91440" bIns="45720" rtlCol="0"/>
          <a:lstStyle>
            <a:lvl1pPr algn="r">
              <a:defRPr sz="1200">
                <a:latin typeface="Arial" panose="020B0604020202020204" pitchFamily="34" charset="0"/>
              </a:defRPr>
            </a:lvl1pPr>
          </a:lstStyle>
          <a:p>
            <a:fld id="{6D8EB0C7-A7CA-4D05-AC86-585B7631FAAB}" type="datetimeFigureOut">
              <a:rPr lang="pt-BR" smtClean="0"/>
              <a:pPr/>
              <a:t>02/07/2026</a:t>
            </a:fld>
            <a:endParaRPr lang="pt-BR" dirty="0"/>
          </a:p>
        </p:txBody>
      </p:sp>
      <p:sp>
        <p:nvSpPr>
          <p:cNvPr id="4" name="Espaço Reservado para Imagem de Slide 3"/>
          <p:cNvSpPr>
            <a:spLocks noGrp="1" noRot="1" noChangeAspect="1"/>
          </p:cNvSpPr>
          <p:nvPr>
            <p:ph type="sldImg" idx="2"/>
          </p:nvPr>
        </p:nvSpPr>
        <p:spPr>
          <a:xfrm>
            <a:off x="704850" y="1154113"/>
            <a:ext cx="5540375" cy="3117850"/>
          </a:xfrm>
          <a:prstGeom prst="rect">
            <a:avLst/>
          </a:prstGeom>
          <a:noFill/>
          <a:ln w="12700">
            <a:solidFill>
              <a:prstClr val="black"/>
            </a:solidFill>
          </a:ln>
        </p:spPr>
        <p:txBody>
          <a:bodyPr vert="horz" lIns="91440" tIns="45720" rIns="91440" bIns="45720" rtlCol="0" anchor="ctr"/>
          <a:lstStyle/>
          <a:p>
            <a:endParaRPr lang="pt-BR" dirty="0"/>
          </a:p>
        </p:txBody>
      </p:sp>
      <p:sp>
        <p:nvSpPr>
          <p:cNvPr id="5" name="Espaço Reservado para Anotações 4"/>
          <p:cNvSpPr>
            <a:spLocks noGrp="1"/>
          </p:cNvSpPr>
          <p:nvPr>
            <p:ph type="body" sz="quarter" idx="3"/>
          </p:nvPr>
        </p:nvSpPr>
        <p:spPr>
          <a:xfrm>
            <a:off x="694684" y="4444740"/>
            <a:ext cx="5560709" cy="3637012"/>
          </a:xfrm>
          <a:prstGeom prst="rect">
            <a:avLst/>
          </a:prstGeom>
        </p:spPr>
        <p:txBody>
          <a:bodyPr vert="horz" lIns="91440" tIns="45720" rIns="91440" bIns="45720" rtlCol="0"/>
          <a:lstStyle/>
          <a:p>
            <a:pPr lvl="0"/>
            <a:r>
              <a:rPr lang="pt-BR" dirty="0"/>
              <a:t>Clique para editar o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sp>
        <p:nvSpPr>
          <p:cNvPr id="6" name="Espaço Reservado para Rodapé 5"/>
          <p:cNvSpPr>
            <a:spLocks noGrp="1"/>
          </p:cNvSpPr>
          <p:nvPr>
            <p:ph type="ftr" sz="quarter" idx="4"/>
          </p:nvPr>
        </p:nvSpPr>
        <p:spPr>
          <a:xfrm>
            <a:off x="0" y="8773453"/>
            <a:ext cx="3012457" cy="462622"/>
          </a:xfrm>
          <a:prstGeom prst="rect">
            <a:avLst/>
          </a:prstGeom>
        </p:spPr>
        <p:txBody>
          <a:bodyPr vert="horz" lIns="91440" tIns="45720" rIns="91440" bIns="45720" rtlCol="0" anchor="b"/>
          <a:lstStyle>
            <a:lvl1pPr algn="l">
              <a:defRPr sz="1200">
                <a:latin typeface="Arial" panose="020B0604020202020204" pitchFamily="34" charset="0"/>
              </a:defRPr>
            </a:lvl1pPr>
          </a:lstStyle>
          <a:p>
            <a:endParaRPr lang="pt-BR" dirty="0"/>
          </a:p>
        </p:txBody>
      </p:sp>
      <p:sp>
        <p:nvSpPr>
          <p:cNvPr id="7" name="Espaço Reservado para Número de Slide 6"/>
          <p:cNvSpPr>
            <a:spLocks noGrp="1"/>
          </p:cNvSpPr>
          <p:nvPr>
            <p:ph type="sldNum" sz="quarter" idx="5"/>
          </p:nvPr>
        </p:nvSpPr>
        <p:spPr>
          <a:xfrm>
            <a:off x="3935996" y="8773453"/>
            <a:ext cx="3012457" cy="462622"/>
          </a:xfrm>
          <a:prstGeom prst="rect">
            <a:avLst/>
          </a:prstGeom>
        </p:spPr>
        <p:txBody>
          <a:bodyPr vert="horz" lIns="91440" tIns="45720" rIns="91440" bIns="45720" rtlCol="0" anchor="b"/>
          <a:lstStyle>
            <a:lvl1pPr algn="r">
              <a:defRPr sz="1200">
                <a:latin typeface="Arial" panose="020B0604020202020204" pitchFamily="34" charset="0"/>
              </a:defRPr>
            </a:lvl1pPr>
          </a:lstStyle>
          <a:p>
            <a:fld id="{313CA231-F0FC-4F9B-BA71-B3112EA6E8D1}" type="slidenum">
              <a:rPr lang="pt-BR" smtClean="0"/>
              <a:pPr/>
              <a:t>‹#›</a:t>
            </a:fld>
            <a:endParaRPr lang="pt-BR" dirty="0"/>
          </a:p>
        </p:txBody>
      </p:sp>
    </p:spTree>
    <p:extLst>
      <p:ext uri="{BB962C8B-B14F-4D97-AF65-F5344CB8AC3E}">
        <p14:creationId xmlns:p14="http://schemas.microsoft.com/office/powerpoint/2010/main" val="1244461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anose="020B0604020202020204" pitchFamily="34" charset="0"/>
        <a:ea typeface="+mn-ea"/>
        <a:cs typeface="+mn-cs"/>
      </a:defRPr>
    </a:lvl1pPr>
    <a:lvl2pPr marL="457200" algn="l" defTabSz="914400" rtl="0" eaLnBrk="1" latinLnBrk="0" hangingPunct="1">
      <a:defRPr sz="1200" kern="1200">
        <a:solidFill>
          <a:schemeClr val="tx1"/>
        </a:solidFill>
        <a:latin typeface="Arial" panose="020B0604020202020204" pitchFamily="34" charset="0"/>
        <a:ea typeface="+mn-ea"/>
        <a:cs typeface="+mn-cs"/>
      </a:defRPr>
    </a:lvl2pPr>
    <a:lvl3pPr marL="914400" algn="l" defTabSz="914400" rtl="0" eaLnBrk="1" latinLnBrk="0" hangingPunct="1">
      <a:defRPr sz="1200" kern="1200">
        <a:solidFill>
          <a:schemeClr val="tx1"/>
        </a:solidFill>
        <a:latin typeface="Arial" panose="020B0604020202020204" pitchFamily="34" charset="0"/>
        <a:ea typeface="+mn-ea"/>
        <a:cs typeface="+mn-cs"/>
      </a:defRPr>
    </a:lvl3pPr>
    <a:lvl4pPr marL="1371600" algn="l" defTabSz="914400" rtl="0" eaLnBrk="1" latinLnBrk="0" hangingPunct="1">
      <a:defRPr sz="1200" kern="1200">
        <a:solidFill>
          <a:schemeClr val="tx1"/>
        </a:solidFill>
        <a:latin typeface="Arial" panose="020B0604020202020204" pitchFamily="34" charset="0"/>
        <a:ea typeface="+mn-ea"/>
        <a:cs typeface="+mn-cs"/>
      </a:defRPr>
    </a:lvl4pPr>
    <a:lvl5pPr marL="1828800" algn="l" defTabSz="914400" rtl="0" eaLnBrk="1" latinLnBrk="0" hangingPunct="1">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dirty="0"/>
          </a:p>
        </p:txBody>
      </p:sp>
      <p:sp>
        <p:nvSpPr>
          <p:cNvPr id="4" name="Slide Number Placeholder 3"/>
          <p:cNvSpPr>
            <a:spLocks noGrp="1"/>
          </p:cNvSpPr>
          <p:nvPr>
            <p:ph type="sldNum" sz="quarter" idx="5"/>
          </p:nvPr>
        </p:nvSpPr>
        <p:spPr/>
        <p:txBody>
          <a:bodyPr/>
          <a:lstStyle/>
          <a:p>
            <a:fld id="{313CA231-F0FC-4F9B-BA71-B3112EA6E8D1}" type="slidenum">
              <a:rPr lang="pt-BR" smtClean="0"/>
              <a:pPr/>
              <a:t>3</a:t>
            </a:fld>
            <a:endParaRPr lang="pt-BR" dirty="0"/>
          </a:p>
        </p:txBody>
      </p:sp>
    </p:spTree>
    <p:extLst>
      <p:ext uri="{BB962C8B-B14F-4D97-AF65-F5344CB8AC3E}">
        <p14:creationId xmlns:p14="http://schemas.microsoft.com/office/powerpoint/2010/main" val="10926782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C7BF7-DE2C-804B-21A7-A8628FFBCA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ADB5D5-56BA-C359-6898-3E192177C5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BCC23E-1584-8425-3F88-70CF531DD318}"/>
              </a:ext>
            </a:extLst>
          </p:cNvPr>
          <p:cNvSpPr>
            <a:spLocks noGrp="1"/>
          </p:cNvSpPr>
          <p:nvPr>
            <p:ph type="body" idx="1"/>
          </p:nvPr>
        </p:nvSpPr>
        <p:spPr/>
        <p:txBody>
          <a:bodyPr/>
          <a:lstStyle/>
          <a:p>
            <a:endParaRPr lang="pt-BR" dirty="0"/>
          </a:p>
        </p:txBody>
      </p:sp>
      <p:sp>
        <p:nvSpPr>
          <p:cNvPr id="4" name="Slide Number Placeholder 3">
            <a:extLst>
              <a:ext uri="{FF2B5EF4-FFF2-40B4-BE49-F238E27FC236}">
                <a16:creationId xmlns:a16="http://schemas.microsoft.com/office/drawing/2014/main" id="{01293CE8-00D1-D3D0-6796-02B7BC78034E}"/>
              </a:ext>
            </a:extLst>
          </p:cNvPr>
          <p:cNvSpPr>
            <a:spLocks noGrp="1"/>
          </p:cNvSpPr>
          <p:nvPr>
            <p:ph type="sldNum" sz="quarter" idx="5"/>
          </p:nvPr>
        </p:nvSpPr>
        <p:spPr/>
        <p:txBody>
          <a:bodyPr/>
          <a:lstStyle/>
          <a:p>
            <a:fld id="{313CA231-F0FC-4F9B-BA71-B3112EA6E8D1}" type="slidenum">
              <a:rPr lang="pt-BR" smtClean="0"/>
              <a:pPr/>
              <a:t>4</a:t>
            </a:fld>
            <a:endParaRPr lang="pt-BR" dirty="0"/>
          </a:p>
        </p:txBody>
      </p:sp>
    </p:spTree>
    <p:extLst>
      <p:ext uri="{BB962C8B-B14F-4D97-AF65-F5344CB8AC3E}">
        <p14:creationId xmlns:p14="http://schemas.microsoft.com/office/powerpoint/2010/main" val="8356455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Master" Target="../slideMasters/slideMaster1.xml"/><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tags" Target="../tags/tag10.xml"/><Relationship Id="rId2"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tags" Target="../tags/tag11.xml"/><Relationship Id="rId2"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tags" Target="../tags/tag12.xml"/><Relationship Id="rId2"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tags" Target="../tags/tag13.xml"/><Relationship Id="rId2" Type="http://schemas.openxmlformats.org/officeDocument/2006/relationships/slideMaster" Target="../slideMasters/slideMaster1.xml"/><Relationship Id="rId3"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tags" Target="../tags/tag14.xml"/><Relationship Id="rId2" Type="http://schemas.openxmlformats.org/officeDocument/2006/relationships/slideMaster" Target="../slideMasters/slideMaster1.xml"/><Relationship Id="rId3"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tags" Target="../tags/tag15.xml"/><Relationship Id="rId2" Type="http://schemas.openxmlformats.org/officeDocument/2006/relationships/slideMaster" Target="../slideMasters/slideMaster1.xml"/><Relationship Id="rId3"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tags" Target="../tags/tag16.xml"/><Relationship Id="rId2" Type="http://schemas.openxmlformats.org/officeDocument/2006/relationships/slideMaster" Target="../slideMasters/slideMaster1.xml"/><Relationship Id="rId3"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tags" Target="../tags/tag17.xml"/><Relationship Id="rId2" Type="http://schemas.openxmlformats.org/officeDocument/2006/relationships/slideMaster" Target="../slideMasters/slideMaster1.xml"/><Relationship Id="rId3" Type="http://schemas.openxmlformats.org/officeDocument/2006/relationships/image" Target="../media/image1.png"/></Relationships>
</file>

<file path=ppt/slideLayouts/_rels/slideLayout21.xml.rels><?xml version='1.0' encoding='UTF-8' standalone='yes'?>
<Relationships xmlns="http://schemas.openxmlformats.org/package/2006/relationships"><Relationship Id="rId1" Type="http://schemas.openxmlformats.org/officeDocument/2006/relationships/tags" Target="../tags/tag18.xml"/><Relationship Id="rId2"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tags" Target="../tags/tag19.xml"/><Relationship Id="rId2"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tags" Target="../tags/tag20.xml"/><Relationship Id="rId2"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tags" Target="../tags/tag21.xml"/><Relationship Id="rId2"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tags" Target="../tags/tag22.xml"/><Relationship Id="rId2"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tags" Target="../tags/tag23.xml"/><Relationship Id="rId2"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tags" Target="../tags/tag24.xml"/><Relationship Id="rId2"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svg"/></Relationships>
</file>

<file path=ppt/slideLayouts/_rels/slideLayout29.xml.rels><?xml version='1.0' encoding='UTF-8' standalone='yes'?>
<Relationships xmlns="http://schemas.openxmlformats.org/package/2006/relationships"><Relationship Id="rId1" Type="http://schemas.openxmlformats.org/officeDocument/2006/relationships/tags" Target="../tags/tag25.xml"/><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apa">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D881781C-40FD-43E2-BC6E-3786CEF8438E}"/>
              </a:ext>
            </a:extLst>
          </p:cNvPr>
          <p:cNvSpPr/>
          <p:nvPr userDrawn="1"/>
        </p:nvSpPr>
        <p:spPr>
          <a:xfrm>
            <a:off x="0" y="0"/>
            <a:ext cx="12192000" cy="1476873"/>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52" name="Picture 51" descr="A picture containing dark, night sky&#10;&#10;Description automatically generated">
            <a:extLst>
              <a:ext uri="{FF2B5EF4-FFF2-40B4-BE49-F238E27FC236}">
                <a16:creationId xmlns:a16="http://schemas.microsoft.com/office/drawing/2014/main" id="{5CCADE29-8500-4070-A119-2C944A23B7D8}"/>
              </a:ext>
            </a:extLst>
          </p:cNvPr>
          <p:cNvPicPr>
            <a:picLocks noChangeAspect="1"/>
          </p:cNvPicPr>
          <p:nvPr userDrawn="1"/>
        </p:nvPicPr>
        <p:blipFill rotWithShape="1">
          <a:blip r:embed="rId3">
            <a:alphaModFix amt="81000"/>
          </a:blip>
          <a:srcRect b="75849"/>
          <a:stretch/>
        </p:blipFill>
        <p:spPr>
          <a:xfrm>
            <a:off x="3446236" y="0"/>
            <a:ext cx="8745764" cy="1476873"/>
          </a:xfrm>
          <a:prstGeom prst="rect">
            <a:avLst/>
          </a:prstGeom>
        </p:spPr>
      </p:pic>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10122521" y="162920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35962" cy="524010"/>
          </a:xfrm>
          <a:prstGeom prst="rect">
            <a:avLst/>
          </a:prstGeom>
        </p:spPr>
        <p:txBody>
          <a:bodyPr vert="horz" lIns="0" tIns="0" rIns="0" bIns="0" rtlCol="0" anchor="ctr">
            <a:noAutofit/>
          </a:bodyPr>
          <a:lstStyle>
            <a:lvl1pPr>
              <a:defRPr lang="pt-BR" sz="2400" b="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p:nvPr>
        </p:nvSpPr>
        <p:spPr>
          <a:xfrm>
            <a:off x="335998" y="1522181"/>
            <a:ext cx="9579788" cy="851248"/>
          </a:xfrm>
          <a:prstGeom prst="rect">
            <a:avLst/>
          </a:prstGeom>
          <a:solidFill>
            <a:schemeClr val="bg1">
              <a:lumMod val="95000"/>
            </a:schemeClr>
          </a:solidFill>
        </p:spPr>
        <p:txBody>
          <a:bodyPr lIns="36000" tIns="36000" rIns="36000" bIns="36000">
            <a:noAutofit/>
          </a:bodyPr>
          <a:lstStyle>
            <a:lvl1pPr marL="0" indent="0" algn="just">
              <a:lnSpc>
                <a:spcPct val="125000"/>
              </a:lnSpc>
              <a:spcBef>
                <a:spcPts val="600"/>
              </a:spcBef>
              <a:buFont typeface="Arial" panose="020B0604020202020204" pitchFamily="34" charset="0"/>
              <a:buNone/>
              <a:defRPr sz="1000" b="0">
                <a:solidFill>
                  <a:schemeClr val="accent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endParaRPr lang="pt-BR" dirty="0"/>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3" name="Date Placeholder 1">
            <a:extLst>
              <a:ext uri="{FF2B5EF4-FFF2-40B4-BE49-F238E27FC236}">
                <a16:creationId xmlns:a16="http://schemas.microsoft.com/office/drawing/2014/main" id="{841867EE-8B42-428C-9638-B3E3663F1E3C}"/>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10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fld id="{DEF07EAB-FF36-413A-9F9A-0AF5F3187EB1}" type="datetime4">
              <a:rPr lang="pt-BR" smtClean="0"/>
              <a:pPr/>
              <a:t>2 de julho de 2026</a:t>
            </a:fld>
            <a:endParaRPr lang="en-US" dirty="0"/>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112247"/>
            <a:ext cx="11518900" cy="202833"/>
          </a:xfrm>
          <a:prstGeom prst="rect">
            <a:avLst/>
          </a:prstGeom>
        </p:spPr>
        <p:txBody>
          <a:bodyPr vert="horz" lIns="0" tIns="0" rIns="0" bIns="0" rtlCol="0" anchor="t">
            <a:noAutofit/>
          </a:bodyPr>
          <a:lstStyle>
            <a:lvl1pPr>
              <a:defRPr lang="pt-BR" sz="12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Espaço Reservado para Conteúdo 14">
            <a:extLst>
              <a:ext uri="{FF2B5EF4-FFF2-40B4-BE49-F238E27FC236}">
                <a16:creationId xmlns:a16="http://schemas.microsoft.com/office/drawing/2014/main" id="{850F5579-F7F0-47FE-8562-80BD2CF75884}"/>
              </a:ext>
            </a:extLst>
          </p:cNvPr>
          <p:cNvSpPr>
            <a:spLocks noGrp="1"/>
          </p:cNvSpPr>
          <p:nvPr>
            <p:ph sz="quarter" idx="25" hasCustomPrompt="1"/>
          </p:nvPr>
        </p:nvSpPr>
        <p:spPr>
          <a:xfrm>
            <a:off x="10122521" y="184396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29" name="Espaço Reservado para Conteúdo 14">
            <a:extLst>
              <a:ext uri="{FF2B5EF4-FFF2-40B4-BE49-F238E27FC236}">
                <a16:creationId xmlns:a16="http://schemas.microsoft.com/office/drawing/2014/main" id="{3AED8A04-1CB7-4096-B4E7-A94A03362595}"/>
              </a:ext>
            </a:extLst>
          </p:cNvPr>
          <p:cNvSpPr>
            <a:spLocks noGrp="1"/>
          </p:cNvSpPr>
          <p:nvPr>
            <p:ph sz="quarter" idx="26" hasCustomPrompt="1"/>
          </p:nvPr>
        </p:nvSpPr>
        <p:spPr>
          <a:xfrm>
            <a:off x="10122521" y="203492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0" name="Espaço Reservado para Conteúdo 14">
            <a:extLst>
              <a:ext uri="{FF2B5EF4-FFF2-40B4-BE49-F238E27FC236}">
                <a16:creationId xmlns:a16="http://schemas.microsoft.com/office/drawing/2014/main" id="{938C4CF9-D21D-491A-995D-38D80E45D35E}"/>
              </a:ext>
            </a:extLst>
          </p:cNvPr>
          <p:cNvSpPr>
            <a:spLocks noGrp="1"/>
          </p:cNvSpPr>
          <p:nvPr>
            <p:ph sz="quarter" idx="27" hasCustomPrompt="1"/>
          </p:nvPr>
        </p:nvSpPr>
        <p:spPr>
          <a:xfrm>
            <a:off x="10122521" y="236446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1" name="Espaço Reservado para Conteúdo 14">
            <a:extLst>
              <a:ext uri="{FF2B5EF4-FFF2-40B4-BE49-F238E27FC236}">
                <a16:creationId xmlns:a16="http://schemas.microsoft.com/office/drawing/2014/main" id="{A0CEDDC6-9D7D-4AB6-8714-251BC13968E7}"/>
              </a:ext>
            </a:extLst>
          </p:cNvPr>
          <p:cNvSpPr>
            <a:spLocks noGrp="1"/>
          </p:cNvSpPr>
          <p:nvPr>
            <p:ph sz="quarter" idx="28" hasCustomPrompt="1"/>
          </p:nvPr>
        </p:nvSpPr>
        <p:spPr>
          <a:xfrm>
            <a:off x="10122521" y="257923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2" name="Espaço Reservado para Conteúdo 14">
            <a:extLst>
              <a:ext uri="{FF2B5EF4-FFF2-40B4-BE49-F238E27FC236}">
                <a16:creationId xmlns:a16="http://schemas.microsoft.com/office/drawing/2014/main" id="{193B6CB7-D834-4068-868A-9AFBE5866A58}"/>
              </a:ext>
            </a:extLst>
          </p:cNvPr>
          <p:cNvSpPr>
            <a:spLocks noGrp="1"/>
          </p:cNvSpPr>
          <p:nvPr>
            <p:ph sz="quarter" idx="29" hasCustomPrompt="1"/>
          </p:nvPr>
        </p:nvSpPr>
        <p:spPr>
          <a:xfrm>
            <a:off x="10122521" y="277018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3" name="Espaço Reservado para Conteúdo 14">
            <a:extLst>
              <a:ext uri="{FF2B5EF4-FFF2-40B4-BE49-F238E27FC236}">
                <a16:creationId xmlns:a16="http://schemas.microsoft.com/office/drawing/2014/main" id="{55476F42-1A4B-4330-A3B9-8BA77043864B}"/>
              </a:ext>
            </a:extLst>
          </p:cNvPr>
          <p:cNvSpPr>
            <a:spLocks noGrp="1"/>
          </p:cNvSpPr>
          <p:nvPr>
            <p:ph sz="quarter" idx="30" hasCustomPrompt="1"/>
          </p:nvPr>
        </p:nvSpPr>
        <p:spPr>
          <a:xfrm>
            <a:off x="10122521" y="3104144"/>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4" name="Espaço Reservado para Conteúdo 14">
            <a:extLst>
              <a:ext uri="{FF2B5EF4-FFF2-40B4-BE49-F238E27FC236}">
                <a16:creationId xmlns:a16="http://schemas.microsoft.com/office/drawing/2014/main" id="{195E6429-987B-4AC7-8E16-6188988765D4}"/>
              </a:ext>
            </a:extLst>
          </p:cNvPr>
          <p:cNvSpPr>
            <a:spLocks noGrp="1"/>
          </p:cNvSpPr>
          <p:nvPr>
            <p:ph sz="quarter" idx="31" hasCustomPrompt="1"/>
          </p:nvPr>
        </p:nvSpPr>
        <p:spPr>
          <a:xfrm>
            <a:off x="10122521" y="3318912"/>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5" name="Espaço Reservado para Conteúdo 14">
            <a:extLst>
              <a:ext uri="{FF2B5EF4-FFF2-40B4-BE49-F238E27FC236}">
                <a16:creationId xmlns:a16="http://schemas.microsoft.com/office/drawing/2014/main" id="{073C1B83-6366-4B50-BD4D-B74457EC8E9F}"/>
              </a:ext>
            </a:extLst>
          </p:cNvPr>
          <p:cNvSpPr>
            <a:spLocks noGrp="1"/>
          </p:cNvSpPr>
          <p:nvPr>
            <p:ph sz="quarter" idx="32" hasCustomPrompt="1"/>
          </p:nvPr>
        </p:nvSpPr>
        <p:spPr>
          <a:xfrm>
            <a:off x="10122521" y="3509867"/>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336001" y="775521"/>
            <a:ext cx="11518900" cy="299659"/>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1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45" name="Text Placeholder 21">
            <a:extLst>
              <a:ext uri="{FF2B5EF4-FFF2-40B4-BE49-F238E27FC236}">
                <a16:creationId xmlns:a16="http://schemas.microsoft.com/office/drawing/2014/main" id="{A103342B-56B1-4527-AD7F-4D0449A0DCB5}"/>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6" name="Freeform: Shape 45">
            <a:extLst>
              <a:ext uri="{FF2B5EF4-FFF2-40B4-BE49-F238E27FC236}">
                <a16:creationId xmlns:a16="http://schemas.microsoft.com/office/drawing/2014/main" id="{401B2D36-F7E1-4BF5-AB6E-AC161A1D4C46}"/>
              </a:ext>
            </a:extLst>
          </p:cNvPr>
          <p:cNvSpPr/>
          <p:nvPr userDrawn="1"/>
        </p:nvSpPr>
        <p:spPr>
          <a:xfrm>
            <a:off x="11358608" y="832910"/>
            <a:ext cx="499749" cy="450795"/>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bg1"/>
          </a:solidFill>
          <a:ln w="6350" cap="flat">
            <a:noFill/>
            <a:prstDash val="solid"/>
            <a:miter/>
          </a:ln>
        </p:spPr>
        <p:txBody>
          <a:bodyPr rtlCol="0" anchor="ctr"/>
          <a:lstStyle/>
          <a:p>
            <a:endParaRPr lang="en-US">
              <a:solidFill>
                <a:schemeClr val="bg1"/>
              </a:solidFill>
            </a:endParaRPr>
          </a:p>
        </p:txBody>
      </p:sp>
      <p:sp>
        <p:nvSpPr>
          <p:cNvPr id="50" name="Espaço Reservado para Conteúdo 14">
            <a:extLst>
              <a:ext uri="{FF2B5EF4-FFF2-40B4-BE49-F238E27FC236}">
                <a16:creationId xmlns:a16="http://schemas.microsoft.com/office/drawing/2014/main" id="{5DD66D9C-1033-48E3-9084-861698E49C88}"/>
              </a:ext>
            </a:extLst>
          </p:cNvPr>
          <p:cNvSpPr>
            <a:spLocks noGrp="1"/>
          </p:cNvSpPr>
          <p:nvPr>
            <p:ph sz="quarter" idx="42"/>
          </p:nvPr>
        </p:nvSpPr>
        <p:spPr>
          <a:xfrm>
            <a:off x="335999" y="2411916"/>
            <a:ext cx="9579786" cy="2528819"/>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endParaRPr lang="pt-BR" dirty="0"/>
          </a:p>
        </p:txBody>
      </p:sp>
      <p:sp>
        <p:nvSpPr>
          <p:cNvPr id="51" name="Espaço Reservado para Conteúdo 14">
            <a:extLst>
              <a:ext uri="{FF2B5EF4-FFF2-40B4-BE49-F238E27FC236}">
                <a16:creationId xmlns:a16="http://schemas.microsoft.com/office/drawing/2014/main" id="{1AAAB222-9B15-4258-ACBD-73305BB52F7E}"/>
              </a:ext>
            </a:extLst>
          </p:cNvPr>
          <p:cNvSpPr>
            <a:spLocks noGrp="1"/>
          </p:cNvSpPr>
          <p:nvPr>
            <p:ph sz="quarter" idx="43" hasCustomPrompt="1"/>
          </p:nvPr>
        </p:nvSpPr>
        <p:spPr>
          <a:xfrm>
            <a:off x="10122521" y="4234046"/>
            <a:ext cx="1914195" cy="1848434"/>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3" name="Espaço Reservado para Conteúdo 14">
            <a:extLst>
              <a:ext uri="{FF2B5EF4-FFF2-40B4-BE49-F238E27FC236}">
                <a16:creationId xmlns:a16="http://schemas.microsoft.com/office/drawing/2014/main" id="{BF881F3D-BE20-4A6F-BE22-461C15CBA88A}"/>
              </a:ext>
            </a:extLst>
          </p:cNvPr>
          <p:cNvSpPr>
            <a:spLocks noGrp="1"/>
          </p:cNvSpPr>
          <p:nvPr>
            <p:ph sz="quarter" idx="44" hasCustomPrompt="1"/>
          </p:nvPr>
        </p:nvSpPr>
        <p:spPr>
          <a:xfrm>
            <a:off x="10122521" y="3898244"/>
            <a:ext cx="1914195"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Tree>
    <p:extLst>
      <p:ext uri="{BB962C8B-B14F-4D97-AF65-F5344CB8AC3E}">
        <p14:creationId xmlns:p14="http://schemas.microsoft.com/office/powerpoint/2010/main" val="609853163"/>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umário">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5D2690E-870A-42A4-A539-D8CF1BA4590E}"/>
              </a:ext>
            </a:extLst>
          </p:cNvPr>
          <p:cNvSpPr/>
          <p:nvPr userDrawn="1"/>
        </p:nvSpPr>
        <p:spPr>
          <a:xfrm>
            <a:off x="0" y="0"/>
            <a:ext cx="12192000" cy="6934200"/>
          </a:xfrm>
          <a:prstGeom prst="rect">
            <a:avLst/>
          </a:prstGeom>
          <a:gradFill flip="none" rotWithShape="1">
            <a:gsLst>
              <a:gs pos="89000">
                <a:srgbClr val="000000"/>
              </a:gs>
              <a:gs pos="0">
                <a:schemeClr val="tx1"/>
              </a:gs>
            </a:gsLst>
            <a:path path="circle">
              <a:fillToRect l="100000" b="100000"/>
            </a:path>
            <a:tileRect t="-100000" r="-10000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picture containing dark, night sky&#10;&#10;Description automatically generated">
            <a:extLst>
              <a:ext uri="{FF2B5EF4-FFF2-40B4-BE49-F238E27FC236}">
                <a16:creationId xmlns:a16="http://schemas.microsoft.com/office/drawing/2014/main" id="{2D1B02CA-10D9-40D7-B7FD-1CD856FFC129}"/>
              </a:ext>
            </a:extLst>
          </p:cNvPr>
          <p:cNvPicPr>
            <a:picLocks noChangeAspect="1"/>
          </p:cNvPicPr>
          <p:nvPr userDrawn="1"/>
        </p:nvPicPr>
        <p:blipFill>
          <a:blip r:embed="rId2">
            <a:alphaModFix amt="81000"/>
          </a:blip>
          <a:stretch>
            <a:fillRect/>
          </a:stretch>
        </p:blipFill>
        <p:spPr>
          <a:xfrm>
            <a:off x="3446236" y="0"/>
            <a:ext cx="8745764" cy="6115050"/>
          </a:xfrm>
          <a:prstGeom prst="rect">
            <a:avLst/>
          </a:prstGeom>
        </p:spPr>
      </p:pic>
      <p:sp>
        <p:nvSpPr>
          <p:cNvPr id="2" name="Rectangle 1">
            <a:extLst>
              <a:ext uri="{FF2B5EF4-FFF2-40B4-BE49-F238E27FC236}">
                <a16:creationId xmlns:a16="http://schemas.microsoft.com/office/drawing/2014/main" id="{5C206FF3-880C-48C0-ACA6-F9FF31D4CE3C}"/>
              </a:ext>
            </a:extLst>
          </p:cNvPr>
          <p:cNvSpPr/>
          <p:nvPr userDrawn="1"/>
        </p:nvSpPr>
        <p:spPr>
          <a:xfrm>
            <a:off x="0" y="0"/>
            <a:ext cx="6095188" cy="69342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 name="Group 3">
            <a:extLst>
              <a:ext uri="{FF2B5EF4-FFF2-40B4-BE49-F238E27FC236}">
                <a16:creationId xmlns:a16="http://schemas.microsoft.com/office/drawing/2014/main" id="{A0A4DC3B-9FB1-4D73-8569-2AD09B303948}"/>
              </a:ext>
            </a:extLst>
          </p:cNvPr>
          <p:cNvGrpSpPr/>
          <p:nvPr userDrawn="1"/>
        </p:nvGrpSpPr>
        <p:grpSpPr>
          <a:xfrm>
            <a:off x="0" y="2191657"/>
            <a:ext cx="6096000" cy="4704443"/>
            <a:chOff x="0" y="2191657"/>
            <a:chExt cx="6096000" cy="4704443"/>
          </a:xfrm>
        </p:grpSpPr>
        <p:cxnSp>
          <p:nvCxnSpPr>
            <p:cNvPr id="21" name="Conector reto 7">
              <a:extLst>
                <a:ext uri="{FF2B5EF4-FFF2-40B4-BE49-F238E27FC236}">
                  <a16:creationId xmlns:a16="http://schemas.microsoft.com/office/drawing/2014/main" id="{DD82BE49-0626-4798-B433-903A59AF4B8B}"/>
                </a:ext>
              </a:extLst>
            </p:cNvPr>
            <p:cNvCxnSpPr>
              <a:cxnSpLocks/>
            </p:cNvCxnSpPr>
            <p:nvPr userDrawn="1"/>
          </p:nvCxnSpPr>
          <p:spPr>
            <a:xfrm>
              <a:off x="0" y="5038273"/>
              <a:ext cx="6096000" cy="0"/>
            </a:xfrm>
            <a:prstGeom prst="line">
              <a:avLst/>
            </a:prstGeom>
            <a:ln>
              <a:solidFill>
                <a:srgbClr val="A1A894"/>
              </a:solidFill>
            </a:ln>
          </p:spPr>
          <p:style>
            <a:lnRef idx="1">
              <a:schemeClr val="accent1"/>
            </a:lnRef>
            <a:fillRef idx="0">
              <a:schemeClr val="accent1"/>
            </a:fillRef>
            <a:effectRef idx="0">
              <a:schemeClr val="accent1"/>
            </a:effectRef>
            <a:fontRef idx="minor">
              <a:schemeClr val="tx1"/>
            </a:fontRef>
          </p:style>
        </p:cxnSp>
        <p:cxnSp>
          <p:nvCxnSpPr>
            <p:cNvPr id="30" name="Conector reto 2">
              <a:extLst>
                <a:ext uri="{FF2B5EF4-FFF2-40B4-BE49-F238E27FC236}">
                  <a16:creationId xmlns:a16="http://schemas.microsoft.com/office/drawing/2014/main" id="{17F248A0-AF00-4728-98AC-9AB839726FA9}"/>
                </a:ext>
              </a:extLst>
            </p:cNvPr>
            <p:cNvCxnSpPr>
              <a:cxnSpLocks/>
            </p:cNvCxnSpPr>
            <p:nvPr userDrawn="1"/>
          </p:nvCxnSpPr>
          <p:spPr>
            <a:xfrm flipH="1">
              <a:off x="1943100" y="2191657"/>
              <a:ext cx="4152088" cy="4704443"/>
            </a:xfrm>
            <a:prstGeom prst="line">
              <a:avLst/>
            </a:prstGeom>
            <a:ln>
              <a:solidFill>
                <a:srgbClr val="A1A894"/>
              </a:solidFill>
            </a:ln>
          </p:spPr>
          <p:style>
            <a:lnRef idx="1">
              <a:schemeClr val="accent1"/>
            </a:lnRef>
            <a:fillRef idx="0">
              <a:schemeClr val="accent1"/>
            </a:fillRef>
            <a:effectRef idx="0">
              <a:schemeClr val="accent1"/>
            </a:effectRef>
            <a:fontRef idx="minor">
              <a:schemeClr val="tx1"/>
            </a:fontRef>
          </p:style>
        </p:cxnSp>
      </p:grpSp>
      <p:sp>
        <p:nvSpPr>
          <p:cNvPr id="31" name="CaixaDeTexto 4">
            <a:extLst>
              <a:ext uri="{FF2B5EF4-FFF2-40B4-BE49-F238E27FC236}">
                <a16:creationId xmlns:a16="http://schemas.microsoft.com/office/drawing/2014/main" id="{A36F00F8-EA0D-458B-96E7-07B1A138E813}"/>
              </a:ext>
            </a:extLst>
          </p:cNvPr>
          <p:cNvSpPr txBox="1"/>
          <p:nvPr userDrawn="1"/>
        </p:nvSpPr>
        <p:spPr>
          <a:xfrm>
            <a:off x="488485" y="3046547"/>
            <a:ext cx="2138727" cy="984885"/>
          </a:xfrm>
          <a:prstGeom prst="rect">
            <a:avLst/>
          </a:prstGeom>
        </p:spPr>
        <p:txBody>
          <a:bodyPr wrap="none" rtlCol="0">
            <a:spAutoFit/>
          </a:bodyPr>
          <a:lstStyle/>
          <a:p>
            <a:r>
              <a:rPr lang="pt-BR" sz="5800" dirty="0">
                <a:solidFill>
                  <a:srgbClr val="242424"/>
                </a:solidFill>
                <a:latin typeface="+mj-lt"/>
                <a:ea typeface="XP Light Lighthouse" pitchFamily="50" charset="0"/>
              </a:rPr>
              <a:t>Índice</a:t>
            </a:r>
          </a:p>
        </p:txBody>
      </p:sp>
      <p:sp>
        <p:nvSpPr>
          <p:cNvPr id="13" name="Freeform: Shape 12">
            <a:extLst>
              <a:ext uri="{FF2B5EF4-FFF2-40B4-BE49-F238E27FC236}">
                <a16:creationId xmlns:a16="http://schemas.microsoft.com/office/drawing/2014/main" id="{844D0124-F03F-434F-9C9B-43216851E7C3}"/>
              </a:ext>
            </a:extLst>
          </p:cNvPr>
          <p:cNvSpPr/>
          <p:nvPr userDrawn="1"/>
        </p:nvSpPr>
        <p:spPr>
          <a:xfrm>
            <a:off x="11212853" y="680977"/>
            <a:ext cx="549724" cy="49587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bg1"/>
          </a:solidFill>
          <a:ln w="6350" cap="flat">
            <a:noFill/>
            <a:prstDash val="solid"/>
            <a:miter/>
          </a:ln>
        </p:spPr>
        <p:txBody>
          <a:bodyPr rtlCol="0" anchor="ctr"/>
          <a:lstStyle/>
          <a:p>
            <a:endParaRPr lang="en-US">
              <a:solidFill>
                <a:schemeClr val="bg1"/>
              </a:solidFill>
            </a:endParaRPr>
          </a:p>
        </p:txBody>
      </p:sp>
      <p:sp>
        <p:nvSpPr>
          <p:cNvPr id="15" name="Espaço Reservado para Texto 6">
            <a:extLst>
              <a:ext uri="{FF2B5EF4-FFF2-40B4-BE49-F238E27FC236}">
                <a16:creationId xmlns:a16="http://schemas.microsoft.com/office/drawing/2014/main" id="{94944841-FAE5-4D44-AF6D-E519CC043F13}"/>
              </a:ext>
            </a:extLst>
          </p:cNvPr>
          <p:cNvSpPr>
            <a:spLocks noGrp="1"/>
          </p:cNvSpPr>
          <p:nvPr>
            <p:ph type="body" sz="quarter" idx="17" hasCustomPrompt="1"/>
          </p:nvPr>
        </p:nvSpPr>
        <p:spPr>
          <a:xfrm>
            <a:off x="6616700" y="1432360"/>
            <a:ext cx="5238749"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16" name="Espaço Reservado para Texto 6">
            <a:extLst>
              <a:ext uri="{FF2B5EF4-FFF2-40B4-BE49-F238E27FC236}">
                <a16:creationId xmlns:a16="http://schemas.microsoft.com/office/drawing/2014/main" id="{AAD0C9E5-6039-4713-97C1-16EAFD52DD08}"/>
              </a:ext>
            </a:extLst>
          </p:cNvPr>
          <p:cNvSpPr>
            <a:spLocks noGrp="1"/>
          </p:cNvSpPr>
          <p:nvPr>
            <p:ph type="body" sz="quarter" idx="18" hasCustomPrompt="1"/>
          </p:nvPr>
        </p:nvSpPr>
        <p:spPr>
          <a:xfrm>
            <a:off x="6616700" y="1762578"/>
            <a:ext cx="5238749" cy="338554"/>
          </a:xfrm>
          <a:prstGeom prst="rect">
            <a:avLst/>
          </a:prstGeom>
        </p:spPr>
        <p:txBody>
          <a:bodyPr vert="horz" wrap="square" lIns="0" tIns="45720" rIns="91440" bIns="45720" rtlCol="0" anchor="t">
            <a:spAutoFit/>
          </a:bodyPr>
          <a:lstStyle>
            <a:lvl1pPr algn="l">
              <a:defRPr lang="pt-BR" sz="16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17" name="Espaço Reservado para Texto 6">
            <a:extLst>
              <a:ext uri="{FF2B5EF4-FFF2-40B4-BE49-F238E27FC236}">
                <a16:creationId xmlns:a16="http://schemas.microsoft.com/office/drawing/2014/main" id="{3D14A41D-89A7-4BCD-8F56-FF9BA67DCD7D}"/>
              </a:ext>
            </a:extLst>
          </p:cNvPr>
          <p:cNvSpPr>
            <a:spLocks noGrp="1"/>
          </p:cNvSpPr>
          <p:nvPr>
            <p:ph type="body" sz="quarter" idx="19" hasCustomPrompt="1"/>
          </p:nvPr>
        </p:nvSpPr>
        <p:spPr>
          <a:xfrm>
            <a:off x="6609643" y="2416740"/>
            <a:ext cx="5238749"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18" name="Espaço Reservado para Texto 6">
            <a:extLst>
              <a:ext uri="{FF2B5EF4-FFF2-40B4-BE49-F238E27FC236}">
                <a16:creationId xmlns:a16="http://schemas.microsoft.com/office/drawing/2014/main" id="{38A9FFE0-16AC-4B0C-B473-3834B353B4DE}"/>
              </a:ext>
            </a:extLst>
          </p:cNvPr>
          <p:cNvSpPr>
            <a:spLocks noGrp="1"/>
          </p:cNvSpPr>
          <p:nvPr>
            <p:ph type="body" sz="quarter" idx="20" hasCustomPrompt="1"/>
          </p:nvPr>
        </p:nvSpPr>
        <p:spPr>
          <a:xfrm>
            <a:off x="6609643" y="2746958"/>
            <a:ext cx="5238749" cy="338554"/>
          </a:xfrm>
          <a:prstGeom prst="rect">
            <a:avLst/>
          </a:prstGeom>
        </p:spPr>
        <p:txBody>
          <a:bodyPr vert="horz" wrap="square" lIns="0" tIns="45720" rIns="91440" bIns="45720" rtlCol="0" anchor="t">
            <a:spAutoFit/>
          </a:bodyPr>
          <a:lstStyle>
            <a:lvl1pPr algn="l">
              <a:defRPr lang="pt-BR" sz="16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19" name="Espaço Reservado para Texto 6">
            <a:extLst>
              <a:ext uri="{FF2B5EF4-FFF2-40B4-BE49-F238E27FC236}">
                <a16:creationId xmlns:a16="http://schemas.microsoft.com/office/drawing/2014/main" id="{624FD55C-43EF-4DA5-BA21-2E91B3AEC2A8}"/>
              </a:ext>
            </a:extLst>
          </p:cNvPr>
          <p:cNvSpPr>
            <a:spLocks noGrp="1"/>
          </p:cNvSpPr>
          <p:nvPr>
            <p:ph type="body" sz="quarter" idx="21" hasCustomPrompt="1"/>
          </p:nvPr>
        </p:nvSpPr>
        <p:spPr>
          <a:xfrm>
            <a:off x="6609643" y="3411534"/>
            <a:ext cx="5238749"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20" name="Espaço Reservado para Texto 6">
            <a:extLst>
              <a:ext uri="{FF2B5EF4-FFF2-40B4-BE49-F238E27FC236}">
                <a16:creationId xmlns:a16="http://schemas.microsoft.com/office/drawing/2014/main" id="{16D9034A-51D4-4121-84CA-92FBFBB745C5}"/>
              </a:ext>
            </a:extLst>
          </p:cNvPr>
          <p:cNvSpPr>
            <a:spLocks noGrp="1"/>
          </p:cNvSpPr>
          <p:nvPr>
            <p:ph type="body" sz="quarter" idx="22" hasCustomPrompt="1"/>
          </p:nvPr>
        </p:nvSpPr>
        <p:spPr>
          <a:xfrm>
            <a:off x="6609643" y="3741752"/>
            <a:ext cx="5238749" cy="338554"/>
          </a:xfrm>
          <a:prstGeom prst="rect">
            <a:avLst/>
          </a:prstGeom>
        </p:spPr>
        <p:txBody>
          <a:bodyPr vert="horz" wrap="square" lIns="0" tIns="45720" rIns="91440" bIns="45720" rtlCol="0" anchor="t">
            <a:spAutoFit/>
          </a:bodyPr>
          <a:lstStyle>
            <a:lvl1pPr algn="l">
              <a:defRPr lang="pt-BR" sz="16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22" name="Espaço Reservado para Texto 6">
            <a:extLst>
              <a:ext uri="{FF2B5EF4-FFF2-40B4-BE49-F238E27FC236}">
                <a16:creationId xmlns:a16="http://schemas.microsoft.com/office/drawing/2014/main" id="{E7310526-1BB3-43DD-8A2A-879A97DFE31F}"/>
              </a:ext>
            </a:extLst>
          </p:cNvPr>
          <p:cNvSpPr>
            <a:spLocks noGrp="1"/>
          </p:cNvSpPr>
          <p:nvPr>
            <p:ph type="body" sz="quarter" idx="23" hasCustomPrompt="1"/>
          </p:nvPr>
        </p:nvSpPr>
        <p:spPr>
          <a:xfrm>
            <a:off x="6624232" y="4395084"/>
            <a:ext cx="5238749"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23" name="Espaço Reservado para Texto 6">
            <a:extLst>
              <a:ext uri="{FF2B5EF4-FFF2-40B4-BE49-F238E27FC236}">
                <a16:creationId xmlns:a16="http://schemas.microsoft.com/office/drawing/2014/main" id="{8678D1D3-A61B-44D4-986B-F937FBDE293A}"/>
              </a:ext>
            </a:extLst>
          </p:cNvPr>
          <p:cNvSpPr>
            <a:spLocks noGrp="1"/>
          </p:cNvSpPr>
          <p:nvPr>
            <p:ph type="body" sz="quarter" idx="24" hasCustomPrompt="1"/>
          </p:nvPr>
        </p:nvSpPr>
        <p:spPr>
          <a:xfrm>
            <a:off x="6624232" y="4725302"/>
            <a:ext cx="5238749" cy="338554"/>
          </a:xfrm>
          <a:prstGeom prst="rect">
            <a:avLst/>
          </a:prstGeom>
        </p:spPr>
        <p:txBody>
          <a:bodyPr vert="horz" wrap="square" lIns="0" tIns="45720" rIns="91440" bIns="45720" rtlCol="0" anchor="t">
            <a:spAutoFit/>
          </a:bodyPr>
          <a:lstStyle>
            <a:lvl1pPr algn="l">
              <a:defRPr lang="pt-BR" sz="16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24" name="Espaço Reservado para Texto 6">
            <a:extLst>
              <a:ext uri="{FF2B5EF4-FFF2-40B4-BE49-F238E27FC236}">
                <a16:creationId xmlns:a16="http://schemas.microsoft.com/office/drawing/2014/main" id="{47ED3601-9B62-4C46-9F5D-835223B43950}"/>
              </a:ext>
            </a:extLst>
          </p:cNvPr>
          <p:cNvSpPr>
            <a:spLocks noGrp="1"/>
          </p:cNvSpPr>
          <p:nvPr>
            <p:ph type="body" sz="quarter" idx="25" hasCustomPrompt="1"/>
          </p:nvPr>
        </p:nvSpPr>
        <p:spPr>
          <a:xfrm>
            <a:off x="6624232" y="5378634"/>
            <a:ext cx="5238749"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25" name="Espaço Reservado para Texto 6">
            <a:extLst>
              <a:ext uri="{FF2B5EF4-FFF2-40B4-BE49-F238E27FC236}">
                <a16:creationId xmlns:a16="http://schemas.microsoft.com/office/drawing/2014/main" id="{47C46C3F-1640-4BCD-B79B-CE85A97A6629}"/>
              </a:ext>
            </a:extLst>
          </p:cNvPr>
          <p:cNvSpPr>
            <a:spLocks noGrp="1"/>
          </p:cNvSpPr>
          <p:nvPr>
            <p:ph type="body" sz="quarter" idx="26" hasCustomPrompt="1"/>
          </p:nvPr>
        </p:nvSpPr>
        <p:spPr>
          <a:xfrm>
            <a:off x="6624232" y="5708852"/>
            <a:ext cx="5238749" cy="338554"/>
          </a:xfrm>
          <a:prstGeom prst="rect">
            <a:avLst/>
          </a:prstGeom>
        </p:spPr>
        <p:txBody>
          <a:bodyPr vert="horz" wrap="square" lIns="0" tIns="45720" rIns="91440" bIns="45720" rtlCol="0" anchor="t">
            <a:spAutoFit/>
          </a:bodyPr>
          <a:lstStyle>
            <a:lvl1pPr algn="l">
              <a:defRPr lang="pt-BR" sz="16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Tree>
    <p:extLst>
      <p:ext uri="{BB962C8B-B14F-4D97-AF65-F5344CB8AC3E}">
        <p14:creationId xmlns:p14="http://schemas.microsoft.com/office/powerpoint/2010/main" val="33854299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visória">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5D2690E-870A-42A4-A539-D8CF1BA4590E}"/>
              </a:ext>
            </a:extLst>
          </p:cNvPr>
          <p:cNvSpPr/>
          <p:nvPr userDrawn="1"/>
        </p:nvSpPr>
        <p:spPr>
          <a:xfrm>
            <a:off x="0" y="0"/>
            <a:ext cx="12192000" cy="6858000"/>
          </a:xfrm>
          <a:prstGeom prst="rect">
            <a:avLst/>
          </a:prstGeom>
          <a:gradFill flip="none" rotWithShape="1">
            <a:gsLst>
              <a:gs pos="89000">
                <a:srgbClr val="000000"/>
              </a:gs>
              <a:gs pos="0">
                <a:schemeClr val="tx1"/>
              </a:gs>
            </a:gsLst>
            <a:path path="circle">
              <a:fillToRect l="100000" b="100000"/>
            </a:path>
            <a:tileRect t="-100000" r="-10000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picture containing dark, night sky&#10;&#10;Description automatically generated">
            <a:extLst>
              <a:ext uri="{FF2B5EF4-FFF2-40B4-BE49-F238E27FC236}">
                <a16:creationId xmlns:a16="http://schemas.microsoft.com/office/drawing/2014/main" id="{2D1B02CA-10D9-40D7-B7FD-1CD856FFC129}"/>
              </a:ext>
            </a:extLst>
          </p:cNvPr>
          <p:cNvPicPr>
            <a:picLocks noChangeAspect="1"/>
          </p:cNvPicPr>
          <p:nvPr userDrawn="1"/>
        </p:nvPicPr>
        <p:blipFill>
          <a:blip r:embed="rId2">
            <a:alphaModFix amt="81000"/>
          </a:blip>
          <a:stretch>
            <a:fillRect/>
          </a:stretch>
        </p:blipFill>
        <p:spPr>
          <a:xfrm flipV="1">
            <a:off x="3446236" y="742950"/>
            <a:ext cx="8745764" cy="6115050"/>
          </a:xfrm>
          <a:prstGeom prst="rect">
            <a:avLst/>
          </a:prstGeom>
        </p:spPr>
      </p:pic>
      <p:sp>
        <p:nvSpPr>
          <p:cNvPr id="5" name="Rectangle 4">
            <a:extLst>
              <a:ext uri="{FF2B5EF4-FFF2-40B4-BE49-F238E27FC236}">
                <a16:creationId xmlns:a16="http://schemas.microsoft.com/office/drawing/2014/main" id="{F51014C8-09FA-4C8A-8115-08E2F6A06DE5}"/>
              </a:ext>
            </a:extLst>
          </p:cNvPr>
          <p:cNvSpPr/>
          <p:nvPr userDrawn="1"/>
        </p:nvSpPr>
        <p:spPr>
          <a:xfrm>
            <a:off x="-1" y="0"/>
            <a:ext cx="12192001" cy="185782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30" name="Freeform: Shape 29">
            <a:extLst>
              <a:ext uri="{FF2B5EF4-FFF2-40B4-BE49-F238E27FC236}">
                <a16:creationId xmlns:a16="http://schemas.microsoft.com/office/drawing/2014/main" id="{3BC46259-2514-4BE3-8602-B00F70D63306}"/>
              </a:ext>
            </a:extLst>
          </p:cNvPr>
          <p:cNvSpPr/>
          <p:nvPr userDrawn="1"/>
        </p:nvSpPr>
        <p:spPr>
          <a:xfrm rot="5400000">
            <a:off x="868324" y="-868323"/>
            <a:ext cx="1857828" cy="3594477"/>
          </a:xfrm>
          <a:custGeom>
            <a:avLst/>
            <a:gdLst>
              <a:gd name="connsiteX0" fmla="*/ 0 w 1857828"/>
              <a:gd name="connsiteY0" fmla="*/ 3594477 h 3594477"/>
              <a:gd name="connsiteX1" fmla="*/ 0 w 1857828"/>
              <a:gd name="connsiteY1" fmla="*/ 1640121 h 3594477"/>
              <a:gd name="connsiteX2" fmla="*/ 1857828 w 1857828"/>
              <a:gd name="connsiteY2" fmla="*/ 0 h 3594477"/>
              <a:gd name="connsiteX3" fmla="*/ 1857828 w 1857828"/>
              <a:gd name="connsiteY3" fmla="*/ 3594477 h 3594477"/>
            </a:gdLst>
            <a:ahLst/>
            <a:cxnLst>
              <a:cxn ang="0">
                <a:pos x="connsiteX0" y="connsiteY0"/>
              </a:cxn>
              <a:cxn ang="0">
                <a:pos x="connsiteX1" y="connsiteY1"/>
              </a:cxn>
              <a:cxn ang="0">
                <a:pos x="connsiteX2" y="connsiteY2"/>
              </a:cxn>
              <a:cxn ang="0">
                <a:pos x="connsiteX3" y="connsiteY3"/>
              </a:cxn>
            </a:cxnLst>
            <a:rect l="l" t="t" r="r" b="b"/>
            <a:pathLst>
              <a:path w="1857828" h="3594477">
                <a:moveTo>
                  <a:pt x="0" y="3594477"/>
                </a:moveTo>
                <a:lnTo>
                  <a:pt x="0" y="1640121"/>
                </a:lnTo>
                <a:lnTo>
                  <a:pt x="1857828" y="0"/>
                </a:lnTo>
                <a:lnTo>
                  <a:pt x="1857828" y="359447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20" name="Group 19">
            <a:extLst>
              <a:ext uri="{FF2B5EF4-FFF2-40B4-BE49-F238E27FC236}">
                <a16:creationId xmlns:a16="http://schemas.microsoft.com/office/drawing/2014/main" id="{1C1D2048-735F-4EDC-8EC0-A373A0C2FC37}"/>
              </a:ext>
            </a:extLst>
          </p:cNvPr>
          <p:cNvGrpSpPr/>
          <p:nvPr userDrawn="1"/>
        </p:nvGrpSpPr>
        <p:grpSpPr>
          <a:xfrm flipV="1">
            <a:off x="0" y="0"/>
            <a:ext cx="12192000" cy="6858000"/>
            <a:chOff x="0" y="38100"/>
            <a:chExt cx="12192000" cy="6858000"/>
          </a:xfrm>
        </p:grpSpPr>
        <p:cxnSp>
          <p:nvCxnSpPr>
            <p:cNvPr id="21" name="Conector reto 7">
              <a:extLst>
                <a:ext uri="{FF2B5EF4-FFF2-40B4-BE49-F238E27FC236}">
                  <a16:creationId xmlns:a16="http://schemas.microsoft.com/office/drawing/2014/main" id="{529BD05E-169D-41C4-A11B-C085CACA305F}"/>
                </a:ext>
              </a:extLst>
            </p:cNvPr>
            <p:cNvCxnSpPr>
              <a:cxnSpLocks/>
            </p:cNvCxnSpPr>
            <p:nvPr userDrawn="1"/>
          </p:nvCxnSpPr>
          <p:spPr>
            <a:xfrm flipV="1">
              <a:off x="0" y="5038273"/>
              <a:ext cx="12192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2" name="Conector reto 2">
              <a:extLst>
                <a:ext uri="{FF2B5EF4-FFF2-40B4-BE49-F238E27FC236}">
                  <a16:creationId xmlns:a16="http://schemas.microsoft.com/office/drawing/2014/main" id="{6FB17CA7-21C5-498C-B4A0-B407EF64DEF0}"/>
                </a:ext>
              </a:extLst>
            </p:cNvPr>
            <p:cNvCxnSpPr>
              <a:cxnSpLocks/>
            </p:cNvCxnSpPr>
            <p:nvPr userDrawn="1"/>
          </p:nvCxnSpPr>
          <p:spPr>
            <a:xfrm flipH="1">
              <a:off x="1943100" y="38100"/>
              <a:ext cx="6052793" cy="685800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grpSp>
      <p:sp>
        <p:nvSpPr>
          <p:cNvPr id="53" name="Text Placeholder 40">
            <a:extLst>
              <a:ext uri="{FF2B5EF4-FFF2-40B4-BE49-F238E27FC236}">
                <a16:creationId xmlns:a16="http://schemas.microsoft.com/office/drawing/2014/main" id="{3D6AE3AE-E27B-4EDA-9BAD-FA7785858369}"/>
              </a:ext>
            </a:extLst>
          </p:cNvPr>
          <p:cNvSpPr>
            <a:spLocks noGrp="1"/>
          </p:cNvSpPr>
          <p:nvPr userDrawn="1">
            <p:ph type="body" sz="quarter" idx="11" hasCustomPrompt="1"/>
          </p:nvPr>
        </p:nvSpPr>
        <p:spPr>
          <a:xfrm>
            <a:off x="723898" y="5181710"/>
            <a:ext cx="5689601" cy="458908"/>
          </a:xfrm>
          <a:prstGeom prst="rect">
            <a:avLst/>
          </a:prstGeom>
          <a:noFill/>
          <a:effectLst/>
        </p:spPr>
        <p:txBody>
          <a:bodyPr wrap="square" lIns="0" tIns="0" rIns="0" bIns="0" rtlCol="0" anchor="t" anchorCtr="0">
            <a:noAutofit/>
          </a:bodyPr>
          <a:lstStyle>
            <a:lvl1pPr algn="l">
              <a:defRPr lang="en-US" sz="4000" b="0" i="0" dirty="0">
                <a:solidFill>
                  <a:schemeClr val="bg1"/>
                </a:solidFill>
                <a:latin typeface="+mj-lt"/>
                <a:ea typeface="XP Light" pitchFamily="50" charset="0"/>
                <a:cs typeface="Roboto" panose="02000000000000000000" pitchFamily="2" charset="0"/>
              </a:defRPr>
            </a:lvl1pPr>
          </a:lstStyle>
          <a:p>
            <a:pPr lvl="0" algn="ctr" defTabSz="914400">
              <a:lnSpc>
                <a:spcPct val="80000"/>
              </a:lnSpc>
              <a:spcBef>
                <a:spcPts val="1200"/>
              </a:spcBef>
            </a:pPr>
            <a:r>
              <a:rPr lang="pt-BR" noProof="0" dirty="0" err="1"/>
              <a:t>Edit</a:t>
            </a:r>
            <a:endParaRPr lang="pt-BR" noProof="0" dirty="0"/>
          </a:p>
        </p:txBody>
      </p:sp>
      <p:sp>
        <p:nvSpPr>
          <p:cNvPr id="54" name="Text Placeholder 40">
            <a:extLst>
              <a:ext uri="{FF2B5EF4-FFF2-40B4-BE49-F238E27FC236}">
                <a16:creationId xmlns:a16="http://schemas.microsoft.com/office/drawing/2014/main" id="{5CE564BE-B5A0-45EB-B85C-474C61E0D3D6}"/>
              </a:ext>
            </a:extLst>
          </p:cNvPr>
          <p:cNvSpPr>
            <a:spLocks noGrp="1"/>
          </p:cNvSpPr>
          <p:nvPr userDrawn="1">
            <p:ph type="body" sz="quarter" idx="12" hasCustomPrompt="1"/>
          </p:nvPr>
        </p:nvSpPr>
        <p:spPr>
          <a:xfrm>
            <a:off x="723899" y="4762559"/>
            <a:ext cx="3006272" cy="336050"/>
          </a:xfrm>
          <a:prstGeom prst="rect">
            <a:avLst/>
          </a:prstGeom>
          <a:noFill/>
          <a:effectLst/>
        </p:spPr>
        <p:txBody>
          <a:bodyPr wrap="none" lIns="0" tIns="0" rIns="0" bIns="0" rtlCol="0" anchor="ctr">
            <a:noAutofit/>
          </a:bodyPr>
          <a:lstStyle>
            <a:lvl1pPr algn="l">
              <a:defRPr lang="en-US" sz="2400" b="1" i="0" dirty="0">
                <a:solidFill>
                  <a:schemeClr val="accent3"/>
                </a:solidFill>
                <a:latin typeface="+mj-lt"/>
                <a:ea typeface="XP Light Lighthouse" pitchFamily="50" charset="0"/>
                <a:cs typeface="Roboto" panose="02000000000000000000" pitchFamily="2" charset="0"/>
              </a:defRPr>
            </a:lvl1pPr>
          </a:lstStyle>
          <a:p>
            <a:pPr lvl="0" algn="ctr" defTabSz="914400">
              <a:lnSpc>
                <a:spcPct val="80000"/>
              </a:lnSpc>
              <a:spcBef>
                <a:spcPts val="1200"/>
              </a:spcBef>
            </a:pPr>
            <a:r>
              <a:rPr lang="pt-BR" noProof="0" dirty="0" err="1"/>
              <a:t>Section</a:t>
            </a:r>
            <a:endParaRPr lang="pt-BR" noProof="0" dirty="0"/>
          </a:p>
        </p:txBody>
      </p:sp>
      <p:sp>
        <p:nvSpPr>
          <p:cNvPr id="13" name="Freeform: Shape 12">
            <a:extLst>
              <a:ext uri="{FF2B5EF4-FFF2-40B4-BE49-F238E27FC236}">
                <a16:creationId xmlns:a16="http://schemas.microsoft.com/office/drawing/2014/main" id="{16AEDD1F-5FA7-48D9-BBD7-21475E258055}"/>
              </a:ext>
            </a:extLst>
          </p:cNvPr>
          <p:cNvSpPr/>
          <p:nvPr userDrawn="1"/>
        </p:nvSpPr>
        <p:spPr>
          <a:xfrm>
            <a:off x="11212853" y="680977"/>
            <a:ext cx="549724" cy="49587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000000"/>
          </a:solidFill>
          <a:ln w="6350" cap="flat">
            <a:noFill/>
            <a:prstDash val="solid"/>
            <a:miter/>
          </a:ln>
        </p:spPr>
        <p:txBody>
          <a:bodyPr rtlCol="0" anchor="ctr"/>
          <a:lstStyle/>
          <a:p>
            <a:endParaRPr lang="en-US">
              <a:solidFill>
                <a:schemeClr val="bg1"/>
              </a:solidFill>
            </a:endParaRPr>
          </a:p>
        </p:txBody>
      </p:sp>
    </p:spTree>
    <p:extLst>
      <p:ext uri="{BB962C8B-B14F-4D97-AF65-F5344CB8AC3E}">
        <p14:creationId xmlns:p14="http://schemas.microsoft.com/office/powerpoint/2010/main" val="36943030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 Espaços v1 Report">
    <p:bg>
      <p:bgPr>
        <a:solidFill>
          <a:schemeClr val="bg1"/>
        </a:solidFill>
        <a:effectLst/>
      </p:bgPr>
    </p:bg>
    <p:spTree>
      <p:nvGrpSpPr>
        <p:cNvPr id="1" name=""/>
        <p:cNvGrpSpPr/>
        <p:nvPr/>
      </p:nvGrpSpPr>
      <p:grpSpPr>
        <a:xfrm>
          <a:off x="0" y="0"/>
          <a:ext cx="0" cy="0"/>
          <a:chOff x="0" y="0"/>
          <a:chExt cx="0" cy="0"/>
        </a:xfrm>
      </p:grpSpPr>
      <p:sp>
        <p:nvSpPr>
          <p:cNvPr id="59" name="Text Placeholder 21">
            <a:extLst>
              <a:ext uri="{FF2B5EF4-FFF2-40B4-BE49-F238E27FC236}">
                <a16:creationId xmlns:a16="http://schemas.microsoft.com/office/drawing/2014/main" id="{D424C4DF-D303-4CA2-ACE4-00820506B159}"/>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p:nvPr>
        </p:nvSpPr>
        <p:spPr>
          <a:xfrm>
            <a:off x="335999" y="1235300"/>
            <a:ext cx="11518900" cy="2336638"/>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endParaRPr lang="pt-BR" dirty="0"/>
          </a:p>
        </p:txBody>
      </p:sp>
      <p:sp>
        <p:nvSpPr>
          <p:cNvPr id="45" name="Espaço Reservado para Conteúdo 14">
            <a:extLst>
              <a:ext uri="{FF2B5EF4-FFF2-40B4-BE49-F238E27FC236}">
                <a16:creationId xmlns:a16="http://schemas.microsoft.com/office/drawing/2014/main" id="{6A3E094B-99B8-4C23-975E-F513132C64E9}"/>
              </a:ext>
            </a:extLst>
          </p:cNvPr>
          <p:cNvSpPr>
            <a:spLocks noGrp="1"/>
          </p:cNvSpPr>
          <p:nvPr>
            <p:ph sz="quarter" idx="19" hasCustomPrompt="1"/>
          </p:nvPr>
        </p:nvSpPr>
        <p:spPr>
          <a:xfrm>
            <a:off x="336000" y="3997319"/>
            <a:ext cx="3685087" cy="2016449"/>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47" name="Espaço Reservado para Conteúdo 14">
            <a:extLst>
              <a:ext uri="{FF2B5EF4-FFF2-40B4-BE49-F238E27FC236}">
                <a16:creationId xmlns:a16="http://schemas.microsoft.com/office/drawing/2014/main" id="{D860E960-11CA-4272-9964-75E5AE26D1E5}"/>
              </a:ext>
            </a:extLst>
          </p:cNvPr>
          <p:cNvSpPr>
            <a:spLocks noGrp="1"/>
          </p:cNvSpPr>
          <p:nvPr>
            <p:ph sz="quarter" idx="25" hasCustomPrompt="1"/>
          </p:nvPr>
        </p:nvSpPr>
        <p:spPr>
          <a:xfrm>
            <a:off x="336000" y="3661518"/>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8" name="Espaço Reservado para Conteúdo 14">
            <a:extLst>
              <a:ext uri="{FF2B5EF4-FFF2-40B4-BE49-F238E27FC236}">
                <a16:creationId xmlns:a16="http://schemas.microsoft.com/office/drawing/2014/main" id="{DA54B840-534F-467E-BB75-F45BB972CB20}"/>
              </a:ext>
            </a:extLst>
          </p:cNvPr>
          <p:cNvSpPr>
            <a:spLocks noGrp="1"/>
          </p:cNvSpPr>
          <p:nvPr>
            <p:ph sz="quarter" idx="26" hasCustomPrompt="1"/>
          </p:nvPr>
        </p:nvSpPr>
        <p:spPr>
          <a:xfrm>
            <a:off x="4253456" y="3997319"/>
            <a:ext cx="3685087" cy="2017491"/>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0" name="Espaço Reservado para Conteúdo 14">
            <a:extLst>
              <a:ext uri="{FF2B5EF4-FFF2-40B4-BE49-F238E27FC236}">
                <a16:creationId xmlns:a16="http://schemas.microsoft.com/office/drawing/2014/main" id="{7A60C311-B580-4F1F-AAAE-CDD78FA5F66D}"/>
              </a:ext>
            </a:extLst>
          </p:cNvPr>
          <p:cNvSpPr>
            <a:spLocks noGrp="1"/>
          </p:cNvSpPr>
          <p:nvPr>
            <p:ph sz="quarter" idx="27" hasCustomPrompt="1"/>
          </p:nvPr>
        </p:nvSpPr>
        <p:spPr>
          <a:xfrm>
            <a:off x="4253456" y="3662560"/>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1" name="Espaço Reservado para Conteúdo 14">
            <a:extLst>
              <a:ext uri="{FF2B5EF4-FFF2-40B4-BE49-F238E27FC236}">
                <a16:creationId xmlns:a16="http://schemas.microsoft.com/office/drawing/2014/main" id="{CDB0A697-A434-46B8-9C05-837C7C6A01A2}"/>
              </a:ext>
            </a:extLst>
          </p:cNvPr>
          <p:cNvSpPr>
            <a:spLocks noGrp="1"/>
          </p:cNvSpPr>
          <p:nvPr>
            <p:ph sz="quarter" idx="28" hasCustomPrompt="1"/>
          </p:nvPr>
        </p:nvSpPr>
        <p:spPr>
          <a:xfrm>
            <a:off x="8159750" y="3991783"/>
            <a:ext cx="3685087" cy="2019217"/>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2" name="Espaço Reservado para Conteúdo 14">
            <a:extLst>
              <a:ext uri="{FF2B5EF4-FFF2-40B4-BE49-F238E27FC236}">
                <a16:creationId xmlns:a16="http://schemas.microsoft.com/office/drawing/2014/main" id="{3CA158A3-7402-4044-9690-CF3E3034B2E1}"/>
              </a:ext>
            </a:extLst>
          </p:cNvPr>
          <p:cNvSpPr>
            <a:spLocks noGrp="1"/>
          </p:cNvSpPr>
          <p:nvPr>
            <p:ph sz="quarter" idx="29" hasCustomPrompt="1"/>
          </p:nvPr>
        </p:nvSpPr>
        <p:spPr>
          <a:xfrm>
            <a:off x="8159750" y="3658750"/>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0" y="188913"/>
            <a:ext cx="8351838"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56" name="Espaço Reservado para Texto 6">
            <a:extLst>
              <a:ext uri="{FF2B5EF4-FFF2-40B4-BE49-F238E27FC236}">
                <a16:creationId xmlns:a16="http://schemas.microsoft.com/office/drawing/2014/main" id="{28BE2B96-DDD6-4744-A34C-3D2BE7271C5C}"/>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5" name="Date Placeholder 1">
            <a:extLst>
              <a:ext uri="{FF2B5EF4-FFF2-40B4-BE49-F238E27FC236}">
                <a16:creationId xmlns:a16="http://schemas.microsoft.com/office/drawing/2014/main" id="{F473DC8A-AE82-48E2-B130-E6602BBA124A}"/>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1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A6844A8F-C80F-444C-AD01-359786A22A4E}" type="datetime4">
              <a:rPr lang="pt-BR" smtClean="0"/>
              <a:pPr/>
              <a:t>2 de julho de 2026</a:t>
            </a:fld>
            <a:endParaRPr lang="en-US" dirty="0"/>
          </a:p>
        </p:txBody>
      </p:sp>
    </p:spTree>
    <p:extLst>
      <p:ext uri="{BB962C8B-B14F-4D97-AF65-F5344CB8AC3E}">
        <p14:creationId xmlns:p14="http://schemas.microsoft.com/office/powerpoint/2010/main" val="3058540677"/>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3 Espaços v1 Report">
    <p:bg>
      <p:bgPr>
        <a:solidFill>
          <a:schemeClr val="bg1"/>
        </a:solidFill>
        <a:effectLst/>
      </p:bgPr>
    </p:bg>
    <p:spTree>
      <p:nvGrpSpPr>
        <p:cNvPr id="1" name=""/>
        <p:cNvGrpSpPr/>
        <p:nvPr/>
      </p:nvGrpSpPr>
      <p:grpSpPr>
        <a:xfrm>
          <a:off x="0" y="0"/>
          <a:ext cx="0" cy="0"/>
          <a:chOff x="0" y="0"/>
          <a:chExt cx="0" cy="0"/>
        </a:xfrm>
      </p:grpSpPr>
      <p:sp>
        <p:nvSpPr>
          <p:cNvPr id="59" name="Text Placeholder 21">
            <a:extLst>
              <a:ext uri="{FF2B5EF4-FFF2-40B4-BE49-F238E27FC236}">
                <a16:creationId xmlns:a16="http://schemas.microsoft.com/office/drawing/2014/main" id="{D424C4DF-D303-4CA2-ACE4-00820506B159}"/>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p:nvPr>
        </p:nvSpPr>
        <p:spPr>
          <a:xfrm>
            <a:off x="335999" y="1235300"/>
            <a:ext cx="11518900" cy="1673288"/>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endParaRPr lang="pt-BR" dirty="0"/>
          </a:p>
        </p:txBody>
      </p:sp>
      <p:sp>
        <p:nvSpPr>
          <p:cNvPr id="45" name="Espaço Reservado para Conteúdo 14">
            <a:extLst>
              <a:ext uri="{FF2B5EF4-FFF2-40B4-BE49-F238E27FC236}">
                <a16:creationId xmlns:a16="http://schemas.microsoft.com/office/drawing/2014/main" id="{6A3E094B-99B8-4C23-975E-F513132C64E9}"/>
              </a:ext>
            </a:extLst>
          </p:cNvPr>
          <p:cNvSpPr>
            <a:spLocks noGrp="1"/>
          </p:cNvSpPr>
          <p:nvPr>
            <p:ph sz="quarter" idx="19" hasCustomPrompt="1"/>
          </p:nvPr>
        </p:nvSpPr>
        <p:spPr>
          <a:xfrm>
            <a:off x="336000" y="3419097"/>
            <a:ext cx="5620183" cy="2594672"/>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47" name="Espaço Reservado para Conteúdo 14">
            <a:extLst>
              <a:ext uri="{FF2B5EF4-FFF2-40B4-BE49-F238E27FC236}">
                <a16:creationId xmlns:a16="http://schemas.microsoft.com/office/drawing/2014/main" id="{D860E960-11CA-4272-9964-75E5AE26D1E5}"/>
              </a:ext>
            </a:extLst>
          </p:cNvPr>
          <p:cNvSpPr>
            <a:spLocks noGrp="1"/>
          </p:cNvSpPr>
          <p:nvPr>
            <p:ph sz="quarter" idx="25" hasCustomPrompt="1"/>
          </p:nvPr>
        </p:nvSpPr>
        <p:spPr>
          <a:xfrm>
            <a:off x="336000" y="3040732"/>
            <a:ext cx="11518899"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1" name="Espaço Reservado para Conteúdo 14">
            <a:extLst>
              <a:ext uri="{FF2B5EF4-FFF2-40B4-BE49-F238E27FC236}">
                <a16:creationId xmlns:a16="http://schemas.microsoft.com/office/drawing/2014/main" id="{CDB0A697-A434-46B8-9C05-837C7C6A01A2}"/>
              </a:ext>
            </a:extLst>
          </p:cNvPr>
          <p:cNvSpPr>
            <a:spLocks noGrp="1"/>
          </p:cNvSpPr>
          <p:nvPr>
            <p:ph sz="quarter" idx="28" hasCustomPrompt="1"/>
          </p:nvPr>
        </p:nvSpPr>
        <p:spPr>
          <a:xfrm>
            <a:off x="6224655" y="3426233"/>
            <a:ext cx="5620183" cy="2584768"/>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0" y="188913"/>
            <a:ext cx="8351838"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56" name="Espaço Reservado para Texto 6">
            <a:extLst>
              <a:ext uri="{FF2B5EF4-FFF2-40B4-BE49-F238E27FC236}">
                <a16:creationId xmlns:a16="http://schemas.microsoft.com/office/drawing/2014/main" id="{28BE2B96-DDD6-4744-A34C-3D2BE7271C5C}"/>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5" name="Date Placeholder 1">
            <a:extLst>
              <a:ext uri="{FF2B5EF4-FFF2-40B4-BE49-F238E27FC236}">
                <a16:creationId xmlns:a16="http://schemas.microsoft.com/office/drawing/2014/main" id="{F473DC8A-AE82-48E2-B130-E6602BBA124A}"/>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1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A6844A8F-C80F-444C-AD01-359786A22A4E}" type="datetime4">
              <a:rPr lang="pt-BR" smtClean="0"/>
              <a:pPr/>
              <a:t>2 de julho de 2026</a:t>
            </a:fld>
            <a:endParaRPr lang="en-US" dirty="0"/>
          </a:p>
        </p:txBody>
      </p:sp>
    </p:spTree>
    <p:extLst>
      <p:ext uri="{BB962C8B-B14F-4D97-AF65-F5344CB8AC3E}">
        <p14:creationId xmlns:p14="http://schemas.microsoft.com/office/powerpoint/2010/main" val="4165707877"/>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3 Espaços v1 Report">
    <p:bg>
      <p:bgPr>
        <a:solidFill>
          <a:schemeClr val="bg1"/>
        </a:solidFill>
        <a:effectLst/>
      </p:bgPr>
    </p:bg>
    <p:spTree>
      <p:nvGrpSpPr>
        <p:cNvPr id="1" name=""/>
        <p:cNvGrpSpPr/>
        <p:nvPr/>
      </p:nvGrpSpPr>
      <p:grpSpPr>
        <a:xfrm>
          <a:off x="0" y="0"/>
          <a:ext cx="0" cy="0"/>
          <a:chOff x="0" y="0"/>
          <a:chExt cx="0" cy="0"/>
        </a:xfrm>
      </p:grpSpPr>
      <p:sp>
        <p:nvSpPr>
          <p:cNvPr id="59" name="Text Placeholder 21">
            <a:extLst>
              <a:ext uri="{FF2B5EF4-FFF2-40B4-BE49-F238E27FC236}">
                <a16:creationId xmlns:a16="http://schemas.microsoft.com/office/drawing/2014/main" id="{D424C4DF-D303-4CA2-ACE4-00820506B159}"/>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47" name="Espaço Reservado para Conteúdo 14">
            <a:extLst>
              <a:ext uri="{FF2B5EF4-FFF2-40B4-BE49-F238E27FC236}">
                <a16:creationId xmlns:a16="http://schemas.microsoft.com/office/drawing/2014/main" id="{D860E960-11CA-4272-9964-75E5AE26D1E5}"/>
              </a:ext>
            </a:extLst>
          </p:cNvPr>
          <p:cNvSpPr>
            <a:spLocks noGrp="1"/>
          </p:cNvSpPr>
          <p:nvPr>
            <p:ph sz="quarter" idx="25" hasCustomPrompt="1"/>
          </p:nvPr>
        </p:nvSpPr>
        <p:spPr>
          <a:xfrm>
            <a:off x="336000" y="767313"/>
            <a:ext cx="11518899"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0" y="188913"/>
            <a:ext cx="8351838"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5" name="Date Placeholder 1">
            <a:extLst>
              <a:ext uri="{FF2B5EF4-FFF2-40B4-BE49-F238E27FC236}">
                <a16:creationId xmlns:a16="http://schemas.microsoft.com/office/drawing/2014/main" id="{F473DC8A-AE82-48E2-B130-E6602BBA124A}"/>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1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A6844A8F-C80F-444C-AD01-359786A22A4E}" type="datetime4">
              <a:rPr lang="pt-BR" smtClean="0"/>
              <a:pPr/>
              <a:t>2 de julho de 2026</a:t>
            </a:fld>
            <a:endParaRPr lang="en-US" dirty="0"/>
          </a:p>
        </p:txBody>
      </p:sp>
    </p:spTree>
    <p:extLst>
      <p:ext uri="{BB962C8B-B14F-4D97-AF65-F5344CB8AC3E}">
        <p14:creationId xmlns:p14="http://schemas.microsoft.com/office/powerpoint/2010/main" val="1487388590"/>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3 Espaços v1 Report">
    <p:bg>
      <p:bgPr>
        <a:solidFill>
          <a:schemeClr val="bg1"/>
        </a:solidFill>
        <a:effectLst/>
      </p:bgPr>
    </p:bg>
    <p:spTree>
      <p:nvGrpSpPr>
        <p:cNvPr id="1" name=""/>
        <p:cNvGrpSpPr/>
        <p:nvPr/>
      </p:nvGrpSpPr>
      <p:grpSpPr>
        <a:xfrm>
          <a:off x="0" y="0"/>
          <a:ext cx="0" cy="0"/>
          <a:chOff x="0" y="0"/>
          <a:chExt cx="0" cy="0"/>
        </a:xfrm>
      </p:grpSpPr>
      <p:sp>
        <p:nvSpPr>
          <p:cNvPr id="59" name="Text Placeholder 21">
            <a:extLst>
              <a:ext uri="{FF2B5EF4-FFF2-40B4-BE49-F238E27FC236}">
                <a16:creationId xmlns:a16="http://schemas.microsoft.com/office/drawing/2014/main" id="{D424C4DF-D303-4CA2-ACE4-00820506B159}"/>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p:nvPr>
        </p:nvSpPr>
        <p:spPr>
          <a:xfrm>
            <a:off x="335999" y="1235299"/>
            <a:ext cx="7675487" cy="4955776"/>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endParaRPr lang="pt-BR" dirty="0"/>
          </a:p>
        </p:txBody>
      </p:sp>
      <p:sp>
        <p:nvSpPr>
          <p:cNvPr id="48" name="Espaço Reservado para Conteúdo 14">
            <a:extLst>
              <a:ext uri="{FF2B5EF4-FFF2-40B4-BE49-F238E27FC236}">
                <a16:creationId xmlns:a16="http://schemas.microsoft.com/office/drawing/2014/main" id="{DA54B840-534F-467E-BB75-F45BB972CB20}"/>
              </a:ext>
            </a:extLst>
          </p:cNvPr>
          <p:cNvSpPr>
            <a:spLocks noGrp="1"/>
          </p:cNvSpPr>
          <p:nvPr>
            <p:ph sz="quarter" idx="26" hasCustomPrompt="1"/>
          </p:nvPr>
        </p:nvSpPr>
        <p:spPr>
          <a:xfrm>
            <a:off x="8169814" y="1526295"/>
            <a:ext cx="3685087" cy="2157134"/>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0" name="Espaço Reservado para Conteúdo 14">
            <a:extLst>
              <a:ext uri="{FF2B5EF4-FFF2-40B4-BE49-F238E27FC236}">
                <a16:creationId xmlns:a16="http://schemas.microsoft.com/office/drawing/2014/main" id="{7A60C311-B580-4F1F-AAAE-CDD78FA5F66D}"/>
              </a:ext>
            </a:extLst>
          </p:cNvPr>
          <p:cNvSpPr>
            <a:spLocks noGrp="1"/>
          </p:cNvSpPr>
          <p:nvPr>
            <p:ph sz="quarter" idx="27" hasCustomPrompt="1"/>
          </p:nvPr>
        </p:nvSpPr>
        <p:spPr>
          <a:xfrm>
            <a:off x="8169814" y="1233481"/>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1" name="Espaço Reservado para Conteúdo 14">
            <a:extLst>
              <a:ext uri="{FF2B5EF4-FFF2-40B4-BE49-F238E27FC236}">
                <a16:creationId xmlns:a16="http://schemas.microsoft.com/office/drawing/2014/main" id="{CDB0A697-A434-46B8-9C05-837C7C6A01A2}"/>
              </a:ext>
            </a:extLst>
          </p:cNvPr>
          <p:cNvSpPr>
            <a:spLocks noGrp="1"/>
          </p:cNvSpPr>
          <p:nvPr>
            <p:ph sz="quarter" idx="28" hasCustomPrompt="1"/>
          </p:nvPr>
        </p:nvSpPr>
        <p:spPr>
          <a:xfrm>
            <a:off x="8169813" y="4014516"/>
            <a:ext cx="3685087" cy="2172654"/>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2" name="Espaço Reservado para Conteúdo 14">
            <a:extLst>
              <a:ext uri="{FF2B5EF4-FFF2-40B4-BE49-F238E27FC236}">
                <a16:creationId xmlns:a16="http://schemas.microsoft.com/office/drawing/2014/main" id="{3CA158A3-7402-4044-9690-CF3E3034B2E1}"/>
              </a:ext>
            </a:extLst>
          </p:cNvPr>
          <p:cNvSpPr>
            <a:spLocks noGrp="1"/>
          </p:cNvSpPr>
          <p:nvPr>
            <p:ph sz="quarter" idx="29" hasCustomPrompt="1"/>
          </p:nvPr>
        </p:nvSpPr>
        <p:spPr>
          <a:xfrm>
            <a:off x="8159750" y="3725862"/>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0" y="188913"/>
            <a:ext cx="8351838"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56" name="Espaço Reservado para Texto 6">
            <a:extLst>
              <a:ext uri="{FF2B5EF4-FFF2-40B4-BE49-F238E27FC236}">
                <a16:creationId xmlns:a16="http://schemas.microsoft.com/office/drawing/2014/main" id="{28BE2B96-DDD6-4744-A34C-3D2BE7271C5C}"/>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5" name="Date Placeholder 1">
            <a:extLst>
              <a:ext uri="{FF2B5EF4-FFF2-40B4-BE49-F238E27FC236}">
                <a16:creationId xmlns:a16="http://schemas.microsoft.com/office/drawing/2014/main" id="{F473DC8A-AE82-48E2-B130-E6602BBA124A}"/>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1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A6844A8F-C80F-444C-AD01-359786A22A4E}" type="datetime4">
              <a:rPr lang="pt-BR" smtClean="0"/>
              <a:pPr/>
              <a:t>2 de julho de 2026</a:t>
            </a:fld>
            <a:endParaRPr lang="en-US" dirty="0"/>
          </a:p>
        </p:txBody>
      </p:sp>
    </p:spTree>
    <p:extLst>
      <p:ext uri="{BB962C8B-B14F-4D97-AF65-F5344CB8AC3E}">
        <p14:creationId xmlns:p14="http://schemas.microsoft.com/office/powerpoint/2010/main" val="2154116238"/>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_3 Espaços v1 Report">
    <p:bg>
      <p:bgPr>
        <a:solidFill>
          <a:schemeClr val="bg1"/>
        </a:solidFill>
        <a:effectLst/>
      </p:bgPr>
    </p:bg>
    <p:spTree>
      <p:nvGrpSpPr>
        <p:cNvPr id="1" name=""/>
        <p:cNvGrpSpPr/>
        <p:nvPr/>
      </p:nvGrpSpPr>
      <p:grpSpPr>
        <a:xfrm>
          <a:off x="0" y="0"/>
          <a:ext cx="0" cy="0"/>
          <a:chOff x="0" y="0"/>
          <a:chExt cx="0" cy="0"/>
        </a:xfrm>
      </p:grpSpPr>
      <p:sp>
        <p:nvSpPr>
          <p:cNvPr id="59" name="Text Placeholder 21">
            <a:extLst>
              <a:ext uri="{FF2B5EF4-FFF2-40B4-BE49-F238E27FC236}">
                <a16:creationId xmlns:a16="http://schemas.microsoft.com/office/drawing/2014/main" id="{D424C4DF-D303-4CA2-ACE4-00820506B159}"/>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p:nvPr>
        </p:nvSpPr>
        <p:spPr>
          <a:xfrm>
            <a:off x="335999" y="1235300"/>
            <a:ext cx="11518900" cy="1673288"/>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endParaRPr lang="pt-BR" dirty="0"/>
          </a:p>
        </p:txBody>
      </p:sp>
      <p:sp>
        <p:nvSpPr>
          <p:cNvPr id="45" name="Espaço Reservado para Conteúdo 14">
            <a:extLst>
              <a:ext uri="{FF2B5EF4-FFF2-40B4-BE49-F238E27FC236}">
                <a16:creationId xmlns:a16="http://schemas.microsoft.com/office/drawing/2014/main" id="{6A3E094B-99B8-4C23-975E-F513132C64E9}"/>
              </a:ext>
            </a:extLst>
          </p:cNvPr>
          <p:cNvSpPr>
            <a:spLocks noGrp="1"/>
          </p:cNvSpPr>
          <p:nvPr>
            <p:ph sz="quarter" idx="19" hasCustomPrompt="1"/>
          </p:nvPr>
        </p:nvSpPr>
        <p:spPr>
          <a:xfrm>
            <a:off x="336000" y="3351985"/>
            <a:ext cx="5620183" cy="2661784"/>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1" name="Espaço Reservado para Conteúdo 14">
            <a:extLst>
              <a:ext uri="{FF2B5EF4-FFF2-40B4-BE49-F238E27FC236}">
                <a16:creationId xmlns:a16="http://schemas.microsoft.com/office/drawing/2014/main" id="{CDB0A697-A434-46B8-9C05-837C7C6A01A2}"/>
              </a:ext>
            </a:extLst>
          </p:cNvPr>
          <p:cNvSpPr>
            <a:spLocks noGrp="1"/>
          </p:cNvSpPr>
          <p:nvPr>
            <p:ph sz="quarter" idx="28" hasCustomPrompt="1"/>
          </p:nvPr>
        </p:nvSpPr>
        <p:spPr>
          <a:xfrm>
            <a:off x="6224655" y="3349217"/>
            <a:ext cx="5620183" cy="2661784"/>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0" y="188913"/>
            <a:ext cx="8351838"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56" name="Espaço Reservado para Texto 6">
            <a:extLst>
              <a:ext uri="{FF2B5EF4-FFF2-40B4-BE49-F238E27FC236}">
                <a16:creationId xmlns:a16="http://schemas.microsoft.com/office/drawing/2014/main" id="{28BE2B96-DDD6-4744-A34C-3D2BE7271C5C}"/>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5" name="Date Placeholder 1">
            <a:extLst>
              <a:ext uri="{FF2B5EF4-FFF2-40B4-BE49-F238E27FC236}">
                <a16:creationId xmlns:a16="http://schemas.microsoft.com/office/drawing/2014/main" id="{F473DC8A-AE82-48E2-B130-E6602BBA124A}"/>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1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A6844A8F-C80F-444C-AD01-359786A22A4E}" type="datetime4">
              <a:rPr lang="pt-BR" smtClean="0"/>
              <a:pPr/>
              <a:t>2 de julho de 2026</a:t>
            </a:fld>
            <a:endParaRPr lang="en-US" dirty="0"/>
          </a:p>
        </p:txBody>
      </p:sp>
      <p:sp>
        <p:nvSpPr>
          <p:cNvPr id="11" name="Espaço Reservado para Conteúdo 14">
            <a:extLst>
              <a:ext uri="{FF2B5EF4-FFF2-40B4-BE49-F238E27FC236}">
                <a16:creationId xmlns:a16="http://schemas.microsoft.com/office/drawing/2014/main" id="{B165259F-333C-4356-8095-186141705D5F}"/>
              </a:ext>
            </a:extLst>
          </p:cNvPr>
          <p:cNvSpPr>
            <a:spLocks noGrp="1"/>
          </p:cNvSpPr>
          <p:nvPr>
            <p:ph sz="quarter" idx="25" hasCustomPrompt="1"/>
          </p:nvPr>
        </p:nvSpPr>
        <p:spPr>
          <a:xfrm>
            <a:off x="336000" y="3007176"/>
            <a:ext cx="5620183"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2" name="Espaço Reservado para Conteúdo 14">
            <a:extLst>
              <a:ext uri="{FF2B5EF4-FFF2-40B4-BE49-F238E27FC236}">
                <a16:creationId xmlns:a16="http://schemas.microsoft.com/office/drawing/2014/main" id="{797FD824-D2A9-4123-A0B6-ECAB8397E496}"/>
              </a:ext>
            </a:extLst>
          </p:cNvPr>
          <p:cNvSpPr>
            <a:spLocks noGrp="1"/>
          </p:cNvSpPr>
          <p:nvPr>
            <p:ph sz="quarter" idx="27" hasCustomPrompt="1"/>
          </p:nvPr>
        </p:nvSpPr>
        <p:spPr>
          <a:xfrm>
            <a:off x="6224655" y="3007176"/>
            <a:ext cx="563024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Tree>
    <p:extLst>
      <p:ext uri="{BB962C8B-B14F-4D97-AF65-F5344CB8AC3E}">
        <p14:creationId xmlns:p14="http://schemas.microsoft.com/office/powerpoint/2010/main" val="692643192"/>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_3 Espaços v1 Report">
    <p:bg>
      <p:bgPr>
        <a:solidFill>
          <a:schemeClr val="bg1"/>
        </a:solidFill>
        <a:effectLst/>
      </p:bgPr>
    </p:bg>
    <p:spTree>
      <p:nvGrpSpPr>
        <p:cNvPr id="1" name=""/>
        <p:cNvGrpSpPr/>
        <p:nvPr/>
      </p:nvGrpSpPr>
      <p:grpSpPr>
        <a:xfrm>
          <a:off x="0" y="0"/>
          <a:ext cx="0" cy="0"/>
          <a:chOff x="0" y="0"/>
          <a:chExt cx="0" cy="0"/>
        </a:xfrm>
      </p:grpSpPr>
      <p:sp>
        <p:nvSpPr>
          <p:cNvPr id="59" name="Text Placeholder 21">
            <a:extLst>
              <a:ext uri="{FF2B5EF4-FFF2-40B4-BE49-F238E27FC236}">
                <a16:creationId xmlns:a16="http://schemas.microsoft.com/office/drawing/2014/main" id="{D424C4DF-D303-4CA2-ACE4-00820506B159}"/>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p:nvPr>
        </p:nvSpPr>
        <p:spPr>
          <a:xfrm>
            <a:off x="335999" y="1235299"/>
            <a:ext cx="11518900" cy="2567207"/>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endParaRPr lang="pt-BR" dirty="0"/>
          </a:p>
        </p:txBody>
      </p:sp>
      <p:sp>
        <p:nvSpPr>
          <p:cNvPr id="45" name="Espaço Reservado para Conteúdo 14">
            <a:extLst>
              <a:ext uri="{FF2B5EF4-FFF2-40B4-BE49-F238E27FC236}">
                <a16:creationId xmlns:a16="http://schemas.microsoft.com/office/drawing/2014/main" id="{6A3E094B-99B8-4C23-975E-F513132C64E9}"/>
              </a:ext>
            </a:extLst>
          </p:cNvPr>
          <p:cNvSpPr>
            <a:spLocks noGrp="1"/>
          </p:cNvSpPr>
          <p:nvPr>
            <p:ph sz="quarter" idx="19" hasCustomPrompt="1"/>
          </p:nvPr>
        </p:nvSpPr>
        <p:spPr>
          <a:xfrm>
            <a:off x="336000" y="4219758"/>
            <a:ext cx="11518899" cy="1986958"/>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0" y="188913"/>
            <a:ext cx="8351838"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56" name="Espaço Reservado para Texto 6">
            <a:extLst>
              <a:ext uri="{FF2B5EF4-FFF2-40B4-BE49-F238E27FC236}">
                <a16:creationId xmlns:a16="http://schemas.microsoft.com/office/drawing/2014/main" id="{28BE2B96-DDD6-4744-A34C-3D2BE7271C5C}"/>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5" name="Date Placeholder 1">
            <a:extLst>
              <a:ext uri="{FF2B5EF4-FFF2-40B4-BE49-F238E27FC236}">
                <a16:creationId xmlns:a16="http://schemas.microsoft.com/office/drawing/2014/main" id="{F473DC8A-AE82-48E2-B130-E6602BBA124A}"/>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1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A6844A8F-C80F-444C-AD01-359786A22A4E}" type="datetime4">
              <a:rPr lang="pt-BR" smtClean="0"/>
              <a:pPr/>
              <a:t>2 de julho de 2026</a:t>
            </a:fld>
            <a:endParaRPr lang="en-US" dirty="0"/>
          </a:p>
        </p:txBody>
      </p:sp>
      <p:sp>
        <p:nvSpPr>
          <p:cNvPr id="11" name="Espaço Reservado para Conteúdo 14">
            <a:extLst>
              <a:ext uri="{FF2B5EF4-FFF2-40B4-BE49-F238E27FC236}">
                <a16:creationId xmlns:a16="http://schemas.microsoft.com/office/drawing/2014/main" id="{B165259F-333C-4356-8095-186141705D5F}"/>
              </a:ext>
            </a:extLst>
          </p:cNvPr>
          <p:cNvSpPr>
            <a:spLocks noGrp="1"/>
          </p:cNvSpPr>
          <p:nvPr>
            <p:ph sz="quarter" idx="25" hasCustomPrompt="1"/>
          </p:nvPr>
        </p:nvSpPr>
        <p:spPr>
          <a:xfrm>
            <a:off x="336000" y="3888021"/>
            <a:ext cx="11518899"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Tree>
    <p:extLst>
      <p:ext uri="{BB962C8B-B14F-4D97-AF65-F5344CB8AC3E}">
        <p14:creationId xmlns:p14="http://schemas.microsoft.com/office/powerpoint/2010/main" val="1026851933"/>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Divisória">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5D2690E-870A-42A4-A539-D8CF1BA4590E}"/>
              </a:ext>
            </a:extLst>
          </p:cNvPr>
          <p:cNvSpPr/>
          <p:nvPr userDrawn="1"/>
        </p:nvSpPr>
        <p:spPr>
          <a:xfrm>
            <a:off x="0" y="0"/>
            <a:ext cx="12192000" cy="6858000"/>
          </a:xfrm>
          <a:prstGeom prst="rect">
            <a:avLst/>
          </a:prstGeom>
          <a:gradFill flip="none" rotWithShape="1">
            <a:gsLst>
              <a:gs pos="89000">
                <a:srgbClr val="000000"/>
              </a:gs>
              <a:gs pos="0">
                <a:schemeClr val="tx1"/>
              </a:gs>
            </a:gsLst>
            <a:path path="circle">
              <a:fillToRect l="100000" b="100000"/>
            </a:path>
            <a:tileRect t="-100000" r="-10000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picture containing dark, night sky&#10;&#10;Description automatically generated">
            <a:extLst>
              <a:ext uri="{FF2B5EF4-FFF2-40B4-BE49-F238E27FC236}">
                <a16:creationId xmlns:a16="http://schemas.microsoft.com/office/drawing/2014/main" id="{2D1B02CA-10D9-40D7-B7FD-1CD856FFC129}"/>
              </a:ext>
            </a:extLst>
          </p:cNvPr>
          <p:cNvPicPr>
            <a:picLocks noChangeAspect="1"/>
          </p:cNvPicPr>
          <p:nvPr userDrawn="1"/>
        </p:nvPicPr>
        <p:blipFill>
          <a:blip r:embed="rId2">
            <a:alphaModFix amt="81000"/>
          </a:blip>
          <a:stretch>
            <a:fillRect/>
          </a:stretch>
        </p:blipFill>
        <p:spPr>
          <a:xfrm flipV="1">
            <a:off x="3446236" y="742950"/>
            <a:ext cx="8745764" cy="6115050"/>
          </a:xfrm>
          <a:prstGeom prst="rect">
            <a:avLst/>
          </a:prstGeom>
        </p:spPr>
      </p:pic>
      <p:sp>
        <p:nvSpPr>
          <p:cNvPr id="5" name="Rectangle 4">
            <a:extLst>
              <a:ext uri="{FF2B5EF4-FFF2-40B4-BE49-F238E27FC236}">
                <a16:creationId xmlns:a16="http://schemas.microsoft.com/office/drawing/2014/main" id="{F51014C8-09FA-4C8A-8115-08E2F6A06DE5}"/>
              </a:ext>
            </a:extLst>
          </p:cNvPr>
          <p:cNvSpPr/>
          <p:nvPr userDrawn="1"/>
        </p:nvSpPr>
        <p:spPr>
          <a:xfrm>
            <a:off x="-1" y="0"/>
            <a:ext cx="12192001" cy="185782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30" name="Freeform: Shape 29">
            <a:extLst>
              <a:ext uri="{FF2B5EF4-FFF2-40B4-BE49-F238E27FC236}">
                <a16:creationId xmlns:a16="http://schemas.microsoft.com/office/drawing/2014/main" id="{3BC46259-2514-4BE3-8602-B00F70D63306}"/>
              </a:ext>
            </a:extLst>
          </p:cNvPr>
          <p:cNvSpPr/>
          <p:nvPr userDrawn="1"/>
        </p:nvSpPr>
        <p:spPr>
          <a:xfrm rot="5400000">
            <a:off x="868324" y="-868323"/>
            <a:ext cx="1857828" cy="3594477"/>
          </a:xfrm>
          <a:custGeom>
            <a:avLst/>
            <a:gdLst>
              <a:gd name="connsiteX0" fmla="*/ 0 w 1857828"/>
              <a:gd name="connsiteY0" fmla="*/ 3594477 h 3594477"/>
              <a:gd name="connsiteX1" fmla="*/ 0 w 1857828"/>
              <a:gd name="connsiteY1" fmla="*/ 1640121 h 3594477"/>
              <a:gd name="connsiteX2" fmla="*/ 1857828 w 1857828"/>
              <a:gd name="connsiteY2" fmla="*/ 0 h 3594477"/>
              <a:gd name="connsiteX3" fmla="*/ 1857828 w 1857828"/>
              <a:gd name="connsiteY3" fmla="*/ 3594477 h 3594477"/>
            </a:gdLst>
            <a:ahLst/>
            <a:cxnLst>
              <a:cxn ang="0">
                <a:pos x="connsiteX0" y="connsiteY0"/>
              </a:cxn>
              <a:cxn ang="0">
                <a:pos x="connsiteX1" y="connsiteY1"/>
              </a:cxn>
              <a:cxn ang="0">
                <a:pos x="connsiteX2" y="connsiteY2"/>
              </a:cxn>
              <a:cxn ang="0">
                <a:pos x="connsiteX3" y="connsiteY3"/>
              </a:cxn>
            </a:cxnLst>
            <a:rect l="l" t="t" r="r" b="b"/>
            <a:pathLst>
              <a:path w="1857828" h="3594477">
                <a:moveTo>
                  <a:pt x="0" y="3594477"/>
                </a:moveTo>
                <a:lnTo>
                  <a:pt x="0" y="1640121"/>
                </a:lnTo>
                <a:lnTo>
                  <a:pt x="1857828" y="0"/>
                </a:lnTo>
                <a:lnTo>
                  <a:pt x="1857828" y="359447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20" name="Group 19">
            <a:extLst>
              <a:ext uri="{FF2B5EF4-FFF2-40B4-BE49-F238E27FC236}">
                <a16:creationId xmlns:a16="http://schemas.microsoft.com/office/drawing/2014/main" id="{1C1D2048-735F-4EDC-8EC0-A373A0C2FC37}"/>
              </a:ext>
            </a:extLst>
          </p:cNvPr>
          <p:cNvGrpSpPr/>
          <p:nvPr userDrawn="1"/>
        </p:nvGrpSpPr>
        <p:grpSpPr>
          <a:xfrm flipV="1">
            <a:off x="0" y="0"/>
            <a:ext cx="12192000" cy="6858000"/>
            <a:chOff x="0" y="38100"/>
            <a:chExt cx="12192000" cy="6858000"/>
          </a:xfrm>
        </p:grpSpPr>
        <p:cxnSp>
          <p:nvCxnSpPr>
            <p:cNvPr id="21" name="Conector reto 7">
              <a:extLst>
                <a:ext uri="{FF2B5EF4-FFF2-40B4-BE49-F238E27FC236}">
                  <a16:creationId xmlns:a16="http://schemas.microsoft.com/office/drawing/2014/main" id="{529BD05E-169D-41C4-A11B-C085CACA305F}"/>
                </a:ext>
              </a:extLst>
            </p:cNvPr>
            <p:cNvCxnSpPr>
              <a:cxnSpLocks/>
            </p:cNvCxnSpPr>
            <p:nvPr userDrawn="1"/>
          </p:nvCxnSpPr>
          <p:spPr>
            <a:xfrm flipV="1">
              <a:off x="0" y="5038273"/>
              <a:ext cx="12192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2" name="Conector reto 2">
              <a:extLst>
                <a:ext uri="{FF2B5EF4-FFF2-40B4-BE49-F238E27FC236}">
                  <a16:creationId xmlns:a16="http://schemas.microsoft.com/office/drawing/2014/main" id="{6FB17CA7-21C5-498C-B4A0-B407EF64DEF0}"/>
                </a:ext>
              </a:extLst>
            </p:cNvPr>
            <p:cNvCxnSpPr>
              <a:cxnSpLocks/>
            </p:cNvCxnSpPr>
            <p:nvPr userDrawn="1"/>
          </p:nvCxnSpPr>
          <p:spPr>
            <a:xfrm flipH="1">
              <a:off x="1943100" y="38100"/>
              <a:ext cx="6052793" cy="685800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grpSp>
      <p:sp>
        <p:nvSpPr>
          <p:cNvPr id="53" name="Text Placeholder 40">
            <a:extLst>
              <a:ext uri="{FF2B5EF4-FFF2-40B4-BE49-F238E27FC236}">
                <a16:creationId xmlns:a16="http://schemas.microsoft.com/office/drawing/2014/main" id="{3D6AE3AE-E27B-4EDA-9BAD-FA7785858369}"/>
              </a:ext>
            </a:extLst>
          </p:cNvPr>
          <p:cNvSpPr>
            <a:spLocks noGrp="1"/>
          </p:cNvSpPr>
          <p:nvPr userDrawn="1">
            <p:ph type="body" sz="quarter" idx="11" hasCustomPrompt="1"/>
          </p:nvPr>
        </p:nvSpPr>
        <p:spPr>
          <a:xfrm>
            <a:off x="723898" y="5181710"/>
            <a:ext cx="5689601" cy="458908"/>
          </a:xfrm>
          <a:prstGeom prst="rect">
            <a:avLst/>
          </a:prstGeom>
          <a:noFill/>
          <a:effectLst/>
        </p:spPr>
        <p:txBody>
          <a:bodyPr wrap="square" lIns="0" tIns="0" rIns="0" bIns="0" rtlCol="0" anchor="t" anchorCtr="0">
            <a:noAutofit/>
          </a:bodyPr>
          <a:lstStyle>
            <a:lvl1pPr algn="l">
              <a:defRPr lang="en-US" sz="4000" b="0" i="0" dirty="0">
                <a:solidFill>
                  <a:schemeClr val="bg1"/>
                </a:solidFill>
                <a:latin typeface="+mj-lt"/>
                <a:ea typeface="XP Light" pitchFamily="50" charset="0"/>
                <a:cs typeface="Roboto" panose="02000000000000000000" pitchFamily="2" charset="0"/>
              </a:defRPr>
            </a:lvl1pPr>
          </a:lstStyle>
          <a:p>
            <a:pPr lvl="0" algn="ctr" defTabSz="914400">
              <a:lnSpc>
                <a:spcPct val="80000"/>
              </a:lnSpc>
              <a:spcBef>
                <a:spcPts val="1200"/>
              </a:spcBef>
            </a:pPr>
            <a:r>
              <a:rPr lang="pt-BR" noProof="0" dirty="0" err="1"/>
              <a:t>Edit</a:t>
            </a:r>
            <a:endParaRPr lang="pt-BR" noProof="0" dirty="0"/>
          </a:p>
        </p:txBody>
      </p:sp>
      <p:sp>
        <p:nvSpPr>
          <p:cNvPr id="54" name="Text Placeholder 40">
            <a:extLst>
              <a:ext uri="{FF2B5EF4-FFF2-40B4-BE49-F238E27FC236}">
                <a16:creationId xmlns:a16="http://schemas.microsoft.com/office/drawing/2014/main" id="{5CE564BE-B5A0-45EB-B85C-474C61E0D3D6}"/>
              </a:ext>
            </a:extLst>
          </p:cNvPr>
          <p:cNvSpPr>
            <a:spLocks noGrp="1"/>
          </p:cNvSpPr>
          <p:nvPr userDrawn="1">
            <p:ph type="body" sz="quarter" idx="12" hasCustomPrompt="1"/>
          </p:nvPr>
        </p:nvSpPr>
        <p:spPr>
          <a:xfrm>
            <a:off x="723899" y="4762559"/>
            <a:ext cx="3006272" cy="336050"/>
          </a:xfrm>
          <a:prstGeom prst="rect">
            <a:avLst/>
          </a:prstGeom>
          <a:noFill/>
          <a:effectLst/>
        </p:spPr>
        <p:txBody>
          <a:bodyPr wrap="none" lIns="0" tIns="0" rIns="0" bIns="0" rtlCol="0" anchor="ctr">
            <a:noAutofit/>
          </a:bodyPr>
          <a:lstStyle>
            <a:lvl1pPr algn="l">
              <a:defRPr lang="en-US" sz="2400" b="1" i="0" dirty="0">
                <a:solidFill>
                  <a:schemeClr val="accent3"/>
                </a:solidFill>
                <a:latin typeface="+mj-lt"/>
                <a:ea typeface="XP Light Lighthouse" pitchFamily="50" charset="0"/>
                <a:cs typeface="Roboto" panose="02000000000000000000" pitchFamily="2" charset="0"/>
              </a:defRPr>
            </a:lvl1pPr>
          </a:lstStyle>
          <a:p>
            <a:pPr lvl="0" algn="ctr" defTabSz="914400">
              <a:lnSpc>
                <a:spcPct val="80000"/>
              </a:lnSpc>
              <a:spcBef>
                <a:spcPts val="1200"/>
              </a:spcBef>
            </a:pPr>
            <a:r>
              <a:rPr lang="pt-BR" noProof="0" dirty="0" err="1"/>
              <a:t>Section</a:t>
            </a:r>
            <a:endParaRPr lang="pt-BR" noProof="0" dirty="0"/>
          </a:p>
        </p:txBody>
      </p:sp>
      <p:sp>
        <p:nvSpPr>
          <p:cNvPr id="13" name="Freeform: Shape 12">
            <a:extLst>
              <a:ext uri="{FF2B5EF4-FFF2-40B4-BE49-F238E27FC236}">
                <a16:creationId xmlns:a16="http://schemas.microsoft.com/office/drawing/2014/main" id="{16AEDD1F-5FA7-48D9-BBD7-21475E258055}"/>
              </a:ext>
            </a:extLst>
          </p:cNvPr>
          <p:cNvSpPr/>
          <p:nvPr userDrawn="1"/>
        </p:nvSpPr>
        <p:spPr>
          <a:xfrm>
            <a:off x="11212853" y="680977"/>
            <a:ext cx="549724" cy="49587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000000"/>
          </a:solidFill>
          <a:ln w="6350" cap="flat">
            <a:noFill/>
            <a:prstDash val="solid"/>
            <a:miter/>
          </a:ln>
        </p:spPr>
        <p:txBody>
          <a:bodyPr rtlCol="0" anchor="ctr"/>
          <a:lstStyle/>
          <a:p>
            <a:endParaRPr lang="en-US">
              <a:solidFill>
                <a:schemeClr val="bg1"/>
              </a:solidFill>
            </a:endParaRPr>
          </a:p>
        </p:txBody>
      </p:sp>
    </p:spTree>
    <p:extLst>
      <p:ext uri="{BB962C8B-B14F-4D97-AF65-F5344CB8AC3E}">
        <p14:creationId xmlns:p14="http://schemas.microsoft.com/office/powerpoint/2010/main" val="37708675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6_3 Espaços v1 Report">
    <p:bg>
      <p:bgPr>
        <a:solidFill>
          <a:schemeClr val="bg1"/>
        </a:solidFill>
        <a:effectLst/>
      </p:bgPr>
    </p:bg>
    <p:spTree>
      <p:nvGrpSpPr>
        <p:cNvPr id="1" name=""/>
        <p:cNvGrpSpPr/>
        <p:nvPr/>
      </p:nvGrpSpPr>
      <p:grpSpPr>
        <a:xfrm>
          <a:off x="0" y="0"/>
          <a:ext cx="0" cy="0"/>
          <a:chOff x="0" y="0"/>
          <a:chExt cx="0" cy="0"/>
        </a:xfrm>
      </p:grpSpPr>
      <p:sp>
        <p:nvSpPr>
          <p:cNvPr id="59" name="Text Placeholder 21">
            <a:extLst>
              <a:ext uri="{FF2B5EF4-FFF2-40B4-BE49-F238E27FC236}">
                <a16:creationId xmlns:a16="http://schemas.microsoft.com/office/drawing/2014/main" id="{D424C4DF-D303-4CA2-ACE4-00820506B159}"/>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p:nvPr>
        </p:nvSpPr>
        <p:spPr>
          <a:xfrm>
            <a:off x="335999" y="1235300"/>
            <a:ext cx="11518900" cy="1407232"/>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endParaRPr lang="pt-BR" dirty="0"/>
          </a:p>
        </p:txBody>
      </p:sp>
      <p:sp>
        <p:nvSpPr>
          <p:cNvPr id="45" name="Espaço Reservado para Conteúdo 14">
            <a:extLst>
              <a:ext uri="{FF2B5EF4-FFF2-40B4-BE49-F238E27FC236}">
                <a16:creationId xmlns:a16="http://schemas.microsoft.com/office/drawing/2014/main" id="{6A3E094B-99B8-4C23-975E-F513132C64E9}"/>
              </a:ext>
            </a:extLst>
          </p:cNvPr>
          <p:cNvSpPr>
            <a:spLocks noGrp="1"/>
          </p:cNvSpPr>
          <p:nvPr>
            <p:ph sz="quarter" idx="19" hasCustomPrompt="1"/>
          </p:nvPr>
        </p:nvSpPr>
        <p:spPr>
          <a:xfrm>
            <a:off x="461394" y="4714613"/>
            <a:ext cx="5494789" cy="1299155"/>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1" name="Espaço Reservado para Conteúdo 14">
            <a:extLst>
              <a:ext uri="{FF2B5EF4-FFF2-40B4-BE49-F238E27FC236}">
                <a16:creationId xmlns:a16="http://schemas.microsoft.com/office/drawing/2014/main" id="{CDB0A697-A434-46B8-9C05-837C7C6A01A2}"/>
              </a:ext>
            </a:extLst>
          </p:cNvPr>
          <p:cNvSpPr>
            <a:spLocks noGrp="1"/>
          </p:cNvSpPr>
          <p:nvPr>
            <p:ph sz="quarter" idx="28" hasCustomPrompt="1"/>
          </p:nvPr>
        </p:nvSpPr>
        <p:spPr>
          <a:xfrm>
            <a:off x="6224655" y="4711845"/>
            <a:ext cx="5494789" cy="1299155"/>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0" y="188913"/>
            <a:ext cx="8351838"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56" name="Espaço Reservado para Texto 6">
            <a:extLst>
              <a:ext uri="{FF2B5EF4-FFF2-40B4-BE49-F238E27FC236}">
                <a16:creationId xmlns:a16="http://schemas.microsoft.com/office/drawing/2014/main" id="{28BE2B96-DDD6-4744-A34C-3D2BE7271C5C}"/>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5" name="Date Placeholder 1">
            <a:extLst>
              <a:ext uri="{FF2B5EF4-FFF2-40B4-BE49-F238E27FC236}">
                <a16:creationId xmlns:a16="http://schemas.microsoft.com/office/drawing/2014/main" id="{F473DC8A-AE82-48E2-B130-E6602BBA124A}"/>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1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A6844A8F-C80F-444C-AD01-359786A22A4E}" type="datetime4">
              <a:rPr lang="pt-BR" smtClean="0"/>
              <a:pPr/>
              <a:t>2 de julho de 2026</a:t>
            </a:fld>
            <a:endParaRPr lang="en-US" dirty="0"/>
          </a:p>
        </p:txBody>
      </p:sp>
      <p:sp>
        <p:nvSpPr>
          <p:cNvPr id="11" name="Espaço Reservado para Conteúdo 14">
            <a:extLst>
              <a:ext uri="{FF2B5EF4-FFF2-40B4-BE49-F238E27FC236}">
                <a16:creationId xmlns:a16="http://schemas.microsoft.com/office/drawing/2014/main" id="{B165259F-333C-4356-8095-186141705D5F}"/>
              </a:ext>
            </a:extLst>
          </p:cNvPr>
          <p:cNvSpPr>
            <a:spLocks noGrp="1"/>
          </p:cNvSpPr>
          <p:nvPr>
            <p:ph sz="quarter" idx="25" hasCustomPrompt="1"/>
          </p:nvPr>
        </p:nvSpPr>
        <p:spPr>
          <a:xfrm>
            <a:off x="461394" y="4391361"/>
            <a:ext cx="5494789"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2" name="Espaço Reservado para Conteúdo 14">
            <a:extLst>
              <a:ext uri="{FF2B5EF4-FFF2-40B4-BE49-F238E27FC236}">
                <a16:creationId xmlns:a16="http://schemas.microsoft.com/office/drawing/2014/main" id="{797FD824-D2A9-4123-A0B6-ECAB8397E496}"/>
              </a:ext>
            </a:extLst>
          </p:cNvPr>
          <p:cNvSpPr>
            <a:spLocks noGrp="1"/>
          </p:cNvSpPr>
          <p:nvPr>
            <p:ph sz="quarter" idx="27" hasCustomPrompt="1"/>
          </p:nvPr>
        </p:nvSpPr>
        <p:spPr>
          <a:xfrm>
            <a:off x="6224654" y="4391361"/>
            <a:ext cx="5494789"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3" name="Espaço Reservado para Conteúdo 14">
            <a:extLst>
              <a:ext uri="{FF2B5EF4-FFF2-40B4-BE49-F238E27FC236}">
                <a16:creationId xmlns:a16="http://schemas.microsoft.com/office/drawing/2014/main" id="{41266B3E-9D00-4E0F-8379-63427E9CDAEE}"/>
              </a:ext>
            </a:extLst>
          </p:cNvPr>
          <p:cNvSpPr>
            <a:spLocks noGrp="1"/>
          </p:cNvSpPr>
          <p:nvPr>
            <p:ph sz="quarter" idx="29"/>
          </p:nvPr>
        </p:nvSpPr>
        <p:spPr>
          <a:xfrm>
            <a:off x="335999" y="2703130"/>
            <a:ext cx="11518900" cy="1611200"/>
          </a:xfrm>
          <a:prstGeom prst="rect">
            <a:avLst/>
          </a:prstGeom>
          <a:solidFill>
            <a:schemeClr val="bg1">
              <a:lumMod val="95000"/>
            </a:schemeClr>
          </a:solidFill>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endParaRPr lang="pt-BR" dirty="0"/>
          </a:p>
        </p:txBody>
      </p:sp>
    </p:spTree>
    <p:extLst>
      <p:ext uri="{BB962C8B-B14F-4D97-AF65-F5344CB8AC3E}">
        <p14:creationId xmlns:p14="http://schemas.microsoft.com/office/powerpoint/2010/main" val="3106770735"/>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7_3 Espaços v1 Report">
    <p:bg>
      <p:bgPr>
        <a:solidFill>
          <a:schemeClr val="bg1"/>
        </a:solidFill>
        <a:effectLst/>
      </p:bgPr>
    </p:bg>
    <p:spTree>
      <p:nvGrpSpPr>
        <p:cNvPr id="1" name=""/>
        <p:cNvGrpSpPr/>
        <p:nvPr/>
      </p:nvGrpSpPr>
      <p:grpSpPr>
        <a:xfrm>
          <a:off x="0" y="0"/>
          <a:ext cx="0" cy="0"/>
          <a:chOff x="0" y="0"/>
          <a:chExt cx="0" cy="0"/>
        </a:xfrm>
      </p:grpSpPr>
      <p:sp>
        <p:nvSpPr>
          <p:cNvPr id="59" name="Text Placeholder 21">
            <a:extLst>
              <a:ext uri="{FF2B5EF4-FFF2-40B4-BE49-F238E27FC236}">
                <a16:creationId xmlns:a16="http://schemas.microsoft.com/office/drawing/2014/main" id="{D424C4DF-D303-4CA2-ACE4-00820506B159}"/>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51" name="Espaço Reservado para Conteúdo 14">
            <a:extLst>
              <a:ext uri="{FF2B5EF4-FFF2-40B4-BE49-F238E27FC236}">
                <a16:creationId xmlns:a16="http://schemas.microsoft.com/office/drawing/2014/main" id="{CDB0A697-A434-46B8-9C05-837C7C6A01A2}"/>
              </a:ext>
            </a:extLst>
          </p:cNvPr>
          <p:cNvSpPr>
            <a:spLocks noGrp="1"/>
          </p:cNvSpPr>
          <p:nvPr>
            <p:ph sz="quarter" idx="28" hasCustomPrompt="1"/>
          </p:nvPr>
        </p:nvSpPr>
        <p:spPr>
          <a:xfrm>
            <a:off x="6360110" y="4609835"/>
            <a:ext cx="5494789" cy="1625131"/>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0" y="188913"/>
            <a:ext cx="8351838"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5" name="Date Placeholder 1">
            <a:extLst>
              <a:ext uri="{FF2B5EF4-FFF2-40B4-BE49-F238E27FC236}">
                <a16:creationId xmlns:a16="http://schemas.microsoft.com/office/drawing/2014/main" id="{F473DC8A-AE82-48E2-B130-E6602BBA124A}"/>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1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A6844A8F-C80F-444C-AD01-359786A22A4E}" type="datetime4">
              <a:rPr lang="pt-BR" smtClean="0"/>
              <a:pPr/>
              <a:t>2 de julho de 2026</a:t>
            </a:fld>
            <a:endParaRPr lang="en-US" dirty="0"/>
          </a:p>
        </p:txBody>
      </p:sp>
      <p:sp>
        <p:nvSpPr>
          <p:cNvPr id="11" name="Espaço Reservado para Conteúdo 14">
            <a:extLst>
              <a:ext uri="{FF2B5EF4-FFF2-40B4-BE49-F238E27FC236}">
                <a16:creationId xmlns:a16="http://schemas.microsoft.com/office/drawing/2014/main" id="{B165259F-333C-4356-8095-186141705D5F}"/>
              </a:ext>
            </a:extLst>
          </p:cNvPr>
          <p:cNvSpPr>
            <a:spLocks noGrp="1"/>
          </p:cNvSpPr>
          <p:nvPr>
            <p:ph sz="quarter" idx="25" hasCustomPrompt="1"/>
          </p:nvPr>
        </p:nvSpPr>
        <p:spPr>
          <a:xfrm>
            <a:off x="335999" y="813373"/>
            <a:ext cx="11518900"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2" name="Espaço Reservado para Conteúdo 14">
            <a:extLst>
              <a:ext uri="{FF2B5EF4-FFF2-40B4-BE49-F238E27FC236}">
                <a16:creationId xmlns:a16="http://schemas.microsoft.com/office/drawing/2014/main" id="{797FD824-D2A9-4123-A0B6-ECAB8397E496}"/>
              </a:ext>
            </a:extLst>
          </p:cNvPr>
          <p:cNvSpPr>
            <a:spLocks noGrp="1"/>
          </p:cNvSpPr>
          <p:nvPr>
            <p:ph sz="quarter" idx="27" hasCustomPrompt="1"/>
          </p:nvPr>
        </p:nvSpPr>
        <p:spPr>
          <a:xfrm>
            <a:off x="324164" y="4320461"/>
            <a:ext cx="5494789"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6" name="Espaço Reservado para Conteúdo 14">
            <a:extLst>
              <a:ext uri="{FF2B5EF4-FFF2-40B4-BE49-F238E27FC236}">
                <a16:creationId xmlns:a16="http://schemas.microsoft.com/office/drawing/2014/main" id="{7B0106B2-8939-49B5-B277-28C3F15DC29C}"/>
              </a:ext>
            </a:extLst>
          </p:cNvPr>
          <p:cNvSpPr>
            <a:spLocks noGrp="1"/>
          </p:cNvSpPr>
          <p:nvPr>
            <p:ph sz="quarter" idx="29" hasCustomPrompt="1"/>
          </p:nvPr>
        </p:nvSpPr>
        <p:spPr>
          <a:xfrm>
            <a:off x="324164" y="2056730"/>
            <a:ext cx="11518900"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9" name="Espaço Reservado para Conteúdo 14">
            <a:extLst>
              <a:ext uri="{FF2B5EF4-FFF2-40B4-BE49-F238E27FC236}">
                <a16:creationId xmlns:a16="http://schemas.microsoft.com/office/drawing/2014/main" id="{ACB8FC63-8E9B-46EC-9C1E-23865728060B}"/>
              </a:ext>
            </a:extLst>
          </p:cNvPr>
          <p:cNvSpPr>
            <a:spLocks noGrp="1"/>
          </p:cNvSpPr>
          <p:nvPr>
            <p:ph sz="quarter" idx="30" hasCustomPrompt="1"/>
          </p:nvPr>
        </p:nvSpPr>
        <p:spPr>
          <a:xfrm>
            <a:off x="6348275" y="4320460"/>
            <a:ext cx="5494789"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Tree>
    <p:extLst>
      <p:ext uri="{BB962C8B-B14F-4D97-AF65-F5344CB8AC3E}">
        <p14:creationId xmlns:p14="http://schemas.microsoft.com/office/powerpoint/2010/main" val="1908826855"/>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8_3 Espaços v1 Report">
    <p:bg>
      <p:bgPr>
        <a:solidFill>
          <a:schemeClr val="bg1"/>
        </a:solidFill>
        <a:effectLst/>
      </p:bgPr>
    </p:bg>
    <p:spTree>
      <p:nvGrpSpPr>
        <p:cNvPr id="1" name=""/>
        <p:cNvGrpSpPr/>
        <p:nvPr/>
      </p:nvGrpSpPr>
      <p:grpSpPr>
        <a:xfrm>
          <a:off x="0" y="0"/>
          <a:ext cx="0" cy="0"/>
          <a:chOff x="0" y="0"/>
          <a:chExt cx="0" cy="0"/>
        </a:xfrm>
      </p:grpSpPr>
      <p:sp>
        <p:nvSpPr>
          <p:cNvPr id="59" name="Text Placeholder 21">
            <a:extLst>
              <a:ext uri="{FF2B5EF4-FFF2-40B4-BE49-F238E27FC236}">
                <a16:creationId xmlns:a16="http://schemas.microsoft.com/office/drawing/2014/main" id="{D424C4DF-D303-4CA2-ACE4-00820506B159}"/>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0" y="188913"/>
            <a:ext cx="8351838"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56" name="Espaço Reservado para Texto 6">
            <a:extLst>
              <a:ext uri="{FF2B5EF4-FFF2-40B4-BE49-F238E27FC236}">
                <a16:creationId xmlns:a16="http://schemas.microsoft.com/office/drawing/2014/main" id="{28BE2B96-DDD6-4744-A34C-3D2BE7271C5C}"/>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5" name="Date Placeholder 1">
            <a:extLst>
              <a:ext uri="{FF2B5EF4-FFF2-40B4-BE49-F238E27FC236}">
                <a16:creationId xmlns:a16="http://schemas.microsoft.com/office/drawing/2014/main" id="{F473DC8A-AE82-48E2-B130-E6602BBA124A}"/>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1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A6844A8F-C80F-444C-AD01-359786A22A4E}" type="datetime4">
              <a:rPr lang="pt-BR" smtClean="0"/>
              <a:pPr/>
              <a:t>2 de julho de 2026</a:t>
            </a:fld>
            <a:endParaRPr lang="en-US" dirty="0"/>
          </a:p>
        </p:txBody>
      </p:sp>
      <p:sp>
        <p:nvSpPr>
          <p:cNvPr id="16" name="Espaço Reservado para Conteúdo 14">
            <a:extLst>
              <a:ext uri="{FF2B5EF4-FFF2-40B4-BE49-F238E27FC236}">
                <a16:creationId xmlns:a16="http://schemas.microsoft.com/office/drawing/2014/main" id="{7B0106B2-8939-49B5-B277-28C3F15DC29C}"/>
              </a:ext>
            </a:extLst>
          </p:cNvPr>
          <p:cNvSpPr>
            <a:spLocks noGrp="1"/>
          </p:cNvSpPr>
          <p:nvPr>
            <p:ph sz="quarter" idx="29" hasCustomPrompt="1"/>
          </p:nvPr>
        </p:nvSpPr>
        <p:spPr>
          <a:xfrm>
            <a:off x="324164" y="1729559"/>
            <a:ext cx="11518900"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3" name="Espaço Reservado para Conteúdo 14">
            <a:extLst>
              <a:ext uri="{FF2B5EF4-FFF2-40B4-BE49-F238E27FC236}">
                <a16:creationId xmlns:a16="http://schemas.microsoft.com/office/drawing/2014/main" id="{287489FE-2426-4E3A-8277-E0317AD4AAED}"/>
              </a:ext>
            </a:extLst>
          </p:cNvPr>
          <p:cNvSpPr>
            <a:spLocks noGrp="1"/>
          </p:cNvSpPr>
          <p:nvPr>
            <p:ph sz="quarter" idx="20"/>
          </p:nvPr>
        </p:nvSpPr>
        <p:spPr>
          <a:xfrm>
            <a:off x="335999" y="1243689"/>
            <a:ext cx="11518900" cy="431268"/>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endParaRPr lang="pt-BR" dirty="0"/>
          </a:p>
        </p:txBody>
      </p:sp>
    </p:spTree>
    <p:extLst>
      <p:ext uri="{BB962C8B-B14F-4D97-AF65-F5344CB8AC3E}">
        <p14:creationId xmlns:p14="http://schemas.microsoft.com/office/powerpoint/2010/main" val="3439531116"/>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Divisória">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5D2690E-870A-42A4-A539-D8CF1BA4590E}"/>
              </a:ext>
            </a:extLst>
          </p:cNvPr>
          <p:cNvSpPr/>
          <p:nvPr userDrawn="1"/>
        </p:nvSpPr>
        <p:spPr>
          <a:xfrm>
            <a:off x="0" y="0"/>
            <a:ext cx="12192000" cy="6858000"/>
          </a:xfrm>
          <a:prstGeom prst="rect">
            <a:avLst/>
          </a:prstGeom>
          <a:gradFill flip="none" rotWithShape="1">
            <a:gsLst>
              <a:gs pos="89000">
                <a:srgbClr val="000000"/>
              </a:gs>
              <a:gs pos="0">
                <a:schemeClr val="tx1"/>
              </a:gs>
            </a:gsLst>
            <a:path path="circle">
              <a:fillToRect l="100000" b="100000"/>
            </a:path>
            <a:tileRect t="-100000" r="-10000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picture containing dark, night sky&#10;&#10;Description automatically generated">
            <a:extLst>
              <a:ext uri="{FF2B5EF4-FFF2-40B4-BE49-F238E27FC236}">
                <a16:creationId xmlns:a16="http://schemas.microsoft.com/office/drawing/2014/main" id="{2D1B02CA-10D9-40D7-B7FD-1CD856FFC129}"/>
              </a:ext>
            </a:extLst>
          </p:cNvPr>
          <p:cNvPicPr>
            <a:picLocks noChangeAspect="1"/>
          </p:cNvPicPr>
          <p:nvPr userDrawn="1"/>
        </p:nvPicPr>
        <p:blipFill>
          <a:blip r:embed="rId2">
            <a:alphaModFix amt="81000"/>
          </a:blip>
          <a:stretch>
            <a:fillRect/>
          </a:stretch>
        </p:blipFill>
        <p:spPr>
          <a:xfrm flipV="1">
            <a:off x="3446236" y="742950"/>
            <a:ext cx="8745764" cy="6115050"/>
          </a:xfrm>
          <a:prstGeom prst="rect">
            <a:avLst/>
          </a:prstGeom>
        </p:spPr>
      </p:pic>
      <p:sp>
        <p:nvSpPr>
          <p:cNvPr id="5" name="Rectangle 4">
            <a:extLst>
              <a:ext uri="{FF2B5EF4-FFF2-40B4-BE49-F238E27FC236}">
                <a16:creationId xmlns:a16="http://schemas.microsoft.com/office/drawing/2014/main" id="{F51014C8-09FA-4C8A-8115-08E2F6A06DE5}"/>
              </a:ext>
            </a:extLst>
          </p:cNvPr>
          <p:cNvSpPr/>
          <p:nvPr userDrawn="1"/>
        </p:nvSpPr>
        <p:spPr>
          <a:xfrm>
            <a:off x="-1" y="0"/>
            <a:ext cx="12192001" cy="185782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30" name="Freeform: Shape 29">
            <a:extLst>
              <a:ext uri="{FF2B5EF4-FFF2-40B4-BE49-F238E27FC236}">
                <a16:creationId xmlns:a16="http://schemas.microsoft.com/office/drawing/2014/main" id="{3BC46259-2514-4BE3-8602-B00F70D63306}"/>
              </a:ext>
            </a:extLst>
          </p:cNvPr>
          <p:cNvSpPr/>
          <p:nvPr userDrawn="1"/>
        </p:nvSpPr>
        <p:spPr>
          <a:xfrm rot="5400000">
            <a:off x="868324" y="-868323"/>
            <a:ext cx="1857828" cy="3594477"/>
          </a:xfrm>
          <a:custGeom>
            <a:avLst/>
            <a:gdLst>
              <a:gd name="connsiteX0" fmla="*/ 0 w 1857828"/>
              <a:gd name="connsiteY0" fmla="*/ 3594477 h 3594477"/>
              <a:gd name="connsiteX1" fmla="*/ 0 w 1857828"/>
              <a:gd name="connsiteY1" fmla="*/ 1640121 h 3594477"/>
              <a:gd name="connsiteX2" fmla="*/ 1857828 w 1857828"/>
              <a:gd name="connsiteY2" fmla="*/ 0 h 3594477"/>
              <a:gd name="connsiteX3" fmla="*/ 1857828 w 1857828"/>
              <a:gd name="connsiteY3" fmla="*/ 3594477 h 3594477"/>
            </a:gdLst>
            <a:ahLst/>
            <a:cxnLst>
              <a:cxn ang="0">
                <a:pos x="connsiteX0" y="connsiteY0"/>
              </a:cxn>
              <a:cxn ang="0">
                <a:pos x="connsiteX1" y="connsiteY1"/>
              </a:cxn>
              <a:cxn ang="0">
                <a:pos x="connsiteX2" y="connsiteY2"/>
              </a:cxn>
              <a:cxn ang="0">
                <a:pos x="connsiteX3" y="connsiteY3"/>
              </a:cxn>
            </a:cxnLst>
            <a:rect l="l" t="t" r="r" b="b"/>
            <a:pathLst>
              <a:path w="1857828" h="3594477">
                <a:moveTo>
                  <a:pt x="0" y="3594477"/>
                </a:moveTo>
                <a:lnTo>
                  <a:pt x="0" y="1640121"/>
                </a:lnTo>
                <a:lnTo>
                  <a:pt x="1857828" y="0"/>
                </a:lnTo>
                <a:lnTo>
                  <a:pt x="1857828" y="359447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20" name="Group 19">
            <a:extLst>
              <a:ext uri="{FF2B5EF4-FFF2-40B4-BE49-F238E27FC236}">
                <a16:creationId xmlns:a16="http://schemas.microsoft.com/office/drawing/2014/main" id="{1C1D2048-735F-4EDC-8EC0-A373A0C2FC37}"/>
              </a:ext>
            </a:extLst>
          </p:cNvPr>
          <p:cNvGrpSpPr/>
          <p:nvPr userDrawn="1"/>
        </p:nvGrpSpPr>
        <p:grpSpPr>
          <a:xfrm flipV="1">
            <a:off x="0" y="0"/>
            <a:ext cx="12192000" cy="6858000"/>
            <a:chOff x="0" y="38100"/>
            <a:chExt cx="12192000" cy="6858000"/>
          </a:xfrm>
        </p:grpSpPr>
        <p:cxnSp>
          <p:nvCxnSpPr>
            <p:cNvPr id="21" name="Conector reto 7">
              <a:extLst>
                <a:ext uri="{FF2B5EF4-FFF2-40B4-BE49-F238E27FC236}">
                  <a16:creationId xmlns:a16="http://schemas.microsoft.com/office/drawing/2014/main" id="{529BD05E-169D-41C4-A11B-C085CACA305F}"/>
                </a:ext>
              </a:extLst>
            </p:cNvPr>
            <p:cNvCxnSpPr>
              <a:cxnSpLocks/>
            </p:cNvCxnSpPr>
            <p:nvPr userDrawn="1"/>
          </p:nvCxnSpPr>
          <p:spPr>
            <a:xfrm flipV="1">
              <a:off x="0" y="5038273"/>
              <a:ext cx="12192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2" name="Conector reto 2">
              <a:extLst>
                <a:ext uri="{FF2B5EF4-FFF2-40B4-BE49-F238E27FC236}">
                  <a16:creationId xmlns:a16="http://schemas.microsoft.com/office/drawing/2014/main" id="{6FB17CA7-21C5-498C-B4A0-B407EF64DEF0}"/>
                </a:ext>
              </a:extLst>
            </p:cNvPr>
            <p:cNvCxnSpPr>
              <a:cxnSpLocks/>
            </p:cNvCxnSpPr>
            <p:nvPr userDrawn="1"/>
          </p:nvCxnSpPr>
          <p:spPr>
            <a:xfrm flipH="1">
              <a:off x="1943100" y="38100"/>
              <a:ext cx="6052793" cy="685800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grpSp>
      <p:sp>
        <p:nvSpPr>
          <p:cNvPr id="53" name="Text Placeholder 40">
            <a:extLst>
              <a:ext uri="{FF2B5EF4-FFF2-40B4-BE49-F238E27FC236}">
                <a16:creationId xmlns:a16="http://schemas.microsoft.com/office/drawing/2014/main" id="{3D6AE3AE-E27B-4EDA-9BAD-FA7785858369}"/>
              </a:ext>
            </a:extLst>
          </p:cNvPr>
          <p:cNvSpPr>
            <a:spLocks noGrp="1"/>
          </p:cNvSpPr>
          <p:nvPr userDrawn="1">
            <p:ph type="body" sz="quarter" idx="11" hasCustomPrompt="1"/>
          </p:nvPr>
        </p:nvSpPr>
        <p:spPr>
          <a:xfrm>
            <a:off x="723898" y="5181710"/>
            <a:ext cx="5689601" cy="458908"/>
          </a:xfrm>
          <a:prstGeom prst="rect">
            <a:avLst/>
          </a:prstGeom>
          <a:noFill/>
          <a:effectLst/>
        </p:spPr>
        <p:txBody>
          <a:bodyPr wrap="square" lIns="0" tIns="0" rIns="0" bIns="0" rtlCol="0" anchor="t" anchorCtr="0">
            <a:noAutofit/>
          </a:bodyPr>
          <a:lstStyle>
            <a:lvl1pPr algn="l">
              <a:defRPr lang="en-US" sz="4000" b="0" i="0" dirty="0">
                <a:solidFill>
                  <a:schemeClr val="bg1"/>
                </a:solidFill>
                <a:latin typeface="+mj-lt"/>
                <a:ea typeface="XP Light" pitchFamily="50" charset="0"/>
                <a:cs typeface="Roboto" panose="02000000000000000000" pitchFamily="2" charset="0"/>
              </a:defRPr>
            </a:lvl1pPr>
          </a:lstStyle>
          <a:p>
            <a:pPr lvl="0" algn="ctr" defTabSz="914400">
              <a:lnSpc>
                <a:spcPct val="80000"/>
              </a:lnSpc>
              <a:spcBef>
                <a:spcPts val="1200"/>
              </a:spcBef>
            </a:pPr>
            <a:r>
              <a:rPr lang="pt-BR" noProof="0" dirty="0" err="1"/>
              <a:t>Edit</a:t>
            </a:r>
            <a:endParaRPr lang="pt-BR" noProof="0" dirty="0"/>
          </a:p>
        </p:txBody>
      </p:sp>
      <p:sp>
        <p:nvSpPr>
          <p:cNvPr id="54" name="Text Placeholder 40">
            <a:extLst>
              <a:ext uri="{FF2B5EF4-FFF2-40B4-BE49-F238E27FC236}">
                <a16:creationId xmlns:a16="http://schemas.microsoft.com/office/drawing/2014/main" id="{5CE564BE-B5A0-45EB-B85C-474C61E0D3D6}"/>
              </a:ext>
            </a:extLst>
          </p:cNvPr>
          <p:cNvSpPr>
            <a:spLocks noGrp="1"/>
          </p:cNvSpPr>
          <p:nvPr userDrawn="1">
            <p:ph type="body" sz="quarter" idx="12" hasCustomPrompt="1"/>
          </p:nvPr>
        </p:nvSpPr>
        <p:spPr>
          <a:xfrm>
            <a:off x="723899" y="4762559"/>
            <a:ext cx="3006272" cy="336050"/>
          </a:xfrm>
          <a:prstGeom prst="rect">
            <a:avLst/>
          </a:prstGeom>
          <a:noFill/>
          <a:effectLst/>
        </p:spPr>
        <p:txBody>
          <a:bodyPr wrap="none" lIns="0" tIns="0" rIns="0" bIns="0" rtlCol="0" anchor="ctr">
            <a:noAutofit/>
          </a:bodyPr>
          <a:lstStyle>
            <a:lvl1pPr algn="l">
              <a:defRPr lang="en-US" sz="2400" b="1" i="0" dirty="0">
                <a:solidFill>
                  <a:schemeClr val="accent3"/>
                </a:solidFill>
                <a:latin typeface="+mj-lt"/>
                <a:ea typeface="XP Light Lighthouse" pitchFamily="50" charset="0"/>
                <a:cs typeface="Roboto" panose="02000000000000000000" pitchFamily="2" charset="0"/>
              </a:defRPr>
            </a:lvl1pPr>
          </a:lstStyle>
          <a:p>
            <a:pPr lvl="0" algn="ctr" defTabSz="914400">
              <a:lnSpc>
                <a:spcPct val="80000"/>
              </a:lnSpc>
              <a:spcBef>
                <a:spcPts val="1200"/>
              </a:spcBef>
            </a:pPr>
            <a:r>
              <a:rPr lang="pt-BR" noProof="0" dirty="0" err="1"/>
              <a:t>Section</a:t>
            </a:r>
            <a:endParaRPr lang="pt-BR" noProof="0" dirty="0"/>
          </a:p>
        </p:txBody>
      </p:sp>
      <p:sp>
        <p:nvSpPr>
          <p:cNvPr id="13" name="Freeform: Shape 12">
            <a:extLst>
              <a:ext uri="{FF2B5EF4-FFF2-40B4-BE49-F238E27FC236}">
                <a16:creationId xmlns:a16="http://schemas.microsoft.com/office/drawing/2014/main" id="{16AEDD1F-5FA7-48D9-BBD7-21475E258055}"/>
              </a:ext>
            </a:extLst>
          </p:cNvPr>
          <p:cNvSpPr/>
          <p:nvPr userDrawn="1"/>
        </p:nvSpPr>
        <p:spPr>
          <a:xfrm>
            <a:off x="11212853" y="680977"/>
            <a:ext cx="549724" cy="49587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000000"/>
          </a:solidFill>
          <a:ln w="6350" cap="flat">
            <a:noFill/>
            <a:prstDash val="solid"/>
            <a:miter/>
          </a:ln>
        </p:spPr>
        <p:txBody>
          <a:bodyPr rtlCol="0" anchor="ctr"/>
          <a:lstStyle/>
          <a:p>
            <a:endParaRPr lang="en-US">
              <a:solidFill>
                <a:schemeClr val="bg1"/>
              </a:solidFill>
            </a:endParaRPr>
          </a:p>
        </p:txBody>
      </p:sp>
    </p:spTree>
    <p:extLst>
      <p:ext uri="{BB962C8B-B14F-4D97-AF65-F5344CB8AC3E}">
        <p14:creationId xmlns:p14="http://schemas.microsoft.com/office/powerpoint/2010/main" val="35794273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9_3 Espaços v1 Report">
    <p:bg>
      <p:bgPr>
        <a:solidFill>
          <a:schemeClr val="bg1"/>
        </a:solidFill>
        <a:effectLst/>
      </p:bgPr>
    </p:bg>
    <p:spTree>
      <p:nvGrpSpPr>
        <p:cNvPr id="1" name=""/>
        <p:cNvGrpSpPr/>
        <p:nvPr/>
      </p:nvGrpSpPr>
      <p:grpSpPr>
        <a:xfrm>
          <a:off x="0" y="0"/>
          <a:ext cx="0" cy="0"/>
          <a:chOff x="0" y="0"/>
          <a:chExt cx="0" cy="0"/>
        </a:xfrm>
      </p:grpSpPr>
      <p:sp>
        <p:nvSpPr>
          <p:cNvPr id="59" name="Text Placeholder 21">
            <a:extLst>
              <a:ext uri="{FF2B5EF4-FFF2-40B4-BE49-F238E27FC236}">
                <a16:creationId xmlns:a16="http://schemas.microsoft.com/office/drawing/2014/main" id="{D424C4DF-D303-4CA2-ACE4-00820506B159}"/>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p:nvPr>
        </p:nvSpPr>
        <p:spPr>
          <a:xfrm>
            <a:off x="335999" y="1814141"/>
            <a:ext cx="11518900" cy="2536334"/>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endParaRPr lang="pt-BR" dirty="0"/>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0" y="188913"/>
            <a:ext cx="8351838"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56" name="Espaço Reservado para Texto 6">
            <a:extLst>
              <a:ext uri="{FF2B5EF4-FFF2-40B4-BE49-F238E27FC236}">
                <a16:creationId xmlns:a16="http://schemas.microsoft.com/office/drawing/2014/main" id="{28BE2B96-DDD6-4744-A34C-3D2BE7271C5C}"/>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5" name="Date Placeholder 1">
            <a:extLst>
              <a:ext uri="{FF2B5EF4-FFF2-40B4-BE49-F238E27FC236}">
                <a16:creationId xmlns:a16="http://schemas.microsoft.com/office/drawing/2014/main" id="{F473DC8A-AE82-48E2-B130-E6602BBA124A}"/>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1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A6844A8F-C80F-444C-AD01-359786A22A4E}" type="datetime4">
              <a:rPr lang="pt-BR" smtClean="0"/>
              <a:pPr/>
              <a:t>2 de julho de 2026</a:t>
            </a:fld>
            <a:endParaRPr lang="en-US" dirty="0"/>
          </a:p>
        </p:txBody>
      </p:sp>
      <p:sp>
        <p:nvSpPr>
          <p:cNvPr id="13" name="Espaço Reservado para Conteúdo 14">
            <a:extLst>
              <a:ext uri="{FF2B5EF4-FFF2-40B4-BE49-F238E27FC236}">
                <a16:creationId xmlns:a16="http://schemas.microsoft.com/office/drawing/2014/main" id="{41266B3E-9D00-4E0F-8379-63427E9CDAEE}"/>
              </a:ext>
            </a:extLst>
          </p:cNvPr>
          <p:cNvSpPr>
            <a:spLocks noGrp="1"/>
          </p:cNvSpPr>
          <p:nvPr>
            <p:ph sz="quarter" idx="29"/>
          </p:nvPr>
        </p:nvSpPr>
        <p:spPr>
          <a:xfrm>
            <a:off x="335999" y="1251833"/>
            <a:ext cx="11518900" cy="499191"/>
          </a:xfrm>
          <a:prstGeom prst="rect">
            <a:avLst/>
          </a:prstGeom>
          <a:solidFill>
            <a:schemeClr val="bg1">
              <a:lumMod val="95000"/>
            </a:schemeClr>
          </a:solidFill>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endParaRPr lang="pt-BR" dirty="0"/>
          </a:p>
        </p:txBody>
      </p:sp>
      <p:sp>
        <p:nvSpPr>
          <p:cNvPr id="14" name="Espaço Reservado para Conteúdo 14">
            <a:extLst>
              <a:ext uri="{FF2B5EF4-FFF2-40B4-BE49-F238E27FC236}">
                <a16:creationId xmlns:a16="http://schemas.microsoft.com/office/drawing/2014/main" id="{C5F4F10D-AEEB-4BA9-B1DF-A2BD4A0C492A}"/>
              </a:ext>
            </a:extLst>
          </p:cNvPr>
          <p:cNvSpPr>
            <a:spLocks noGrp="1"/>
          </p:cNvSpPr>
          <p:nvPr>
            <p:ph sz="quarter" idx="30"/>
          </p:nvPr>
        </p:nvSpPr>
        <p:spPr>
          <a:xfrm>
            <a:off x="335999" y="4413592"/>
            <a:ext cx="11518900" cy="804361"/>
          </a:xfrm>
          <a:prstGeom prst="rect">
            <a:avLst/>
          </a:prstGeom>
          <a:solidFill>
            <a:schemeClr val="accent3">
              <a:lumMod val="20000"/>
              <a:lumOff val="80000"/>
            </a:schemeClr>
          </a:solidFill>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endParaRPr lang="pt-BR" dirty="0"/>
          </a:p>
        </p:txBody>
      </p:sp>
    </p:spTree>
    <p:extLst>
      <p:ext uri="{BB962C8B-B14F-4D97-AF65-F5344CB8AC3E}">
        <p14:creationId xmlns:p14="http://schemas.microsoft.com/office/powerpoint/2010/main" val="1721403863"/>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apa Company Update/Report">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D881781C-40FD-43E2-BC6E-3786CEF8438E}"/>
              </a:ext>
            </a:extLst>
          </p:cNvPr>
          <p:cNvSpPr/>
          <p:nvPr userDrawn="1"/>
        </p:nvSpPr>
        <p:spPr>
          <a:xfrm>
            <a:off x="0" y="0"/>
            <a:ext cx="12192000" cy="1476873"/>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52" name="Picture 51" descr="A picture containing dark, night sky&#10;&#10;Description automatically generated">
            <a:extLst>
              <a:ext uri="{FF2B5EF4-FFF2-40B4-BE49-F238E27FC236}">
                <a16:creationId xmlns:a16="http://schemas.microsoft.com/office/drawing/2014/main" id="{5CCADE29-8500-4070-A119-2C944A23B7D8}"/>
              </a:ext>
            </a:extLst>
          </p:cNvPr>
          <p:cNvPicPr>
            <a:picLocks noChangeAspect="1"/>
          </p:cNvPicPr>
          <p:nvPr userDrawn="1"/>
        </p:nvPicPr>
        <p:blipFill rotWithShape="1">
          <a:blip r:embed="rId3">
            <a:alphaModFix amt="81000"/>
          </a:blip>
          <a:srcRect b="75849"/>
          <a:stretch/>
        </p:blipFill>
        <p:spPr>
          <a:xfrm>
            <a:off x="3446236" y="0"/>
            <a:ext cx="8745764" cy="1476873"/>
          </a:xfrm>
          <a:prstGeom prst="rect">
            <a:avLst/>
          </a:prstGeom>
        </p:spPr>
      </p:pic>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9954741" y="162920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35962" cy="524010"/>
          </a:xfrm>
          <a:prstGeom prst="rect">
            <a:avLst/>
          </a:prstGeom>
        </p:spPr>
        <p:txBody>
          <a:bodyPr vert="horz" lIns="0" tIns="0" rIns="0" bIns="0" rtlCol="0" anchor="ctr">
            <a:noAutofit/>
          </a:bodyPr>
          <a:lstStyle>
            <a:lvl1pPr>
              <a:defRPr lang="pt-BR" sz="2400" b="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1622848"/>
            <a:ext cx="9131274" cy="2947901"/>
          </a:xfrm>
          <a:prstGeom prst="rect">
            <a:avLst/>
          </a:prstGeom>
          <a:solidFill>
            <a:schemeClr val="bg1">
              <a:lumMod val="95000"/>
            </a:schemeClr>
          </a:solidFill>
        </p:spPr>
        <p:txBody>
          <a:bodyPr lIns="36000" tIns="36000" rIns="36000" bIns="36000">
            <a:noAutofit/>
          </a:bodyPr>
          <a:lstStyle>
            <a:lvl1pPr marL="0" indent="0" algn="just">
              <a:lnSpc>
                <a:spcPct val="125000"/>
              </a:lnSpc>
              <a:spcBef>
                <a:spcPts val="600"/>
              </a:spcBef>
              <a:buFont typeface="Arial" panose="020B0604020202020204" pitchFamily="34" charset="0"/>
              <a:buNone/>
              <a:defRPr sz="1000" b="0">
                <a:solidFill>
                  <a:schemeClr val="accent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112247"/>
            <a:ext cx="11518900" cy="202833"/>
          </a:xfrm>
          <a:prstGeom prst="rect">
            <a:avLst/>
          </a:prstGeom>
        </p:spPr>
        <p:txBody>
          <a:bodyPr vert="horz" lIns="0" tIns="0" rIns="0" bIns="0" rtlCol="0" anchor="t">
            <a:noAutofit/>
          </a:bodyPr>
          <a:lstStyle>
            <a:lvl1pPr>
              <a:defRPr lang="pt-BR" sz="12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Espaço Reservado para Conteúdo 14">
            <a:extLst>
              <a:ext uri="{FF2B5EF4-FFF2-40B4-BE49-F238E27FC236}">
                <a16:creationId xmlns:a16="http://schemas.microsoft.com/office/drawing/2014/main" id="{850F5579-F7F0-47FE-8562-80BD2CF75884}"/>
              </a:ext>
            </a:extLst>
          </p:cNvPr>
          <p:cNvSpPr>
            <a:spLocks noGrp="1"/>
          </p:cNvSpPr>
          <p:nvPr>
            <p:ph sz="quarter" idx="25" hasCustomPrompt="1"/>
          </p:nvPr>
        </p:nvSpPr>
        <p:spPr>
          <a:xfrm>
            <a:off x="9954741" y="184396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29" name="Espaço Reservado para Conteúdo 14">
            <a:extLst>
              <a:ext uri="{FF2B5EF4-FFF2-40B4-BE49-F238E27FC236}">
                <a16:creationId xmlns:a16="http://schemas.microsoft.com/office/drawing/2014/main" id="{3AED8A04-1CB7-4096-B4E7-A94A03362595}"/>
              </a:ext>
            </a:extLst>
          </p:cNvPr>
          <p:cNvSpPr>
            <a:spLocks noGrp="1"/>
          </p:cNvSpPr>
          <p:nvPr>
            <p:ph sz="quarter" idx="26" hasCustomPrompt="1"/>
          </p:nvPr>
        </p:nvSpPr>
        <p:spPr>
          <a:xfrm>
            <a:off x="9954741" y="203492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0" name="Espaço Reservado para Conteúdo 14">
            <a:extLst>
              <a:ext uri="{FF2B5EF4-FFF2-40B4-BE49-F238E27FC236}">
                <a16:creationId xmlns:a16="http://schemas.microsoft.com/office/drawing/2014/main" id="{938C4CF9-D21D-491A-995D-38D80E45D35E}"/>
              </a:ext>
            </a:extLst>
          </p:cNvPr>
          <p:cNvSpPr>
            <a:spLocks noGrp="1"/>
          </p:cNvSpPr>
          <p:nvPr>
            <p:ph sz="quarter" idx="27" hasCustomPrompt="1"/>
          </p:nvPr>
        </p:nvSpPr>
        <p:spPr>
          <a:xfrm>
            <a:off x="9954741" y="236446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1" name="Espaço Reservado para Conteúdo 14">
            <a:extLst>
              <a:ext uri="{FF2B5EF4-FFF2-40B4-BE49-F238E27FC236}">
                <a16:creationId xmlns:a16="http://schemas.microsoft.com/office/drawing/2014/main" id="{A0CEDDC6-9D7D-4AB6-8714-251BC13968E7}"/>
              </a:ext>
            </a:extLst>
          </p:cNvPr>
          <p:cNvSpPr>
            <a:spLocks noGrp="1"/>
          </p:cNvSpPr>
          <p:nvPr>
            <p:ph sz="quarter" idx="28" hasCustomPrompt="1"/>
          </p:nvPr>
        </p:nvSpPr>
        <p:spPr>
          <a:xfrm>
            <a:off x="9954741" y="257923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2" name="Espaço Reservado para Conteúdo 14">
            <a:extLst>
              <a:ext uri="{FF2B5EF4-FFF2-40B4-BE49-F238E27FC236}">
                <a16:creationId xmlns:a16="http://schemas.microsoft.com/office/drawing/2014/main" id="{193B6CB7-D834-4068-868A-9AFBE5866A58}"/>
              </a:ext>
            </a:extLst>
          </p:cNvPr>
          <p:cNvSpPr>
            <a:spLocks noGrp="1"/>
          </p:cNvSpPr>
          <p:nvPr>
            <p:ph sz="quarter" idx="29" hasCustomPrompt="1"/>
          </p:nvPr>
        </p:nvSpPr>
        <p:spPr>
          <a:xfrm>
            <a:off x="9954741" y="277018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3" name="Espaço Reservado para Conteúdo 14">
            <a:extLst>
              <a:ext uri="{FF2B5EF4-FFF2-40B4-BE49-F238E27FC236}">
                <a16:creationId xmlns:a16="http://schemas.microsoft.com/office/drawing/2014/main" id="{55476F42-1A4B-4330-A3B9-8BA77043864B}"/>
              </a:ext>
            </a:extLst>
          </p:cNvPr>
          <p:cNvSpPr>
            <a:spLocks noGrp="1"/>
          </p:cNvSpPr>
          <p:nvPr>
            <p:ph sz="quarter" idx="30" hasCustomPrompt="1"/>
          </p:nvPr>
        </p:nvSpPr>
        <p:spPr>
          <a:xfrm>
            <a:off x="9954741" y="3104144"/>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4" name="Espaço Reservado para Conteúdo 14">
            <a:extLst>
              <a:ext uri="{FF2B5EF4-FFF2-40B4-BE49-F238E27FC236}">
                <a16:creationId xmlns:a16="http://schemas.microsoft.com/office/drawing/2014/main" id="{195E6429-987B-4AC7-8E16-6188988765D4}"/>
              </a:ext>
            </a:extLst>
          </p:cNvPr>
          <p:cNvSpPr>
            <a:spLocks noGrp="1"/>
          </p:cNvSpPr>
          <p:nvPr>
            <p:ph sz="quarter" idx="31" hasCustomPrompt="1"/>
          </p:nvPr>
        </p:nvSpPr>
        <p:spPr>
          <a:xfrm>
            <a:off x="9954741" y="3318912"/>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5" name="Espaço Reservado para Conteúdo 14">
            <a:extLst>
              <a:ext uri="{FF2B5EF4-FFF2-40B4-BE49-F238E27FC236}">
                <a16:creationId xmlns:a16="http://schemas.microsoft.com/office/drawing/2014/main" id="{073C1B83-6366-4B50-BD4D-B74457EC8E9F}"/>
              </a:ext>
            </a:extLst>
          </p:cNvPr>
          <p:cNvSpPr>
            <a:spLocks noGrp="1"/>
          </p:cNvSpPr>
          <p:nvPr>
            <p:ph sz="quarter" idx="32" hasCustomPrompt="1"/>
          </p:nvPr>
        </p:nvSpPr>
        <p:spPr>
          <a:xfrm>
            <a:off x="9954741" y="3509867"/>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6" name="Espaço Reservado para Conteúdo 14">
            <a:extLst>
              <a:ext uri="{FF2B5EF4-FFF2-40B4-BE49-F238E27FC236}">
                <a16:creationId xmlns:a16="http://schemas.microsoft.com/office/drawing/2014/main" id="{C46354AB-40F2-4A4A-AD37-4856DE213F40}"/>
              </a:ext>
            </a:extLst>
          </p:cNvPr>
          <p:cNvSpPr>
            <a:spLocks noGrp="1"/>
          </p:cNvSpPr>
          <p:nvPr>
            <p:ph sz="quarter" idx="33" hasCustomPrompt="1"/>
          </p:nvPr>
        </p:nvSpPr>
        <p:spPr>
          <a:xfrm>
            <a:off x="9954741" y="383921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7" name="Espaço Reservado para Conteúdo 14">
            <a:extLst>
              <a:ext uri="{FF2B5EF4-FFF2-40B4-BE49-F238E27FC236}">
                <a16:creationId xmlns:a16="http://schemas.microsoft.com/office/drawing/2014/main" id="{069F1687-40C5-4D45-B235-59542CC1ECD4}"/>
              </a:ext>
            </a:extLst>
          </p:cNvPr>
          <p:cNvSpPr>
            <a:spLocks noGrp="1"/>
          </p:cNvSpPr>
          <p:nvPr>
            <p:ph sz="quarter" idx="34" hasCustomPrompt="1"/>
          </p:nvPr>
        </p:nvSpPr>
        <p:spPr>
          <a:xfrm>
            <a:off x="9954741" y="405397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8" name="Espaço Reservado para Conteúdo 14">
            <a:extLst>
              <a:ext uri="{FF2B5EF4-FFF2-40B4-BE49-F238E27FC236}">
                <a16:creationId xmlns:a16="http://schemas.microsoft.com/office/drawing/2014/main" id="{C3CC52EA-2999-4302-9E0C-30842061FFFD}"/>
              </a:ext>
            </a:extLst>
          </p:cNvPr>
          <p:cNvSpPr>
            <a:spLocks noGrp="1"/>
          </p:cNvSpPr>
          <p:nvPr>
            <p:ph sz="quarter" idx="35" hasCustomPrompt="1"/>
          </p:nvPr>
        </p:nvSpPr>
        <p:spPr>
          <a:xfrm>
            <a:off x="9954741" y="424493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336001" y="775521"/>
            <a:ext cx="11518900" cy="299659"/>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1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cxnSp>
        <p:nvCxnSpPr>
          <p:cNvPr id="3" name="Straight Connector 2">
            <a:extLst>
              <a:ext uri="{FF2B5EF4-FFF2-40B4-BE49-F238E27FC236}">
                <a16:creationId xmlns:a16="http://schemas.microsoft.com/office/drawing/2014/main" id="{5EA02662-AE79-4B8E-B676-C401AD03C996}"/>
              </a:ext>
            </a:extLst>
          </p:cNvPr>
          <p:cNvCxnSpPr>
            <a:cxnSpLocks/>
          </p:cNvCxnSpPr>
          <p:nvPr userDrawn="1"/>
        </p:nvCxnSpPr>
        <p:spPr>
          <a:xfrm>
            <a:off x="9711007" y="1622848"/>
            <a:ext cx="0" cy="2947901"/>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63" name="Espaço Reservado para Conteúdo 14">
            <a:extLst>
              <a:ext uri="{FF2B5EF4-FFF2-40B4-BE49-F238E27FC236}">
                <a16:creationId xmlns:a16="http://schemas.microsoft.com/office/drawing/2014/main" id="{4F065D27-F159-49FE-AEA3-D772EE3795D5}"/>
              </a:ext>
            </a:extLst>
          </p:cNvPr>
          <p:cNvSpPr>
            <a:spLocks noGrp="1"/>
          </p:cNvSpPr>
          <p:nvPr>
            <p:ph sz="quarter" idx="36" hasCustomPrompt="1"/>
          </p:nvPr>
        </p:nvSpPr>
        <p:spPr>
          <a:xfrm>
            <a:off x="336000" y="5029925"/>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64" name="Espaço Reservado para Conteúdo 14">
            <a:extLst>
              <a:ext uri="{FF2B5EF4-FFF2-40B4-BE49-F238E27FC236}">
                <a16:creationId xmlns:a16="http://schemas.microsoft.com/office/drawing/2014/main" id="{157EB19F-6FA5-47D6-8F62-A0C2CEC707A6}"/>
              </a:ext>
            </a:extLst>
          </p:cNvPr>
          <p:cNvSpPr>
            <a:spLocks noGrp="1"/>
          </p:cNvSpPr>
          <p:nvPr>
            <p:ph sz="quarter" idx="37" hasCustomPrompt="1"/>
          </p:nvPr>
        </p:nvSpPr>
        <p:spPr>
          <a:xfrm>
            <a:off x="336000" y="4735310"/>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65" name="Espaço Reservado para Conteúdo 14">
            <a:extLst>
              <a:ext uri="{FF2B5EF4-FFF2-40B4-BE49-F238E27FC236}">
                <a16:creationId xmlns:a16="http://schemas.microsoft.com/office/drawing/2014/main" id="{4CC79004-24EE-43A0-B0C2-A3C6093FD89F}"/>
              </a:ext>
            </a:extLst>
          </p:cNvPr>
          <p:cNvSpPr>
            <a:spLocks noGrp="1"/>
          </p:cNvSpPr>
          <p:nvPr>
            <p:ph sz="quarter" idx="38" hasCustomPrompt="1"/>
          </p:nvPr>
        </p:nvSpPr>
        <p:spPr>
          <a:xfrm>
            <a:off x="4253456" y="5030967"/>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66" name="Espaço Reservado para Conteúdo 14">
            <a:extLst>
              <a:ext uri="{FF2B5EF4-FFF2-40B4-BE49-F238E27FC236}">
                <a16:creationId xmlns:a16="http://schemas.microsoft.com/office/drawing/2014/main" id="{FB2324CB-D47D-4BF6-A600-6ECE134E382F}"/>
              </a:ext>
            </a:extLst>
          </p:cNvPr>
          <p:cNvSpPr>
            <a:spLocks noGrp="1"/>
          </p:cNvSpPr>
          <p:nvPr>
            <p:ph sz="quarter" idx="39" hasCustomPrompt="1"/>
          </p:nvPr>
        </p:nvSpPr>
        <p:spPr>
          <a:xfrm>
            <a:off x="4253456" y="4736352"/>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67" name="Espaço Reservado para Conteúdo 14">
            <a:extLst>
              <a:ext uri="{FF2B5EF4-FFF2-40B4-BE49-F238E27FC236}">
                <a16:creationId xmlns:a16="http://schemas.microsoft.com/office/drawing/2014/main" id="{CBAEEE7B-EFF6-48D7-AF91-ADDADBED591C}"/>
              </a:ext>
            </a:extLst>
          </p:cNvPr>
          <p:cNvSpPr>
            <a:spLocks noGrp="1"/>
          </p:cNvSpPr>
          <p:nvPr>
            <p:ph sz="quarter" idx="40" hasCustomPrompt="1"/>
          </p:nvPr>
        </p:nvSpPr>
        <p:spPr>
          <a:xfrm>
            <a:off x="8159750" y="5027157"/>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68" name="Espaço Reservado para Conteúdo 14">
            <a:extLst>
              <a:ext uri="{FF2B5EF4-FFF2-40B4-BE49-F238E27FC236}">
                <a16:creationId xmlns:a16="http://schemas.microsoft.com/office/drawing/2014/main" id="{F7F7FBE8-EDCD-406C-A571-A3A0B9029829}"/>
              </a:ext>
            </a:extLst>
          </p:cNvPr>
          <p:cNvSpPr>
            <a:spLocks noGrp="1"/>
          </p:cNvSpPr>
          <p:nvPr>
            <p:ph sz="quarter" idx="41" hasCustomPrompt="1"/>
          </p:nvPr>
        </p:nvSpPr>
        <p:spPr>
          <a:xfrm>
            <a:off x="8159750" y="4732542"/>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0" name="Text Placeholder 21">
            <a:extLst>
              <a:ext uri="{FF2B5EF4-FFF2-40B4-BE49-F238E27FC236}">
                <a16:creationId xmlns:a16="http://schemas.microsoft.com/office/drawing/2014/main" id="{978CA0DD-0E52-42AB-830E-E80120F9F528}"/>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1" name="Date Placeholder 1">
            <a:extLst>
              <a:ext uri="{FF2B5EF4-FFF2-40B4-BE49-F238E27FC236}">
                <a16:creationId xmlns:a16="http://schemas.microsoft.com/office/drawing/2014/main" id="{0BEFAF7E-5F4E-42A9-9992-51D70001595D}"/>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10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fld id="{DEF07EAB-FF36-413A-9F9A-0AF5F3187EB1}" type="datetime4">
              <a:rPr lang="pt-BR" smtClean="0"/>
              <a:pPr/>
              <a:t>2 de julho de 2026</a:t>
            </a:fld>
            <a:endParaRPr lang="en-US" dirty="0"/>
          </a:p>
        </p:txBody>
      </p:sp>
      <p:sp>
        <p:nvSpPr>
          <p:cNvPr id="39" name="Freeform: Shape 38">
            <a:extLst>
              <a:ext uri="{FF2B5EF4-FFF2-40B4-BE49-F238E27FC236}">
                <a16:creationId xmlns:a16="http://schemas.microsoft.com/office/drawing/2014/main" id="{FE23C6CE-B8D0-426A-AA37-BAC01D3E84D0}"/>
              </a:ext>
            </a:extLst>
          </p:cNvPr>
          <p:cNvSpPr/>
          <p:nvPr userDrawn="1"/>
        </p:nvSpPr>
        <p:spPr>
          <a:xfrm>
            <a:off x="11358608" y="832910"/>
            <a:ext cx="499749" cy="450795"/>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bg1"/>
          </a:solidFill>
          <a:ln w="6350" cap="flat">
            <a:noFill/>
            <a:prstDash val="solid"/>
            <a:miter/>
          </a:ln>
        </p:spPr>
        <p:txBody>
          <a:bodyPr rtlCol="0" anchor="ctr"/>
          <a:lstStyle/>
          <a:p>
            <a:endParaRPr lang="en-US">
              <a:solidFill>
                <a:schemeClr val="bg1"/>
              </a:solidFill>
            </a:endParaRPr>
          </a:p>
        </p:txBody>
      </p:sp>
    </p:spTree>
    <p:extLst>
      <p:ext uri="{BB962C8B-B14F-4D97-AF65-F5344CB8AC3E}">
        <p14:creationId xmlns:p14="http://schemas.microsoft.com/office/powerpoint/2010/main" val="3891835025"/>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apa Company Results">
    <p:bg>
      <p:bgPr>
        <a:solidFill>
          <a:schemeClr val="bg1"/>
        </a:solidFill>
        <a:effectLst/>
      </p:bgPr>
    </p:bg>
    <p:spTree>
      <p:nvGrpSpPr>
        <p:cNvPr id="1" name=""/>
        <p:cNvGrpSpPr/>
        <p:nvPr/>
      </p:nvGrpSpPr>
      <p:grpSpPr>
        <a:xfrm>
          <a:off x="0" y="0"/>
          <a:ext cx="0" cy="0"/>
          <a:chOff x="0" y="0"/>
          <a:chExt cx="0" cy="0"/>
        </a:xfrm>
      </p:grpSpPr>
      <p:sp>
        <p:nvSpPr>
          <p:cNvPr id="39" name="Espaço Reservado para Conteúdo 14">
            <a:extLst>
              <a:ext uri="{FF2B5EF4-FFF2-40B4-BE49-F238E27FC236}">
                <a16:creationId xmlns:a16="http://schemas.microsoft.com/office/drawing/2014/main" id="{C0EA6322-6266-436C-A990-C821307D02B4}"/>
              </a:ext>
            </a:extLst>
          </p:cNvPr>
          <p:cNvSpPr>
            <a:spLocks noGrp="1"/>
          </p:cNvSpPr>
          <p:nvPr>
            <p:ph sz="quarter" idx="40" hasCustomPrompt="1"/>
          </p:nvPr>
        </p:nvSpPr>
        <p:spPr>
          <a:xfrm>
            <a:off x="336000" y="5029925"/>
            <a:ext cx="5580611" cy="99322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40" name="Espaço Reservado para Conteúdo 14">
            <a:extLst>
              <a:ext uri="{FF2B5EF4-FFF2-40B4-BE49-F238E27FC236}">
                <a16:creationId xmlns:a16="http://schemas.microsoft.com/office/drawing/2014/main" id="{82BD9F9B-7759-4691-A404-423155B6D916}"/>
              </a:ext>
            </a:extLst>
          </p:cNvPr>
          <p:cNvSpPr>
            <a:spLocks noGrp="1"/>
          </p:cNvSpPr>
          <p:nvPr>
            <p:ph sz="quarter" idx="41" hasCustomPrompt="1"/>
          </p:nvPr>
        </p:nvSpPr>
        <p:spPr>
          <a:xfrm>
            <a:off x="336000" y="4735310"/>
            <a:ext cx="558061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1" name="Rectangle 20">
            <a:extLst>
              <a:ext uri="{FF2B5EF4-FFF2-40B4-BE49-F238E27FC236}">
                <a16:creationId xmlns:a16="http://schemas.microsoft.com/office/drawing/2014/main" id="{D881781C-40FD-43E2-BC6E-3786CEF8438E}"/>
              </a:ext>
            </a:extLst>
          </p:cNvPr>
          <p:cNvSpPr/>
          <p:nvPr userDrawn="1"/>
        </p:nvSpPr>
        <p:spPr>
          <a:xfrm>
            <a:off x="0" y="0"/>
            <a:ext cx="12192000" cy="1476873"/>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52" name="Picture 51" descr="A picture containing dark, night sky&#10;&#10;Description automatically generated">
            <a:extLst>
              <a:ext uri="{FF2B5EF4-FFF2-40B4-BE49-F238E27FC236}">
                <a16:creationId xmlns:a16="http://schemas.microsoft.com/office/drawing/2014/main" id="{5CCADE29-8500-4070-A119-2C944A23B7D8}"/>
              </a:ext>
            </a:extLst>
          </p:cNvPr>
          <p:cNvPicPr>
            <a:picLocks noChangeAspect="1"/>
          </p:cNvPicPr>
          <p:nvPr userDrawn="1"/>
        </p:nvPicPr>
        <p:blipFill rotWithShape="1">
          <a:blip r:embed="rId3">
            <a:alphaModFix amt="81000"/>
          </a:blip>
          <a:srcRect b="75849"/>
          <a:stretch/>
        </p:blipFill>
        <p:spPr>
          <a:xfrm>
            <a:off x="3446236" y="0"/>
            <a:ext cx="8745764" cy="1476873"/>
          </a:xfrm>
          <a:prstGeom prst="rect">
            <a:avLst/>
          </a:prstGeom>
        </p:spPr>
      </p:pic>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9954741" y="162920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35962" cy="524010"/>
          </a:xfrm>
          <a:prstGeom prst="rect">
            <a:avLst/>
          </a:prstGeom>
        </p:spPr>
        <p:txBody>
          <a:bodyPr vert="horz" lIns="0" tIns="0" rIns="0" bIns="0" rtlCol="0" anchor="ctr">
            <a:noAutofit/>
          </a:bodyPr>
          <a:lstStyle>
            <a:lvl1pPr>
              <a:defRPr lang="pt-BR" sz="2400" b="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1622848"/>
            <a:ext cx="9131274" cy="2947901"/>
          </a:xfrm>
          <a:prstGeom prst="rect">
            <a:avLst/>
          </a:prstGeom>
          <a:solidFill>
            <a:schemeClr val="bg1">
              <a:lumMod val="95000"/>
            </a:schemeClr>
          </a:solidFill>
        </p:spPr>
        <p:txBody>
          <a:bodyPr lIns="36000" tIns="36000" rIns="36000" bIns="36000">
            <a:noAutofit/>
          </a:bodyPr>
          <a:lstStyle>
            <a:lvl1pPr marL="0" indent="0" algn="just">
              <a:lnSpc>
                <a:spcPct val="125000"/>
              </a:lnSpc>
              <a:spcBef>
                <a:spcPts val="600"/>
              </a:spcBef>
              <a:buFont typeface="Arial" panose="020B0604020202020204" pitchFamily="34" charset="0"/>
              <a:buNone/>
              <a:defRPr sz="1000" b="0">
                <a:solidFill>
                  <a:schemeClr val="accent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112247"/>
            <a:ext cx="11518900" cy="202833"/>
          </a:xfrm>
          <a:prstGeom prst="rect">
            <a:avLst/>
          </a:prstGeom>
        </p:spPr>
        <p:txBody>
          <a:bodyPr vert="horz" lIns="0" tIns="0" rIns="0" bIns="0" rtlCol="0" anchor="t">
            <a:noAutofit/>
          </a:bodyPr>
          <a:lstStyle>
            <a:lvl1pPr>
              <a:defRPr lang="pt-BR" sz="12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Espaço Reservado para Conteúdo 14">
            <a:extLst>
              <a:ext uri="{FF2B5EF4-FFF2-40B4-BE49-F238E27FC236}">
                <a16:creationId xmlns:a16="http://schemas.microsoft.com/office/drawing/2014/main" id="{850F5579-F7F0-47FE-8562-80BD2CF75884}"/>
              </a:ext>
            </a:extLst>
          </p:cNvPr>
          <p:cNvSpPr>
            <a:spLocks noGrp="1"/>
          </p:cNvSpPr>
          <p:nvPr>
            <p:ph sz="quarter" idx="25" hasCustomPrompt="1"/>
          </p:nvPr>
        </p:nvSpPr>
        <p:spPr>
          <a:xfrm>
            <a:off x="9954741" y="184396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29" name="Espaço Reservado para Conteúdo 14">
            <a:extLst>
              <a:ext uri="{FF2B5EF4-FFF2-40B4-BE49-F238E27FC236}">
                <a16:creationId xmlns:a16="http://schemas.microsoft.com/office/drawing/2014/main" id="{3AED8A04-1CB7-4096-B4E7-A94A03362595}"/>
              </a:ext>
            </a:extLst>
          </p:cNvPr>
          <p:cNvSpPr>
            <a:spLocks noGrp="1"/>
          </p:cNvSpPr>
          <p:nvPr>
            <p:ph sz="quarter" idx="26" hasCustomPrompt="1"/>
          </p:nvPr>
        </p:nvSpPr>
        <p:spPr>
          <a:xfrm>
            <a:off x="9954741" y="203492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0" name="Espaço Reservado para Conteúdo 14">
            <a:extLst>
              <a:ext uri="{FF2B5EF4-FFF2-40B4-BE49-F238E27FC236}">
                <a16:creationId xmlns:a16="http://schemas.microsoft.com/office/drawing/2014/main" id="{938C4CF9-D21D-491A-995D-38D80E45D35E}"/>
              </a:ext>
            </a:extLst>
          </p:cNvPr>
          <p:cNvSpPr>
            <a:spLocks noGrp="1"/>
          </p:cNvSpPr>
          <p:nvPr>
            <p:ph sz="quarter" idx="27" hasCustomPrompt="1"/>
          </p:nvPr>
        </p:nvSpPr>
        <p:spPr>
          <a:xfrm>
            <a:off x="9954741" y="236446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1" name="Espaço Reservado para Conteúdo 14">
            <a:extLst>
              <a:ext uri="{FF2B5EF4-FFF2-40B4-BE49-F238E27FC236}">
                <a16:creationId xmlns:a16="http://schemas.microsoft.com/office/drawing/2014/main" id="{A0CEDDC6-9D7D-4AB6-8714-251BC13968E7}"/>
              </a:ext>
            </a:extLst>
          </p:cNvPr>
          <p:cNvSpPr>
            <a:spLocks noGrp="1"/>
          </p:cNvSpPr>
          <p:nvPr>
            <p:ph sz="quarter" idx="28" hasCustomPrompt="1"/>
          </p:nvPr>
        </p:nvSpPr>
        <p:spPr>
          <a:xfrm>
            <a:off x="9954741" y="257923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2" name="Espaço Reservado para Conteúdo 14">
            <a:extLst>
              <a:ext uri="{FF2B5EF4-FFF2-40B4-BE49-F238E27FC236}">
                <a16:creationId xmlns:a16="http://schemas.microsoft.com/office/drawing/2014/main" id="{193B6CB7-D834-4068-868A-9AFBE5866A58}"/>
              </a:ext>
            </a:extLst>
          </p:cNvPr>
          <p:cNvSpPr>
            <a:spLocks noGrp="1"/>
          </p:cNvSpPr>
          <p:nvPr>
            <p:ph sz="quarter" idx="29" hasCustomPrompt="1"/>
          </p:nvPr>
        </p:nvSpPr>
        <p:spPr>
          <a:xfrm>
            <a:off x="9954741" y="277018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3" name="Espaço Reservado para Conteúdo 14">
            <a:extLst>
              <a:ext uri="{FF2B5EF4-FFF2-40B4-BE49-F238E27FC236}">
                <a16:creationId xmlns:a16="http://schemas.microsoft.com/office/drawing/2014/main" id="{55476F42-1A4B-4330-A3B9-8BA77043864B}"/>
              </a:ext>
            </a:extLst>
          </p:cNvPr>
          <p:cNvSpPr>
            <a:spLocks noGrp="1"/>
          </p:cNvSpPr>
          <p:nvPr>
            <p:ph sz="quarter" idx="30" hasCustomPrompt="1"/>
          </p:nvPr>
        </p:nvSpPr>
        <p:spPr>
          <a:xfrm>
            <a:off x="9954741" y="3104144"/>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4" name="Espaço Reservado para Conteúdo 14">
            <a:extLst>
              <a:ext uri="{FF2B5EF4-FFF2-40B4-BE49-F238E27FC236}">
                <a16:creationId xmlns:a16="http://schemas.microsoft.com/office/drawing/2014/main" id="{195E6429-987B-4AC7-8E16-6188988765D4}"/>
              </a:ext>
            </a:extLst>
          </p:cNvPr>
          <p:cNvSpPr>
            <a:spLocks noGrp="1"/>
          </p:cNvSpPr>
          <p:nvPr>
            <p:ph sz="quarter" idx="31" hasCustomPrompt="1"/>
          </p:nvPr>
        </p:nvSpPr>
        <p:spPr>
          <a:xfrm>
            <a:off x="9954741" y="3318912"/>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5" name="Espaço Reservado para Conteúdo 14">
            <a:extLst>
              <a:ext uri="{FF2B5EF4-FFF2-40B4-BE49-F238E27FC236}">
                <a16:creationId xmlns:a16="http://schemas.microsoft.com/office/drawing/2014/main" id="{073C1B83-6366-4B50-BD4D-B74457EC8E9F}"/>
              </a:ext>
            </a:extLst>
          </p:cNvPr>
          <p:cNvSpPr>
            <a:spLocks noGrp="1"/>
          </p:cNvSpPr>
          <p:nvPr>
            <p:ph sz="quarter" idx="32" hasCustomPrompt="1"/>
          </p:nvPr>
        </p:nvSpPr>
        <p:spPr>
          <a:xfrm>
            <a:off x="9954741" y="3509867"/>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6" name="Espaço Reservado para Conteúdo 14">
            <a:extLst>
              <a:ext uri="{FF2B5EF4-FFF2-40B4-BE49-F238E27FC236}">
                <a16:creationId xmlns:a16="http://schemas.microsoft.com/office/drawing/2014/main" id="{C46354AB-40F2-4A4A-AD37-4856DE213F40}"/>
              </a:ext>
            </a:extLst>
          </p:cNvPr>
          <p:cNvSpPr>
            <a:spLocks noGrp="1"/>
          </p:cNvSpPr>
          <p:nvPr>
            <p:ph sz="quarter" idx="33" hasCustomPrompt="1"/>
          </p:nvPr>
        </p:nvSpPr>
        <p:spPr>
          <a:xfrm>
            <a:off x="9954741" y="383921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7" name="Espaço Reservado para Conteúdo 14">
            <a:extLst>
              <a:ext uri="{FF2B5EF4-FFF2-40B4-BE49-F238E27FC236}">
                <a16:creationId xmlns:a16="http://schemas.microsoft.com/office/drawing/2014/main" id="{069F1687-40C5-4D45-B235-59542CC1ECD4}"/>
              </a:ext>
            </a:extLst>
          </p:cNvPr>
          <p:cNvSpPr>
            <a:spLocks noGrp="1"/>
          </p:cNvSpPr>
          <p:nvPr>
            <p:ph sz="quarter" idx="34" hasCustomPrompt="1"/>
          </p:nvPr>
        </p:nvSpPr>
        <p:spPr>
          <a:xfrm>
            <a:off x="9954741" y="405397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8" name="Espaço Reservado para Conteúdo 14">
            <a:extLst>
              <a:ext uri="{FF2B5EF4-FFF2-40B4-BE49-F238E27FC236}">
                <a16:creationId xmlns:a16="http://schemas.microsoft.com/office/drawing/2014/main" id="{C3CC52EA-2999-4302-9E0C-30842061FFFD}"/>
              </a:ext>
            </a:extLst>
          </p:cNvPr>
          <p:cNvSpPr>
            <a:spLocks noGrp="1"/>
          </p:cNvSpPr>
          <p:nvPr>
            <p:ph sz="quarter" idx="35" hasCustomPrompt="1"/>
          </p:nvPr>
        </p:nvSpPr>
        <p:spPr>
          <a:xfrm>
            <a:off x="9954741" y="424493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336001" y="775521"/>
            <a:ext cx="11518900" cy="299659"/>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cxnSp>
        <p:nvCxnSpPr>
          <p:cNvPr id="3" name="Straight Connector 2">
            <a:extLst>
              <a:ext uri="{FF2B5EF4-FFF2-40B4-BE49-F238E27FC236}">
                <a16:creationId xmlns:a16="http://schemas.microsoft.com/office/drawing/2014/main" id="{5EA02662-AE79-4B8E-B676-C401AD03C996}"/>
              </a:ext>
            </a:extLst>
          </p:cNvPr>
          <p:cNvCxnSpPr>
            <a:cxnSpLocks/>
          </p:cNvCxnSpPr>
          <p:nvPr userDrawn="1"/>
        </p:nvCxnSpPr>
        <p:spPr>
          <a:xfrm>
            <a:off x="9711007" y="1622848"/>
            <a:ext cx="0" cy="2947901"/>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41" name="Espaço Reservado para Conteúdo 14">
            <a:extLst>
              <a:ext uri="{FF2B5EF4-FFF2-40B4-BE49-F238E27FC236}">
                <a16:creationId xmlns:a16="http://schemas.microsoft.com/office/drawing/2014/main" id="{6B621610-3105-40FB-B7DC-05D590673186}"/>
              </a:ext>
            </a:extLst>
          </p:cNvPr>
          <p:cNvSpPr>
            <a:spLocks noGrp="1"/>
          </p:cNvSpPr>
          <p:nvPr>
            <p:ph sz="quarter" idx="42" hasCustomPrompt="1"/>
          </p:nvPr>
        </p:nvSpPr>
        <p:spPr>
          <a:xfrm>
            <a:off x="6285399" y="5029925"/>
            <a:ext cx="5569501" cy="99322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42" name="Espaço Reservado para Conteúdo 14">
            <a:extLst>
              <a:ext uri="{FF2B5EF4-FFF2-40B4-BE49-F238E27FC236}">
                <a16:creationId xmlns:a16="http://schemas.microsoft.com/office/drawing/2014/main" id="{054B1884-B7BC-4FA4-849B-DB11207875CC}"/>
              </a:ext>
            </a:extLst>
          </p:cNvPr>
          <p:cNvSpPr>
            <a:spLocks noGrp="1"/>
          </p:cNvSpPr>
          <p:nvPr>
            <p:ph sz="quarter" idx="43" hasCustomPrompt="1"/>
          </p:nvPr>
        </p:nvSpPr>
        <p:spPr>
          <a:xfrm>
            <a:off x="6285399" y="4735310"/>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4" name="Text Placeholder 21">
            <a:extLst>
              <a:ext uri="{FF2B5EF4-FFF2-40B4-BE49-F238E27FC236}">
                <a16:creationId xmlns:a16="http://schemas.microsoft.com/office/drawing/2014/main" id="{7869B08B-9B05-4D38-B4CA-C2F1D7979BA5}"/>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50" name="Date Placeholder 1">
            <a:extLst>
              <a:ext uri="{FF2B5EF4-FFF2-40B4-BE49-F238E27FC236}">
                <a16:creationId xmlns:a16="http://schemas.microsoft.com/office/drawing/2014/main" id="{BDC93EBC-9BE5-4C8E-9414-F42BAD4A9222}"/>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fld id="{DEF07EAB-FF36-413A-9F9A-0AF5F3187EB1}" type="datetime4">
              <a:rPr lang="pt-BR" smtClean="0"/>
              <a:t>2 de julho de 2026</a:t>
            </a:fld>
            <a:endParaRPr lang="en-US" dirty="0"/>
          </a:p>
        </p:txBody>
      </p:sp>
      <p:sp>
        <p:nvSpPr>
          <p:cNvPr id="43" name="Freeform: Shape 42">
            <a:extLst>
              <a:ext uri="{FF2B5EF4-FFF2-40B4-BE49-F238E27FC236}">
                <a16:creationId xmlns:a16="http://schemas.microsoft.com/office/drawing/2014/main" id="{969C1A72-26FC-45FB-93EF-511CAA77CA27}"/>
              </a:ext>
            </a:extLst>
          </p:cNvPr>
          <p:cNvSpPr/>
          <p:nvPr userDrawn="1"/>
        </p:nvSpPr>
        <p:spPr>
          <a:xfrm>
            <a:off x="11358608" y="832910"/>
            <a:ext cx="499749" cy="450795"/>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bg1"/>
          </a:solidFill>
          <a:ln w="6350" cap="flat">
            <a:noFill/>
            <a:prstDash val="solid"/>
            <a:miter/>
          </a:ln>
        </p:spPr>
        <p:txBody>
          <a:bodyPr rtlCol="0" anchor="ctr"/>
          <a:lstStyle/>
          <a:p>
            <a:endParaRPr lang="en-US">
              <a:solidFill>
                <a:schemeClr val="bg1"/>
              </a:solidFill>
            </a:endParaRPr>
          </a:p>
        </p:txBody>
      </p:sp>
    </p:spTree>
    <p:extLst>
      <p:ext uri="{BB962C8B-B14F-4D97-AF65-F5344CB8AC3E}">
        <p14:creationId xmlns:p14="http://schemas.microsoft.com/office/powerpoint/2010/main" val="3957955441"/>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apa Short Note v1">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D881781C-40FD-43E2-BC6E-3786CEF8438E}"/>
              </a:ext>
            </a:extLst>
          </p:cNvPr>
          <p:cNvSpPr/>
          <p:nvPr userDrawn="1"/>
        </p:nvSpPr>
        <p:spPr>
          <a:xfrm>
            <a:off x="0" y="0"/>
            <a:ext cx="12192000" cy="1476873"/>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52" name="Picture 51" descr="A picture containing dark, night sky&#10;&#10;Description automatically generated">
            <a:extLst>
              <a:ext uri="{FF2B5EF4-FFF2-40B4-BE49-F238E27FC236}">
                <a16:creationId xmlns:a16="http://schemas.microsoft.com/office/drawing/2014/main" id="{5CCADE29-8500-4070-A119-2C944A23B7D8}"/>
              </a:ext>
            </a:extLst>
          </p:cNvPr>
          <p:cNvPicPr>
            <a:picLocks noChangeAspect="1"/>
          </p:cNvPicPr>
          <p:nvPr userDrawn="1"/>
        </p:nvPicPr>
        <p:blipFill rotWithShape="1">
          <a:blip r:embed="rId3">
            <a:alphaModFix amt="81000"/>
          </a:blip>
          <a:srcRect b="75849"/>
          <a:stretch/>
        </p:blipFill>
        <p:spPr>
          <a:xfrm>
            <a:off x="3446236" y="0"/>
            <a:ext cx="8745764" cy="1476873"/>
          </a:xfrm>
          <a:prstGeom prst="rect">
            <a:avLst/>
          </a:prstGeom>
        </p:spPr>
      </p:pic>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9954741" y="162920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35962" cy="524010"/>
          </a:xfrm>
          <a:prstGeom prst="rect">
            <a:avLst/>
          </a:prstGeom>
        </p:spPr>
        <p:txBody>
          <a:bodyPr vert="horz" lIns="0" tIns="0" rIns="0" bIns="0" rtlCol="0" anchor="ctr">
            <a:noAutofit/>
          </a:bodyPr>
          <a:lstStyle>
            <a:lvl1pPr>
              <a:defRPr lang="pt-BR" sz="2400" b="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1622848"/>
            <a:ext cx="9131274" cy="2947901"/>
          </a:xfrm>
          <a:prstGeom prst="rect">
            <a:avLst/>
          </a:prstGeom>
          <a:solidFill>
            <a:schemeClr val="bg1">
              <a:lumMod val="95000"/>
            </a:schemeClr>
          </a:solidFill>
        </p:spPr>
        <p:txBody>
          <a:bodyPr lIns="36000" tIns="36000" rIns="36000" bIns="36000">
            <a:noAutofit/>
          </a:bodyPr>
          <a:lstStyle>
            <a:lvl1pPr marL="0" indent="0" algn="just">
              <a:lnSpc>
                <a:spcPct val="125000"/>
              </a:lnSpc>
              <a:spcBef>
                <a:spcPts val="600"/>
              </a:spcBef>
              <a:buFont typeface="Arial" panose="020B0604020202020204" pitchFamily="34" charset="0"/>
              <a:buNone/>
              <a:defRPr sz="1000" b="0">
                <a:solidFill>
                  <a:schemeClr val="accent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112247"/>
            <a:ext cx="11518900" cy="202833"/>
          </a:xfrm>
          <a:prstGeom prst="rect">
            <a:avLst/>
          </a:prstGeom>
        </p:spPr>
        <p:txBody>
          <a:bodyPr vert="horz" lIns="0" tIns="0" rIns="0" bIns="0" rtlCol="0" anchor="t">
            <a:noAutofit/>
          </a:bodyPr>
          <a:lstStyle>
            <a:lvl1pPr>
              <a:defRPr lang="pt-BR" sz="12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Espaço Reservado para Conteúdo 14">
            <a:extLst>
              <a:ext uri="{FF2B5EF4-FFF2-40B4-BE49-F238E27FC236}">
                <a16:creationId xmlns:a16="http://schemas.microsoft.com/office/drawing/2014/main" id="{850F5579-F7F0-47FE-8562-80BD2CF75884}"/>
              </a:ext>
            </a:extLst>
          </p:cNvPr>
          <p:cNvSpPr>
            <a:spLocks noGrp="1"/>
          </p:cNvSpPr>
          <p:nvPr>
            <p:ph sz="quarter" idx="25" hasCustomPrompt="1"/>
          </p:nvPr>
        </p:nvSpPr>
        <p:spPr>
          <a:xfrm>
            <a:off x="9954741" y="184396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29" name="Espaço Reservado para Conteúdo 14">
            <a:extLst>
              <a:ext uri="{FF2B5EF4-FFF2-40B4-BE49-F238E27FC236}">
                <a16:creationId xmlns:a16="http://schemas.microsoft.com/office/drawing/2014/main" id="{3AED8A04-1CB7-4096-B4E7-A94A03362595}"/>
              </a:ext>
            </a:extLst>
          </p:cNvPr>
          <p:cNvSpPr>
            <a:spLocks noGrp="1"/>
          </p:cNvSpPr>
          <p:nvPr>
            <p:ph sz="quarter" idx="26" hasCustomPrompt="1"/>
          </p:nvPr>
        </p:nvSpPr>
        <p:spPr>
          <a:xfrm>
            <a:off x="9954741" y="203492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0" name="Espaço Reservado para Conteúdo 14">
            <a:extLst>
              <a:ext uri="{FF2B5EF4-FFF2-40B4-BE49-F238E27FC236}">
                <a16:creationId xmlns:a16="http://schemas.microsoft.com/office/drawing/2014/main" id="{938C4CF9-D21D-491A-995D-38D80E45D35E}"/>
              </a:ext>
            </a:extLst>
          </p:cNvPr>
          <p:cNvSpPr>
            <a:spLocks noGrp="1"/>
          </p:cNvSpPr>
          <p:nvPr>
            <p:ph sz="quarter" idx="27" hasCustomPrompt="1"/>
          </p:nvPr>
        </p:nvSpPr>
        <p:spPr>
          <a:xfrm>
            <a:off x="9954741" y="236446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1" name="Espaço Reservado para Conteúdo 14">
            <a:extLst>
              <a:ext uri="{FF2B5EF4-FFF2-40B4-BE49-F238E27FC236}">
                <a16:creationId xmlns:a16="http://schemas.microsoft.com/office/drawing/2014/main" id="{A0CEDDC6-9D7D-4AB6-8714-251BC13968E7}"/>
              </a:ext>
            </a:extLst>
          </p:cNvPr>
          <p:cNvSpPr>
            <a:spLocks noGrp="1"/>
          </p:cNvSpPr>
          <p:nvPr>
            <p:ph sz="quarter" idx="28" hasCustomPrompt="1"/>
          </p:nvPr>
        </p:nvSpPr>
        <p:spPr>
          <a:xfrm>
            <a:off x="9954741" y="257923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2" name="Espaço Reservado para Conteúdo 14">
            <a:extLst>
              <a:ext uri="{FF2B5EF4-FFF2-40B4-BE49-F238E27FC236}">
                <a16:creationId xmlns:a16="http://schemas.microsoft.com/office/drawing/2014/main" id="{193B6CB7-D834-4068-868A-9AFBE5866A58}"/>
              </a:ext>
            </a:extLst>
          </p:cNvPr>
          <p:cNvSpPr>
            <a:spLocks noGrp="1"/>
          </p:cNvSpPr>
          <p:nvPr>
            <p:ph sz="quarter" idx="29" hasCustomPrompt="1"/>
          </p:nvPr>
        </p:nvSpPr>
        <p:spPr>
          <a:xfrm>
            <a:off x="9954741" y="277018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3" name="Espaço Reservado para Conteúdo 14">
            <a:extLst>
              <a:ext uri="{FF2B5EF4-FFF2-40B4-BE49-F238E27FC236}">
                <a16:creationId xmlns:a16="http://schemas.microsoft.com/office/drawing/2014/main" id="{55476F42-1A4B-4330-A3B9-8BA77043864B}"/>
              </a:ext>
            </a:extLst>
          </p:cNvPr>
          <p:cNvSpPr>
            <a:spLocks noGrp="1"/>
          </p:cNvSpPr>
          <p:nvPr>
            <p:ph sz="quarter" idx="30" hasCustomPrompt="1"/>
          </p:nvPr>
        </p:nvSpPr>
        <p:spPr>
          <a:xfrm>
            <a:off x="9954741" y="3104144"/>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4" name="Espaço Reservado para Conteúdo 14">
            <a:extLst>
              <a:ext uri="{FF2B5EF4-FFF2-40B4-BE49-F238E27FC236}">
                <a16:creationId xmlns:a16="http://schemas.microsoft.com/office/drawing/2014/main" id="{195E6429-987B-4AC7-8E16-6188988765D4}"/>
              </a:ext>
            </a:extLst>
          </p:cNvPr>
          <p:cNvSpPr>
            <a:spLocks noGrp="1"/>
          </p:cNvSpPr>
          <p:nvPr>
            <p:ph sz="quarter" idx="31" hasCustomPrompt="1"/>
          </p:nvPr>
        </p:nvSpPr>
        <p:spPr>
          <a:xfrm>
            <a:off x="9954741" y="3318912"/>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5" name="Espaço Reservado para Conteúdo 14">
            <a:extLst>
              <a:ext uri="{FF2B5EF4-FFF2-40B4-BE49-F238E27FC236}">
                <a16:creationId xmlns:a16="http://schemas.microsoft.com/office/drawing/2014/main" id="{073C1B83-6366-4B50-BD4D-B74457EC8E9F}"/>
              </a:ext>
            </a:extLst>
          </p:cNvPr>
          <p:cNvSpPr>
            <a:spLocks noGrp="1"/>
          </p:cNvSpPr>
          <p:nvPr>
            <p:ph sz="quarter" idx="32" hasCustomPrompt="1"/>
          </p:nvPr>
        </p:nvSpPr>
        <p:spPr>
          <a:xfrm>
            <a:off x="9954741" y="3509867"/>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6" name="Espaço Reservado para Conteúdo 14">
            <a:extLst>
              <a:ext uri="{FF2B5EF4-FFF2-40B4-BE49-F238E27FC236}">
                <a16:creationId xmlns:a16="http://schemas.microsoft.com/office/drawing/2014/main" id="{C46354AB-40F2-4A4A-AD37-4856DE213F40}"/>
              </a:ext>
            </a:extLst>
          </p:cNvPr>
          <p:cNvSpPr>
            <a:spLocks noGrp="1"/>
          </p:cNvSpPr>
          <p:nvPr>
            <p:ph sz="quarter" idx="33" hasCustomPrompt="1"/>
          </p:nvPr>
        </p:nvSpPr>
        <p:spPr>
          <a:xfrm>
            <a:off x="9954741" y="383921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7" name="Espaço Reservado para Conteúdo 14">
            <a:extLst>
              <a:ext uri="{FF2B5EF4-FFF2-40B4-BE49-F238E27FC236}">
                <a16:creationId xmlns:a16="http://schemas.microsoft.com/office/drawing/2014/main" id="{069F1687-40C5-4D45-B235-59542CC1ECD4}"/>
              </a:ext>
            </a:extLst>
          </p:cNvPr>
          <p:cNvSpPr>
            <a:spLocks noGrp="1"/>
          </p:cNvSpPr>
          <p:nvPr>
            <p:ph sz="quarter" idx="34" hasCustomPrompt="1"/>
          </p:nvPr>
        </p:nvSpPr>
        <p:spPr>
          <a:xfrm>
            <a:off x="9954741" y="405397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8" name="Espaço Reservado para Conteúdo 14">
            <a:extLst>
              <a:ext uri="{FF2B5EF4-FFF2-40B4-BE49-F238E27FC236}">
                <a16:creationId xmlns:a16="http://schemas.microsoft.com/office/drawing/2014/main" id="{C3CC52EA-2999-4302-9E0C-30842061FFFD}"/>
              </a:ext>
            </a:extLst>
          </p:cNvPr>
          <p:cNvSpPr>
            <a:spLocks noGrp="1"/>
          </p:cNvSpPr>
          <p:nvPr>
            <p:ph sz="quarter" idx="35" hasCustomPrompt="1"/>
          </p:nvPr>
        </p:nvSpPr>
        <p:spPr>
          <a:xfrm>
            <a:off x="9954741" y="424493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336001" y="775521"/>
            <a:ext cx="11518900" cy="299659"/>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cxnSp>
        <p:nvCxnSpPr>
          <p:cNvPr id="3" name="Straight Connector 2">
            <a:extLst>
              <a:ext uri="{FF2B5EF4-FFF2-40B4-BE49-F238E27FC236}">
                <a16:creationId xmlns:a16="http://schemas.microsoft.com/office/drawing/2014/main" id="{5EA02662-AE79-4B8E-B676-C401AD03C996}"/>
              </a:ext>
            </a:extLst>
          </p:cNvPr>
          <p:cNvCxnSpPr>
            <a:cxnSpLocks/>
          </p:cNvCxnSpPr>
          <p:nvPr userDrawn="1"/>
        </p:nvCxnSpPr>
        <p:spPr>
          <a:xfrm>
            <a:off x="9711007" y="1622848"/>
            <a:ext cx="0" cy="2947901"/>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63" name="Espaço Reservado para Conteúdo 14">
            <a:extLst>
              <a:ext uri="{FF2B5EF4-FFF2-40B4-BE49-F238E27FC236}">
                <a16:creationId xmlns:a16="http://schemas.microsoft.com/office/drawing/2014/main" id="{4F065D27-F159-49FE-AEA3-D772EE3795D5}"/>
              </a:ext>
            </a:extLst>
          </p:cNvPr>
          <p:cNvSpPr>
            <a:spLocks noGrp="1"/>
          </p:cNvSpPr>
          <p:nvPr>
            <p:ph sz="quarter" idx="36" hasCustomPrompt="1"/>
          </p:nvPr>
        </p:nvSpPr>
        <p:spPr>
          <a:xfrm>
            <a:off x="336000" y="5029925"/>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64" name="Espaço Reservado para Conteúdo 14">
            <a:extLst>
              <a:ext uri="{FF2B5EF4-FFF2-40B4-BE49-F238E27FC236}">
                <a16:creationId xmlns:a16="http://schemas.microsoft.com/office/drawing/2014/main" id="{157EB19F-6FA5-47D6-8F62-A0C2CEC707A6}"/>
              </a:ext>
            </a:extLst>
          </p:cNvPr>
          <p:cNvSpPr>
            <a:spLocks noGrp="1"/>
          </p:cNvSpPr>
          <p:nvPr>
            <p:ph sz="quarter" idx="37" hasCustomPrompt="1"/>
          </p:nvPr>
        </p:nvSpPr>
        <p:spPr>
          <a:xfrm>
            <a:off x="336000" y="4735310"/>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65" name="Espaço Reservado para Conteúdo 14">
            <a:extLst>
              <a:ext uri="{FF2B5EF4-FFF2-40B4-BE49-F238E27FC236}">
                <a16:creationId xmlns:a16="http://schemas.microsoft.com/office/drawing/2014/main" id="{4CC79004-24EE-43A0-B0C2-A3C6093FD89F}"/>
              </a:ext>
            </a:extLst>
          </p:cNvPr>
          <p:cNvSpPr>
            <a:spLocks noGrp="1"/>
          </p:cNvSpPr>
          <p:nvPr>
            <p:ph sz="quarter" idx="38" hasCustomPrompt="1"/>
          </p:nvPr>
        </p:nvSpPr>
        <p:spPr>
          <a:xfrm>
            <a:off x="4253456" y="5030967"/>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66" name="Espaço Reservado para Conteúdo 14">
            <a:extLst>
              <a:ext uri="{FF2B5EF4-FFF2-40B4-BE49-F238E27FC236}">
                <a16:creationId xmlns:a16="http://schemas.microsoft.com/office/drawing/2014/main" id="{FB2324CB-D47D-4BF6-A600-6ECE134E382F}"/>
              </a:ext>
            </a:extLst>
          </p:cNvPr>
          <p:cNvSpPr>
            <a:spLocks noGrp="1"/>
          </p:cNvSpPr>
          <p:nvPr>
            <p:ph sz="quarter" idx="39" hasCustomPrompt="1"/>
          </p:nvPr>
        </p:nvSpPr>
        <p:spPr>
          <a:xfrm>
            <a:off x="4253456" y="4736352"/>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67" name="Espaço Reservado para Conteúdo 14">
            <a:extLst>
              <a:ext uri="{FF2B5EF4-FFF2-40B4-BE49-F238E27FC236}">
                <a16:creationId xmlns:a16="http://schemas.microsoft.com/office/drawing/2014/main" id="{CBAEEE7B-EFF6-48D7-AF91-ADDADBED591C}"/>
              </a:ext>
            </a:extLst>
          </p:cNvPr>
          <p:cNvSpPr>
            <a:spLocks noGrp="1"/>
          </p:cNvSpPr>
          <p:nvPr>
            <p:ph sz="quarter" idx="40" hasCustomPrompt="1"/>
          </p:nvPr>
        </p:nvSpPr>
        <p:spPr>
          <a:xfrm>
            <a:off x="8159750" y="5027157"/>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68" name="Espaço Reservado para Conteúdo 14">
            <a:extLst>
              <a:ext uri="{FF2B5EF4-FFF2-40B4-BE49-F238E27FC236}">
                <a16:creationId xmlns:a16="http://schemas.microsoft.com/office/drawing/2014/main" id="{F7F7FBE8-EDCD-406C-A571-A3A0B9029829}"/>
              </a:ext>
            </a:extLst>
          </p:cNvPr>
          <p:cNvSpPr>
            <a:spLocks noGrp="1"/>
          </p:cNvSpPr>
          <p:nvPr>
            <p:ph sz="quarter" idx="41" hasCustomPrompt="1"/>
          </p:nvPr>
        </p:nvSpPr>
        <p:spPr>
          <a:xfrm>
            <a:off x="8159750" y="4732542"/>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0" name="Text Placeholder 21">
            <a:extLst>
              <a:ext uri="{FF2B5EF4-FFF2-40B4-BE49-F238E27FC236}">
                <a16:creationId xmlns:a16="http://schemas.microsoft.com/office/drawing/2014/main" id="{95F3E463-B817-4B2E-93BD-2A1152C6F7E6}"/>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1" name="Date Placeholder 1">
            <a:extLst>
              <a:ext uri="{FF2B5EF4-FFF2-40B4-BE49-F238E27FC236}">
                <a16:creationId xmlns:a16="http://schemas.microsoft.com/office/drawing/2014/main" id="{82577943-F62A-4C91-832C-4ED1B4C0498E}"/>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fld id="{DEF07EAB-FF36-413A-9F9A-0AF5F3187EB1}" type="datetime4">
              <a:rPr lang="pt-BR" smtClean="0"/>
              <a:t>2 de julho de 2026</a:t>
            </a:fld>
            <a:endParaRPr lang="en-US" dirty="0"/>
          </a:p>
        </p:txBody>
      </p:sp>
      <p:sp>
        <p:nvSpPr>
          <p:cNvPr id="39" name="Freeform: Shape 38">
            <a:extLst>
              <a:ext uri="{FF2B5EF4-FFF2-40B4-BE49-F238E27FC236}">
                <a16:creationId xmlns:a16="http://schemas.microsoft.com/office/drawing/2014/main" id="{B8D3B3BB-8B99-46A8-BF9C-2025B42E4C8F}"/>
              </a:ext>
            </a:extLst>
          </p:cNvPr>
          <p:cNvSpPr/>
          <p:nvPr userDrawn="1"/>
        </p:nvSpPr>
        <p:spPr>
          <a:xfrm>
            <a:off x="11358608" y="832910"/>
            <a:ext cx="499749" cy="450795"/>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bg1"/>
          </a:solidFill>
          <a:ln w="6350" cap="flat">
            <a:noFill/>
            <a:prstDash val="solid"/>
            <a:miter/>
          </a:ln>
        </p:spPr>
        <p:txBody>
          <a:bodyPr rtlCol="0" anchor="ctr"/>
          <a:lstStyle/>
          <a:p>
            <a:endParaRPr lang="en-US">
              <a:solidFill>
                <a:schemeClr val="bg1"/>
              </a:solidFill>
            </a:endParaRPr>
          </a:p>
        </p:txBody>
      </p:sp>
    </p:spTree>
    <p:extLst>
      <p:ext uri="{BB962C8B-B14F-4D97-AF65-F5344CB8AC3E}">
        <p14:creationId xmlns:p14="http://schemas.microsoft.com/office/powerpoint/2010/main" val="3855487341"/>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apa Short Note v2">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D881781C-40FD-43E2-BC6E-3786CEF8438E}"/>
              </a:ext>
            </a:extLst>
          </p:cNvPr>
          <p:cNvSpPr/>
          <p:nvPr userDrawn="1"/>
        </p:nvSpPr>
        <p:spPr>
          <a:xfrm>
            <a:off x="0" y="0"/>
            <a:ext cx="12192000" cy="1476873"/>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52" name="Picture 51" descr="A picture containing dark, night sky&#10;&#10;Description automatically generated">
            <a:extLst>
              <a:ext uri="{FF2B5EF4-FFF2-40B4-BE49-F238E27FC236}">
                <a16:creationId xmlns:a16="http://schemas.microsoft.com/office/drawing/2014/main" id="{5CCADE29-8500-4070-A119-2C944A23B7D8}"/>
              </a:ext>
            </a:extLst>
          </p:cNvPr>
          <p:cNvPicPr>
            <a:picLocks noChangeAspect="1"/>
          </p:cNvPicPr>
          <p:nvPr userDrawn="1"/>
        </p:nvPicPr>
        <p:blipFill rotWithShape="1">
          <a:blip r:embed="rId3">
            <a:alphaModFix amt="81000"/>
          </a:blip>
          <a:srcRect b="75849"/>
          <a:stretch/>
        </p:blipFill>
        <p:spPr>
          <a:xfrm>
            <a:off x="3446236" y="0"/>
            <a:ext cx="8745764" cy="1476873"/>
          </a:xfrm>
          <a:prstGeom prst="rect">
            <a:avLst/>
          </a:prstGeom>
        </p:spPr>
      </p:pic>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9954741" y="162920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35962" cy="524010"/>
          </a:xfrm>
          <a:prstGeom prst="rect">
            <a:avLst/>
          </a:prstGeom>
        </p:spPr>
        <p:txBody>
          <a:bodyPr vert="horz" lIns="0" tIns="0" rIns="0" bIns="0" rtlCol="0" anchor="ctr">
            <a:noAutofit/>
          </a:bodyPr>
          <a:lstStyle>
            <a:lvl1pPr>
              <a:defRPr lang="pt-BR" sz="2400" b="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1622848"/>
            <a:ext cx="9131274" cy="2947901"/>
          </a:xfrm>
          <a:prstGeom prst="rect">
            <a:avLst/>
          </a:prstGeom>
          <a:solidFill>
            <a:schemeClr val="bg1">
              <a:lumMod val="95000"/>
            </a:schemeClr>
          </a:solidFill>
        </p:spPr>
        <p:txBody>
          <a:bodyPr lIns="36000" tIns="36000" rIns="36000" bIns="36000">
            <a:noAutofit/>
          </a:bodyPr>
          <a:lstStyle>
            <a:lvl1pPr marL="0" indent="0" algn="just">
              <a:lnSpc>
                <a:spcPct val="125000"/>
              </a:lnSpc>
              <a:spcBef>
                <a:spcPts val="600"/>
              </a:spcBef>
              <a:buFont typeface="Arial" panose="020B0604020202020204" pitchFamily="34" charset="0"/>
              <a:buNone/>
              <a:defRPr sz="1000" b="0">
                <a:solidFill>
                  <a:schemeClr val="accent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112247"/>
            <a:ext cx="11518900" cy="202833"/>
          </a:xfrm>
          <a:prstGeom prst="rect">
            <a:avLst/>
          </a:prstGeom>
        </p:spPr>
        <p:txBody>
          <a:bodyPr vert="horz" lIns="0" tIns="0" rIns="0" bIns="0" rtlCol="0" anchor="t">
            <a:noAutofit/>
          </a:bodyPr>
          <a:lstStyle>
            <a:lvl1pPr>
              <a:defRPr lang="pt-BR" sz="12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Espaço Reservado para Conteúdo 14">
            <a:extLst>
              <a:ext uri="{FF2B5EF4-FFF2-40B4-BE49-F238E27FC236}">
                <a16:creationId xmlns:a16="http://schemas.microsoft.com/office/drawing/2014/main" id="{850F5579-F7F0-47FE-8562-80BD2CF75884}"/>
              </a:ext>
            </a:extLst>
          </p:cNvPr>
          <p:cNvSpPr>
            <a:spLocks noGrp="1"/>
          </p:cNvSpPr>
          <p:nvPr>
            <p:ph sz="quarter" idx="25" hasCustomPrompt="1"/>
          </p:nvPr>
        </p:nvSpPr>
        <p:spPr>
          <a:xfrm>
            <a:off x="9954741" y="184396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29" name="Espaço Reservado para Conteúdo 14">
            <a:extLst>
              <a:ext uri="{FF2B5EF4-FFF2-40B4-BE49-F238E27FC236}">
                <a16:creationId xmlns:a16="http://schemas.microsoft.com/office/drawing/2014/main" id="{3AED8A04-1CB7-4096-B4E7-A94A03362595}"/>
              </a:ext>
            </a:extLst>
          </p:cNvPr>
          <p:cNvSpPr>
            <a:spLocks noGrp="1"/>
          </p:cNvSpPr>
          <p:nvPr>
            <p:ph sz="quarter" idx="26" hasCustomPrompt="1"/>
          </p:nvPr>
        </p:nvSpPr>
        <p:spPr>
          <a:xfrm>
            <a:off x="9954741" y="203492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0" name="Espaço Reservado para Conteúdo 14">
            <a:extLst>
              <a:ext uri="{FF2B5EF4-FFF2-40B4-BE49-F238E27FC236}">
                <a16:creationId xmlns:a16="http://schemas.microsoft.com/office/drawing/2014/main" id="{938C4CF9-D21D-491A-995D-38D80E45D35E}"/>
              </a:ext>
            </a:extLst>
          </p:cNvPr>
          <p:cNvSpPr>
            <a:spLocks noGrp="1"/>
          </p:cNvSpPr>
          <p:nvPr>
            <p:ph sz="quarter" idx="27" hasCustomPrompt="1"/>
          </p:nvPr>
        </p:nvSpPr>
        <p:spPr>
          <a:xfrm>
            <a:off x="9954741" y="236446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1" name="Espaço Reservado para Conteúdo 14">
            <a:extLst>
              <a:ext uri="{FF2B5EF4-FFF2-40B4-BE49-F238E27FC236}">
                <a16:creationId xmlns:a16="http://schemas.microsoft.com/office/drawing/2014/main" id="{A0CEDDC6-9D7D-4AB6-8714-251BC13968E7}"/>
              </a:ext>
            </a:extLst>
          </p:cNvPr>
          <p:cNvSpPr>
            <a:spLocks noGrp="1"/>
          </p:cNvSpPr>
          <p:nvPr>
            <p:ph sz="quarter" idx="28" hasCustomPrompt="1"/>
          </p:nvPr>
        </p:nvSpPr>
        <p:spPr>
          <a:xfrm>
            <a:off x="9954741" y="257923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2" name="Espaço Reservado para Conteúdo 14">
            <a:extLst>
              <a:ext uri="{FF2B5EF4-FFF2-40B4-BE49-F238E27FC236}">
                <a16:creationId xmlns:a16="http://schemas.microsoft.com/office/drawing/2014/main" id="{193B6CB7-D834-4068-868A-9AFBE5866A58}"/>
              </a:ext>
            </a:extLst>
          </p:cNvPr>
          <p:cNvSpPr>
            <a:spLocks noGrp="1"/>
          </p:cNvSpPr>
          <p:nvPr>
            <p:ph sz="quarter" idx="29" hasCustomPrompt="1"/>
          </p:nvPr>
        </p:nvSpPr>
        <p:spPr>
          <a:xfrm>
            <a:off x="9954741" y="277018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3" name="Espaço Reservado para Conteúdo 14">
            <a:extLst>
              <a:ext uri="{FF2B5EF4-FFF2-40B4-BE49-F238E27FC236}">
                <a16:creationId xmlns:a16="http://schemas.microsoft.com/office/drawing/2014/main" id="{55476F42-1A4B-4330-A3B9-8BA77043864B}"/>
              </a:ext>
            </a:extLst>
          </p:cNvPr>
          <p:cNvSpPr>
            <a:spLocks noGrp="1"/>
          </p:cNvSpPr>
          <p:nvPr>
            <p:ph sz="quarter" idx="30" hasCustomPrompt="1"/>
          </p:nvPr>
        </p:nvSpPr>
        <p:spPr>
          <a:xfrm>
            <a:off x="9954741" y="3104144"/>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4" name="Espaço Reservado para Conteúdo 14">
            <a:extLst>
              <a:ext uri="{FF2B5EF4-FFF2-40B4-BE49-F238E27FC236}">
                <a16:creationId xmlns:a16="http://schemas.microsoft.com/office/drawing/2014/main" id="{195E6429-987B-4AC7-8E16-6188988765D4}"/>
              </a:ext>
            </a:extLst>
          </p:cNvPr>
          <p:cNvSpPr>
            <a:spLocks noGrp="1"/>
          </p:cNvSpPr>
          <p:nvPr>
            <p:ph sz="quarter" idx="31" hasCustomPrompt="1"/>
          </p:nvPr>
        </p:nvSpPr>
        <p:spPr>
          <a:xfrm>
            <a:off x="9954741" y="3318912"/>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5" name="Espaço Reservado para Conteúdo 14">
            <a:extLst>
              <a:ext uri="{FF2B5EF4-FFF2-40B4-BE49-F238E27FC236}">
                <a16:creationId xmlns:a16="http://schemas.microsoft.com/office/drawing/2014/main" id="{073C1B83-6366-4B50-BD4D-B74457EC8E9F}"/>
              </a:ext>
            </a:extLst>
          </p:cNvPr>
          <p:cNvSpPr>
            <a:spLocks noGrp="1"/>
          </p:cNvSpPr>
          <p:nvPr>
            <p:ph sz="quarter" idx="32" hasCustomPrompt="1"/>
          </p:nvPr>
        </p:nvSpPr>
        <p:spPr>
          <a:xfrm>
            <a:off x="9954741" y="3509867"/>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6" name="Espaço Reservado para Conteúdo 14">
            <a:extLst>
              <a:ext uri="{FF2B5EF4-FFF2-40B4-BE49-F238E27FC236}">
                <a16:creationId xmlns:a16="http://schemas.microsoft.com/office/drawing/2014/main" id="{C46354AB-40F2-4A4A-AD37-4856DE213F40}"/>
              </a:ext>
            </a:extLst>
          </p:cNvPr>
          <p:cNvSpPr>
            <a:spLocks noGrp="1"/>
          </p:cNvSpPr>
          <p:nvPr>
            <p:ph sz="quarter" idx="33" hasCustomPrompt="1"/>
          </p:nvPr>
        </p:nvSpPr>
        <p:spPr>
          <a:xfrm>
            <a:off x="9954741" y="383921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7" name="Espaço Reservado para Conteúdo 14">
            <a:extLst>
              <a:ext uri="{FF2B5EF4-FFF2-40B4-BE49-F238E27FC236}">
                <a16:creationId xmlns:a16="http://schemas.microsoft.com/office/drawing/2014/main" id="{069F1687-40C5-4D45-B235-59542CC1ECD4}"/>
              </a:ext>
            </a:extLst>
          </p:cNvPr>
          <p:cNvSpPr>
            <a:spLocks noGrp="1"/>
          </p:cNvSpPr>
          <p:nvPr>
            <p:ph sz="quarter" idx="34" hasCustomPrompt="1"/>
          </p:nvPr>
        </p:nvSpPr>
        <p:spPr>
          <a:xfrm>
            <a:off x="9954741" y="405397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8" name="Espaço Reservado para Conteúdo 14">
            <a:extLst>
              <a:ext uri="{FF2B5EF4-FFF2-40B4-BE49-F238E27FC236}">
                <a16:creationId xmlns:a16="http://schemas.microsoft.com/office/drawing/2014/main" id="{C3CC52EA-2999-4302-9E0C-30842061FFFD}"/>
              </a:ext>
            </a:extLst>
          </p:cNvPr>
          <p:cNvSpPr>
            <a:spLocks noGrp="1"/>
          </p:cNvSpPr>
          <p:nvPr>
            <p:ph sz="quarter" idx="35" hasCustomPrompt="1"/>
          </p:nvPr>
        </p:nvSpPr>
        <p:spPr>
          <a:xfrm>
            <a:off x="9954741" y="424493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336001" y="775521"/>
            <a:ext cx="11518900" cy="299659"/>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cxnSp>
        <p:nvCxnSpPr>
          <p:cNvPr id="3" name="Straight Connector 2">
            <a:extLst>
              <a:ext uri="{FF2B5EF4-FFF2-40B4-BE49-F238E27FC236}">
                <a16:creationId xmlns:a16="http://schemas.microsoft.com/office/drawing/2014/main" id="{5EA02662-AE79-4B8E-B676-C401AD03C996}"/>
              </a:ext>
            </a:extLst>
          </p:cNvPr>
          <p:cNvCxnSpPr>
            <a:cxnSpLocks/>
          </p:cNvCxnSpPr>
          <p:nvPr userDrawn="1"/>
        </p:nvCxnSpPr>
        <p:spPr>
          <a:xfrm>
            <a:off x="9711007" y="1622848"/>
            <a:ext cx="0" cy="4388152"/>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63" name="Espaço Reservado para Conteúdo 14">
            <a:extLst>
              <a:ext uri="{FF2B5EF4-FFF2-40B4-BE49-F238E27FC236}">
                <a16:creationId xmlns:a16="http://schemas.microsoft.com/office/drawing/2014/main" id="{4F065D27-F159-49FE-AEA3-D772EE3795D5}"/>
              </a:ext>
            </a:extLst>
          </p:cNvPr>
          <p:cNvSpPr>
            <a:spLocks noGrp="1"/>
          </p:cNvSpPr>
          <p:nvPr>
            <p:ph sz="quarter" idx="36" hasCustomPrompt="1"/>
          </p:nvPr>
        </p:nvSpPr>
        <p:spPr>
          <a:xfrm>
            <a:off x="336000" y="5029925"/>
            <a:ext cx="9131272"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64" name="Espaço Reservado para Conteúdo 14">
            <a:extLst>
              <a:ext uri="{FF2B5EF4-FFF2-40B4-BE49-F238E27FC236}">
                <a16:creationId xmlns:a16="http://schemas.microsoft.com/office/drawing/2014/main" id="{157EB19F-6FA5-47D6-8F62-A0C2CEC707A6}"/>
              </a:ext>
            </a:extLst>
          </p:cNvPr>
          <p:cNvSpPr>
            <a:spLocks noGrp="1"/>
          </p:cNvSpPr>
          <p:nvPr>
            <p:ph sz="quarter" idx="37" hasCustomPrompt="1"/>
          </p:nvPr>
        </p:nvSpPr>
        <p:spPr>
          <a:xfrm>
            <a:off x="336000" y="4735310"/>
            <a:ext cx="9131272"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0" name="Text Placeholder 21">
            <a:extLst>
              <a:ext uri="{FF2B5EF4-FFF2-40B4-BE49-F238E27FC236}">
                <a16:creationId xmlns:a16="http://schemas.microsoft.com/office/drawing/2014/main" id="{50D9BA1D-B6BB-4DBB-81B7-1B0E548BA3D5}"/>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1" name="Date Placeholder 1">
            <a:extLst>
              <a:ext uri="{FF2B5EF4-FFF2-40B4-BE49-F238E27FC236}">
                <a16:creationId xmlns:a16="http://schemas.microsoft.com/office/drawing/2014/main" id="{D3706B77-8E0E-4CB3-9E64-46F131F4F69E}"/>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fld id="{DEF07EAB-FF36-413A-9F9A-0AF5F3187EB1}" type="datetime4">
              <a:rPr lang="pt-BR" smtClean="0"/>
              <a:t>2 de julho de 2026</a:t>
            </a:fld>
            <a:endParaRPr lang="en-US" dirty="0"/>
          </a:p>
        </p:txBody>
      </p:sp>
      <p:sp>
        <p:nvSpPr>
          <p:cNvPr id="28" name="Freeform: Shape 27">
            <a:extLst>
              <a:ext uri="{FF2B5EF4-FFF2-40B4-BE49-F238E27FC236}">
                <a16:creationId xmlns:a16="http://schemas.microsoft.com/office/drawing/2014/main" id="{07023540-B693-4180-8404-3191DA6A28A0}"/>
              </a:ext>
            </a:extLst>
          </p:cNvPr>
          <p:cNvSpPr/>
          <p:nvPr userDrawn="1"/>
        </p:nvSpPr>
        <p:spPr>
          <a:xfrm>
            <a:off x="11358608" y="832910"/>
            <a:ext cx="499749" cy="450795"/>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bg1"/>
          </a:solidFill>
          <a:ln w="6350" cap="flat">
            <a:noFill/>
            <a:prstDash val="solid"/>
            <a:miter/>
          </a:ln>
        </p:spPr>
        <p:txBody>
          <a:bodyPr rtlCol="0" anchor="ctr"/>
          <a:lstStyle/>
          <a:p>
            <a:endParaRPr lang="en-US">
              <a:solidFill>
                <a:schemeClr val="bg1"/>
              </a:solidFill>
            </a:endParaRPr>
          </a:p>
        </p:txBody>
      </p:sp>
    </p:spTree>
    <p:extLst>
      <p:ext uri="{BB962C8B-B14F-4D97-AF65-F5344CB8AC3E}">
        <p14:creationId xmlns:p14="http://schemas.microsoft.com/office/powerpoint/2010/main" val="3953124456"/>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apa Short Note Sector">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D881781C-40FD-43E2-BC6E-3786CEF8438E}"/>
              </a:ext>
            </a:extLst>
          </p:cNvPr>
          <p:cNvSpPr/>
          <p:nvPr userDrawn="1"/>
        </p:nvSpPr>
        <p:spPr>
          <a:xfrm>
            <a:off x="0" y="0"/>
            <a:ext cx="12192000" cy="1476873"/>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52" name="Picture 51" descr="A picture containing dark, night sky&#10;&#10;Description automatically generated">
            <a:extLst>
              <a:ext uri="{FF2B5EF4-FFF2-40B4-BE49-F238E27FC236}">
                <a16:creationId xmlns:a16="http://schemas.microsoft.com/office/drawing/2014/main" id="{5CCADE29-8500-4070-A119-2C944A23B7D8}"/>
              </a:ext>
            </a:extLst>
          </p:cNvPr>
          <p:cNvPicPr>
            <a:picLocks noChangeAspect="1"/>
          </p:cNvPicPr>
          <p:nvPr userDrawn="1"/>
        </p:nvPicPr>
        <p:blipFill rotWithShape="1">
          <a:blip r:embed="rId3">
            <a:alphaModFix amt="81000"/>
          </a:blip>
          <a:srcRect b="75849"/>
          <a:stretch/>
        </p:blipFill>
        <p:spPr>
          <a:xfrm>
            <a:off x="3446236" y="0"/>
            <a:ext cx="8745764" cy="1476873"/>
          </a:xfrm>
          <a:prstGeom prst="rect">
            <a:avLst/>
          </a:prstGeom>
        </p:spPr>
      </p:pic>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9954741" y="162920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35962" cy="524010"/>
          </a:xfrm>
          <a:prstGeom prst="rect">
            <a:avLst/>
          </a:prstGeom>
        </p:spPr>
        <p:txBody>
          <a:bodyPr vert="horz" lIns="0" tIns="0" rIns="0" bIns="0" rtlCol="0" anchor="ctr">
            <a:noAutofit/>
          </a:bodyPr>
          <a:lstStyle>
            <a:lvl1pPr>
              <a:defRPr lang="pt-BR" sz="2400" b="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1622848"/>
            <a:ext cx="9131274" cy="2947901"/>
          </a:xfrm>
          <a:prstGeom prst="rect">
            <a:avLst/>
          </a:prstGeom>
          <a:solidFill>
            <a:schemeClr val="bg1">
              <a:lumMod val="95000"/>
            </a:schemeClr>
          </a:solidFill>
        </p:spPr>
        <p:txBody>
          <a:bodyPr lIns="36000" tIns="36000" rIns="36000" bIns="36000">
            <a:noAutofit/>
          </a:bodyPr>
          <a:lstStyle>
            <a:lvl1pPr marL="0" indent="0" algn="just">
              <a:lnSpc>
                <a:spcPct val="125000"/>
              </a:lnSpc>
              <a:spcBef>
                <a:spcPts val="600"/>
              </a:spcBef>
              <a:buFont typeface="Arial" panose="020B0604020202020204" pitchFamily="34" charset="0"/>
              <a:buNone/>
              <a:defRPr sz="1000" b="0">
                <a:solidFill>
                  <a:schemeClr val="accent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112247"/>
            <a:ext cx="11518900" cy="202833"/>
          </a:xfrm>
          <a:prstGeom prst="rect">
            <a:avLst/>
          </a:prstGeom>
        </p:spPr>
        <p:txBody>
          <a:bodyPr vert="horz" lIns="0" tIns="0" rIns="0" bIns="0" rtlCol="0" anchor="t">
            <a:noAutofit/>
          </a:bodyPr>
          <a:lstStyle>
            <a:lvl1pPr>
              <a:defRPr lang="pt-BR" sz="12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Espaço Reservado para Conteúdo 14">
            <a:extLst>
              <a:ext uri="{FF2B5EF4-FFF2-40B4-BE49-F238E27FC236}">
                <a16:creationId xmlns:a16="http://schemas.microsoft.com/office/drawing/2014/main" id="{850F5579-F7F0-47FE-8562-80BD2CF75884}"/>
              </a:ext>
            </a:extLst>
          </p:cNvPr>
          <p:cNvSpPr>
            <a:spLocks noGrp="1"/>
          </p:cNvSpPr>
          <p:nvPr>
            <p:ph sz="quarter" idx="25" hasCustomPrompt="1"/>
          </p:nvPr>
        </p:nvSpPr>
        <p:spPr>
          <a:xfrm>
            <a:off x="9954741" y="184396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29" name="Espaço Reservado para Conteúdo 14">
            <a:extLst>
              <a:ext uri="{FF2B5EF4-FFF2-40B4-BE49-F238E27FC236}">
                <a16:creationId xmlns:a16="http://schemas.microsoft.com/office/drawing/2014/main" id="{3AED8A04-1CB7-4096-B4E7-A94A03362595}"/>
              </a:ext>
            </a:extLst>
          </p:cNvPr>
          <p:cNvSpPr>
            <a:spLocks noGrp="1"/>
          </p:cNvSpPr>
          <p:nvPr>
            <p:ph sz="quarter" idx="26" hasCustomPrompt="1"/>
          </p:nvPr>
        </p:nvSpPr>
        <p:spPr>
          <a:xfrm>
            <a:off x="9954741" y="203492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0" name="Espaço Reservado para Conteúdo 14">
            <a:extLst>
              <a:ext uri="{FF2B5EF4-FFF2-40B4-BE49-F238E27FC236}">
                <a16:creationId xmlns:a16="http://schemas.microsoft.com/office/drawing/2014/main" id="{938C4CF9-D21D-491A-995D-38D80E45D35E}"/>
              </a:ext>
            </a:extLst>
          </p:cNvPr>
          <p:cNvSpPr>
            <a:spLocks noGrp="1"/>
          </p:cNvSpPr>
          <p:nvPr>
            <p:ph sz="quarter" idx="27" hasCustomPrompt="1"/>
          </p:nvPr>
        </p:nvSpPr>
        <p:spPr>
          <a:xfrm>
            <a:off x="9954741" y="236446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1" name="Espaço Reservado para Conteúdo 14">
            <a:extLst>
              <a:ext uri="{FF2B5EF4-FFF2-40B4-BE49-F238E27FC236}">
                <a16:creationId xmlns:a16="http://schemas.microsoft.com/office/drawing/2014/main" id="{A0CEDDC6-9D7D-4AB6-8714-251BC13968E7}"/>
              </a:ext>
            </a:extLst>
          </p:cNvPr>
          <p:cNvSpPr>
            <a:spLocks noGrp="1"/>
          </p:cNvSpPr>
          <p:nvPr>
            <p:ph sz="quarter" idx="28" hasCustomPrompt="1"/>
          </p:nvPr>
        </p:nvSpPr>
        <p:spPr>
          <a:xfrm>
            <a:off x="9954741" y="257923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2" name="Espaço Reservado para Conteúdo 14">
            <a:extLst>
              <a:ext uri="{FF2B5EF4-FFF2-40B4-BE49-F238E27FC236}">
                <a16:creationId xmlns:a16="http://schemas.microsoft.com/office/drawing/2014/main" id="{193B6CB7-D834-4068-868A-9AFBE5866A58}"/>
              </a:ext>
            </a:extLst>
          </p:cNvPr>
          <p:cNvSpPr>
            <a:spLocks noGrp="1"/>
          </p:cNvSpPr>
          <p:nvPr>
            <p:ph sz="quarter" idx="29" hasCustomPrompt="1"/>
          </p:nvPr>
        </p:nvSpPr>
        <p:spPr>
          <a:xfrm>
            <a:off x="9954741" y="277018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3" name="Espaço Reservado para Conteúdo 14">
            <a:extLst>
              <a:ext uri="{FF2B5EF4-FFF2-40B4-BE49-F238E27FC236}">
                <a16:creationId xmlns:a16="http://schemas.microsoft.com/office/drawing/2014/main" id="{55476F42-1A4B-4330-A3B9-8BA77043864B}"/>
              </a:ext>
            </a:extLst>
          </p:cNvPr>
          <p:cNvSpPr>
            <a:spLocks noGrp="1"/>
          </p:cNvSpPr>
          <p:nvPr>
            <p:ph sz="quarter" idx="30" hasCustomPrompt="1"/>
          </p:nvPr>
        </p:nvSpPr>
        <p:spPr>
          <a:xfrm>
            <a:off x="9954741" y="3104144"/>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4" name="Espaço Reservado para Conteúdo 14">
            <a:extLst>
              <a:ext uri="{FF2B5EF4-FFF2-40B4-BE49-F238E27FC236}">
                <a16:creationId xmlns:a16="http://schemas.microsoft.com/office/drawing/2014/main" id="{195E6429-987B-4AC7-8E16-6188988765D4}"/>
              </a:ext>
            </a:extLst>
          </p:cNvPr>
          <p:cNvSpPr>
            <a:spLocks noGrp="1"/>
          </p:cNvSpPr>
          <p:nvPr>
            <p:ph sz="quarter" idx="31" hasCustomPrompt="1"/>
          </p:nvPr>
        </p:nvSpPr>
        <p:spPr>
          <a:xfrm>
            <a:off x="9954741" y="3318912"/>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5" name="Espaço Reservado para Conteúdo 14">
            <a:extLst>
              <a:ext uri="{FF2B5EF4-FFF2-40B4-BE49-F238E27FC236}">
                <a16:creationId xmlns:a16="http://schemas.microsoft.com/office/drawing/2014/main" id="{073C1B83-6366-4B50-BD4D-B74457EC8E9F}"/>
              </a:ext>
            </a:extLst>
          </p:cNvPr>
          <p:cNvSpPr>
            <a:spLocks noGrp="1"/>
          </p:cNvSpPr>
          <p:nvPr>
            <p:ph sz="quarter" idx="32" hasCustomPrompt="1"/>
          </p:nvPr>
        </p:nvSpPr>
        <p:spPr>
          <a:xfrm>
            <a:off x="9954741" y="3509867"/>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6" name="Espaço Reservado para Conteúdo 14">
            <a:extLst>
              <a:ext uri="{FF2B5EF4-FFF2-40B4-BE49-F238E27FC236}">
                <a16:creationId xmlns:a16="http://schemas.microsoft.com/office/drawing/2014/main" id="{C46354AB-40F2-4A4A-AD37-4856DE213F40}"/>
              </a:ext>
            </a:extLst>
          </p:cNvPr>
          <p:cNvSpPr>
            <a:spLocks noGrp="1"/>
          </p:cNvSpPr>
          <p:nvPr>
            <p:ph sz="quarter" idx="33" hasCustomPrompt="1"/>
          </p:nvPr>
        </p:nvSpPr>
        <p:spPr>
          <a:xfrm>
            <a:off x="9954741" y="383921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7" name="Espaço Reservado para Conteúdo 14">
            <a:extLst>
              <a:ext uri="{FF2B5EF4-FFF2-40B4-BE49-F238E27FC236}">
                <a16:creationId xmlns:a16="http://schemas.microsoft.com/office/drawing/2014/main" id="{069F1687-40C5-4D45-B235-59542CC1ECD4}"/>
              </a:ext>
            </a:extLst>
          </p:cNvPr>
          <p:cNvSpPr>
            <a:spLocks noGrp="1"/>
          </p:cNvSpPr>
          <p:nvPr>
            <p:ph sz="quarter" idx="34" hasCustomPrompt="1"/>
          </p:nvPr>
        </p:nvSpPr>
        <p:spPr>
          <a:xfrm>
            <a:off x="9954741" y="405397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8" name="Espaço Reservado para Conteúdo 14">
            <a:extLst>
              <a:ext uri="{FF2B5EF4-FFF2-40B4-BE49-F238E27FC236}">
                <a16:creationId xmlns:a16="http://schemas.microsoft.com/office/drawing/2014/main" id="{C3CC52EA-2999-4302-9E0C-30842061FFFD}"/>
              </a:ext>
            </a:extLst>
          </p:cNvPr>
          <p:cNvSpPr>
            <a:spLocks noGrp="1"/>
          </p:cNvSpPr>
          <p:nvPr>
            <p:ph sz="quarter" idx="35" hasCustomPrompt="1"/>
          </p:nvPr>
        </p:nvSpPr>
        <p:spPr>
          <a:xfrm>
            <a:off x="9954741" y="424493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336001" y="775521"/>
            <a:ext cx="11518900" cy="299659"/>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cxnSp>
        <p:nvCxnSpPr>
          <p:cNvPr id="3" name="Straight Connector 2">
            <a:extLst>
              <a:ext uri="{FF2B5EF4-FFF2-40B4-BE49-F238E27FC236}">
                <a16:creationId xmlns:a16="http://schemas.microsoft.com/office/drawing/2014/main" id="{5EA02662-AE79-4B8E-B676-C401AD03C996}"/>
              </a:ext>
            </a:extLst>
          </p:cNvPr>
          <p:cNvCxnSpPr>
            <a:cxnSpLocks/>
          </p:cNvCxnSpPr>
          <p:nvPr userDrawn="1"/>
        </p:nvCxnSpPr>
        <p:spPr>
          <a:xfrm>
            <a:off x="9711007" y="1622848"/>
            <a:ext cx="0" cy="4388152"/>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63" name="Espaço Reservado para Conteúdo 14">
            <a:extLst>
              <a:ext uri="{FF2B5EF4-FFF2-40B4-BE49-F238E27FC236}">
                <a16:creationId xmlns:a16="http://schemas.microsoft.com/office/drawing/2014/main" id="{4F065D27-F159-49FE-AEA3-D772EE3795D5}"/>
              </a:ext>
            </a:extLst>
          </p:cNvPr>
          <p:cNvSpPr>
            <a:spLocks noGrp="1"/>
          </p:cNvSpPr>
          <p:nvPr>
            <p:ph sz="quarter" idx="36" hasCustomPrompt="1"/>
          </p:nvPr>
        </p:nvSpPr>
        <p:spPr>
          <a:xfrm>
            <a:off x="336000" y="5029925"/>
            <a:ext cx="9131272"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64" name="Espaço Reservado para Conteúdo 14">
            <a:extLst>
              <a:ext uri="{FF2B5EF4-FFF2-40B4-BE49-F238E27FC236}">
                <a16:creationId xmlns:a16="http://schemas.microsoft.com/office/drawing/2014/main" id="{157EB19F-6FA5-47D6-8F62-A0C2CEC707A6}"/>
              </a:ext>
            </a:extLst>
          </p:cNvPr>
          <p:cNvSpPr>
            <a:spLocks noGrp="1"/>
          </p:cNvSpPr>
          <p:nvPr>
            <p:ph sz="quarter" idx="37" hasCustomPrompt="1"/>
          </p:nvPr>
        </p:nvSpPr>
        <p:spPr>
          <a:xfrm>
            <a:off x="336000" y="4735310"/>
            <a:ext cx="9131272"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0" name="Text Placeholder 21">
            <a:extLst>
              <a:ext uri="{FF2B5EF4-FFF2-40B4-BE49-F238E27FC236}">
                <a16:creationId xmlns:a16="http://schemas.microsoft.com/office/drawing/2014/main" id="{B4946D23-AB3A-411B-8B2F-43A2479B969C}"/>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1" name="Date Placeholder 1">
            <a:extLst>
              <a:ext uri="{FF2B5EF4-FFF2-40B4-BE49-F238E27FC236}">
                <a16:creationId xmlns:a16="http://schemas.microsoft.com/office/drawing/2014/main" id="{4D1961CB-AE6D-47CE-8F6B-C8BA879B2112}"/>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fld id="{DEF07EAB-FF36-413A-9F9A-0AF5F3187EB1}" type="datetime4">
              <a:rPr lang="pt-BR" smtClean="0"/>
              <a:t>2 de julho de 2026</a:t>
            </a:fld>
            <a:endParaRPr lang="en-US" dirty="0"/>
          </a:p>
        </p:txBody>
      </p:sp>
      <p:sp>
        <p:nvSpPr>
          <p:cNvPr id="28" name="Freeform: Shape 27">
            <a:extLst>
              <a:ext uri="{FF2B5EF4-FFF2-40B4-BE49-F238E27FC236}">
                <a16:creationId xmlns:a16="http://schemas.microsoft.com/office/drawing/2014/main" id="{C5D1D84B-3FC3-499D-9713-4B883236AB6B}"/>
              </a:ext>
            </a:extLst>
          </p:cNvPr>
          <p:cNvSpPr/>
          <p:nvPr userDrawn="1"/>
        </p:nvSpPr>
        <p:spPr>
          <a:xfrm>
            <a:off x="11358608" y="832910"/>
            <a:ext cx="499749" cy="450795"/>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bg1"/>
          </a:solidFill>
          <a:ln w="6350" cap="flat">
            <a:noFill/>
            <a:prstDash val="solid"/>
            <a:miter/>
          </a:ln>
        </p:spPr>
        <p:txBody>
          <a:bodyPr rtlCol="0" anchor="ctr"/>
          <a:lstStyle/>
          <a:p>
            <a:endParaRPr lang="en-US">
              <a:solidFill>
                <a:schemeClr val="bg1"/>
              </a:solidFill>
            </a:endParaRPr>
          </a:p>
        </p:txBody>
      </p:sp>
    </p:spTree>
    <p:extLst>
      <p:ext uri="{BB962C8B-B14F-4D97-AF65-F5344CB8AC3E}">
        <p14:creationId xmlns:p14="http://schemas.microsoft.com/office/powerpoint/2010/main" val="1725819267"/>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 Espaços Report">
    <p:bg>
      <p:bgPr>
        <a:solidFill>
          <a:schemeClr val="bg1"/>
        </a:solidFill>
        <a:effectLst/>
      </p:bgPr>
    </p:bg>
    <p:spTree>
      <p:nvGrpSpPr>
        <p:cNvPr id="1" name=""/>
        <p:cNvGrpSpPr/>
        <p:nvPr/>
      </p:nvGrpSpPr>
      <p:grpSpPr>
        <a:xfrm>
          <a:off x="0" y="0"/>
          <a:ext cx="0" cy="0"/>
          <a:chOff x="0" y="0"/>
          <a:chExt cx="0" cy="0"/>
        </a:xfrm>
      </p:grpSpPr>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6000" y="1228251"/>
            <a:ext cx="5568696" cy="4782749"/>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1" y="188913"/>
            <a:ext cx="8351837"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4" name="Espaço Reservado para Conteúdo 14">
            <a:extLst>
              <a:ext uri="{FF2B5EF4-FFF2-40B4-BE49-F238E27FC236}">
                <a16:creationId xmlns:a16="http://schemas.microsoft.com/office/drawing/2014/main" id="{4EB3D6F6-B254-4AE2-9BAC-DE45A3E95D6B}"/>
              </a:ext>
            </a:extLst>
          </p:cNvPr>
          <p:cNvSpPr>
            <a:spLocks noGrp="1"/>
          </p:cNvSpPr>
          <p:nvPr>
            <p:ph sz="quarter" idx="22" hasCustomPrompt="1"/>
          </p:nvPr>
        </p:nvSpPr>
        <p:spPr>
          <a:xfrm>
            <a:off x="6285399" y="1566343"/>
            <a:ext cx="5569501" cy="2001600"/>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8" name="Espaço Reservado para Conteúdo 14">
            <a:extLst>
              <a:ext uri="{FF2B5EF4-FFF2-40B4-BE49-F238E27FC236}">
                <a16:creationId xmlns:a16="http://schemas.microsoft.com/office/drawing/2014/main" id="{0C7596C4-260D-4D9D-8C63-2C3D53BDA319}"/>
              </a:ext>
            </a:extLst>
          </p:cNvPr>
          <p:cNvSpPr>
            <a:spLocks noGrp="1"/>
          </p:cNvSpPr>
          <p:nvPr>
            <p:ph sz="quarter" idx="23" hasCustomPrompt="1"/>
          </p:nvPr>
        </p:nvSpPr>
        <p:spPr>
          <a:xfrm>
            <a:off x="6285399" y="1272613"/>
            <a:ext cx="5569501" cy="246221"/>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1" name="Espaço Reservado para Conteúdo 14">
            <a:extLst>
              <a:ext uri="{FF2B5EF4-FFF2-40B4-BE49-F238E27FC236}">
                <a16:creationId xmlns:a16="http://schemas.microsoft.com/office/drawing/2014/main" id="{542F0146-D120-4806-B00C-859B8103EA5B}"/>
              </a:ext>
            </a:extLst>
          </p:cNvPr>
          <p:cNvSpPr>
            <a:spLocks noGrp="1"/>
          </p:cNvSpPr>
          <p:nvPr>
            <p:ph sz="quarter" idx="25" hasCustomPrompt="1"/>
          </p:nvPr>
        </p:nvSpPr>
        <p:spPr>
          <a:xfrm>
            <a:off x="6285399" y="4021545"/>
            <a:ext cx="5569501" cy="200160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22" name="Espaço Reservado para Conteúdo 14">
            <a:extLst>
              <a:ext uri="{FF2B5EF4-FFF2-40B4-BE49-F238E27FC236}">
                <a16:creationId xmlns:a16="http://schemas.microsoft.com/office/drawing/2014/main" id="{94B8FBD9-D820-4661-8AD5-6437DDFB63D5}"/>
              </a:ext>
            </a:extLst>
          </p:cNvPr>
          <p:cNvSpPr>
            <a:spLocks noGrp="1"/>
          </p:cNvSpPr>
          <p:nvPr>
            <p:ph sz="quarter" idx="26" hasCustomPrompt="1"/>
          </p:nvPr>
        </p:nvSpPr>
        <p:spPr>
          <a:xfrm>
            <a:off x="6285399" y="3726930"/>
            <a:ext cx="5569501" cy="246221"/>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Text Placeholder 21">
            <a:extLst>
              <a:ext uri="{FF2B5EF4-FFF2-40B4-BE49-F238E27FC236}">
                <a16:creationId xmlns:a16="http://schemas.microsoft.com/office/drawing/2014/main" id="{E4891640-76E7-4FFE-B311-BCBAC3A210DF}"/>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12" name="Date Placeholder 1">
            <a:extLst>
              <a:ext uri="{FF2B5EF4-FFF2-40B4-BE49-F238E27FC236}">
                <a16:creationId xmlns:a16="http://schemas.microsoft.com/office/drawing/2014/main" id="{37F33249-415A-4B31-84C5-24B0A78BF730}"/>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E546736A-F3E9-4525-A2B9-3429C623DAE3}" type="datetime4">
              <a:rPr lang="pt-BR" smtClean="0"/>
              <a:pPr/>
              <a:t>2 de julho de 2026</a:t>
            </a:fld>
            <a:endParaRPr lang="en-US" dirty="0"/>
          </a:p>
        </p:txBody>
      </p:sp>
    </p:spTree>
    <p:extLst>
      <p:ext uri="{BB962C8B-B14F-4D97-AF65-F5344CB8AC3E}">
        <p14:creationId xmlns:p14="http://schemas.microsoft.com/office/powerpoint/2010/main" val="2099687198"/>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3 Espaços v2 Report">
    <p:bg>
      <p:bgPr>
        <a:solidFill>
          <a:schemeClr val="bg1"/>
        </a:solidFill>
        <a:effectLst/>
      </p:bgPr>
    </p:bg>
    <p:spTree>
      <p:nvGrpSpPr>
        <p:cNvPr id="1" name=""/>
        <p:cNvGrpSpPr/>
        <p:nvPr/>
      </p:nvGrpSpPr>
      <p:grpSpPr>
        <a:xfrm>
          <a:off x="0" y="0"/>
          <a:ext cx="0" cy="0"/>
          <a:chOff x="0" y="0"/>
          <a:chExt cx="0" cy="0"/>
        </a:xfrm>
      </p:grpSpPr>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6000" y="1228251"/>
            <a:ext cx="5568696" cy="4782749"/>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1" name="Espaço Reservado para Conteúdo 14">
            <a:extLst>
              <a:ext uri="{FF2B5EF4-FFF2-40B4-BE49-F238E27FC236}">
                <a16:creationId xmlns:a16="http://schemas.microsoft.com/office/drawing/2014/main" id="{CDB0A697-A434-46B8-9C05-837C7C6A01A2}"/>
              </a:ext>
            </a:extLst>
          </p:cNvPr>
          <p:cNvSpPr>
            <a:spLocks noGrp="1"/>
          </p:cNvSpPr>
          <p:nvPr>
            <p:ph sz="quarter" idx="28" hasCustomPrompt="1"/>
          </p:nvPr>
        </p:nvSpPr>
        <p:spPr>
          <a:xfrm>
            <a:off x="6290504" y="4773157"/>
            <a:ext cx="5554334" cy="124029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2" name="Espaço Reservado para Conteúdo 14">
            <a:extLst>
              <a:ext uri="{FF2B5EF4-FFF2-40B4-BE49-F238E27FC236}">
                <a16:creationId xmlns:a16="http://schemas.microsoft.com/office/drawing/2014/main" id="{3CA158A3-7402-4044-9690-CF3E3034B2E1}"/>
              </a:ext>
            </a:extLst>
          </p:cNvPr>
          <p:cNvSpPr>
            <a:spLocks noGrp="1"/>
          </p:cNvSpPr>
          <p:nvPr>
            <p:ph sz="quarter" idx="29" hasCustomPrompt="1"/>
          </p:nvPr>
        </p:nvSpPr>
        <p:spPr>
          <a:xfrm>
            <a:off x="6290504" y="4478542"/>
            <a:ext cx="555433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1" y="188913"/>
            <a:ext cx="8351837"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5" name="Espaço Reservado para Conteúdo 14">
            <a:extLst>
              <a:ext uri="{FF2B5EF4-FFF2-40B4-BE49-F238E27FC236}">
                <a16:creationId xmlns:a16="http://schemas.microsoft.com/office/drawing/2014/main" id="{E5C3F521-2998-4F8A-A223-45CE05423CF9}"/>
              </a:ext>
            </a:extLst>
          </p:cNvPr>
          <p:cNvSpPr>
            <a:spLocks noGrp="1"/>
          </p:cNvSpPr>
          <p:nvPr>
            <p:ph sz="quarter" idx="22" hasCustomPrompt="1"/>
          </p:nvPr>
        </p:nvSpPr>
        <p:spPr>
          <a:xfrm>
            <a:off x="6285399" y="1492737"/>
            <a:ext cx="5569501" cy="124029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6" name="Espaço Reservado para Conteúdo 14">
            <a:extLst>
              <a:ext uri="{FF2B5EF4-FFF2-40B4-BE49-F238E27FC236}">
                <a16:creationId xmlns:a16="http://schemas.microsoft.com/office/drawing/2014/main" id="{94AE31AB-5402-4B8F-9175-9B8D55538922}"/>
              </a:ext>
            </a:extLst>
          </p:cNvPr>
          <p:cNvSpPr>
            <a:spLocks noGrp="1"/>
          </p:cNvSpPr>
          <p:nvPr>
            <p:ph sz="quarter" idx="23" hasCustomPrompt="1"/>
          </p:nvPr>
        </p:nvSpPr>
        <p:spPr>
          <a:xfrm>
            <a:off x="6285399" y="1274418"/>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9" name="Espaço Reservado para Conteúdo 14">
            <a:extLst>
              <a:ext uri="{FF2B5EF4-FFF2-40B4-BE49-F238E27FC236}">
                <a16:creationId xmlns:a16="http://schemas.microsoft.com/office/drawing/2014/main" id="{75BFA78A-95F5-435B-B355-A1CBF5472D77}"/>
              </a:ext>
            </a:extLst>
          </p:cNvPr>
          <p:cNvSpPr>
            <a:spLocks noGrp="1"/>
          </p:cNvSpPr>
          <p:nvPr>
            <p:ph sz="quarter" idx="30" hasCustomPrompt="1"/>
          </p:nvPr>
        </p:nvSpPr>
        <p:spPr>
          <a:xfrm>
            <a:off x="6285949" y="3113849"/>
            <a:ext cx="5569501" cy="124029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0" name="Espaço Reservado para Conteúdo 14">
            <a:extLst>
              <a:ext uri="{FF2B5EF4-FFF2-40B4-BE49-F238E27FC236}">
                <a16:creationId xmlns:a16="http://schemas.microsoft.com/office/drawing/2014/main" id="{92AC0E8D-9F19-48D7-A5DF-FFF5AA351F2B}"/>
              </a:ext>
            </a:extLst>
          </p:cNvPr>
          <p:cNvSpPr>
            <a:spLocks noGrp="1"/>
          </p:cNvSpPr>
          <p:nvPr>
            <p:ph sz="quarter" idx="31" hasCustomPrompt="1"/>
          </p:nvPr>
        </p:nvSpPr>
        <p:spPr>
          <a:xfrm>
            <a:off x="6285949" y="2895530"/>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7" name="Text Placeholder 21">
            <a:extLst>
              <a:ext uri="{FF2B5EF4-FFF2-40B4-BE49-F238E27FC236}">
                <a16:creationId xmlns:a16="http://schemas.microsoft.com/office/drawing/2014/main" id="{7D8A28A4-1232-4D47-9F24-59E1826D15C6}"/>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14" name="Date Placeholder 1">
            <a:extLst>
              <a:ext uri="{FF2B5EF4-FFF2-40B4-BE49-F238E27FC236}">
                <a16:creationId xmlns:a16="http://schemas.microsoft.com/office/drawing/2014/main" id="{F9DDECE9-9778-4238-8210-522DE4D8EC46}"/>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7919C1BB-AAC0-4B5F-9616-70B2766A3DB9}" type="datetime4">
              <a:rPr lang="pt-BR" smtClean="0"/>
              <a:pPr/>
              <a:t>2 de julho de 2026</a:t>
            </a:fld>
            <a:endParaRPr lang="en-US" dirty="0"/>
          </a:p>
        </p:txBody>
      </p:sp>
    </p:spTree>
    <p:extLst>
      <p:ext uri="{BB962C8B-B14F-4D97-AF65-F5344CB8AC3E}">
        <p14:creationId xmlns:p14="http://schemas.microsoft.com/office/powerpoint/2010/main" val="2569327488"/>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4 Espaços Report">
    <p:bg>
      <p:bgPr>
        <a:solidFill>
          <a:schemeClr val="bg1"/>
        </a:solidFill>
        <a:effectLst/>
      </p:bgPr>
    </p:bg>
    <p:spTree>
      <p:nvGrpSpPr>
        <p:cNvPr id="1" name=""/>
        <p:cNvGrpSpPr/>
        <p:nvPr/>
      </p:nvGrpSpPr>
      <p:grpSpPr>
        <a:xfrm>
          <a:off x="0" y="0"/>
          <a:ext cx="0" cy="0"/>
          <a:chOff x="0" y="0"/>
          <a:chExt cx="0" cy="0"/>
        </a:xfrm>
      </p:grpSpPr>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6000" y="1228251"/>
            <a:ext cx="5568696" cy="4782749"/>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1" name="Espaço Reservado para Conteúdo 14">
            <a:extLst>
              <a:ext uri="{FF2B5EF4-FFF2-40B4-BE49-F238E27FC236}">
                <a16:creationId xmlns:a16="http://schemas.microsoft.com/office/drawing/2014/main" id="{CDB0A697-A434-46B8-9C05-837C7C6A01A2}"/>
              </a:ext>
            </a:extLst>
          </p:cNvPr>
          <p:cNvSpPr>
            <a:spLocks noGrp="1"/>
          </p:cNvSpPr>
          <p:nvPr>
            <p:ph sz="quarter" idx="28" hasCustomPrompt="1"/>
          </p:nvPr>
        </p:nvSpPr>
        <p:spPr>
          <a:xfrm>
            <a:off x="6290504" y="3928608"/>
            <a:ext cx="5554334" cy="856592"/>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2" name="Espaço Reservado para Conteúdo 14">
            <a:extLst>
              <a:ext uri="{FF2B5EF4-FFF2-40B4-BE49-F238E27FC236}">
                <a16:creationId xmlns:a16="http://schemas.microsoft.com/office/drawing/2014/main" id="{3CA158A3-7402-4044-9690-CF3E3034B2E1}"/>
              </a:ext>
            </a:extLst>
          </p:cNvPr>
          <p:cNvSpPr>
            <a:spLocks noGrp="1"/>
          </p:cNvSpPr>
          <p:nvPr>
            <p:ph sz="quarter" idx="29" hasCustomPrompt="1"/>
          </p:nvPr>
        </p:nvSpPr>
        <p:spPr>
          <a:xfrm>
            <a:off x="6290504" y="3633992"/>
            <a:ext cx="555433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1" y="188913"/>
            <a:ext cx="8351837"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5" name="Espaço Reservado para Conteúdo 14">
            <a:extLst>
              <a:ext uri="{FF2B5EF4-FFF2-40B4-BE49-F238E27FC236}">
                <a16:creationId xmlns:a16="http://schemas.microsoft.com/office/drawing/2014/main" id="{E5C3F521-2998-4F8A-A223-45CE05423CF9}"/>
              </a:ext>
            </a:extLst>
          </p:cNvPr>
          <p:cNvSpPr>
            <a:spLocks noGrp="1"/>
          </p:cNvSpPr>
          <p:nvPr>
            <p:ph sz="quarter" idx="22" hasCustomPrompt="1"/>
          </p:nvPr>
        </p:nvSpPr>
        <p:spPr>
          <a:xfrm>
            <a:off x="6285399" y="1492738"/>
            <a:ext cx="5569501" cy="8565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6" name="Espaço Reservado para Conteúdo 14">
            <a:extLst>
              <a:ext uri="{FF2B5EF4-FFF2-40B4-BE49-F238E27FC236}">
                <a16:creationId xmlns:a16="http://schemas.microsoft.com/office/drawing/2014/main" id="{94AE31AB-5402-4B8F-9175-9B8D55538922}"/>
              </a:ext>
            </a:extLst>
          </p:cNvPr>
          <p:cNvSpPr>
            <a:spLocks noGrp="1"/>
          </p:cNvSpPr>
          <p:nvPr>
            <p:ph sz="quarter" idx="23" hasCustomPrompt="1"/>
          </p:nvPr>
        </p:nvSpPr>
        <p:spPr>
          <a:xfrm>
            <a:off x="6285399" y="1274418"/>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9" name="Espaço Reservado para Conteúdo 14">
            <a:extLst>
              <a:ext uri="{FF2B5EF4-FFF2-40B4-BE49-F238E27FC236}">
                <a16:creationId xmlns:a16="http://schemas.microsoft.com/office/drawing/2014/main" id="{75BFA78A-95F5-435B-B355-A1CBF5472D77}"/>
              </a:ext>
            </a:extLst>
          </p:cNvPr>
          <p:cNvSpPr>
            <a:spLocks noGrp="1"/>
          </p:cNvSpPr>
          <p:nvPr>
            <p:ph sz="quarter" idx="30" hasCustomPrompt="1"/>
          </p:nvPr>
        </p:nvSpPr>
        <p:spPr>
          <a:xfrm>
            <a:off x="6285949" y="2675700"/>
            <a:ext cx="5569501" cy="8565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0" name="Espaço Reservado para Conteúdo 14">
            <a:extLst>
              <a:ext uri="{FF2B5EF4-FFF2-40B4-BE49-F238E27FC236}">
                <a16:creationId xmlns:a16="http://schemas.microsoft.com/office/drawing/2014/main" id="{92AC0E8D-9F19-48D7-A5DF-FFF5AA351F2B}"/>
              </a:ext>
            </a:extLst>
          </p:cNvPr>
          <p:cNvSpPr>
            <a:spLocks noGrp="1"/>
          </p:cNvSpPr>
          <p:nvPr>
            <p:ph sz="quarter" idx="31" hasCustomPrompt="1"/>
          </p:nvPr>
        </p:nvSpPr>
        <p:spPr>
          <a:xfrm>
            <a:off x="6285949" y="2457380"/>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4" name="Espaço Reservado para Conteúdo 14">
            <a:extLst>
              <a:ext uri="{FF2B5EF4-FFF2-40B4-BE49-F238E27FC236}">
                <a16:creationId xmlns:a16="http://schemas.microsoft.com/office/drawing/2014/main" id="{0C2FCCDC-076E-4A42-845A-E67318B1D278}"/>
              </a:ext>
            </a:extLst>
          </p:cNvPr>
          <p:cNvSpPr>
            <a:spLocks noGrp="1"/>
          </p:cNvSpPr>
          <p:nvPr>
            <p:ph sz="quarter" idx="32" hasCustomPrompt="1"/>
          </p:nvPr>
        </p:nvSpPr>
        <p:spPr>
          <a:xfrm>
            <a:off x="6285399" y="5173736"/>
            <a:ext cx="5554334" cy="856592"/>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18" name="Espaço Reservado para Conteúdo 14">
            <a:extLst>
              <a:ext uri="{FF2B5EF4-FFF2-40B4-BE49-F238E27FC236}">
                <a16:creationId xmlns:a16="http://schemas.microsoft.com/office/drawing/2014/main" id="{01812817-84B2-41E1-889C-6C8B3C1EBAF7}"/>
              </a:ext>
            </a:extLst>
          </p:cNvPr>
          <p:cNvSpPr>
            <a:spLocks noGrp="1"/>
          </p:cNvSpPr>
          <p:nvPr>
            <p:ph sz="quarter" idx="33" hasCustomPrompt="1"/>
          </p:nvPr>
        </p:nvSpPr>
        <p:spPr>
          <a:xfrm>
            <a:off x="6285399" y="4879120"/>
            <a:ext cx="555433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2" name="Text Placeholder 21">
            <a:extLst>
              <a:ext uri="{FF2B5EF4-FFF2-40B4-BE49-F238E27FC236}">
                <a16:creationId xmlns:a16="http://schemas.microsoft.com/office/drawing/2014/main" id="{FD619CB5-FB9F-4412-88C4-3DC6B7F28D54}"/>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23" name="Date Placeholder 1">
            <a:extLst>
              <a:ext uri="{FF2B5EF4-FFF2-40B4-BE49-F238E27FC236}">
                <a16:creationId xmlns:a16="http://schemas.microsoft.com/office/drawing/2014/main" id="{09212698-B9AE-4393-8193-8D705521B446}"/>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B709002E-9D42-4A32-B9EE-0434FA9D032B}" type="datetime4">
              <a:rPr lang="pt-BR" smtClean="0"/>
              <a:pPr/>
              <a:t>2 de julho de 2026</a:t>
            </a:fld>
            <a:endParaRPr lang="en-US" dirty="0"/>
          </a:p>
        </p:txBody>
      </p:sp>
    </p:spTree>
    <p:extLst>
      <p:ext uri="{BB962C8B-B14F-4D97-AF65-F5344CB8AC3E}">
        <p14:creationId xmlns:p14="http://schemas.microsoft.com/office/powerpoint/2010/main" val="3688687362"/>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4 Espaços">
    <p:bg>
      <p:bgPr>
        <a:solidFill>
          <a:schemeClr val="bg1"/>
        </a:solidFill>
        <a:effectLst/>
      </p:bgPr>
    </p:bg>
    <p:spTree>
      <p:nvGrpSpPr>
        <p:cNvPr id="1" name=""/>
        <p:cNvGrpSpPr/>
        <p:nvPr/>
      </p:nvGrpSpPr>
      <p:grpSpPr>
        <a:xfrm>
          <a:off x="0" y="0"/>
          <a:ext cx="0" cy="0"/>
          <a:chOff x="0" y="0"/>
          <a:chExt cx="0" cy="0"/>
        </a:xfrm>
      </p:grpSpPr>
      <p:sp>
        <p:nvSpPr>
          <p:cNvPr id="3" name="Do not remove" hidden="1">
            <a:extLst>
              <a:ext uri="{FF2B5EF4-FFF2-40B4-BE49-F238E27FC236}">
                <a16:creationId xmlns:a16="http://schemas.microsoft.com/office/drawing/2014/main" id="{20EFC50C-CF20-4A9E-9070-8B13D6DC6EC4}"/>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0"/>
            <a:ext cx="11518900" cy="417849"/>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51837"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37EB7F31-8C2C-4707-A76B-08BF52594FDA}"/>
              </a:ext>
            </a:extLst>
          </p:cNvPr>
          <p:cNvSpPr>
            <a:spLocks noGrp="1"/>
          </p:cNvSpPr>
          <p:nvPr>
            <p:ph sz="quarter" idx="22" hasCustomPrompt="1"/>
          </p:nvPr>
        </p:nvSpPr>
        <p:spPr>
          <a:xfrm>
            <a:off x="6285399" y="1566343"/>
            <a:ext cx="5569501" cy="2001600"/>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8" name="Espaço Reservado para Conteúdo 14">
            <a:extLst>
              <a:ext uri="{FF2B5EF4-FFF2-40B4-BE49-F238E27FC236}">
                <a16:creationId xmlns:a16="http://schemas.microsoft.com/office/drawing/2014/main" id="{C6E66E64-F90D-438A-A747-B0A8AAB58C93}"/>
              </a:ext>
            </a:extLst>
          </p:cNvPr>
          <p:cNvSpPr>
            <a:spLocks noGrp="1"/>
          </p:cNvSpPr>
          <p:nvPr>
            <p:ph sz="quarter" idx="23" hasCustomPrompt="1"/>
          </p:nvPr>
        </p:nvSpPr>
        <p:spPr>
          <a:xfrm>
            <a:off x="6285399" y="1272613"/>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9" name="Espaço Reservado para Conteúdo 14">
            <a:extLst>
              <a:ext uri="{FF2B5EF4-FFF2-40B4-BE49-F238E27FC236}">
                <a16:creationId xmlns:a16="http://schemas.microsoft.com/office/drawing/2014/main" id="{18FDABAD-D2F2-43EF-AFCF-594A03685887}"/>
              </a:ext>
            </a:extLst>
          </p:cNvPr>
          <p:cNvSpPr>
            <a:spLocks noGrp="1"/>
          </p:cNvSpPr>
          <p:nvPr>
            <p:ph sz="quarter" idx="19" hasCustomPrompt="1"/>
          </p:nvPr>
        </p:nvSpPr>
        <p:spPr>
          <a:xfrm>
            <a:off x="336000" y="4021545"/>
            <a:ext cx="5580611" cy="200160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20" name="Espaço Reservado para Conteúdo 14">
            <a:extLst>
              <a:ext uri="{FF2B5EF4-FFF2-40B4-BE49-F238E27FC236}">
                <a16:creationId xmlns:a16="http://schemas.microsoft.com/office/drawing/2014/main" id="{395E7687-06E2-4AAC-8061-A04DEC10E0BC}"/>
              </a:ext>
            </a:extLst>
          </p:cNvPr>
          <p:cNvSpPr>
            <a:spLocks noGrp="1"/>
          </p:cNvSpPr>
          <p:nvPr>
            <p:ph sz="quarter" idx="24" hasCustomPrompt="1"/>
          </p:nvPr>
        </p:nvSpPr>
        <p:spPr>
          <a:xfrm>
            <a:off x="336000" y="3726930"/>
            <a:ext cx="558061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5" name="Espaço Reservado para Conteúdo 14">
            <a:extLst>
              <a:ext uri="{FF2B5EF4-FFF2-40B4-BE49-F238E27FC236}">
                <a16:creationId xmlns:a16="http://schemas.microsoft.com/office/drawing/2014/main" id="{849C498A-8A23-4EDC-98EB-0B38012C6E89}"/>
              </a:ext>
            </a:extLst>
          </p:cNvPr>
          <p:cNvSpPr>
            <a:spLocks noGrp="1"/>
          </p:cNvSpPr>
          <p:nvPr>
            <p:ph sz="quarter" idx="25" hasCustomPrompt="1"/>
          </p:nvPr>
        </p:nvSpPr>
        <p:spPr>
          <a:xfrm>
            <a:off x="6285399" y="4021545"/>
            <a:ext cx="5569501" cy="200160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26" name="Espaço Reservado para Conteúdo 14">
            <a:extLst>
              <a:ext uri="{FF2B5EF4-FFF2-40B4-BE49-F238E27FC236}">
                <a16:creationId xmlns:a16="http://schemas.microsoft.com/office/drawing/2014/main" id="{79462F29-8C77-4F68-AB43-51D0B412419F}"/>
              </a:ext>
            </a:extLst>
          </p:cNvPr>
          <p:cNvSpPr>
            <a:spLocks noGrp="1"/>
          </p:cNvSpPr>
          <p:nvPr>
            <p:ph sz="quarter" idx="26" hasCustomPrompt="1"/>
          </p:nvPr>
        </p:nvSpPr>
        <p:spPr>
          <a:xfrm>
            <a:off x="6285399" y="3726930"/>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7" name="Espaço Reservado para Conteúdo 14">
            <a:extLst>
              <a:ext uri="{FF2B5EF4-FFF2-40B4-BE49-F238E27FC236}">
                <a16:creationId xmlns:a16="http://schemas.microsoft.com/office/drawing/2014/main" id="{93C1ADF0-2FAD-4E82-A6D1-675AFEF6FDD3}"/>
              </a:ext>
            </a:extLst>
          </p:cNvPr>
          <p:cNvSpPr>
            <a:spLocks noGrp="1"/>
          </p:cNvSpPr>
          <p:nvPr>
            <p:ph sz="quarter" idx="20" hasCustomPrompt="1"/>
          </p:nvPr>
        </p:nvSpPr>
        <p:spPr>
          <a:xfrm>
            <a:off x="336000" y="1566345"/>
            <a:ext cx="5568696" cy="2001600"/>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8" name="Espaço Reservado para Conteúdo 14">
            <a:extLst>
              <a:ext uri="{FF2B5EF4-FFF2-40B4-BE49-F238E27FC236}">
                <a16:creationId xmlns:a16="http://schemas.microsoft.com/office/drawing/2014/main" id="{9862ADD9-13D6-4DCB-949E-1BA2FF8BDC3E}"/>
              </a:ext>
            </a:extLst>
          </p:cNvPr>
          <p:cNvSpPr>
            <a:spLocks noGrp="1"/>
          </p:cNvSpPr>
          <p:nvPr>
            <p:ph sz="quarter" idx="21" hasCustomPrompt="1"/>
          </p:nvPr>
        </p:nvSpPr>
        <p:spPr>
          <a:xfrm>
            <a:off x="336000" y="1272613"/>
            <a:ext cx="5568696"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3" name="Text Placeholder 21">
            <a:extLst>
              <a:ext uri="{FF2B5EF4-FFF2-40B4-BE49-F238E27FC236}">
                <a16:creationId xmlns:a16="http://schemas.microsoft.com/office/drawing/2014/main" id="{3D1FDCC7-450A-4BD8-92BA-1B910E041328}"/>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16" name="Date Placeholder 1">
            <a:extLst>
              <a:ext uri="{FF2B5EF4-FFF2-40B4-BE49-F238E27FC236}">
                <a16:creationId xmlns:a16="http://schemas.microsoft.com/office/drawing/2014/main" id="{E79C9D0E-B67F-4BE5-B86D-4B4460161F75}"/>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C5584092-D3E3-4F4F-9A2F-E189F9574485}" type="datetime4">
              <a:rPr lang="pt-BR" smtClean="0"/>
              <a:pPr/>
              <a:t>2 de julho de 2026</a:t>
            </a:fld>
            <a:endParaRPr lang="en-US" dirty="0"/>
          </a:p>
        </p:txBody>
      </p:sp>
    </p:spTree>
    <p:extLst>
      <p:ext uri="{BB962C8B-B14F-4D97-AF65-F5344CB8AC3E}">
        <p14:creationId xmlns:p14="http://schemas.microsoft.com/office/powerpoint/2010/main" val="3658855982"/>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hesis Charts">
    <p:bg>
      <p:bgPr>
        <a:solidFill>
          <a:schemeClr val="bg1"/>
        </a:solidFill>
        <a:effectLst/>
      </p:bgPr>
    </p:bg>
    <p:spTree>
      <p:nvGrpSpPr>
        <p:cNvPr id="1" name=""/>
        <p:cNvGrpSpPr/>
        <p:nvPr/>
      </p:nvGrpSpPr>
      <p:grpSpPr>
        <a:xfrm>
          <a:off x="0" y="0"/>
          <a:ext cx="0" cy="0"/>
          <a:chOff x="0" y="0"/>
          <a:chExt cx="0" cy="0"/>
        </a:xfrm>
      </p:grpSpPr>
      <p:sp>
        <p:nvSpPr>
          <p:cNvPr id="5" name="Do not remove" hidden="1">
            <a:extLst>
              <a:ext uri="{FF2B5EF4-FFF2-40B4-BE49-F238E27FC236}">
                <a16:creationId xmlns:a16="http://schemas.microsoft.com/office/drawing/2014/main" id="{5979A1D4-24AB-4344-9491-5AB9581795C1}"/>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0"/>
            <a:ext cx="11518900" cy="417849"/>
          </a:xfrm>
          <a:prstGeom prst="rect">
            <a:avLst/>
          </a:prstGeom>
        </p:spPr>
        <p:txBody>
          <a:bodyPr vert="horz" lIns="0" tIns="45720" rIns="91440" bIns="45720" rtlCol="0" anchor="t">
            <a:noAutofit/>
          </a:bodyPr>
          <a:lstStyle>
            <a:lvl1pPr>
              <a:defRPr lang="pt-BR" sz="2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11519450"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4" name="Espaço Reservado para Conteúdo 14">
            <a:extLst>
              <a:ext uri="{FF2B5EF4-FFF2-40B4-BE49-F238E27FC236}">
                <a16:creationId xmlns:a16="http://schemas.microsoft.com/office/drawing/2014/main" id="{698860CB-58BC-4587-B847-18D9D52B2E38}"/>
              </a:ext>
            </a:extLst>
          </p:cNvPr>
          <p:cNvSpPr>
            <a:spLocks noGrp="1"/>
          </p:cNvSpPr>
          <p:nvPr>
            <p:ph sz="quarter" idx="22" hasCustomPrompt="1"/>
          </p:nvPr>
        </p:nvSpPr>
        <p:spPr>
          <a:xfrm>
            <a:off x="4250451" y="1566345"/>
            <a:ext cx="3689899" cy="214516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6" name="Espaço Reservado para Conteúdo 14">
            <a:extLst>
              <a:ext uri="{FF2B5EF4-FFF2-40B4-BE49-F238E27FC236}">
                <a16:creationId xmlns:a16="http://schemas.microsoft.com/office/drawing/2014/main" id="{3EBD63A4-8A7C-4B80-804E-39B51566D461}"/>
              </a:ext>
            </a:extLst>
          </p:cNvPr>
          <p:cNvSpPr>
            <a:spLocks noGrp="1"/>
          </p:cNvSpPr>
          <p:nvPr>
            <p:ph sz="quarter" idx="23" hasCustomPrompt="1"/>
          </p:nvPr>
        </p:nvSpPr>
        <p:spPr>
          <a:xfrm>
            <a:off x="4250451" y="1226446"/>
            <a:ext cx="3689899" cy="292388"/>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3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D780CF17-95A6-4F5F-A671-5B7FB8AE3C59}"/>
              </a:ext>
            </a:extLst>
          </p:cNvPr>
          <p:cNvSpPr>
            <a:spLocks noGrp="1"/>
          </p:cNvSpPr>
          <p:nvPr>
            <p:ph sz="quarter" idx="20" hasCustomPrompt="1"/>
          </p:nvPr>
        </p:nvSpPr>
        <p:spPr>
          <a:xfrm>
            <a:off x="336001" y="1566345"/>
            <a:ext cx="3689899" cy="214516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8" name="Espaço Reservado para Conteúdo 14">
            <a:extLst>
              <a:ext uri="{FF2B5EF4-FFF2-40B4-BE49-F238E27FC236}">
                <a16:creationId xmlns:a16="http://schemas.microsoft.com/office/drawing/2014/main" id="{A3350709-C7AD-47A1-81A9-D40865B5484C}"/>
              </a:ext>
            </a:extLst>
          </p:cNvPr>
          <p:cNvSpPr>
            <a:spLocks noGrp="1"/>
          </p:cNvSpPr>
          <p:nvPr>
            <p:ph sz="quarter" idx="21" hasCustomPrompt="1"/>
          </p:nvPr>
        </p:nvSpPr>
        <p:spPr>
          <a:xfrm>
            <a:off x="336001" y="1226446"/>
            <a:ext cx="3689899" cy="292388"/>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3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9" name="Espaço Reservado para Conteúdo 14">
            <a:extLst>
              <a:ext uri="{FF2B5EF4-FFF2-40B4-BE49-F238E27FC236}">
                <a16:creationId xmlns:a16="http://schemas.microsoft.com/office/drawing/2014/main" id="{1974B691-9807-45F6-B550-EA048DB6CF79}"/>
              </a:ext>
            </a:extLst>
          </p:cNvPr>
          <p:cNvSpPr>
            <a:spLocks noGrp="1"/>
          </p:cNvSpPr>
          <p:nvPr>
            <p:ph sz="quarter" idx="24" hasCustomPrompt="1"/>
          </p:nvPr>
        </p:nvSpPr>
        <p:spPr>
          <a:xfrm>
            <a:off x="8164901" y="1566345"/>
            <a:ext cx="3690000" cy="214516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0" name="Espaço Reservado para Conteúdo 14">
            <a:extLst>
              <a:ext uri="{FF2B5EF4-FFF2-40B4-BE49-F238E27FC236}">
                <a16:creationId xmlns:a16="http://schemas.microsoft.com/office/drawing/2014/main" id="{13F61226-5694-458C-8D7D-13836B879565}"/>
              </a:ext>
            </a:extLst>
          </p:cNvPr>
          <p:cNvSpPr>
            <a:spLocks noGrp="1"/>
          </p:cNvSpPr>
          <p:nvPr>
            <p:ph sz="quarter" idx="25" hasCustomPrompt="1"/>
          </p:nvPr>
        </p:nvSpPr>
        <p:spPr>
          <a:xfrm>
            <a:off x="8164901" y="1226446"/>
            <a:ext cx="3690000" cy="292388"/>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3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2" name="Date Placeholder 1">
            <a:extLst>
              <a:ext uri="{FF2B5EF4-FFF2-40B4-BE49-F238E27FC236}">
                <a16:creationId xmlns:a16="http://schemas.microsoft.com/office/drawing/2014/main" id="{7941F35C-F445-4252-8D03-D3D0C4F9FDA4}"/>
              </a:ext>
            </a:extLst>
          </p:cNvPr>
          <p:cNvSpPr>
            <a:spLocks noGrp="1"/>
          </p:cNvSpPr>
          <p:nvPr>
            <p:ph type="dt" sz="half" idx="2"/>
          </p:nvPr>
        </p:nvSpPr>
        <p:spPr>
          <a:xfrm>
            <a:off x="10039350" y="358585"/>
            <a:ext cx="1816651" cy="184666"/>
          </a:xfrm>
          <a:prstGeom prst="rect">
            <a:avLst/>
          </a:prstGeom>
        </p:spPr>
        <p:txBody>
          <a:bodyPr vert="horz" wrap="square" lIns="0" tIns="0" rIns="0" bIns="0" rtlCol="0" anchor="ctr">
            <a:spAutoFit/>
          </a:bodyPr>
          <a:lstStyle>
            <a:lvl1pPr algn="r">
              <a:defRPr sz="1200">
                <a:solidFill>
                  <a:schemeClr val="tx1">
                    <a:tint val="75000"/>
                  </a:schemeClr>
                </a:solidFill>
                <a:latin typeface="Roboto Light" panose="02000000000000000000" pitchFamily="2" charset="0"/>
                <a:ea typeface="Roboto Light" panose="02000000000000000000" pitchFamily="2" charset="0"/>
                <a:cs typeface="Roboto Light" panose="02000000000000000000" pitchFamily="2" charset="0"/>
              </a:defRPr>
            </a:lvl1pPr>
          </a:lstStyle>
          <a:p>
            <a:fld id="{1F0476EF-799B-4D75-A6FB-110E86E09938}" type="datetime4">
              <a:rPr lang="en-US" smtClean="0"/>
              <a:t>July 2, 2026</a:t>
            </a:fld>
            <a:endParaRPr lang="en-US" dirty="0"/>
          </a:p>
        </p:txBody>
      </p:sp>
      <p:sp>
        <p:nvSpPr>
          <p:cNvPr id="13" name="Espaço Reservado para Conteúdo 14">
            <a:extLst>
              <a:ext uri="{FF2B5EF4-FFF2-40B4-BE49-F238E27FC236}">
                <a16:creationId xmlns:a16="http://schemas.microsoft.com/office/drawing/2014/main" id="{4DEA969C-4C8A-4133-A685-0F2BC4B2AA45}"/>
              </a:ext>
            </a:extLst>
          </p:cNvPr>
          <p:cNvSpPr>
            <a:spLocks noGrp="1"/>
          </p:cNvSpPr>
          <p:nvPr>
            <p:ph sz="quarter" idx="26" hasCustomPrompt="1"/>
          </p:nvPr>
        </p:nvSpPr>
        <p:spPr>
          <a:xfrm>
            <a:off x="4251000" y="3875256"/>
            <a:ext cx="3689899" cy="214516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1" name="Espaço Reservado para Conteúdo 14">
            <a:extLst>
              <a:ext uri="{FF2B5EF4-FFF2-40B4-BE49-F238E27FC236}">
                <a16:creationId xmlns:a16="http://schemas.microsoft.com/office/drawing/2014/main" id="{473F7F0F-9A4E-484B-8B0C-83627E895D46}"/>
              </a:ext>
            </a:extLst>
          </p:cNvPr>
          <p:cNvSpPr>
            <a:spLocks noGrp="1"/>
          </p:cNvSpPr>
          <p:nvPr>
            <p:ph sz="quarter" idx="27" hasCustomPrompt="1"/>
          </p:nvPr>
        </p:nvSpPr>
        <p:spPr>
          <a:xfrm>
            <a:off x="336550" y="3875256"/>
            <a:ext cx="3689899" cy="214516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2" name="Espaço Reservado para Conteúdo 14">
            <a:extLst>
              <a:ext uri="{FF2B5EF4-FFF2-40B4-BE49-F238E27FC236}">
                <a16:creationId xmlns:a16="http://schemas.microsoft.com/office/drawing/2014/main" id="{BD3E7B11-6C10-4695-BE41-FE570B00F0B1}"/>
              </a:ext>
            </a:extLst>
          </p:cNvPr>
          <p:cNvSpPr>
            <a:spLocks noGrp="1"/>
          </p:cNvSpPr>
          <p:nvPr>
            <p:ph sz="quarter" idx="28" hasCustomPrompt="1"/>
          </p:nvPr>
        </p:nvSpPr>
        <p:spPr>
          <a:xfrm>
            <a:off x="8165450" y="3875256"/>
            <a:ext cx="3690000" cy="214516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3" name="Text Placeholder 21">
            <a:extLst>
              <a:ext uri="{FF2B5EF4-FFF2-40B4-BE49-F238E27FC236}">
                <a16:creationId xmlns:a16="http://schemas.microsoft.com/office/drawing/2014/main" id="{352B89BB-543D-44EA-B737-A6CDE774FA54}"/>
              </a:ext>
            </a:extLst>
          </p:cNvPr>
          <p:cNvSpPr>
            <a:spLocks noGrp="1"/>
          </p:cNvSpPr>
          <p:nvPr>
            <p:ph type="body" sz="quarter" idx="18" hasCustomPrompt="1"/>
          </p:nvPr>
        </p:nvSpPr>
        <p:spPr>
          <a:xfrm>
            <a:off x="788194" y="6309245"/>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Tree>
    <p:extLst>
      <p:ext uri="{BB962C8B-B14F-4D97-AF65-F5344CB8AC3E}">
        <p14:creationId xmlns:p14="http://schemas.microsoft.com/office/powerpoint/2010/main" val="2283425167"/>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Disclaimer">
    <p:bg>
      <p:bgPr>
        <a:solidFill>
          <a:schemeClr val="bg1"/>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3CEFC0C6-D107-4EA3-9780-23B251AF2F3E}"/>
              </a:ext>
            </a:extLst>
          </p:cNvPr>
          <p:cNvSpPr txBox="1"/>
          <p:nvPr userDrawn="1"/>
        </p:nvSpPr>
        <p:spPr>
          <a:xfrm>
            <a:off x="336551" y="188913"/>
            <a:ext cx="8386759" cy="520827"/>
          </a:xfrm>
          <a:prstGeom prst="rect">
            <a:avLst/>
          </a:prstGeom>
        </p:spPr>
        <p:txBody>
          <a:bodyPr vert="horz" lIns="0" tIns="0" rIns="0" bIns="0" rtlCol="0" anchor="ctr">
            <a:noAutofit/>
          </a:bodyPr>
          <a:lstStyle>
            <a:lvl1pPr lvl="0" indent="0" defTabSz="685808">
              <a:lnSpc>
                <a:spcPct val="100000"/>
              </a:lnSpc>
              <a:spcBef>
                <a:spcPts val="0"/>
              </a:spcBef>
              <a:buFont typeface="Arial" panose="020B0604020202020204" pitchFamily="34" charset="0"/>
              <a:buNone/>
              <a:defRPr sz="2400" b="0">
                <a:solidFill>
                  <a:schemeClr val="accent1"/>
                </a:solidFill>
                <a:latin typeface="Roboto" panose="02000000000000000000" pitchFamily="2" charset="0"/>
                <a:ea typeface="Roboto" panose="02000000000000000000" pitchFamily="2" charset="0"/>
                <a:cs typeface="Roboto" panose="02000000000000000000" pitchFamily="2" charset="0"/>
              </a:defRPr>
            </a:lvl1pPr>
            <a:lvl2pPr marL="404817" indent="-136925" defTabSz="685808">
              <a:lnSpc>
                <a:spcPct val="90000"/>
              </a:lnSpc>
              <a:spcBef>
                <a:spcPts val="375"/>
              </a:spcBef>
              <a:buFont typeface="Arial" panose="020B0604020202020204" pitchFamily="34" charset="0"/>
              <a:buChar char="•"/>
              <a:defRPr sz="1051">
                <a:solidFill>
                  <a:schemeClr val="tx2"/>
                </a:solidFill>
              </a:defRPr>
            </a:lvl2pPr>
            <a:lvl3pPr marL="673902" indent="-138114" defTabSz="685808">
              <a:lnSpc>
                <a:spcPct val="90000"/>
              </a:lnSpc>
              <a:spcBef>
                <a:spcPts val="375"/>
              </a:spcBef>
              <a:buFont typeface="Arial" panose="020B0604020202020204" pitchFamily="34" charset="0"/>
              <a:buChar char="•"/>
              <a:defRPr sz="900">
                <a:solidFill>
                  <a:schemeClr val="tx2"/>
                </a:solidFill>
              </a:defRPr>
            </a:lvl3pPr>
            <a:lvl4pPr marL="941797" indent="-138114" defTabSz="685808">
              <a:lnSpc>
                <a:spcPct val="90000"/>
              </a:lnSpc>
              <a:spcBef>
                <a:spcPts val="375"/>
              </a:spcBef>
              <a:buFont typeface="Arial" panose="020B0604020202020204" pitchFamily="34" charset="0"/>
              <a:buChar char="•"/>
              <a:defRPr sz="825">
                <a:solidFill>
                  <a:schemeClr val="tx2"/>
                </a:solidFill>
              </a:defRPr>
            </a:lvl4pPr>
            <a:lvl5pPr marL="1209690" indent="-130971" defTabSz="685808">
              <a:lnSpc>
                <a:spcPct val="90000"/>
              </a:lnSpc>
              <a:spcBef>
                <a:spcPts val="375"/>
              </a:spcBef>
              <a:buFont typeface="Arial" panose="020B0604020202020204" pitchFamily="34" charset="0"/>
              <a:buChar char="•"/>
              <a:defRPr sz="825">
                <a:solidFill>
                  <a:schemeClr val="tx2"/>
                </a:solidFill>
              </a:defRPr>
            </a:lvl5pPr>
            <a:lvl6pPr marL="1885974" indent="-171453" defTabSz="685808">
              <a:lnSpc>
                <a:spcPct val="90000"/>
              </a:lnSpc>
              <a:spcBef>
                <a:spcPts val="375"/>
              </a:spcBef>
              <a:buFont typeface="Arial" panose="020B0604020202020204" pitchFamily="34" charset="0"/>
              <a:buChar char="•"/>
              <a:defRPr sz="1351"/>
            </a:lvl6pPr>
            <a:lvl7pPr marL="2228879" indent="-171453" defTabSz="685808">
              <a:lnSpc>
                <a:spcPct val="90000"/>
              </a:lnSpc>
              <a:spcBef>
                <a:spcPts val="375"/>
              </a:spcBef>
              <a:buFont typeface="Arial" panose="020B0604020202020204" pitchFamily="34" charset="0"/>
              <a:buChar char="•"/>
              <a:defRPr sz="1351"/>
            </a:lvl7pPr>
            <a:lvl8pPr marL="2571783" indent="-171453" defTabSz="685808">
              <a:lnSpc>
                <a:spcPct val="90000"/>
              </a:lnSpc>
              <a:spcBef>
                <a:spcPts val="375"/>
              </a:spcBef>
              <a:buFont typeface="Arial" panose="020B0604020202020204" pitchFamily="34" charset="0"/>
              <a:buChar char="•"/>
              <a:defRPr sz="1351"/>
            </a:lvl8pPr>
            <a:lvl9pPr marL="2914687" indent="-171453" defTabSz="685808">
              <a:lnSpc>
                <a:spcPct val="90000"/>
              </a:lnSpc>
              <a:spcBef>
                <a:spcPts val="375"/>
              </a:spcBef>
              <a:buFont typeface="Arial" panose="020B0604020202020204" pitchFamily="34" charset="0"/>
              <a:buChar char="•"/>
              <a:defRPr sz="1351"/>
            </a:lvl9pPr>
          </a:lstStyle>
          <a:p>
            <a:pPr lvl="0"/>
            <a:r>
              <a:rPr lang="en-US" dirty="0"/>
              <a:t>Disclaimer</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7" name="Date Placeholder 1">
            <a:extLst>
              <a:ext uri="{FF2B5EF4-FFF2-40B4-BE49-F238E27FC236}">
                <a16:creationId xmlns:a16="http://schemas.microsoft.com/office/drawing/2014/main" id="{E7AC5038-4092-4E06-8157-2DD3980D2687}"/>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F5313D7D-9234-4CFB-98B0-26A7EFAE68B7}" type="datetime4">
              <a:rPr lang="pt-BR" smtClean="0"/>
              <a:pPr/>
              <a:t>2 de julho de 2026</a:t>
            </a:fld>
            <a:endParaRPr lang="en-US" dirty="0"/>
          </a:p>
        </p:txBody>
      </p:sp>
      <p:sp>
        <p:nvSpPr>
          <p:cNvPr id="2" name="TextBox 1">
            <a:extLst>
              <a:ext uri="{FF2B5EF4-FFF2-40B4-BE49-F238E27FC236}">
                <a16:creationId xmlns:a16="http://schemas.microsoft.com/office/drawing/2014/main" id="{1B8609C5-9D99-40C7-AC60-E07E7D5093B1}"/>
              </a:ext>
            </a:extLst>
          </p:cNvPr>
          <p:cNvSpPr txBox="1"/>
          <p:nvPr userDrawn="1"/>
        </p:nvSpPr>
        <p:spPr>
          <a:xfrm>
            <a:off x="336001" y="876188"/>
            <a:ext cx="11519449" cy="5016758"/>
          </a:xfrm>
          <a:prstGeom prst="rect">
            <a:avLst/>
          </a:prstGeom>
        </p:spPr>
        <p:txBody>
          <a:bodyPr vert="horz" lIns="0" tIns="45720" rIns="91440" bIns="45720" rtlCol="0" anchor="t">
            <a:spAutoFit/>
          </a:bodyPr>
          <a:lstStyle>
            <a:lvl1pPr lvl="0" indent="0" defTabSz="685808">
              <a:lnSpc>
                <a:spcPct val="100000"/>
              </a:lnSpc>
              <a:spcBef>
                <a:spcPts val="0"/>
              </a:spcBef>
              <a:buFont typeface="Arial" panose="020B0604020202020204" pitchFamily="34" charset="0"/>
              <a:buNone/>
              <a:defRPr sz="1000" b="0">
                <a:solidFill>
                  <a:schemeClr val="accent4"/>
                </a:solidFill>
                <a:latin typeface="Roboto Light" panose="02000000000000000000" pitchFamily="2" charset="0"/>
                <a:ea typeface="Roboto Light" panose="02000000000000000000" pitchFamily="2" charset="0"/>
                <a:cs typeface="Roboto Light" panose="02000000000000000000" pitchFamily="2" charset="0"/>
              </a:defRPr>
            </a:lvl1pPr>
            <a:lvl2pPr marL="404817" indent="-136925" defTabSz="685808">
              <a:lnSpc>
                <a:spcPct val="90000"/>
              </a:lnSpc>
              <a:spcBef>
                <a:spcPts val="375"/>
              </a:spcBef>
              <a:buFont typeface="Arial" panose="020B0604020202020204" pitchFamily="34" charset="0"/>
              <a:buChar char="•"/>
              <a:defRPr sz="1051">
                <a:solidFill>
                  <a:schemeClr val="tx2"/>
                </a:solidFill>
              </a:defRPr>
            </a:lvl2pPr>
            <a:lvl3pPr marL="673902" indent="-138114" defTabSz="685808">
              <a:lnSpc>
                <a:spcPct val="90000"/>
              </a:lnSpc>
              <a:spcBef>
                <a:spcPts val="375"/>
              </a:spcBef>
              <a:buFont typeface="Arial" panose="020B0604020202020204" pitchFamily="34" charset="0"/>
              <a:buChar char="•"/>
              <a:defRPr sz="900">
                <a:solidFill>
                  <a:schemeClr val="tx2"/>
                </a:solidFill>
              </a:defRPr>
            </a:lvl3pPr>
            <a:lvl4pPr marL="941797" indent="-138114" defTabSz="685808">
              <a:lnSpc>
                <a:spcPct val="90000"/>
              </a:lnSpc>
              <a:spcBef>
                <a:spcPts val="375"/>
              </a:spcBef>
              <a:buFont typeface="Arial" panose="020B0604020202020204" pitchFamily="34" charset="0"/>
              <a:buChar char="•"/>
              <a:defRPr sz="825">
                <a:solidFill>
                  <a:schemeClr val="tx2"/>
                </a:solidFill>
              </a:defRPr>
            </a:lvl4pPr>
            <a:lvl5pPr marL="1209690" indent="-130971" defTabSz="685808">
              <a:lnSpc>
                <a:spcPct val="90000"/>
              </a:lnSpc>
              <a:spcBef>
                <a:spcPts val="375"/>
              </a:spcBef>
              <a:buFont typeface="Arial" panose="020B0604020202020204" pitchFamily="34" charset="0"/>
              <a:buChar char="•"/>
              <a:defRPr sz="825">
                <a:solidFill>
                  <a:schemeClr val="tx2"/>
                </a:solidFill>
              </a:defRPr>
            </a:lvl5pPr>
            <a:lvl6pPr marL="1885974" indent="-171453" defTabSz="685808">
              <a:lnSpc>
                <a:spcPct val="90000"/>
              </a:lnSpc>
              <a:spcBef>
                <a:spcPts val="375"/>
              </a:spcBef>
              <a:buFont typeface="Arial" panose="020B0604020202020204" pitchFamily="34" charset="0"/>
              <a:buChar char="•"/>
              <a:defRPr sz="1351"/>
            </a:lvl6pPr>
            <a:lvl7pPr marL="2228879" indent="-171453" defTabSz="685808">
              <a:lnSpc>
                <a:spcPct val="90000"/>
              </a:lnSpc>
              <a:spcBef>
                <a:spcPts val="375"/>
              </a:spcBef>
              <a:buFont typeface="Arial" panose="020B0604020202020204" pitchFamily="34" charset="0"/>
              <a:buChar char="•"/>
              <a:defRPr sz="1351"/>
            </a:lvl7pPr>
            <a:lvl8pPr marL="2571783" indent="-171453" defTabSz="685808">
              <a:lnSpc>
                <a:spcPct val="90000"/>
              </a:lnSpc>
              <a:spcBef>
                <a:spcPts val="375"/>
              </a:spcBef>
              <a:buFont typeface="Arial" panose="020B0604020202020204" pitchFamily="34" charset="0"/>
              <a:buChar char="•"/>
              <a:defRPr sz="1351"/>
            </a:lvl8pPr>
            <a:lvl9pPr marL="2914687" indent="-171453" defTabSz="685808">
              <a:lnSpc>
                <a:spcPct val="90000"/>
              </a:lnSpc>
              <a:spcBef>
                <a:spcPts val="375"/>
              </a:spcBef>
              <a:buFont typeface="Arial" panose="020B0604020202020204" pitchFamily="34" charset="0"/>
              <a:buChar char="•"/>
              <a:defRPr sz="1351"/>
            </a:lvl9pPr>
          </a:lstStyle>
          <a:p>
            <a:pPr marL="0" lvl="0" indent="0" algn="just">
              <a:lnSpc>
                <a:spcPts val="800"/>
              </a:lnSpc>
              <a:buNone/>
            </a:pPr>
            <a:r>
              <a:rPr lang="pt-BR" sz="800" dirty="0">
                <a:solidFill>
                  <a:schemeClr val="accent6"/>
                </a:solidFill>
              </a:rPr>
              <a:t>1) Este relatório de análise foi elaborado pela XP Investimentos CCTVM S.A. (“XP Investimentos ou XP”) de acordo com todas as exigências previstas na Resolução CVM nº 20/2021, tem como objetivo fornecer informações que possam auxiliar o investidor a tomar sua própria decisão de investimento, não constituindo qualquer tipo de oferta ou solicitação de compra e/ou venda de qualquer produto. As informações contidas neste relatório são consideradas válidas na data de sua divulgação e foram obtidas de fontes públicas. A XP Investimentos não se responsabiliza por qualquer decisão tomada pelo cliente com base no presente relatório..</a:t>
            </a:r>
          </a:p>
          <a:p>
            <a:pPr marL="0" lvl="0" indent="0" algn="just">
              <a:lnSpc>
                <a:spcPts val="800"/>
              </a:lnSpc>
              <a:buNone/>
            </a:pPr>
            <a:endParaRPr lang="pt-BR" sz="1000" dirty="0">
              <a:solidFill>
                <a:schemeClr val="accent6"/>
              </a:solidFill>
            </a:endParaRPr>
          </a:p>
          <a:p>
            <a:pPr marL="0" lvl="0" indent="0" algn="just">
              <a:lnSpc>
                <a:spcPts val="800"/>
              </a:lnSpc>
              <a:buNone/>
            </a:pPr>
            <a:r>
              <a:rPr lang="pt-BR" sz="800" dirty="0">
                <a:solidFill>
                  <a:schemeClr val="accent6"/>
                </a:solidFill>
              </a:rPr>
              <a:t>2) Este relatório foi elaborado considerando a classificação de risco dos produtos de modo a gerar resultados de alocação para cada perfil de investidor. </a:t>
            </a:r>
          </a:p>
          <a:p>
            <a:pPr marL="0" lvl="0" indent="0" algn="just">
              <a:lnSpc>
                <a:spcPts val="800"/>
              </a:lnSpc>
              <a:buNone/>
            </a:pPr>
            <a:endParaRPr lang="pt-BR" sz="800" dirty="0">
              <a:solidFill>
                <a:schemeClr val="accent6"/>
              </a:solidFill>
            </a:endParaRPr>
          </a:p>
          <a:p>
            <a:pPr marL="0" lvl="0" indent="0" algn="just">
              <a:lnSpc>
                <a:spcPts val="800"/>
              </a:lnSpc>
              <a:buNone/>
            </a:pPr>
            <a:r>
              <a:rPr lang="pt-BR" sz="800" dirty="0">
                <a:solidFill>
                  <a:schemeClr val="accent6"/>
                </a:solidFill>
              </a:rPr>
              <a:t>3) O(s) signatário(s) deste relatório declara(m) que as recomendações refletem única e exclusivamente suas análises e opiniões pessoais, que foram produzidas de forma independente, inclusive em relação à XP Investimentos e que estão sujeitas a modificações sem aviso prévio em decorrência de alterações nas condições de mercado, e que sua(s) remuneração(es) é(são) indiretamente influenciada por receitas provenientes dos negócios e operações financeiras realizadas pela XP Investimentos.</a:t>
            </a:r>
          </a:p>
          <a:p>
            <a:pPr marL="0" lvl="0" indent="0" algn="just">
              <a:lnSpc>
                <a:spcPts val="800"/>
              </a:lnSpc>
              <a:buNone/>
            </a:pPr>
            <a:endParaRPr lang="pt-BR" sz="800" dirty="0">
              <a:solidFill>
                <a:schemeClr val="accent6"/>
              </a:solidFill>
            </a:endParaRPr>
          </a:p>
          <a:p>
            <a:pPr marL="0" lvl="0" indent="0" algn="just">
              <a:lnSpc>
                <a:spcPts val="800"/>
              </a:lnSpc>
              <a:buNone/>
            </a:pPr>
            <a:r>
              <a:rPr lang="pt-BR" sz="800" dirty="0">
                <a:solidFill>
                  <a:schemeClr val="accent6"/>
                </a:solidFill>
              </a:rPr>
              <a:t>4) O analista responsável pelo conteúdo deste relatório e pelo cumprimento da Resolução CVM nº 20/2021 está indicado acima, sendo que, caso constem a indicação de mais um analista no relatório, o responsável será o primeiro analista credenciado a ser mencionado no relatório. </a:t>
            </a:r>
          </a:p>
          <a:p>
            <a:pPr marL="0" lvl="0" indent="0" algn="just">
              <a:lnSpc>
                <a:spcPts val="800"/>
              </a:lnSpc>
              <a:buNone/>
            </a:pPr>
            <a:endParaRPr lang="pt-BR" sz="800" dirty="0">
              <a:solidFill>
                <a:schemeClr val="accent6"/>
              </a:solidFill>
            </a:endParaRPr>
          </a:p>
          <a:p>
            <a:pPr marL="0" lvl="0" indent="0" algn="just">
              <a:lnSpc>
                <a:spcPts val="800"/>
              </a:lnSpc>
              <a:buNone/>
            </a:pPr>
            <a:r>
              <a:rPr lang="pt-BR" sz="800" dirty="0">
                <a:solidFill>
                  <a:schemeClr val="accent6"/>
                </a:solidFill>
              </a:rPr>
              <a:t>5) Os analistas da XP Investimentos estão obrigados ao cumprimento de todas as regras previstas no Código de Conduta da APIMEC para o Analista de Valores Mobiliários e na Política de Conduta dos Analistas de Valores Mobiliários da XP Investimentos. </a:t>
            </a:r>
          </a:p>
          <a:p>
            <a:pPr marL="0" lvl="0" indent="0" algn="just">
              <a:lnSpc>
                <a:spcPts val="800"/>
              </a:lnSpc>
              <a:buNone/>
            </a:pPr>
            <a:endParaRPr lang="pt-BR" sz="800" dirty="0">
              <a:solidFill>
                <a:schemeClr val="accent6"/>
              </a:solidFill>
            </a:endParaRPr>
          </a:p>
          <a:p>
            <a:pPr marL="0" lvl="0" indent="0" algn="just">
              <a:lnSpc>
                <a:spcPts val="800"/>
              </a:lnSpc>
              <a:buNone/>
            </a:pPr>
            <a:r>
              <a:rPr lang="pt-BR" sz="800" dirty="0">
                <a:solidFill>
                  <a:schemeClr val="accent6"/>
                </a:solidFill>
              </a:rPr>
              <a:t>6) O atendimento de nossos clientes é realizado por empregados da XP Investimentos ou por agentes autônomos de investimento que desempenham suas atividades por meio da XP, em conformidade com a Resolução CVM nº 16/2021, os quais encontram-se registrados na Associação Nacional das Corretoras e Distribuidoras de Títulos e Valores Mobiliários – ANCORD. O agente autônomo de investimento não pode realizar consultoria, administração ou gestão de patrimônio de clientes, devendo atuar como intermediário e solicitar autorização prévia do cliente para a realização de qualquer operação no mercado de capitais. </a:t>
            </a:r>
          </a:p>
          <a:p>
            <a:pPr marL="0" lvl="0" indent="0" algn="just">
              <a:lnSpc>
                <a:spcPts val="800"/>
              </a:lnSpc>
              <a:buNone/>
            </a:pPr>
            <a:endParaRPr lang="pt-BR" sz="800" dirty="0">
              <a:solidFill>
                <a:schemeClr val="accent6"/>
              </a:solidFill>
            </a:endParaRPr>
          </a:p>
          <a:p>
            <a:pPr marL="0" lvl="0" indent="0" algn="just">
              <a:lnSpc>
                <a:spcPts val="800"/>
              </a:lnSpc>
              <a:buNone/>
            </a:pPr>
            <a:r>
              <a:rPr lang="pt-BR" sz="800" dirty="0">
                <a:solidFill>
                  <a:schemeClr val="accent6"/>
                </a:solidFill>
              </a:rPr>
              <a:t>7) Os produtos apresentados neste relatório podem não ser adequados para todos os tipos de cliente. Antes de qualquer decisão, os clientes deverão realizar o processo de </a:t>
            </a:r>
            <a:r>
              <a:rPr lang="pt-BR" sz="800" dirty="0" err="1">
                <a:solidFill>
                  <a:schemeClr val="accent6"/>
                </a:solidFill>
              </a:rPr>
              <a:t>suitability</a:t>
            </a:r>
            <a:r>
              <a:rPr lang="pt-BR" sz="800" dirty="0">
                <a:solidFill>
                  <a:schemeClr val="accent6"/>
                </a:solidFill>
              </a:rPr>
              <a:t> e confirmar se os produtos apresentados são indicados para o seu perfil de investidor. Este material não sugere qualquer alteração de carteira, mas somente orientação sobre produtos adequados a determinado perfil de investidor.</a:t>
            </a:r>
          </a:p>
          <a:p>
            <a:pPr marL="0" lvl="0" indent="0" algn="just">
              <a:lnSpc>
                <a:spcPts val="800"/>
              </a:lnSpc>
              <a:buNone/>
            </a:pPr>
            <a:endParaRPr lang="pt-BR" sz="800" dirty="0">
              <a:solidFill>
                <a:schemeClr val="accent6"/>
              </a:solidFill>
            </a:endParaRPr>
          </a:p>
          <a:p>
            <a:pPr marL="0" lvl="0" indent="0" algn="just">
              <a:lnSpc>
                <a:spcPts val="800"/>
              </a:lnSpc>
              <a:buNone/>
            </a:pPr>
            <a:r>
              <a:rPr lang="pt-BR" sz="800" dirty="0">
                <a:solidFill>
                  <a:schemeClr val="accent6"/>
                </a:solidFill>
              </a:rPr>
              <a:t>8) A rentabilidade de produtos financeiros pode apresentar variações e seu preço ou valor pode aumentar ou diminuir num curto espaço de tempo. Os desempenhos anteriores não são necessariamente indicativos de resultados futuros. A rentabilidade divulgada não é líquida de impostos. As informações presentes neste material são baseadas em simulações e os resultados reais poderão ser significativamente diferentes. </a:t>
            </a:r>
          </a:p>
          <a:p>
            <a:pPr marL="0" lvl="0" indent="0" algn="just">
              <a:lnSpc>
                <a:spcPts val="800"/>
              </a:lnSpc>
              <a:buNone/>
            </a:pPr>
            <a:endParaRPr lang="pt-BR" sz="800" dirty="0">
              <a:solidFill>
                <a:schemeClr val="accent6"/>
              </a:solidFill>
            </a:endParaRPr>
          </a:p>
          <a:p>
            <a:pPr marL="0" lvl="0" indent="0" algn="just">
              <a:lnSpc>
                <a:spcPts val="800"/>
              </a:lnSpc>
              <a:buNone/>
            </a:pPr>
            <a:r>
              <a:rPr lang="pt-BR" sz="800" dirty="0">
                <a:solidFill>
                  <a:schemeClr val="accent6"/>
                </a:solidFill>
              </a:rPr>
              <a:t>9) Este relatório é destinado à circulação exclusiva para a rede de relacionamento da XP Investimentos, incluindo agentes autônomos da XP e clientes da XP, podendo também ser divulgado no site da XP. Fica proibida sua reprodução ou redistribuição para qualquer pessoa, no todo ou em parte, qualquer que seja o propósito, sem o prévio consentimento expresso da XP Investimentos.</a:t>
            </a:r>
          </a:p>
          <a:p>
            <a:pPr marL="0" lvl="0" indent="0" algn="just">
              <a:lnSpc>
                <a:spcPts val="800"/>
              </a:lnSpc>
              <a:buNone/>
            </a:pPr>
            <a:endParaRPr lang="pt-BR" sz="800" dirty="0">
              <a:solidFill>
                <a:schemeClr val="accent6"/>
              </a:solidFill>
            </a:endParaRPr>
          </a:p>
          <a:p>
            <a:pPr marL="0" lvl="0" indent="0" algn="just">
              <a:lnSpc>
                <a:spcPts val="800"/>
              </a:lnSpc>
              <a:buNone/>
            </a:pPr>
            <a:r>
              <a:rPr lang="pt-BR" sz="800" dirty="0">
                <a:solidFill>
                  <a:schemeClr val="accent6"/>
                </a:solidFill>
              </a:rPr>
              <a:t>10) SAC. 0800 772 0202. A Ouvidoria da XP Investimentos tem a missão de servir de canal de contato sempre que os clientes que não se sentirem satisfeitos com as soluções dadas pela empresa aos seus problemas. O contato pode ser realizado por meio do telefone: 0800-722-3730. </a:t>
            </a:r>
          </a:p>
          <a:p>
            <a:pPr marL="0" lvl="0" indent="0" algn="just">
              <a:lnSpc>
                <a:spcPts val="800"/>
              </a:lnSpc>
              <a:buNone/>
            </a:pPr>
            <a:endParaRPr lang="pt-BR" sz="800" dirty="0">
              <a:solidFill>
                <a:schemeClr val="accent6"/>
              </a:solidFill>
            </a:endParaRPr>
          </a:p>
          <a:p>
            <a:pPr marL="0" lvl="0" indent="0" algn="just">
              <a:lnSpc>
                <a:spcPts val="800"/>
              </a:lnSpc>
              <a:buNone/>
            </a:pPr>
            <a:r>
              <a:rPr lang="pt-BR" sz="800" dirty="0">
                <a:solidFill>
                  <a:schemeClr val="accent6"/>
                </a:solidFill>
              </a:rPr>
              <a:t>11) O custo da operação e a política de cobrança estão definidos nas tabelas de custos operacionais disponibilizadas no site da XP Investimentos: www.xpi.com.br. </a:t>
            </a:r>
          </a:p>
          <a:p>
            <a:pPr marL="0" lvl="0" indent="0" algn="just">
              <a:lnSpc>
                <a:spcPts val="800"/>
              </a:lnSpc>
              <a:buNone/>
            </a:pPr>
            <a:endParaRPr lang="pt-BR" sz="800" dirty="0">
              <a:solidFill>
                <a:schemeClr val="accent6"/>
              </a:solidFill>
            </a:endParaRPr>
          </a:p>
          <a:p>
            <a:pPr marL="0" lvl="0" indent="0" algn="just">
              <a:lnSpc>
                <a:spcPts val="800"/>
              </a:lnSpc>
              <a:buNone/>
            </a:pPr>
            <a:r>
              <a:rPr lang="pt-BR" sz="800" dirty="0">
                <a:solidFill>
                  <a:schemeClr val="accent6"/>
                </a:solidFill>
              </a:rPr>
              <a:t>12) A XP Investimentos se exime de qualquer responsabilidade por quaisquer prejuízos, diretos ou indiretos, que venham a decorrer da utilização deste relatório ou seu conteúdo.</a:t>
            </a:r>
          </a:p>
          <a:p>
            <a:pPr marL="0" lvl="0" indent="0" algn="just">
              <a:lnSpc>
                <a:spcPts val="800"/>
              </a:lnSpc>
              <a:buNone/>
            </a:pPr>
            <a:endParaRPr lang="pt-BR" sz="800" dirty="0">
              <a:solidFill>
                <a:schemeClr val="accent6"/>
              </a:solidFill>
            </a:endParaRPr>
          </a:p>
          <a:p>
            <a:pPr marL="0" lvl="0" indent="0" algn="just">
              <a:lnSpc>
                <a:spcPts val="800"/>
              </a:lnSpc>
              <a:buNone/>
            </a:pPr>
            <a:r>
              <a:rPr lang="pt-BR" sz="800" dirty="0">
                <a:solidFill>
                  <a:schemeClr val="accent6"/>
                </a:solidFill>
              </a:rPr>
              <a:t>13) A Avaliação Técnica e a Avaliação de Fundamentos seguem diferentes metodologias de análise. A Análise Técnica é executada seguindo conceitos como tendência, suporte, resistência, </a:t>
            </a:r>
            <a:r>
              <a:rPr lang="pt-BR" sz="800" dirty="0" err="1">
                <a:solidFill>
                  <a:schemeClr val="accent6"/>
                </a:solidFill>
              </a:rPr>
              <a:t>candles</a:t>
            </a:r>
            <a:r>
              <a:rPr lang="pt-BR" sz="800" dirty="0">
                <a:solidFill>
                  <a:schemeClr val="accent6"/>
                </a:solidFill>
              </a:rPr>
              <a:t>, volumes, médias móveis entre outros. Já a Análise Fundamentalista utiliza como informação os resultados divulgados pelas companhias emissoras e suas projeções. Desta forma, as opiniões dos Analistas Fundamentalistas, que buscam os melhores retornos dadas as condições de mercado, o cenário macroeconômico e os eventos específicos da empresa e do setor, podem divergir das opiniões dos Analistas Técnicos, que visam identificar os movimentos mais prováveis dos preços dos ativos, com utilização de “</a:t>
            </a:r>
            <a:r>
              <a:rPr lang="pt-BR" sz="800" dirty="0" err="1">
                <a:solidFill>
                  <a:schemeClr val="accent6"/>
                </a:solidFill>
              </a:rPr>
              <a:t>stops</a:t>
            </a:r>
            <a:r>
              <a:rPr lang="pt-BR" sz="800" dirty="0">
                <a:solidFill>
                  <a:schemeClr val="accent6"/>
                </a:solidFill>
              </a:rPr>
              <a:t>” para limitar as possíveis perdas.</a:t>
            </a:r>
          </a:p>
          <a:p>
            <a:pPr marL="0" lvl="0" indent="0" algn="just">
              <a:lnSpc>
                <a:spcPts val="800"/>
              </a:lnSpc>
              <a:buNone/>
            </a:pPr>
            <a:endParaRPr lang="pt-BR" sz="800" dirty="0">
              <a:solidFill>
                <a:schemeClr val="accent6"/>
              </a:solidFill>
            </a:endParaRPr>
          </a:p>
          <a:p>
            <a:pPr marL="0" lvl="0" indent="0" algn="just">
              <a:lnSpc>
                <a:spcPts val="800"/>
              </a:lnSpc>
              <a:buNone/>
            </a:pPr>
            <a:r>
              <a:rPr lang="pt-BR" sz="800" dirty="0">
                <a:solidFill>
                  <a:schemeClr val="accent6"/>
                </a:solidFill>
              </a:rPr>
              <a:t>14) Para fins de verificação da adequação do perfil do investidor aos serviços e produtos de investimento oferecidos pela XP Investimentos, utilizamos a metodologia de adequação dos produtos por portfólio, nos termos das Regras e Procedimentos ANBIMA de </a:t>
            </a:r>
            <a:r>
              <a:rPr lang="pt-BR" sz="800" dirty="0" err="1">
                <a:solidFill>
                  <a:schemeClr val="accent6"/>
                </a:solidFill>
              </a:rPr>
              <a:t>Suitability</a:t>
            </a:r>
            <a:r>
              <a:rPr lang="pt-BR" sz="800" dirty="0">
                <a:solidFill>
                  <a:schemeClr val="accent6"/>
                </a:solidFill>
              </a:rPr>
              <a:t> nº 01 e do Código ANBIMA de Regulação e Melhores Práticas para Distribuição de Produtos de Investimento. Essa metodologia consiste em atribuir uma pontuação máxima de risco para cada perfil de investidor (conservador, moderado e agressivo), bem como uma pontuação de risco para cada um dos produtos oferecidos pela XP Investimentos, de modo que todos os clientes possam ter acesso a todos os produtos, desde que dentro das quantidades e limites da pontuação de risco definidas para o seu perfil. Antes de aplicar nos produtos e/ou contratar os serviços objeto deste material, é importante que você verifique se a sua pontuação de risco atual comporta a aplicação nos produtos e/ou a contratação dos serviços em questão, bem como se há limitações de volume, concentração e/ou quantidade para a aplicação desejada. Você pode consultar essas informações diretamente no momento da transmissão da sua ordem ou, ainda, consultando o risco geral da sua carteira na tela de carteira (Visão Risco). Caso a sua pontuação de risco atual não comporte a aplicação/contratação pretendida, ou caso existam limitações em relação à quantidade e/ou volume financeiro para a referida aplicação/contratação, isto significa que, com base na composição atual da sua carteira, esta aplicação/contratação não está adequada ao seu perfil. Em caso de dúvidas sobre o processo de adequação dos produtos oferecidos pela XP Investimentos ao seu perfil de investidor, consulte o FAQ. A duração recomendada para o investimento é de curto prazo e o patrimônio do cliente não está garantido neste tipo de produto. As condições de mercado, mudanças climáticas e o cenário macroeconômico podem afetar o desempenho do investimento. </a:t>
            </a:r>
          </a:p>
          <a:p>
            <a:pPr marL="0" lvl="0" indent="0" algn="just">
              <a:lnSpc>
                <a:spcPts val="800"/>
              </a:lnSpc>
              <a:buNone/>
            </a:pPr>
            <a:endParaRPr lang="pt-BR" sz="800" dirty="0">
              <a:solidFill>
                <a:schemeClr val="accent6"/>
              </a:solidFill>
            </a:endParaRPr>
          </a:p>
          <a:p>
            <a:pPr marL="0" lvl="0" indent="0" algn="just">
              <a:lnSpc>
                <a:spcPts val="800"/>
              </a:lnSpc>
              <a:buNone/>
            </a:pPr>
            <a:r>
              <a:rPr lang="pt-BR" sz="800" dirty="0">
                <a:solidFill>
                  <a:schemeClr val="accent6"/>
                </a:solidFill>
              </a:rPr>
              <a:t>15) ESTA INSTITUIÇÃO É ADERENTE À RESOLUÇÃO CVM Nº 16/2021.</a:t>
            </a:r>
          </a:p>
        </p:txBody>
      </p:sp>
    </p:spTree>
    <p:extLst>
      <p:ext uri="{BB962C8B-B14F-4D97-AF65-F5344CB8AC3E}">
        <p14:creationId xmlns:p14="http://schemas.microsoft.com/office/powerpoint/2010/main" val="3681760681"/>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Disclaimer">
    <p:bg>
      <p:bgPr>
        <a:solidFill>
          <a:schemeClr val="bg1"/>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3CEFC0C6-D107-4EA3-9780-23B251AF2F3E}"/>
              </a:ext>
            </a:extLst>
          </p:cNvPr>
          <p:cNvSpPr txBox="1"/>
          <p:nvPr userDrawn="1"/>
        </p:nvSpPr>
        <p:spPr>
          <a:xfrm>
            <a:off x="336551" y="188913"/>
            <a:ext cx="8386759" cy="520827"/>
          </a:xfrm>
          <a:prstGeom prst="rect">
            <a:avLst/>
          </a:prstGeom>
        </p:spPr>
        <p:txBody>
          <a:bodyPr vert="horz" lIns="0" tIns="0" rIns="0" bIns="0" rtlCol="0" anchor="ctr">
            <a:noAutofit/>
          </a:bodyPr>
          <a:lstStyle>
            <a:lvl1pPr lvl="0" indent="0" defTabSz="685808">
              <a:lnSpc>
                <a:spcPct val="100000"/>
              </a:lnSpc>
              <a:spcBef>
                <a:spcPts val="0"/>
              </a:spcBef>
              <a:buFont typeface="Arial" panose="020B0604020202020204" pitchFamily="34" charset="0"/>
              <a:buNone/>
              <a:defRPr sz="2400" b="0">
                <a:solidFill>
                  <a:schemeClr val="accent1"/>
                </a:solidFill>
                <a:latin typeface="Roboto" panose="02000000000000000000" pitchFamily="2" charset="0"/>
                <a:ea typeface="Roboto" panose="02000000000000000000" pitchFamily="2" charset="0"/>
                <a:cs typeface="Roboto" panose="02000000000000000000" pitchFamily="2" charset="0"/>
              </a:defRPr>
            </a:lvl1pPr>
            <a:lvl2pPr marL="404817" indent="-136925" defTabSz="685808">
              <a:lnSpc>
                <a:spcPct val="90000"/>
              </a:lnSpc>
              <a:spcBef>
                <a:spcPts val="375"/>
              </a:spcBef>
              <a:buFont typeface="Arial" panose="020B0604020202020204" pitchFamily="34" charset="0"/>
              <a:buChar char="•"/>
              <a:defRPr sz="1051">
                <a:solidFill>
                  <a:schemeClr val="tx2"/>
                </a:solidFill>
              </a:defRPr>
            </a:lvl2pPr>
            <a:lvl3pPr marL="673902" indent="-138114" defTabSz="685808">
              <a:lnSpc>
                <a:spcPct val="90000"/>
              </a:lnSpc>
              <a:spcBef>
                <a:spcPts val="375"/>
              </a:spcBef>
              <a:buFont typeface="Arial" panose="020B0604020202020204" pitchFamily="34" charset="0"/>
              <a:buChar char="•"/>
              <a:defRPr sz="900">
                <a:solidFill>
                  <a:schemeClr val="tx2"/>
                </a:solidFill>
              </a:defRPr>
            </a:lvl3pPr>
            <a:lvl4pPr marL="941797" indent="-138114" defTabSz="685808">
              <a:lnSpc>
                <a:spcPct val="90000"/>
              </a:lnSpc>
              <a:spcBef>
                <a:spcPts val="375"/>
              </a:spcBef>
              <a:buFont typeface="Arial" panose="020B0604020202020204" pitchFamily="34" charset="0"/>
              <a:buChar char="•"/>
              <a:defRPr sz="825">
                <a:solidFill>
                  <a:schemeClr val="tx2"/>
                </a:solidFill>
              </a:defRPr>
            </a:lvl4pPr>
            <a:lvl5pPr marL="1209690" indent="-130971" defTabSz="685808">
              <a:lnSpc>
                <a:spcPct val="90000"/>
              </a:lnSpc>
              <a:spcBef>
                <a:spcPts val="375"/>
              </a:spcBef>
              <a:buFont typeface="Arial" panose="020B0604020202020204" pitchFamily="34" charset="0"/>
              <a:buChar char="•"/>
              <a:defRPr sz="825">
                <a:solidFill>
                  <a:schemeClr val="tx2"/>
                </a:solidFill>
              </a:defRPr>
            </a:lvl5pPr>
            <a:lvl6pPr marL="1885974" indent="-171453" defTabSz="685808">
              <a:lnSpc>
                <a:spcPct val="90000"/>
              </a:lnSpc>
              <a:spcBef>
                <a:spcPts val="375"/>
              </a:spcBef>
              <a:buFont typeface="Arial" panose="020B0604020202020204" pitchFamily="34" charset="0"/>
              <a:buChar char="•"/>
              <a:defRPr sz="1351"/>
            </a:lvl6pPr>
            <a:lvl7pPr marL="2228879" indent="-171453" defTabSz="685808">
              <a:lnSpc>
                <a:spcPct val="90000"/>
              </a:lnSpc>
              <a:spcBef>
                <a:spcPts val="375"/>
              </a:spcBef>
              <a:buFont typeface="Arial" panose="020B0604020202020204" pitchFamily="34" charset="0"/>
              <a:buChar char="•"/>
              <a:defRPr sz="1351"/>
            </a:lvl7pPr>
            <a:lvl8pPr marL="2571783" indent="-171453" defTabSz="685808">
              <a:lnSpc>
                <a:spcPct val="90000"/>
              </a:lnSpc>
              <a:spcBef>
                <a:spcPts val="375"/>
              </a:spcBef>
              <a:buFont typeface="Arial" panose="020B0604020202020204" pitchFamily="34" charset="0"/>
              <a:buChar char="•"/>
              <a:defRPr sz="1351"/>
            </a:lvl8pPr>
            <a:lvl9pPr marL="2914687" indent="-171453" defTabSz="685808">
              <a:lnSpc>
                <a:spcPct val="90000"/>
              </a:lnSpc>
              <a:spcBef>
                <a:spcPts val="375"/>
              </a:spcBef>
              <a:buFont typeface="Arial" panose="020B0604020202020204" pitchFamily="34" charset="0"/>
              <a:buChar char="•"/>
              <a:defRPr sz="1351"/>
            </a:lvl9pPr>
          </a:lstStyle>
          <a:p>
            <a:pPr lvl="0"/>
            <a:r>
              <a:rPr lang="en-US" dirty="0"/>
              <a:t>Disclaimer</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7" name="Date Placeholder 1">
            <a:extLst>
              <a:ext uri="{FF2B5EF4-FFF2-40B4-BE49-F238E27FC236}">
                <a16:creationId xmlns:a16="http://schemas.microsoft.com/office/drawing/2014/main" id="{E7AC5038-4092-4E06-8157-2DD3980D2687}"/>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F5313D7D-9234-4CFB-98B0-26A7EFAE68B7}" type="datetime4">
              <a:rPr lang="pt-BR" smtClean="0"/>
              <a:pPr/>
              <a:t>2 de julho de 2026</a:t>
            </a:fld>
            <a:endParaRPr lang="en-US" dirty="0"/>
          </a:p>
        </p:txBody>
      </p:sp>
      <p:sp>
        <p:nvSpPr>
          <p:cNvPr id="2" name="TextBox 1">
            <a:extLst>
              <a:ext uri="{FF2B5EF4-FFF2-40B4-BE49-F238E27FC236}">
                <a16:creationId xmlns:a16="http://schemas.microsoft.com/office/drawing/2014/main" id="{1B8609C5-9D99-40C7-AC60-E07E7D5093B1}"/>
              </a:ext>
            </a:extLst>
          </p:cNvPr>
          <p:cNvSpPr txBox="1"/>
          <p:nvPr userDrawn="1"/>
        </p:nvSpPr>
        <p:spPr>
          <a:xfrm>
            <a:off x="336001" y="775520"/>
            <a:ext cx="11519449" cy="5340565"/>
          </a:xfrm>
          <a:prstGeom prst="rect">
            <a:avLst/>
          </a:prstGeom>
        </p:spPr>
        <p:txBody>
          <a:bodyPr vert="horz" lIns="0" tIns="45720" rIns="91440" bIns="45720" rtlCol="0" anchor="t">
            <a:spAutoFit/>
          </a:bodyPr>
          <a:lstStyle>
            <a:lvl1pPr lvl="0" indent="0" defTabSz="685808">
              <a:lnSpc>
                <a:spcPct val="100000"/>
              </a:lnSpc>
              <a:spcBef>
                <a:spcPts val="0"/>
              </a:spcBef>
              <a:buFont typeface="Arial" panose="020B0604020202020204" pitchFamily="34" charset="0"/>
              <a:buNone/>
              <a:defRPr sz="1000" b="0">
                <a:solidFill>
                  <a:schemeClr val="accent4"/>
                </a:solidFill>
                <a:latin typeface="Roboto Light" panose="02000000000000000000" pitchFamily="2" charset="0"/>
                <a:ea typeface="Roboto Light" panose="02000000000000000000" pitchFamily="2" charset="0"/>
                <a:cs typeface="Roboto Light" panose="02000000000000000000" pitchFamily="2" charset="0"/>
              </a:defRPr>
            </a:lvl1pPr>
            <a:lvl2pPr marL="404817" indent="-136925" defTabSz="685808">
              <a:lnSpc>
                <a:spcPct val="90000"/>
              </a:lnSpc>
              <a:spcBef>
                <a:spcPts val="375"/>
              </a:spcBef>
              <a:buFont typeface="Arial" panose="020B0604020202020204" pitchFamily="34" charset="0"/>
              <a:buChar char="•"/>
              <a:defRPr sz="1051">
                <a:solidFill>
                  <a:schemeClr val="tx2"/>
                </a:solidFill>
              </a:defRPr>
            </a:lvl2pPr>
            <a:lvl3pPr marL="673902" indent="-138114" defTabSz="685808">
              <a:lnSpc>
                <a:spcPct val="90000"/>
              </a:lnSpc>
              <a:spcBef>
                <a:spcPts val="375"/>
              </a:spcBef>
              <a:buFont typeface="Arial" panose="020B0604020202020204" pitchFamily="34" charset="0"/>
              <a:buChar char="•"/>
              <a:defRPr sz="900">
                <a:solidFill>
                  <a:schemeClr val="tx2"/>
                </a:solidFill>
              </a:defRPr>
            </a:lvl3pPr>
            <a:lvl4pPr marL="941797" indent="-138114" defTabSz="685808">
              <a:lnSpc>
                <a:spcPct val="90000"/>
              </a:lnSpc>
              <a:spcBef>
                <a:spcPts val="375"/>
              </a:spcBef>
              <a:buFont typeface="Arial" panose="020B0604020202020204" pitchFamily="34" charset="0"/>
              <a:buChar char="•"/>
              <a:defRPr sz="825">
                <a:solidFill>
                  <a:schemeClr val="tx2"/>
                </a:solidFill>
              </a:defRPr>
            </a:lvl4pPr>
            <a:lvl5pPr marL="1209690" indent="-130971" defTabSz="685808">
              <a:lnSpc>
                <a:spcPct val="90000"/>
              </a:lnSpc>
              <a:spcBef>
                <a:spcPts val="375"/>
              </a:spcBef>
              <a:buFont typeface="Arial" panose="020B0604020202020204" pitchFamily="34" charset="0"/>
              <a:buChar char="•"/>
              <a:defRPr sz="825">
                <a:solidFill>
                  <a:schemeClr val="tx2"/>
                </a:solidFill>
              </a:defRPr>
            </a:lvl5pPr>
            <a:lvl6pPr marL="1885974" indent="-171453" defTabSz="685808">
              <a:lnSpc>
                <a:spcPct val="90000"/>
              </a:lnSpc>
              <a:spcBef>
                <a:spcPts val="375"/>
              </a:spcBef>
              <a:buFont typeface="Arial" panose="020B0604020202020204" pitchFamily="34" charset="0"/>
              <a:buChar char="•"/>
              <a:defRPr sz="1351"/>
            </a:lvl6pPr>
            <a:lvl7pPr marL="2228879" indent="-171453" defTabSz="685808">
              <a:lnSpc>
                <a:spcPct val="90000"/>
              </a:lnSpc>
              <a:spcBef>
                <a:spcPts val="375"/>
              </a:spcBef>
              <a:buFont typeface="Arial" panose="020B0604020202020204" pitchFamily="34" charset="0"/>
              <a:buChar char="•"/>
              <a:defRPr sz="1351"/>
            </a:lvl7pPr>
            <a:lvl8pPr marL="2571783" indent="-171453" defTabSz="685808">
              <a:lnSpc>
                <a:spcPct val="90000"/>
              </a:lnSpc>
              <a:spcBef>
                <a:spcPts val="375"/>
              </a:spcBef>
              <a:buFont typeface="Arial" panose="020B0604020202020204" pitchFamily="34" charset="0"/>
              <a:buChar char="•"/>
              <a:defRPr sz="1351"/>
            </a:lvl8pPr>
            <a:lvl9pPr marL="2914687" indent="-171453" defTabSz="685808">
              <a:lnSpc>
                <a:spcPct val="90000"/>
              </a:lnSpc>
              <a:spcBef>
                <a:spcPts val="375"/>
              </a:spcBef>
              <a:buFont typeface="Arial" panose="020B0604020202020204" pitchFamily="34" charset="0"/>
              <a:buChar char="•"/>
              <a:defRPr sz="1351"/>
            </a:lvl9pPr>
          </a:lstStyle>
          <a:p>
            <a:pPr marL="0" lvl="0" indent="0" algn="just">
              <a:lnSpc>
                <a:spcPts val="1000"/>
              </a:lnSpc>
              <a:buNone/>
            </a:pPr>
            <a:r>
              <a:rPr lang="pt-BR" sz="700" dirty="0">
                <a:solidFill>
                  <a:schemeClr val="accent6"/>
                </a:solidFill>
              </a:rPr>
              <a:t>1) Este relatório de análise foi elaborado pela XP Investimentos CCTVM S.A. (“XP Investimentos ou XP”) de acordo com todas as exigências previstas na Resolução CVM 20/2021, tem como objetivo fornecer informações que possam auxiliar o investidor a tomar sua própria decisão de investimento, não constituindo qualquer tipo de oferta ou solicitação de compra e/ou venda de qualquer produto. As informações contidas neste relatório são consideradas válidas na data de sua divulgação e foram obtidas de fontes públicas. A XP Investimentos não se responsabiliza por qualquer decisão tomada pelo cliente com base no presente relatório. </a:t>
            </a:r>
          </a:p>
          <a:p>
            <a:pPr marL="0" lvl="0" indent="0" algn="just">
              <a:lnSpc>
                <a:spcPts val="1000"/>
              </a:lnSpc>
              <a:buNone/>
            </a:pPr>
            <a:r>
              <a:rPr lang="pt-BR" sz="700" dirty="0">
                <a:solidFill>
                  <a:schemeClr val="accent6"/>
                </a:solidFill>
              </a:rPr>
              <a:t>2) Este relatório foi elaborado considerando a classificação de risco dos produtos de modo a gerar resultados de alocação para cada perfil de investidor. </a:t>
            </a:r>
          </a:p>
          <a:p>
            <a:pPr marL="0" lvl="0" indent="0" algn="just">
              <a:lnSpc>
                <a:spcPts val="1000"/>
              </a:lnSpc>
              <a:buNone/>
            </a:pPr>
            <a:r>
              <a:rPr lang="pt-BR" sz="700" dirty="0">
                <a:solidFill>
                  <a:schemeClr val="accent6"/>
                </a:solidFill>
              </a:rPr>
              <a:t>3) O(</a:t>
            </a:r>
            <a:r>
              <a:rPr lang="pt-BR" sz="700" dirty="0" err="1">
                <a:solidFill>
                  <a:schemeClr val="accent6"/>
                </a:solidFill>
              </a:rPr>
              <a:t>s</a:t>
            </a:r>
            <a:r>
              <a:rPr lang="pt-BR" sz="700" dirty="0">
                <a:solidFill>
                  <a:schemeClr val="accent6"/>
                </a:solidFill>
              </a:rPr>
              <a:t>) signatário(</a:t>
            </a:r>
            <a:r>
              <a:rPr lang="pt-BR" sz="700" dirty="0" err="1">
                <a:solidFill>
                  <a:schemeClr val="accent6"/>
                </a:solidFill>
              </a:rPr>
              <a:t>s</a:t>
            </a:r>
            <a:r>
              <a:rPr lang="pt-BR" sz="700" dirty="0">
                <a:solidFill>
                  <a:schemeClr val="accent6"/>
                </a:solidFill>
              </a:rPr>
              <a:t>) deste relatório declara(m) que as recomendações refletem única e exclusivamente suas análises e opiniões pessoais, que foram produzidas de forma independente, inclusive em relação à XP Investimentos e que estão sujeitas a modificações sem aviso prévio em decorrência de alterações nas condições de mercado, e que sua(</a:t>
            </a:r>
            <a:r>
              <a:rPr lang="pt-BR" sz="700" dirty="0" err="1">
                <a:solidFill>
                  <a:schemeClr val="accent6"/>
                </a:solidFill>
              </a:rPr>
              <a:t>s</a:t>
            </a:r>
            <a:r>
              <a:rPr lang="pt-BR" sz="700" dirty="0">
                <a:solidFill>
                  <a:schemeClr val="accent6"/>
                </a:solidFill>
              </a:rPr>
              <a:t>) remuneração(es) é(são) indiretamente influenciada por receitas provenientes dos negócios e operações financeiras realizadas pela XP Investimentos. </a:t>
            </a:r>
          </a:p>
          <a:p>
            <a:pPr marL="0" lvl="0" indent="0" algn="just">
              <a:lnSpc>
                <a:spcPts val="1000"/>
              </a:lnSpc>
              <a:buNone/>
            </a:pPr>
            <a:r>
              <a:rPr lang="pt-BR" sz="700" dirty="0">
                <a:solidFill>
                  <a:schemeClr val="accent6"/>
                </a:solidFill>
              </a:rPr>
              <a:t>4) O analista responsável pelo conteúdo deste relatório e pelo cumprimento da Resolução CVM nº 20/2021 está indicado acima, sendo que, caso constem a indicação de mais um analista no relatório, o responsável será o primeiro analista credenciado a ser mencionado no relatório.  </a:t>
            </a:r>
          </a:p>
          <a:p>
            <a:pPr marL="0" lvl="0" indent="0" algn="just">
              <a:lnSpc>
                <a:spcPts val="1000"/>
              </a:lnSpc>
              <a:buNone/>
            </a:pPr>
            <a:r>
              <a:rPr lang="pt-BR" sz="700" dirty="0">
                <a:solidFill>
                  <a:schemeClr val="accent6"/>
                </a:solidFill>
              </a:rPr>
              <a:t>5) Os analistas da XP Investimentos estão obrigados ao cumprimento de todas as regras previstas no Código de Conduta da APIMEC para o Analista de Valores Mobiliários e na Política de Conduta dos Analistas de Valores Mobiliários da XP Investimentos.  </a:t>
            </a:r>
          </a:p>
          <a:p>
            <a:pPr marL="0" lvl="0" indent="0" algn="just">
              <a:lnSpc>
                <a:spcPts val="1000"/>
              </a:lnSpc>
              <a:buNone/>
            </a:pPr>
            <a:r>
              <a:rPr lang="pt-BR" sz="700" dirty="0">
                <a:solidFill>
                  <a:schemeClr val="accent6"/>
                </a:solidFill>
              </a:rPr>
              <a:t>6) O atendimento de nossos clientes é realizado por empregados da XP Investimentos ou por agentes autônomos de investimento que desempenham suas atividades por meio da XP, em conformidade com a Resolução CVM nº 16/2021, os quais encontram-se registrados na Associação Nacional das Corretoras e Distribuidoras de Títulos e Valores Mobiliários – ANCORD. O agente autônomo de investimento não pode realizar consultoria, administração ou gestão de patrimônio de clientes, devendo atuar como intermediário e solicitar autorização prévia do cliente para a realização de qualquer operação no mercado de capitais. </a:t>
            </a:r>
          </a:p>
          <a:p>
            <a:pPr marL="0" lvl="0" indent="0" algn="just">
              <a:lnSpc>
                <a:spcPts val="1000"/>
              </a:lnSpc>
              <a:buNone/>
            </a:pPr>
            <a:r>
              <a:rPr lang="pt-BR" sz="700" dirty="0">
                <a:solidFill>
                  <a:schemeClr val="accent6"/>
                </a:solidFill>
              </a:rPr>
              <a:t>7) Para fins de verificação da adequação do perfil do investidor aos serviços e produtos de investimento oferecidos pela XP Investimentos, utilizamos a metodologia de adequação dos produtos por portfólio, nos termos das Regras e Procedimentos ANBIMA de </a:t>
            </a:r>
            <a:r>
              <a:rPr lang="pt-BR" sz="700" dirty="0" err="1">
                <a:solidFill>
                  <a:schemeClr val="accent6"/>
                </a:solidFill>
              </a:rPr>
              <a:t>Suitability</a:t>
            </a:r>
            <a:r>
              <a:rPr lang="pt-BR" sz="700" dirty="0">
                <a:solidFill>
                  <a:schemeClr val="accent6"/>
                </a:solidFill>
              </a:rPr>
              <a:t> nº 01 e do Código ANBIMA de Regulação e Melhores Práticas para Distribuição de Produtos de Investimento. Essa metodologia consiste em atribuir uma pontuação máxima de risco para cada perfil de investidor (conservador, moderado e agressivo), bem como uma pontuação de risco para cada um dos produtos oferecidos pela XP Investimentos, de modo que todos os clientes possam ter acesso a todos os produtos, desde que dentro das quantidades e limites da pontuação de risco definidas para o seu perfil. Antes de aplicar nos produtos e/ou contratar os serviços objeto deste material, é importante que você verifique se a sua pontuação de risco atual comporta a aplicação nos produtos e/ou a contratação dos serviços em questão, bem como se há limitações de volume, concentração e/ou quantidade para a aplicação desejada. Você pode consultar essas informações diretamente no momento da transmissão da sua ordem ou, ainda, consultando o risco geral da sua carteira na tela de carteira (Visão Risco). Caso a sua pontuação de risco atual não comporte a aplicação/contratação pretendida, ou caso existam limitações em relação à quantidade e/ou volume financeiro para a referida aplicação/contratação, isto significa que, com base na composição atual da sua carteira, esta aplicação/contratação não está adequada ao seu perfil. Em caso de dúvidas sobre o processo de adequação dos produtos oferecidos pela XP Investimentos ao seu perfil de investidor, consulte o FAQ. As condições de mercado, mudanças climáticas e o cenário macroeconômico podem afetar o desempenho do investimento.</a:t>
            </a:r>
          </a:p>
          <a:p>
            <a:pPr marL="0" lvl="0" indent="0" algn="just">
              <a:lnSpc>
                <a:spcPts val="1000"/>
              </a:lnSpc>
              <a:buNone/>
            </a:pPr>
            <a:r>
              <a:rPr lang="pt-BR" sz="700" dirty="0">
                <a:solidFill>
                  <a:schemeClr val="accent6"/>
                </a:solidFill>
              </a:rPr>
              <a:t>8) A rentabilidade de produtos financeiros pode apresentar variações e seu preço ou valor pode aumentar ou diminuir num curto espaço de tempo. Os desempenhos anteriores não são necessariamente indicativos de resultados futuros. A rentabilidade divulgada não é líquida de impostos. As informações presentes neste material são baseadas em simulações e os resultados reais poderão ser significativamente diferentes. </a:t>
            </a:r>
          </a:p>
          <a:p>
            <a:pPr marL="0" lvl="0" indent="0" algn="just">
              <a:lnSpc>
                <a:spcPts val="1000"/>
              </a:lnSpc>
              <a:buNone/>
            </a:pPr>
            <a:r>
              <a:rPr lang="pt-BR" sz="700" dirty="0">
                <a:solidFill>
                  <a:schemeClr val="accent6"/>
                </a:solidFill>
              </a:rPr>
              <a:t>9) Este relatório é destinado à circulação exclusiva para a rede de relacionamento da XP Investimentos, incluindo agentes autônomos da XP e clientes da XP, podendo também ser divulgado no site da XP. Fica proibida sua reprodução ou redistribuição para qualquer pessoa, no todo ou em parte, qualquer que seja o propósito, sem o prévio consentimento expresso da XP Investimentos. </a:t>
            </a:r>
          </a:p>
          <a:p>
            <a:pPr marL="0" lvl="0" indent="0" algn="just">
              <a:lnSpc>
                <a:spcPts val="1000"/>
              </a:lnSpc>
              <a:buNone/>
            </a:pPr>
            <a:r>
              <a:rPr lang="pt-BR" sz="700" dirty="0">
                <a:solidFill>
                  <a:schemeClr val="accent6"/>
                </a:solidFill>
              </a:rPr>
              <a:t>10)SAC. 0800 77 20202. A Ouvidoria da XP Investimentos tem a missão de servir de canal de contato sempre que os clientes que não se sentirem satisfeitos com as soluções dadas pela empresa aos seus problemas. O contato pode ser realizado por meio do telefone: 0800 722 3710. </a:t>
            </a:r>
          </a:p>
          <a:p>
            <a:pPr marL="0" lvl="0" indent="0" algn="just">
              <a:lnSpc>
                <a:spcPts val="1000"/>
              </a:lnSpc>
              <a:buNone/>
            </a:pPr>
            <a:r>
              <a:rPr lang="pt-BR" sz="700" dirty="0">
                <a:solidFill>
                  <a:schemeClr val="accent6"/>
                </a:solidFill>
              </a:rPr>
              <a:t>11)O custo da operação e a política de cobrança estão definidos nas tabelas de custos operacionais disponibilizadas no site da XP Investimentos: </a:t>
            </a:r>
            <a:r>
              <a:rPr lang="pt-BR" sz="700" dirty="0" err="1">
                <a:solidFill>
                  <a:schemeClr val="accent6"/>
                </a:solidFill>
              </a:rPr>
              <a:t>www.xpi.com.br</a:t>
            </a:r>
            <a:r>
              <a:rPr lang="pt-BR" sz="700" dirty="0">
                <a:solidFill>
                  <a:schemeClr val="accent6"/>
                </a:solidFill>
              </a:rPr>
              <a:t>. </a:t>
            </a:r>
          </a:p>
          <a:p>
            <a:pPr marL="0" lvl="0" indent="0" algn="just">
              <a:lnSpc>
                <a:spcPts val="1000"/>
              </a:lnSpc>
              <a:buNone/>
            </a:pPr>
            <a:r>
              <a:rPr lang="pt-BR" sz="700" dirty="0">
                <a:solidFill>
                  <a:schemeClr val="accent6"/>
                </a:solidFill>
              </a:rPr>
              <a:t>12)A XP Investimentos se exime de qualquer responsabilidade por quaisquer prejuízos, diretos ou indiretos, que venham a decorrer da utilização deste relatório ou seu conteúdo. </a:t>
            </a:r>
          </a:p>
          <a:p>
            <a:pPr marL="0" lvl="0" indent="0" algn="just">
              <a:lnSpc>
                <a:spcPts val="1000"/>
              </a:lnSpc>
              <a:buNone/>
            </a:pPr>
            <a:r>
              <a:rPr lang="pt-BR" sz="700" dirty="0">
                <a:solidFill>
                  <a:schemeClr val="accent6"/>
                </a:solidFill>
              </a:rPr>
              <a:t>13) A Avaliação Técnica e a Avaliação de Fundamentos seguem diferentes metodologias de análise. A Análise Técnica é executada seguindo conceitos como tendência, suporte, resistência, </a:t>
            </a:r>
            <a:r>
              <a:rPr lang="pt-BR" sz="700" dirty="0" err="1">
                <a:solidFill>
                  <a:schemeClr val="accent6"/>
                </a:solidFill>
              </a:rPr>
              <a:t>candles</a:t>
            </a:r>
            <a:r>
              <a:rPr lang="pt-BR" sz="700" dirty="0">
                <a:solidFill>
                  <a:schemeClr val="accent6"/>
                </a:solidFill>
              </a:rPr>
              <a:t>, volumes, médias móveis entre outros. Já a Análise Fundamentalista utiliza como informação os resultados divulgados pelas companhias emissoras e suas projeções. Desta forma, as opiniões dos Analistas Fundamentalistas, que buscam os melhores retornos dadas as condições de mercado, o cenário macroeconômico e os eventos específicos da empresa e do setor, podem divergir das opiniões dos Analistas Técnicos, que visam identificar os movimentos mais prováveis dos preços dos ativos, com utilização de “</a:t>
            </a:r>
            <a:r>
              <a:rPr lang="pt-BR" sz="700" dirty="0" err="1">
                <a:solidFill>
                  <a:schemeClr val="accent6"/>
                </a:solidFill>
              </a:rPr>
              <a:t>stops</a:t>
            </a:r>
            <a:r>
              <a:rPr lang="pt-BR" sz="700" dirty="0">
                <a:solidFill>
                  <a:schemeClr val="accent6"/>
                </a:solidFill>
              </a:rPr>
              <a:t>” para limitar as possíveis perdas.  </a:t>
            </a:r>
          </a:p>
          <a:p>
            <a:pPr marL="0" lvl="0" indent="0" algn="just">
              <a:lnSpc>
                <a:spcPts val="1000"/>
              </a:lnSpc>
              <a:buNone/>
            </a:pPr>
            <a:r>
              <a:rPr lang="pt-BR" sz="700" dirty="0">
                <a:solidFill>
                  <a:schemeClr val="accent6"/>
                </a:solidFill>
              </a:rPr>
              <a:t>14) Ação é uma fração do capital de uma empresa que é negociada no mercado. É um título de renda variável, ou seja, um investimento no qual a rentabilidade não é preestabelecida, varia conforme as cotações de mercado. O investimento em ações é um investimento de alto risco e os desempenhos anteriores não são necessariamente indicativos de resultados futuros e nenhuma declaração ou garantia, de forma expressa ou implícita, é feita neste material em relação a desempenhos. As condições de mercado, o cenário macroeconômico, os eventos específicos da empresa e do setor podem afetar o desempenho do investimento, podendo resultar até mesmo em significativas perdas patrimoniais. A duração recomendada para o investimento é de médio-longo prazo. Não há quaisquer garantias sobre o patrimônio do cliente neste tipo de produto </a:t>
            </a:r>
          </a:p>
          <a:p>
            <a:pPr marL="0" lvl="0" indent="0" algn="just">
              <a:lnSpc>
                <a:spcPts val="1000"/>
              </a:lnSpc>
              <a:buNone/>
            </a:pPr>
            <a:r>
              <a:rPr lang="pt-BR" sz="700" dirty="0">
                <a:solidFill>
                  <a:schemeClr val="accent6"/>
                </a:solidFill>
              </a:rPr>
              <a:t>15)O investimento em opções é preferencialmente indicado para investidores de perfil agressivo, de acordo com a política de </a:t>
            </a:r>
            <a:r>
              <a:rPr lang="pt-BR" sz="700" dirty="0" err="1">
                <a:solidFill>
                  <a:schemeClr val="accent6"/>
                </a:solidFill>
              </a:rPr>
              <a:t>suitability</a:t>
            </a:r>
            <a:r>
              <a:rPr lang="pt-BR" sz="700" dirty="0">
                <a:solidFill>
                  <a:schemeClr val="accent6"/>
                </a:solidFill>
              </a:rPr>
              <a:t> praticada pela XP Investimentos. No mercado de opções, são negociados direitos de compra ou venda de um bem por preço fixado em data futura, devendo o adquirente do direito negociado pagar um prêmio ao vendedor tal como num acordo seguro. As operações com esses derivativos são consideradas de risco muito alto por apresentarem altas relações de risco e retorno e algumas posições apresentarem a possibilidade de perdas superiores ao capital investido. A duração recomendada para o investimento é de curto prazo e o patrimônio do cliente não está garantido neste tipo de produto.  </a:t>
            </a:r>
          </a:p>
          <a:p>
            <a:pPr marL="0" lvl="0" indent="0" algn="just">
              <a:lnSpc>
                <a:spcPts val="1000"/>
              </a:lnSpc>
              <a:buNone/>
            </a:pPr>
            <a:r>
              <a:rPr lang="pt-BR" sz="700" dirty="0">
                <a:solidFill>
                  <a:schemeClr val="accent6"/>
                </a:solidFill>
              </a:rPr>
              <a:t>16)O investimento em termos são contratos para compra ou a venda de uma determinada quantidade de ações, a um preço fixado, para liquidação em prazo determinado. O prazo do contrato a Termo é livremente escolhido pelos investidores, obedecendo o prazo mínimo de 16 dias e máximo de 999 dias corridos. O preço será o valor da ação adicionado de uma parcela correspondente aos juros – que são fixados livremente em mercado, em função do prazo do contrato. Toda transação a termo requer um depósito de garantia. Essas garantias são prestadas em duas formas: cobertura ou margem. </a:t>
            </a:r>
          </a:p>
          <a:p>
            <a:pPr marL="0" lvl="0" indent="0" algn="just">
              <a:lnSpc>
                <a:spcPts val="1000"/>
              </a:lnSpc>
              <a:buNone/>
            </a:pPr>
            <a:r>
              <a:rPr lang="pt-BR" sz="700" dirty="0">
                <a:solidFill>
                  <a:schemeClr val="accent6"/>
                </a:solidFill>
              </a:rPr>
              <a:t>17)O investimento em Mercados Futuros embute riscos de perdas patrimoniais significativos. Commodity é um objeto ou determinante de preço de um contrato futuro ou outro instrumento derivativo, podendo consubstanciar um índice, uma taxa, um valor mobiliário ou produto físico. É um investimento de risco muito alto, que contempla a possibilidade de oscilação de preço devido à utilização de alavancagem financeira. A duração recomendada para o investimento é de curto prazo e o patrimônio do cliente não está garantido neste tipo de produto. As condições de mercado, mudanças climáticas e o cenário macroeconômico podem afetar o desempenho do investimento. </a:t>
            </a:r>
          </a:p>
          <a:p>
            <a:pPr marL="0" lvl="0" indent="0" algn="just">
              <a:lnSpc>
                <a:spcPts val="1000"/>
              </a:lnSpc>
              <a:buNone/>
            </a:pPr>
            <a:r>
              <a:rPr lang="pt-BR" sz="700" dirty="0">
                <a:solidFill>
                  <a:schemeClr val="accent6"/>
                </a:solidFill>
              </a:rPr>
              <a:t>18)ESTA INSTITUIÇÃO É ADERENTE AO CÓDIGO ANBIMA DE REGULAÇÃO E MELHORES PRÁTICAS PARA ATIVIDADE DE DISTRIBUIÇÃO DE PRODUTOS DE INVESTIMENTO NO VAREJO. </a:t>
            </a:r>
          </a:p>
        </p:txBody>
      </p:sp>
    </p:spTree>
    <p:extLst>
      <p:ext uri="{BB962C8B-B14F-4D97-AF65-F5344CB8AC3E}">
        <p14:creationId xmlns:p14="http://schemas.microsoft.com/office/powerpoint/2010/main" val="4271462598"/>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Fechamento">
    <p:bg>
      <p:bgPr>
        <a:solidFill>
          <a:schemeClr val="bg1"/>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555320AD-2789-47B9-98B2-D6704CDC0DB4}"/>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28" name="Picture 27" descr="A picture containing dark, night sky&#10;&#10;Description automatically generated">
            <a:extLst>
              <a:ext uri="{FF2B5EF4-FFF2-40B4-BE49-F238E27FC236}">
                <a16:creationId xmlns:a16="http://schemas.microsoft.com/office/drawing/2014/main" id="{937A3FB1-8371-4550-879B-08570ED755BD}"/>
              </a:ext>
            </a:extLst>
          </p:cNvPr>
          <p:cNvPicPr>
            <a:picLocks noChangeAspect="1"/>
          </p:cNvPicPr>
          <p:nvPr userDrawn="1"/>
        </p:nvPicPr>
        <p:blipFill>
          <a:blip r:embed="rId2">
            <a:alphaModFix amt="81000"/>
          </a:blip>
          <a:stretch>
            <a:fillRect/>
          </a:stretch>
        </p:blipFill>
        <p:spPr>
          <a:xfrm>
            <a:off x="3446236" y="0"/>
            <a:ext cx="8745764" cy="6115050"/>
          </a:xfrm>
          <a:prstGeom prst="rect">
            <a:avLst/>
          </a:prstGeom>
        </p:spPr>
      </p:pic>
      <p:grpSp>
        <p:nvGrpSpPr>
          <p:cNvPr id="5" name="Group 4">
            <a:extLst>
              <a:ext uri="{FF2B5EF4-FFF2-40B4-BE49-F238E27FC236}">
                <a16:creationId xmlns:a16="http://schemas.microsoft.com/office/drawing/2014/main" id="{8344B5D1-A9AC-4599-84FD-4AA7F9C73C30}"/>
              </a:ext>
            </a:extLst>
          </p:cNvPr>
          <p:cNvGrpSpPr/>
          <p:nvPr userDrawn="1"/>
        </p:nvGrpSpPr>
        <p:grpSpPr>
          <a:xfrm>
            <a:off x="-1002" y="0"/>
            <a:ext cx="12193002" cy="6136211"/>
            <a:chOff x="-1486" y="-3020401"/>
            <a:chExt cx="18086753" cy="9102281"/>
          </a:xfrm>
        </p:grpSpPr>
        <p:cxnSp>
          <p:nvCxnSpPr>
            <p:cNvPr id="18" name="Straight Connector 17">
              <a:extLst>
                <a:ext uri="{FF2B5EF4-FFF2-40B4-BE49-F238E27FC236}">
                  <a16:creationId xmlns:a16="http://schemas.microsoft.com/office/drawing/2014/main" id="{43215B28-AC92-4E00-8FC2-571ACFB81F79}"/>
                </a:ext>
              </a:extLst>
            </p:cNvPr>
            <p:cNvCxnSpPr>
              <a:cxnSpLocks/>
            </p:cNvCxnSpPr>
            <p:nvPr userDrawn="1"/>
          </p:nvCxnSpPr>
          <p:spPr>
            <a:xfrm flipV="1">
              <a:off x="0" y="4522839"/>
              <a:ext cx="18085267" cy="0"/>
            </a:xfrm>
            <a:prstGeom prst="line">
              <a:avLst/>
            </a:prstGeom>
            <a:ln w="12700" cap="rnd">
              <a:solidFill>
                <a:schemeClr val="bg1"/>
              </a:solidFill>
              <a:roun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04E47EB6-6FF8-40F8-BCAB-9714324D34FA}"/>
                </a:ext>
              </a:extLst>
            </p:cNvPr>
            <p:cNvCxnSpPr>
              <a:cxnSpLocks/>
            </p:cNvCxnSpPr>
            <p:nvPr userDrawn="1"/>
          </p:nvCxnSpPr>
          <p:spPr>
            <a:xfrm flipV="1">
              <a:off x="-1486" y="-3020401"/>
              <a:ext cx="8051753" cy="9102281"/>
            </a:xfrm>
            <a:prstGeom prst="line">
              <a:avLst/>
            </a:prstGeom>
            <a:ln w="12700" cap="rnd">
              <a:solidFill>
                <a:schemeClr val="bg1"/>
              </a:solidFill>
              <a:round/>
            </a:ln>
          </p:spPr>
          <p:style>
            <a:lnRef idx="1">
              <a:schemeClr val="accent1"/>
            </a:lnRef>
            <a:fillRef idx="0">
              <a:schemeClr val="accent1"/>
            </a:fillRef>
            <a:effectRef idx="0">
              <a:schemeClr val="accent1"/>
            </a:effectRef>
            <a:fontRef idx="minor">
              <a:schemeClr val="tx1"/>
            </a:fontRef>
          </p:style>
        </p:cxnSp>
      </p:grpSp>
      <p:sp>
        <p:nvSpPr>
          <p:cNvPr id="30" name="Freeform: Shape 29">
            <a:extLst>
              <a:ext uri="{FF2B5EF4-FFF2-40B4-BE49-F238E27FC236}">
                <a16:creationId xmlns:a16="http://schemas.microsoft.com/office/drawing/2014/main" id="{4632403F-4B9F-429E-9B25-0ECDFD42CF19}"/>
              </a:ext>
            </a:extLst>
          </p:cNvPr>
          <p:cNvSpPr/>
          <p:nvPr userDrawn="1"/>
        </p:nvSpPr>
        <p:spPr>
          <a:xfrm>
            <a:off x="5762123" y="3127829"/>
            <a:ext cx="667754" cy="602342"/>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bg1"/>
          </a:solidFill>
          <a:ln w="6350" cap="flat">
            <a:noFill/>
            <a:prstDash val="solid"/>
            <a:miter/>
          </a:ln>
        </p:spPr>
        <p:txBody>
          <a:bodyPr rtlCol="0" anchor="ctr"/>
          <a:lstStyle/>
          <a:p>
            <a:endParaRPr lang="en-US">
              <a:solidFill>
                <a:schemeClr val="bg1"/>
              </a:solidFill>
            </a:endParaRPr>
          </a:p>
        </p:txBody>
      </p:sp>
      <p:pic>
        <p:nvPicPr>
          <p:cNvPr id="17" name="Graphic 16">
            <a:extLst>
              <a:ext uri="{FF2B5EF4-FFF2-40B4-BE49-F238E27FC236}">
                <a16:creationId xmlns:a16="http://schemas.microsoft.com/office/drawing/2014/main" id="{120D6684-9CB4-432C-84B7-4ABC08AE7CC3}"/>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0953750" y="6376921"/>
            <a:ext cx="924497" cy="213562"/>
          </a:xfrm>
          <a:prstGeom prst="rect">
            <a:avLst/>
          </a:prstGeom>
        </p:spPr>
      </p:pic>
    </p:spTree>
    <p:extLst>
      <p:ext uri="{BB962C8B-B14F-4D97-AF65-F5344CB8AC3E}">
        <p14:creationId xmlns:p14="http://schemas.microsoft.com/office/powerpoint/2010/main" val="424662315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0_3 Espaços v1 Report">
    <p:bg>
      <p:bgPr>
        <a:solidFill>
          <a:schemeClr val="bg1"/>
        </a:solidFill>
        <a:effectLst/>
      </p:bgPr>
    </p:bg>
    <p:spTree>
      <p:nvGrpSpPr>
        <p:cNvPr id="1" name=""/>
        <p:cNvGrpSpPr/>
        <p:nvPr/>
      </p:nvGrpSpPr>
      <p:grpSpPr>
        <a:xfrm>
          <a:off x="0" y="0"/>
          <a:ext cx="0" cy="0"/>
          <a:chOff x="0" y="0"/>
          <a:chExt cx="0" cy="0"/>
        </a:xfrm>
      </p:grpSpPr>
      <p:sp>
        <p:nvSpPr>
          <p:cNvPr id="59" name="Text Placeholder 21">
            <a:extLst>
              <a:ext uri="{FF2B5EF4-FFF2-40B4-BE49-F238E27FC236}">
                <a16:creationId xmlns:a16="http://schemas.microsoft.com/office/drawing/2014/main" id="{D424C4DF-D303-4CA2-ACE4-00820506B159}"/>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2023865"/>
            <a:ext cx="11518900" cy="2599105"/>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228251"/>
            <a:ext cx="11518900" cy="727550"/>
          </a:xfrm>
          <a:prstGeom prst="rect">
            <a:avLst/>
          </a:prstGeom>
          <a:solidFill>
            <a:schemeClr val="bg1">
              <a:lumMod val="95000"/>
            </a:schemeClr>
          </a:solidFill>
        </p:spPr>
        <p:txBody>
          <a:bodyPr vert="horz" lIns="36000" tIns="36000" rIns="36000" bIns="36000" rtlCol="0" anchor="t">
            <a:noAutofit/>
          </a:bodyPr>
          <a:lstStyle>
            <a:lvl1pPr algn="just">
              <a:lnSpc>
                <a:spcPct val="125000"/>
              </a:lnSpc>
              <a:spcBef>
                <a:spcPts val="600"/>
              </a:spcBef>
              <a:defRPr lang="pt-BR" sz="1000" b="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5" name="Espaço Reservado para Conteúdo 14">
            <a:extLst>
              <a:ext uri="{FF2B5EF4-FFF2-40B4-BE49-F238E27FC236}">
                <a16:creationId xmlns:a16="http://schemas.microsoft.com/office/drawing/2014/main" id="{6A3E094B-99B8-4C23-975E-F513132C64E9}"/>
              </a:ext>
            </a:extLst>
          </p:cNvPr>
          <p:cNvSpPr>
            <a:spLocks noGrp="1"/>
          </p:cNvSpPr>
          <p:nvPr>
            <p:ph sz="quarter" idx="19" hasCustomPrompt="1"/>
          </p:nvPr>
        </p:nvSpPr>
        <p:spPr>
          <a:xfrm>
            <a:off x="336000" y="5029925"/>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47" name="Espaço Reservado para Conteúdo 14">
            <a:extLst>
              <a:ext uri="{FF2B5EF4-FFF2-40B4-BE49-F238E27FC236}">
                <a16:creationId xmlns:a16="http://schemas.microsoft.com/office/drawing/2014/main" id="{D860E960-11CA-4272-9964-75E5AE26D1E5}"/>
              </a:ext>
            </a:extLst>
          </p:cNvPr>
          <p:cNvSpPr>
            <a:spLocks noGrp="1"/>
          </p:cNvSpPr>
          <p:nvPr>
            <p:ph sz="quarter" idx="25" hasCustomPrompt="1"/>
          </p:nvPr>
        </p:nvSpPr>
        <p:spPr>
          <a:xfrm>
            <a:off x="336000" y="4735310"/>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8" name="Espaço Reservado para Conteúdo 14">
            <a:extLst>
              <a:ext uri="{FF2B5EF4-FFF2-40B4-BE49-F238E27FC236}">
                <a16:creationId xmlns:a16="http://schemas.microsoft.com/office/drawing/2014/main" id="{DA54B840-534F-467E-BB75-F45BB972CB20}"/>
              </a:ext>
            </a:extLst>
          </p:cNvPr>
          <p:cNvSpPr>
            <a:spLocks noGrp="1"/>
          </p:cNvSpPr>
          <p:nvPr>
            <p:ph sz="quarter" idx="26" hasCustomPrompt="1"/>
          </p:nvPr>
        </p:nvSpPr>
        <p:spPr>
          <a:xfrm>
            <a:off x="4253456" y="5030967"/>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0" name="Espaço Reservado para Conteúdo 14">
            <a:extLst>
              <a:ext uri="{FF2B5EF4-FFF2-40B4-BE49-F238E27FC236}">
                <a16:creationId xmlns:a16="http://schemas.microsoft.com/office/drawing/2014/main" id="{7A60C311-B580-4F1F-AAAE-CDD78FA5F66D}"/>
              </a:ext>
            </a:extLst>
          </p:cNvPr>
          <p:cNvSpPr>
            <a:spLocks noGrp="1"/>
          </p:cNvSpPr>
          <p:nvPr>
            <p:ph sz="quarter" idx="27" hasCustomPrompt="1"/>
          </p:nvPr>
        </p:nvSpPr>
        <p:spPr>
          <a:xfrm>
            <a:off x="4253456" y="4736352"/>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1" name="Espaço Reservado para Conteúdo 14">
            <a:extLst>
              <a:ext uri="{FF2B5EF4-FFF2-40B4-BE49-F238E27FC236}">
                <a16:creationId xmlns:a16="http://schemas.microsoft.com/office/drawing/2014/main" id="{CDB0A697-A434-46B8-9C05-837C7C6A01A2}"/>
              </a:ext>
            </a:extLst>
          </p:cNvPr>
          <p:cNvSpPr>
            <a:spLocks noGrp="1"/>
          </p:cNvSpPr>
          <p:nvPr>
            <p:ph sz="quarter" idx="28" hasCustomPrompt="1"/>
          </p:nvPr>
        </p:nvSpPr>
        <p:spPr>
          <a:xfrm>
            <a:off x="8159750" y="5027157"/>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2" name="Espaço Reservado para Conteúdo 14">
            <a:extLst>
              <a:ext uri="{FF2B5EF4-FFF2-40B4-BE49-F238E27FC236}">
                <a16:creationId xmlns:a16="http://schemas.microsoft.com/office/drawing/2014/main" id="{3CA158A3-7402-4044-9690-CF3E3034B2E1}"/>
              </a:ext>
            </a:extLst>
          </p:cNvPr>
          <p:cNvSpPr>
            <a:spLocks noGrp="1"/>
          </p:cNvSpPr>
          <p:nvPr>
            <p:ph sz="quarter" idx="29" hasCustomPrompt="1"/>
          </p:nvPr>
        </p:nvSpPr>
        <p:spPr>
          <a:xfrm>
            <a:off x="8159750" y="4732542"/>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0" y="188913"/>
            <a:ext cx="8351838"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56" name="Espaço Reservado para Texto 6">
            <a:extLst>
              <a:ext uri="{FF2B5EF4-FFF2-40B4-BE49-F238E27FC236}">
                <a16:creationId xmlns:a16="http://schemas.microsoft.com/office/drawing/2014/main" id="{28BE2B96-DDD6-4744-A34C-3D2BE7271C5C}"/>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5" name="Date Placeholder 1">
            <a:extLst>
              <a:ext uri="{FF2B5EF4-FFF2-40B4-BE49-F238E27FC236}">
                <a16:creationId xmlns:a16="http://schemas.microsoft.com/office/drawing/2014/main" id="{F473DC8A-AE82-48E2-B130-E6602BBA124A}"/>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A6844A8F-C80F-444C-AD01-359786A22A4E}" type="datetime4">
              <a:rPr lang="pt-BR" smtClean="0"/>
              <a:pPr/>
              <a:t>2 de julho de 2026</a:t>
            </a:fld>
            <a:endParaRPr lang="en-US" dirty="0"/>
          </a:p>
        </p:txBody>
      </p:sp>
    </p:spTree>
    <p:extLst>
      <p:ext uri="{BB962C8B-B14F-4D97-AF65-F5344CB8AC3E}">
        <p14:creationId xmlns:p14="http://schemas.microsoft.com/office/powerpoint/2010/main" val="4103353456"/>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36" name="Group 35">
            <a:extLst>
              <a:ext uri="{FF2B5EF4-FFF2-40B4-BE49-F238E27FC236}">
                <a16:creationId xmlns:a16="http://schemas.microsoft.com/office/drawing/2014/main" id="{01297E8A-BBDE-4293-90C7-131F45678E37}"/>
              </a:ext>
            </a:extLst>
          </p:cNvPr>
          <p:cNvGrpSpPr/>
          <p:nvPr userDrawn="1"/>
        </p:nvGrpSpPr>
        <p:grpSpPr>
          <a:xfrm>
            <a:off x="-954966" y="0"/>
            <a:ext cx="850185" cy="1861222"/>
            <a:chOff x="-954966" y="304355"/>
            <a:chExt cx="850185" cy="1861222"/>
          </a:xfrm>
        </p:grpSpPr>
        <p:sp>
          <p:nvSpPr>
            <p:cNvPr id="37" name="Retângulo 13">
              <a:extLst>
                <a:ext uri="{FF2B5EF4-FFF2-40B4-BE49-F238E27FC236}">
                  <a16:creationId xmlns:a16="http://schemas.microsoft.com/office/drawing/2014/main" id="{3AA95D09-E6E1-455E-A12A-0B7004FA5266}"/>
                </a:ext>
              </a:extLst>
            </p:cNvPr>
            <p:cNvSpPr/>
            <p:nvPr userDrawn="1"/>
          </p:nvSpPr>
          <p:spPr>
            <a:xfrm>
              <a:off x="-954966" y="1885648"/>
              <a:ext cx="850185" cy="279929"/>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pt-B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pt-BR" sz="900" b="1" dirty="0">
                  <a:latin typeface="Roboto" panose="02000000000000000000" pitchFamily="2" charset="0"/>
                  <a:ea typeface="Roboto" panose="02000000000000000000" pitchFamily="2" charset="0"/>
                  <a:cs typeface="Roboto" panose="02000000000000000000" pitchFamily="2" charset="0"/>
                </a:rPr>
                <a:t>126 126 126</a:t>
              </a:r>
            </a:p>
          </p:txBody>
        </p:sp>
        <p:sp>
          <p:nvSpPr>
            <p:cNvPr id="38" name="Retângulo 14">
              <a:extLst>
                <a:ext uri="{FF2B5EF4-FFF2-40B4-BE49-F238E27FC236}">
                  <a16:creationId xmlns:a16="http://schemas.microsoft.com/office/drawing/2014/main" id="{F11F0483-491A-4BB4-9426-359C3667CEA5}"/>
                </a:ext>
              </a:extLst>
            </p:cNvPr>
            <p:cNvSpPr/>
            <p:nvPr userDrawn="1"/>
          </p:nvSpPr>
          <p:spPr>
            <a:xfrm>
              <a:off x="-954966" y="936873"/>
              <a:ext cx="850185" cy="27992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pt-B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pt-BR" sz="900" b="1" dirty="0">
                  <a:latin typeface="Roboto" panose="02000000000000000000" pitchFamily="2" charset="0"/>
                  <a:ea typeface="Roboto" panose="02000000000000000000" pitchFamily="2" charset="0"/>
                  <a:cs typeface="Roboto" panose="02000000000000000000" pitchFamily="2" charset="0"/>
                </a:rPr>
                <a:t>255 188 0</a:t>
              </a:r>
            </a:p>
          </p:txBody>
        </p:sp>
        <p:sp>
          <p:nvSpPr>
            <p:cNvPr id="39" name="Retângulo 16">
              <a:extLst>
                <a:ext uri="{FF2B5EF4-FFF2-40B4-BE49-F238E27FC236}">
                  <a16:creationId xmlns:a16="http://schemas.microsoft.com/office/drawing/2014/main" id="{F132B67C-337F-4AD9-BDCC-DFFD7252F949}"/>
                </a:ext>
              </a:extLst>
            </p:cNvPr>
            <p:cNvSpPr/>
            <p:nvPr userDrawn="1"/>
          </p:nvSpPr>
          <p:spPr>
            <a:xfrm>
              <a:off x="-954966" y="1253132"/>
              <a:ext cx="850185" cy="27992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pt-B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pt-BR" sz="900" b="1" dirty="0">
                  <a:latin typeface="Roboto" panose="02000000000000000000" pitchFamily="2" charset="0"/>
                  <a:ea typeface="Roboto" panose="02000000000000000000" pitchFamily="2" charset="0"/>
                  <a:cs typeface="Roboto" panose="02000000000000000000" pitchFamily="2" charset="0"/>
                </a:rPr>
                <a:t>0 210 197</a:t>
              </a:r>
            </a:p>
          </p:txBody>
        </p:sp>
        <p:sp>
          <p:nvSpPr>
            <p:cNvPr id="40" name="Retângulo 18">
              <a:extLst>
                <a:ext uri="{FF2B5EF4-FFF2-40B4-BE49-F238E27FC236}">
                  <a16:creationId xmlns:a16="http://schemas.microsoft.com/office/drawing/2014/main" id="{FC03D85E-9A50-4C52-BEE1-98C62D9BC256}"/>
                </a:ext>
              </a:extLst>
            </p:cNvPr>
            <p:cNvSpPr/>
            <p:nvPr userDrawn="1"/>
          </p:nvSpPr>
          <p:spPr>
            <a:xfrm>
              <a:off x="-954966" y="304355"/>
              <a:ext cx="850185" cy="27992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pt-B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pt-BR" sz="900" b="1" dirty="0">
                  <a:latin typeface="Roboto" panose="02000000000000000000" pitchFamily="2" charset="0"/>
                  <a:ea typeface="Roboto" panose="02000000000000000000" pitchFamily="2" charset="0"/>
                  <a:cs typeface="Roboto" panose="02000000000000000000" pitchFamily="2" charset="0"/>
                </a:rPr>
                <a:t>0 0 0</a:t>
              </a:r>
            </a:p>
          </p:txBody>
        </p:sp>
        <p:sp>
          <p:nvSpPr>
            <p:cNvPr id="41" name="Retângulo 19">
              <a:extLst>
                <a:ext uri="{FF2B5EF4-FFF2-40B4-BE49-F238E27FC236}">
                  <a16:creationId xmlns:a16="http://schemas.microsoft.com/office/drawing/2014/main" id="{311565C6-9EB7-4E68-9DA3-88F7E38F2249}"/>
                </a:ext>
              </a:extLst>
            </p:cNvPr>
            <p:cNvSpPr/>
            <p:nvPr userDrawn="1"/>
          </p:nvSpPr>
          <p:spPr>
            <a:xfrm>
              <a:off x="-954966" y="620614"/>
              <a:ext cx="850185" cy="27992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pt-B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pt-BR" sz="900" b="1" dirty="0">
                  <a:latin typeface="Roboto" panose="02000000000000000000" pitchFamily="2" charset="0"/>
                  <a:ea typeface="Roboto" panose="02000000000000000000" pitchFamily="2" charset="0"/>
                  <a:cs typeface="Roboto" panose="02000000000000000000" pitchFamily="2" charset="0"/>
                </a:rPr>
                <a:t>50 52 54</a:t>
              </a:r>
            </a:p>
          </p:txBody>
        </p:sp>
        <p:sp>
          <p:nvSpPr>
            <p:cNvPr id="42" name="Retângulo 25">
              <a:extLst>
                <a:ext uri="{FF2B5EF4-FFF2-40B4-BE49-F238E27FC236}">
                  <a16:creationId xmlns:a16="http://schemas.microsoft.com/office/drawing/2014/main" id="{4098D990-3A3F-4006-8DF9-51A190E5F76D}"/>
                </a:ext>
              </a:extLst>
            </p:cNvPr>
            <p:cNvSpPr/>
            <p:nvPr userDrawn="1"/>
          </p:nvSpPr>
          <p:spPr>
            <a:xfrm>
              <a:off x="-954966" y="1569391"/>
              <a:ext cx="850185" cy="27992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pt-B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pt-BR" sz="900" b="1" dirty="0">
                  <a:latin typeface="Roboto" panose="02000000000000000000" pitchFamily="2" charset="0"/>
                  <a:ea typeface="Roboto" panose="02000000000000000000" pitchFamily="2" charset="0"/>
                  <a:cs typeface="Roboto" panose="02000000000000000000" pitchFamily="2" charset="0"/>
                </a:rPr>
                <a:t>64 64 64</a:t>
              </a:r>
            </a:p>
          </p:txBody>
        </p:sp>
      </p:grpSp>
      <p:sp>
        <p:nvSpPr>
          <p:cNvPr id="10" name="CaixaDeTexto 9">
            <a:extLst>
              <a:ext uri="{FF2B5EF4-FFF2-40B4-BE49-F238E27FC236}">
                <a16:creationId xmlns:a16="http://schemas.microsoft.com/office/drawing/2014/main" id="{814DD45A-D6F2-46EA-AA62-68E98F5F4987}"/>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tx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cxnSp>
        <p:nvCxnSpPr>
          <p:cNvPr id="8" name="Conector reto 7">
            <a:extLst>
              <a:ext uri="{FF2B5EF4-FFF2-40B4-BE49-F238E27FC236}">
                <a16:creationId xmlns:a16="http://schemas.microsoft.com/office/drawing/2014/main" id="{33FAAD83-C482-4B7E-8CB8-CB3E60BE9194}"/>
              </a:ext>
            </a:extLst>
          </p:cNvPr>
          <p:cNvCxnSpPr/>
          <p:nvPr userDrawn="1"/>
        </p:nvCxnSpPr>
        <p:spPr>
          <a:xfrm>
            <a:off x="0" y="6858000"/>
            <a:ext cx="12192000"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3" name="CaixaDeTexto 2">
            <a:extLst>
              <a:ext uri="{FF2B5EF4-FFF2-40B4-BE49-F238E27FC236}">
                <a16:creationId xmlns:a16="http://schemas.microsoft.com/office/drawing/2014/main" id="{1D7C2553-B825-4B03-AF3B-B56FF4A570D3}"/>
              </a:ext>
            </a:extLst>
          </p:cNvPr>
          <p:cNvSpPr txBox="1"/>
          <p:nvPr userDrawn="1"/>
        </p:nvSpPr>
        <p:spPr>
          <a:xfrm>
            <a:off x="10818891" y="6364275"/>
            <a:ext cx="876210" cy="230832"/>
          </a:xfrm>
          <a:prstGeom prst="rect">
            <a:avLst/>
          </a:prstGeom>
        </p:spPr>
        <p:txBody>
          <a:bodyPr vert="horz" wrap="square" lIns="0" tIns="25718" rIns="0" bIns="25718" numCol="1" anchor="ctr" anchorCtr="0" compatLnSpc="1">
            <a:prstTxWarp prst="textNoShape">
              <a:avLst/>
            </a:prstTxWarp>
          </a:bodyPr>
          <a:lstStyle>
            <a:defPPr>
              <a:defRPr lang="pt-BR"/>
            </a:defPPr>
            <a:lvl1pPr lvl="0" algn="ctr">
              <a:defRPr sz="900" b="0">
                <a:latin typeface="Roboto Thin" panose="02000000000000000000" pitchFamily="2" charset="0"/>
                <a:ea typeface="Roboto Thin" panose="02000000000000000000" pitchFamily="2" charset="0"/>
                <a:cs typeface="Roboto Thin" panose="02000000000000000000" pitchFamily="2" charset="0"/>
              </a:defRPr>
            </a:lvl1pPr>
          </a:lstStyle>
          <a:p>
            <a:pPr lvl="0" algn="r"/>
            <a:r>
              <a:rPr lang="pt-BR" sz="800" dirty="0">
                <a:latin typeface="Roboto" panose="02000000000000000000" pitchFamily="2" charset="0"/>
                <a:ea typeface="Roboto" panose="02000000000000000000" pitchFamily="2" charset="0"/>
                <a:cs typeface="Roboto" panose="02000000000000000000" pitchFamily="2" charset="0"/>
              </a:rPr>
              <a:t>EQUITY RESEARCH</a:t>
            </a:r>
          </a:p>
        </p:txBody>
      </p:sp>
      <p:cxnSp>
        <p:nvCxnSpPr>
          <p:cNvPr id="33" name="Conector Reto 170">
            <a:extLst>
              <a:ext uri="{FF2B5EF4-FFF2-40B4-BE49-F238E27FC236}">
                <a16:creationId xmlns:a16="http://schemas.microsoft.com/office/drawing/2014/main" id="{F2D51BA9-75B3-4424-AA8F-E379994343EA}"/>
              </a:ext>
            </a:extLst>
          </p:cNvPr>
          <p:cNvCxnSpPr>
            <a:cxnSpLocks/>
          </p:cNvCxnSpPr>
          <p:nvPr userDrawn="1"/>
        </p:nvCxnSpPr>
        <p:spPr>
          <a:xfrm flipV="1">
            <a:off x="691991" y="6297167"/>
            <a:ext cx="0" cy="36504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2" name="Date Placeholder 1">
            <a:extLst>
              <a:ext uri="{FF2B5EF4-FFF2-40B4-BE49-F238E27FC236}">
                <a16:creationId xmlns:a16="http://schemas.microsoft.com/office/drawing/2014/main" id="{4B83431C-0473-4242-B64D-3953534562FB}"/>
              </a:ext>
            </a:extLst>
          </p:cNvPr>
          <p:cNvSpPr>
            <a:spLocks noGrp="1"/>
          </p:cNvSpPr>
          <p:nvPr userDrawn="1">
            <p:ph type="dt" sz="half" idx="2"/>
          </p:nvPr>
        </p:nvSpPr>
        <p:spPr>
          <a:xfrm>
            <a:off x="8709026" y="345645"/>
            <a:ext cx="3146424" cy="210546"/>
          </a:xfrm>
          <a:prstGeom prst="rect">
            <a:avLst/>
          </a:prstGeom>
        </p:spPr>
        <p:txBody>
          <a:bodyPr vert="horz" lIns="91440" tIns="45720" rIns="91440" bIns="45720" rtlCol="0" anchor="ctr"/>
          <a:lstStyle>
            <a:lvl1pPr algn="r">
              <a:defRPr sz="1100">
                <a:solidFill>
                  <a:schemeClr val="tx2"/>
                </a:solidFill>
                <a:latin typeface="+mn-lt"/>
                <a:ea typeface="Roboto Slab" pitchFamily="2" charset="0"/>
                <a:cs typeface="Roboto" panose="02000000000000000000" pitchFamily="2" charset="0"/>
              </a:defRPr>
            </a:lvl1pPr>
          </a:lstStyle>
          <a:p>
            <a:fld id="{5A4CF137-961F-40CC-9272-458A69979960}" type="datetime4">
              <a:rPr lang="pt-BR" smtClean="0"/>
              <a:pPr/>
              <a:t>2 de julho de 2026</a:t>
            </a:fld>
            <a:endParaRPr lang="en-US" dirty="0"/>
          </a:p>
        </p:txBody>
      </p:sp>
      <p:sp>
        <p:nvSpPr>
          <p:cNvPr id="15" name="Freeform: Shape 14">
            <a:extLst>
              <a:ext uri="{FF2B5EF4-FFF2-40B4-BE49-F238E27FC236}">
                <a16:creationId xmlns:a16="http://schemas.microsoft.com/office/drawing/2014/main" id="{2600E467-0AF0-45B5-9014-4BA6F4A1BFAB}"/>
              </a:ext>
            </a:extLst>
          </p:cNvPr>
          <p:cNvSpPr/>
          <p:nvPr userDrawn="1"/>
        </p:nvSpPr>
        <p:spPr>
          <a:xfrm>
            <a:off x="336550" y="6357706"/>
            <a:ext cx="270465" cy="243970"/>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tx1"/>
          </a:solidFill>
          <a:ln w="6350" cap="flat">
            <a:noFill/>
            <a:prstDash val="solid"/>
            <a:miter/>
          </a:ln>
        </p:spPr>
        <p:txBody>
          <a:bodyPr rtlCol="0" anchor="ctr"/>
          <a:lstStyle/>
          <a:p>
            <a:endParaRPr lang="en-US"/>
          </a:p>
        </p:txBody>
      </p:sp>
      <p:sp>
        <p:nvSpPr>
          <p:cNvPr id="16" name="Espaço Reservado para Texto 6">
            <a:extLst>
              <a:ext uri="{FF2B5EF4-FFF2-40B4-BE49-F238E27FC236}">
                <a16:creationId xmlns:a16="http://schemas.microsoft.com/office/drawing/2014/main" id="{3A52104E-97DC-4B15-AED8-B82C6576670F}"/>
              </a:ext>
            </a:extLst>
          </p:cNvPr>
          <p:cNvSpPr txBox="1">
            <a:spLocks/>
          </p:cNvSpPr>
          <p:nvPr userDrawn="1"/>
        </p:nvSpPr>
        <p:spPr>
          <a:xfrm>
            <a:off x="8723310" y="567647"/>
            <a:ext cx="3132139" cy="142093"/>
          </a:xfrm>
          <a:prstGeom prst="rect">
            <a:avLst/>
          </a:prstGeom>
        </p:spPr>
        <p:txBody>
          <a:bodyPr vert="horz" lIns="0" tIns="0" rIns="0" bIns="0" rtlCol="0" anchor="t">
            <a:noAutofit/>
          </a:bodyPr>
          <a:lstStyle>
            <a:lvl1pPr marL="0" indent="0" algn="r" defTabSz="685808" rtl="0" eaLnBrk="1" latinLnBrk="0" hangingPunct="1">
              <a:lnSpc>
                <a:spcPct val="90000"/>
              </a:lnSpc>
              <a:spcBef>
                <a:spcPts val="751"/>
              </a:spcBef>
              <a:buFont typeface="Arial" panose="020B0604020202020204" pitchFamily="34" charset="0"/>
              <a:buNone/>
              <a:defRPr lang="pt-BR" sz="1200" b="0" kern="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marL="404817" indent="-136925" algn="l" defTabSz="685808" rtl="0" eaLnBrk="1" latinLnBrk="0" hangingPunct="1">
              <a:lnSpc>
                <a:spcPct val="90000"/>
              </a:lnSpc>
              <a:spcBef>
                <a:spcPts val="375"/>
              </a:spcBef>
              <a:buFont typeface="Arial" panose="020B0604020202020204" pitchFamily="34" charset="0"/>
              <a:buChar char="•"/>
              <a:defRPr sz="1051" kern="1200">
                <a:solidFill>
                  <a:schemeClr val="tx2"/>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tx2"/>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r>
              <a:rPr lang="en-US" sz="1100" dirty="0" err="1"/>
              <a:t>Estratégia</a:t>
            </a:r>
            <a:r>
              <a:rPr lang="en-US" sz="1100" dirty="0"/>
              <a:t> | </a:t>
            </a:r>
            <a:r>
              <a:rPr lang="en-US" sz="1100" dirty="0" err="1"/>
              <a:t>Carteira</a:t>
            </a:r>
            <a:r>
              <a:rPr lang="en-US" sz="1100" dirty="0"/>
              <a:t> XP</a:t>
            </a:r>
          </a:p>
        </p:txBody>
      </p:sp>
    </p:spTree>
    <p:extLst>
      <p:ext uri="{BB962C8B-B14F-4D97-AF65-F5344CB8AC3E}">
        <p14:creationId xmlns:p14="http://schemas.microsoft.com/office/powerpoint/2010/main" val="1777323005"/>
      </p:ext>
    </p:extLst>
  </p:cSld>
  <p:clrMap bg1="lt1" tx1="dk1" bg2="lt2" tx2="dk2" accent1="accent1" accent2="accent2" accent3="accent3" accent4="accent4" accent5="accent5" accent6="accent6" hlink="hlink" folHlink="folHlink"/>
  <p:sldLayoutIdLst>
    <p:sldLayoutId id="2147483940" r:id="rId1"/>
    <p:sldLayoutId id="2147483918" r:id="rId2"/>
    <p:sldLayoutId id="2147483920" r:id="rId3"/>
    <p:sldLayoutId id="2147483941" r:id="rId4"/>
    <p:sldLayoutId id="2147483953" r:id="rId5"/>
    <p:sldLayoutId id="2147483954" r:id="rId6"/>
    <p:sldLayoutId id="2147483955" r:id="rId7"/>
    <p:sldLayoutId id="2147483956" r:id="rId8"/>
    <p:sldLayoutId id="2147483957" r:id="rId9"/>
    <p:sldLayoutId id="2147483958" r:id="rId10"/>
    <p:sldLayoutId id="2147483959" r:id="rId11"/>
    <p:sldLayoutId id="2147483960" r:id="rId12"/>
    <p:sldLayoutId id="2147483961" r:id="rId13"/>
    <p:sldLayoutId id="2147483962" r:id="rId14"/>
    <p:sldLayoutId id="2147483963" r:id="rId15"/>
    <p:sldLayoutId id="2147483947" r:id="rId16"/>
    <p:sldLayoutId id="2147483948" r:id="rId17"/>
    <p:sldLayoutId id="2147483949" r:id="rId18"/>
    <p:sldLayoutId id="2147483950" r:id="rId19"/>
    <p:sldLayoutId id="2147483951" r:id="rId20"/>
    <p:sldLayoutId id="2147483944" r:id="rId21"/>
    <p:sldLayoutId id="2147483942" r:id="rId22"/>
    <p:sldLayoutId id="2147483943" r:id="rId23"/>
    <p:sldLayoutId id="2147483893" r:id="rId24"/>
    <p:sldLayoutId id="2147483952" r:id="rId25"/>
    <p:sldLayoutId id="2147483946" r:id="rId26"/>
    <p:sldLayoutId id="2147483965" r:id="rId27"/>
    <p:sldLayoutId id="2147483916" r:id="rId28"/>
    <p:sldLayoutId id="2147483964" r:id="rId29"/>
  </p:sldLayoutIdLst>
  <p:hf sldNum="0" hdr="0" ftr="0"/>
  <p:txStyles>
    <p:titleStyle>
      <a:lvl1pPr algn="l" defTabSz="685808" rtl="0" eaLnBrk="1" latinLnBrk="0" hangingPunct="1">
        <a:lnSpc>
          <a:spcPct val="90000"/>
        </a:lnSpc>
        <a:spcBef>
          <a:spcPct val="0"/>
        </a:spcBef>
        <a:buNone/>
        <a:defRPr sz="2251" b="0" kern="1200">
          <a:solidFill>
            <a:schemeClr val="tx1"/>
          </a:solidFill>
          <a:latin typeface="+mj-lt"/>
          <a:ea typeface="+mj-ea"/>
          <a:cs typeface="+mj-cs"/>
        </a:defRPr>
      </a:lvl1pPr>
    </p:titleStyle>
    <p:bodyStyle>
      <a:lvl1pPr marL="0" indent="0" algn="l" defTabSz="685808" rtl="0" eaLnBrk="1" latinLnBrk="0" hangingPunct="1">
        <a:lnSpc>
          <a:spcPct val="90000"/>
        </a:lnSpc>
        <a:spcBef>
          <a:spcPts val="751"/>
        </a:spcBef>
        <a:buFont typeface="Arial" panose="020B0604020202020204" pitchFamily="34" charset="0"/>
        <a:buNone/>
        <a:defRPr sz="1200" kern="1200">
          <a:solidFill>
            <a:schemeClr val="tx2"/>
          </a:solidFill>
          <a:latin typeface="+mn-lt"/>
          <a:ea typeface="+mn-ea"/>
          <a:cs typeface="+mn-cs"/>
        </a:defRPr>
      </a:lvl1pPr>
      <a:lvl2pPr marL="404817" indent="-136925" algn="l" defTabSz="685808" rtl="0" eaLnBrk="1" latinLnBrk="0" hangingPunct="1">
        <a:lnSpc>
          <a:spcPct val="90000"/>
        </a:lnSpc>
        <a:spcBef>
          <a:spcPts val="375"/>
        </a:spcBef>
        <a:buFont typeface="Arial" panose="020B0604020202020204" pitchFamily="34" charset="0"/>
        <a:buChar char="•"/>
        <a:defRPr sz="1051" kern="1200">
          <a:solidFill>
            <a:schemeClr val="tx2"/>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tx2"/>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pt-BR"/>
      </a:defPPr>
      <a:lvl1pPr marL="0" algn="l" defTabSz="685808" rtl="0" eaLnBrk="1" latinLnBrk="0" hangingPunct="1">
        <a:defRPr sz="1351" kern="1200">
          <a:solidFill>
            <a:schemeClr val="tx1"/>
          </a:solidFill>
          <a:latin typeface="+mn-lt"/>
          <a:ea typeface="+mn-ea"/>
          <a:cs typeface="+mn-cs"/>
        </a:defRPr>
      </a:lvl1pPr>
      <a:lvl2pPr marL="342905" algn="l" defTabSz="685808" rtl="0" eaLnBrk="1" latinLnBrk="0" hangingPunct="1">
        <a:defRPr sz="1351" kern="1200">
          <a:solidFill>
            <a:schemeClr val="tx1"/>
          </a:solidFill>
          <a:latin typeface="+mn-lt"/>
          <a:ea typeface="+mn-ea"/>
          <a:cs typeface="+mn-cs"/>
        </a:defRPr>
      </a:lvl2pPr>
      <a:lvl3pPr marL="685808" algn="l" defTabSz="685808" rtl="0" eaLnBrk="1" latinLnBrk="0" hangingPunct="1">
        <a:defRPr sz="1351" kern="1200">
          <a:solidFill>
            <a:schemeClr val="tx1"/>
          </a:solidFill>
          <a:latin typeface="+mn-lt"/>
          <a:ea typeface="+mn-ea"/>
          <a:cs typeface="+mn-cs"/>
        </a:defRPr>
      </a:lvl3pPr>
      <a:lvl4pPr marL="1028713" algn="l" defTabSz="685808" rtl="0" eaLnBrk="1" latinLnBrk="0" hangingPunct="1">
        <a:defRPr sz="1351" kern="1200">
          <a:solidFill>
            <a:schemeClr val="tx1"/>
          </a:solidFill>
          <a:latin typeface="+mn-lt"/>
          <a:ea typeface="+mn-ea"/>
          <a:cs typeface="+mn-cs"/>
        </a:defRPr>
      </a:lvl4pPr>
      <a:lvl5pPr marL="1371617" algn="l" defTabSz="685808" rtl="0" eaLnBrk="1" latinLnBrk="0" hangingPunct="1">
        <a:defRPr sz="1351" kern="1200">
          <a:solidFill>
            <a:schemeClr val="tx1"/>
          </a:solidFill>
          <a:latin typeface="+mn-lt"/>
          <a:ea typeface="+mn-ea"/>
          <a:cs typeface="+mn-cs"/>
        </a:defRPr>
      </a:lvl5pPr>
      <a:lvl6pPr marL="1714522" algn="l" defTabSz="685808" rtl="0" eaLnBrk="1" latinLnBrk="0" hangingPunct="1">
        <a:defRPr sz="1351" kern="1200">
          <a:solidFill>
            <a:schemeClr val="tx1"/>
          </a:solidFill>
          <a:latin typeface="+mn-lt"/>
          <a:ea typeface="+mn-ea"/>
          <a:cs typeface="+mn-cs"/>
        </a:defRPr>
      </a:lvl6pPr>
      <a:lvl7pPr marL="2057426" algn="l" defTabSz="685808" rtl="0" eaLnBrk="1" latinLnBrk="0" hangingPunct="1">
        <a:defRPr sz="1351" kern="1200">
          <a:solidFill>
            <a:schemeClr val="tx1"/>
          </a:solidFill>
          <a:latin typeface="+mn-lt"/>
          <a:ea typeface="+mn-ea"/>
          <a:cs typeface="+mn-cs"/>
        </a:defRPr>
      </a:lvl7pPr>
      <a:lvl8pPr marL="2400330" algn="l" defTabSz="685808" rtl="0" eaLnBrk="1" latinLnBrk="0" hangingPunct="1">
        <a:defRPr sz="1351" kern="1200">
          <a:solidFill>
            <a:schemeClr val="tx1"/>
          </a:solidFill>
          <a:latin typeface="+mn-lt"/>
          <a:ea typeface="+mn-ea"/>
          <a:cs typeface="+mn-cs"/>
        </a:defRPr>
      </a:lvl8pPr>
      <a:lvl9pPr marL="2743235" algn="l" defTabSz="685808" rtl="0" eaLnBrk="1" latinLnBrk="0" hangingPunct="1">
        <a:defRPr sz="1351"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793">
          <p15:clr>
            <a:srgbClr val="F26B43"/>
          </p15:clr>
        </p15:guide>
        <p15:guide id="2" pos="212">
          <p15:clr>
            <a:srgbClr val="F26B43"/>
          </p15:clr>
        </p15:guide>
        <p15:guide id="3" pos="7468">
          <p15:clr>
            <a:srgbClr val="F26B43"/>
          </p15:clr>
        </p15:guide>
        <p15:guide id="4" orient="horz" pos="2273" userDrawn="1">
          <p15:clr>
            <a:srgbClr val="F26B43"/>
          </p15:clr>
        </p15:guide>
        <p15:guide id="5" orient="horz" pos="73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chart" Target="../charts/char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hyperlink" Target="https://conteudos.xpi.com.br/acoes/PETR4" TargetMode="External"/><Relationship Id="rId4" Type="http://schemas.openxmlformats.org/officeDocument/2006/relationships/hyperlink" Target="https://conteudos.xpi.com.br/acoes/PRIO3" TargetMode="External"/><Relationship Id="rId5" Type="http://schemas.openxmlformats.org/officeDocument/2006/relationships/hyperlink" Target="https://conteudos.xpi.com.br/acoes/GGBR4" TargetMode="External"/><Relationship Id="rId6" Type="http://schemas.openxmlformats.org/officeDocument/2006/relationships/hyperlink" Target="https://conteudos.xpi.com.br/acoes/VALE3" TargetMode="External"/><Relationship Id="rId7" Type="http://schemas.openxmlformats.org/officeDocument/2006/relationships/hyperlink" Target="https://conteudos.xpi.com.br/acoes/LREN3" TargetMode="External"/><Relationship Id="rId9" Type="http://schemas.openxmlformats.org/officeDocument/2006/relationships/hyperlink" Target="https://conteudos.xpi.com.br/acoes/EMBJ3" TargetMode="External"/><Relationship Id="rId10" Type="http://schemas.openxmlformats.org/officeDocument/2006/relationships/hyperlink" Target="https://conteudos.xpi.com.br/acoes/TOTS3" TargetMode="External"/><Relationship Id="rId11" Type="http://schemas.openxmlformats.org/officeDocument/2006/relationships/hyperlink" Target="https://conteudos.xpi.com.br/acoes/IGTI11" TargetMode="External"/><Relationship Id="rId12" Type="http://schemas.openxmlformats.org/officeDocument/2006/relationships/hyperlink" Target="https://conteudos.xpi.com.br/acoes/RDOR3" TargetMode="External"/><Relationship Id="rId13" Type="http://schemas.openxmlformats.org/officeDocument/2006/relationships/hyperlink" Target="https://conteudos.xpi.com.br/acoes/SBSP3" TargetMode="External"/><Relationship Id="rId14" Type="http://schemas.openxmlformats.org/officeDocument/2006/relationships/hyperlink" Target="https://conteudos.xpi.com.br/acoes/ORVR3" TargetMode="External"/><Relationship Id="rId16" Type="http://schemas.openxmlformats.org/officeDocument/2006/relationships/hyperlink" Target="https://conteudos.xpi.com.br/acoes/ITUB4" TargetMode="External"/><Relationship Id="rId17" Type="http://schemas.openxmlformats.org/officeDocument/2006/relationships/hyperlink" Target="https://conteudos.xpi.com.br/acoes/BPAC11" TargetMode="External"/><Relationship Id="rId18" Type="http://schemas.openxmlformats.org/officeDocument/2006/relationships/hyperlink" Target="https://conteudos.xpi.com.br/acoes/ROXO34"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ço Reservado para Data 4">
            <a:extLst>
              <a:ext uri="{FF2B5EF4-FFF2-40B4-BE49-F238E27FC236}">
                <a16:creationId xmlns:a16="http://schemas.microsoft.com/office/drawing/2014/main" id="{A351857F-E6D9-4751-A8F0-9CAA7E1C3ED9}"/>
              </a:ext>
            </a:extLst>
          </p:cNvPr>
          <p:cNvSpPr>
            <a:spLocks noGrp="1"/>
          </p:cNvSpPr>
          <p:nvPr>
            <p:ph type="dt" sz="half" idx="2"/>
          </p:nvPr>
        </p:nvSpPr>
        <p:spPr/>
        <p:txBody>
          <a:bodyPr/>
          <a:lstStyle/>
          <a:p>
            <a:fld id="{DEF07EAB-FF36-413A-9F9A-0AF5F3187EB1}" type="datetime4">
              <a:rPr lang="pt-BR" smtClean="0"/>
              <a:t>5 de agosto de 2026</a:t>
            </a:fld>
            <a:endParaRPr lang="en-US" dirty="0"/>
          </a:p>
        </p:txBody>
      </p:sp>
      <p:sp>
        <p:nvSpPr>
          <p:cNvPr id="16" name="Espaço Reservado para Texto 15">
            <a:extLst>
              <a:ext uri="{FF2B5EF4-FFF2-40B4-BE49-F238E27FC236}">
                <a16:creationId xmlns:a16="http://schemas.microsoft.com/office/drawing/2014/main" id="{07E0A3AD-562A-481D-87E7-55826769C801}"/>
              </a:ext>
            </a:extLst>
          </p:cNvPr>
          <p:cNvSpPr>
            <a:spLocks noGrp="1"/>
          </p:cNvSpPr>
          <p:nvPr>
            <p:ph type="body" sz="quarter" idx="19"/>
          </p:nvPr>
        </p:nvSpPr>
        <p:spPr/>
        <p:txBody>
          <a:bodyPr/>
          <a:lstStyle/>
          <a:p>
            <a:r>
              <a:rPr lang="en-US" sz="1100" dirty="0" err="1">
                <a:solidFill>
                  <a:schemeClr val="bg1"/>
                </a:solidFill>
                <a:latin typeface="Roboto Light" panose="02000000000000000000" pitchFamily="2" charset="0"/>
                <a:ea typeface="Roboto Light" panose="02000000000000000000" pitchFamily="2" charset="0"/>
                <a:cs typeface="Roboto" panose="02000000000000000000" pitchFamily="2" charset="0"/>
              </a:rPr>
              <a:t>Carteira</a:t>
            </a:r>
            <a:r>
              <a:rPr lang="en-US" sz="1100" dirty="0">
                <a:solidFill>
                  <a:schemeClr val="bg1"/>
                </a:solidFill>
                <a:latin typeface="Roboto Light" panose="02000000000000000000" pitchFamily="2" charset="0"/>
                <a:ea typeface="Roboto Light" panose="02000000000000000000" pitchFamily="2" charset="0"/>
                <a:cs typeface="Roboto" panose="02000000000000000000" pitchFamily="2" charset="0"/>
              </a:rPr>
              <a:t> Top </a:t>
            </a:r>
            <a:r>
              <a:rPr lang="en-US" dirty="0" err="1">
                <a:cs typeface="Roboto" panose="02000000000000000000" pitchFamily="2" charset="0"/>
              </a:rPr>
              <a:t>Ações</a:t>
            </a:r>
            <a:r>
              <a:rPr lang="en-US" sz="1100" dirty="0">
                <a:solidFill>
                  <a:schemeClr val="bg1"/>
                </a:solidFill>
                <a:latin typeface="Roboto Light" panose="02000000000000000000" pitchFamily="2" charset="0"/>
                <a:ea typeface="Roboto Light" panose="02000000000000000000" pitchFamily="2" charset="0"/>
                <a:cs typeface="Roboto" panose="02000000000000000000" pitchFamily="2" charset="0"/>
              </a:rPr>
              <a:t> XP</a:t>
            </a:r>
            <a:endParaRPr lang="pt-BR" dirty="0"/>
          </a:p>
        </p:txBody>
      </p:sp>
      <p:sp>
        <p:nvSpPr>
          <p:cNvPr id="17" name="Espaço Reservado para Texto 16">
            <a:extLst>
              <a:ext uri="{FF2B5EF4-FFF2-40B4-BE49-F238E27FC236}">
                <a16:creationId xmlns:a16="http://schemas.microsoft.com/office/drawing/2014/main" id="{49730D53-63A4-4B5A-8DC4-10E3ECEA54FF}"/>
              </a:ext>
            </a:extLst>
          </p:cNvPr>
          <p:cNvSpPr>
            <a:spLocks noGrp="1"/>
          </p:cNvSpPr>
          <p:nvPr>
            <p:ph type="body" sz="quarter" idx="18"/>
          </p:nvPr>
        </p:nvSpPr>
        <p:spPr/>
        <p:txBody>
          <a:bodyPr/>
          <a:lstStyle/>
          <a:p>
            <a:r>
              <a:rPr lang="pt-BR" dirty="0"/>
              <a:t>Fonte: </a:t>
            </a:r>
            <a:r>
              <a:rPr lang="pt-BR" dirty="0" err="1"/>
              <a:t>Economatica</a:t>
            </a:r>
            <a:r>
              <a:rPr lang="pt-BR" dirty="0"/>
              <a:t> e XP </a:t>
            </a:r>
            <a:r>
              <a:rPr lang="pt-BR" dirty="0" err="1"/>
              <a:t>Research</a:t>
            </a:r>
            <a:r>
              <a:rPr lang="pt-BR" dirty="0"/>
              <a:t>. Retornos da carteira incluem dividendos. Dados até 31/07/2026. /  Sempre consulte seu assessor de investimentos</a:t>
            </a:r>
          </a:p>
        </p:txBody>
      </p:sp>
      <p:cxnSp>
        <p:nvCxnSpPr>
          <p:cNvPr id="25" name="Straight Connector 24">
            <a:extLst>
              <a:ext uri="{FF2B5EF4-FFF2-40B4-BE49-F238E27FC236}">
                <a16:creationId xmlns:a16="http://schemas.microsoft.com/office/drawing/2014/main" id="{A998183D-86CA-4665-9E6C-99F562E3167F}"/>
              </a:ext>
            </a:extLst>
          </p:cNvPr>
          <p:cNvCxnSpPr>
            <a:cxnSpLocks/>
          </p:cNvCxnSpPr>
          <p:nvPr/>
        </p:nvCxnSpPr>
        <p:spPr>
          <a:xfrm>
            <a:off x="9897108" y="1512325"/>
            <a:ext cx="0" cy="4788294"/>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35" name="Content Placeholder 1">
            <a:extLst>
              <a:ext uri="{FF2B5EF4-FFF2-40B4-BE49-F238E27FC236}">
                <a16:creationId xmlns:a16="http://schemas.microsoft.com/office/drawing/2014/main" id="{5E30EA56-FE1A-43A3-8879-92E308006E1E}"/>
              </a:ext>
            </a:extLst>
          </p:cNvPr>
          <p:cNvSpPr>
            <a:spLocks noGrp="1"/>
          </p:cNvSpPr>
          <p:nvPr>
            <p:ph sz="quarter" idx="22"/>
          </p:nvPr>
        </p:nvSpPr>
        <p:spPr>
          <a:xfrm>
            <a:off x="10013464" y="1604033"/>
            <a:ext cx="1914195" cy="184666"/>
          </a:xfrm>
        </p:spPr>
        <p:txBody>
          <a:bodyPr/>
          <a:lstStyle/>
          <a:p>
            <a:r>
              <a:rPr lang="en-US" sz="1200" b="1" dirty="0">
                <a:solidFill>
                  <a:schemeClr val="bg2">
                    <a:lumMod val="25000"/>
                  </a:schemeClr>
                </a:solidFill>
                <a:latin typeface="Roboto Light" panose="02000000000000000000" pitchFamily="2" charset="0"/>
                <a:ea typeface="Roboto Light" panose="02000000000000000000" pitchFamily="2" charset="0"/>
                <a:cs typeface="Roboto Medium" panose="02000000000000000000" pitchFamily="2" charset="0"/>
              </a:rPr>
              <a:t>Fernando Ferreira</a:t>
            </a:r>
          </a:p>
        </p:txBody>
      </p:sp>
      <p:sp>
        <p:nvSpPr>
          <p:cNvPr id="36" name="Content Placeholder 7">
            <a:extLst>
              <a:ext uri="{FF2B5EF4-FFF2-40B4-BE49-F238E27FC236}">
                <a16:creationId xmlns:a16="http://schemas.microsoft.com/office/drawing/2014/main" id="{B46D56BD-F3F6-4361-BD93-444409D2FF7E}"/>
              </a:ext>
            </a:extLst>
          </p:cNvPr>
          <p:cNvSpPr>
            <a:spLocks noGrp="1"/>
          </p:cNvSpPr>
          <p:nvPr>
            <p:ph sz="quarter" idx="25"/>
          </p:nvPr>
        </p:nvSpPr>
        <p:spPr>
          <a:xfrm>
            <a:off x="10013464" y="1818801"/>
            <a:ext cx="1914195" cy="307777"/>
          </a:xfrm>
        </p:spPr>
        <p:txBody>
          <a:bodyPr/>
          <a:lstStyle/>
          <a:p>
            <a:r>
              <a:rPr lang="en-US" sz="1000" dirty="0" err="1">
                <a:solidFill>
                  <a:schemeClr val="accent6"/>
                </a:solidFill>
                <a:latin typeface="Roboto Light" panose="02000000000000000000" pitchFamily="2" charset="0"/>
                <a:ea typeface="Roboto Light" panose="02000000000000000000" pitchFamily="2" charset="0"/>
                <a:cs typeface="Roboto Medium" panose="02000000000000000000" pitchFamily="2" charset="0"/>
              </a:rPr>
              <a:t>Estrategista-Chefe</a:t>
            </a:r>
            <a:r>
              <a:rPr lang="en-US" sz="1000" dirty="0">
                <a:solidFill>
                  <a:schemeClr val="accent6"/>
                </a:solidFill>
                <a:latin typeface="Roboto Light" panose="02000000000000000000" pitchFamily="2" charset="0"/>
                <a:ea typeface="Roboto Light" panose="02000000000000000000" pitchFamily="2" charset="0"/>
                <a:cs typeface="Roboto Medium" panose="02000000000000000000" pitchFamily="2" charset="0"/>
              </a:rPr>
              <a:t> e Head do Research</a:t>
            </a:r>
          </a:p>
        </p:txBody>
      </p:sp>
      <p:sp>
        <p:nvSpPr>
          <p:cNvPr id="38" name="Content Placeholder 9">
            <a:extLst>
              <a:ext uri="{FF2B5EF4-FFF2-40B4-BE49-F238E27FC236}">
                <a16:creationId xmlns:a16="http://schemas.microsoft.com/office/drawing/2014/main" id="{B0FF2A93-54E6-4AD5-A01E-BE06D4F6D65B}"/>
              </a:ext>
            </a:extLst>
          </p:cNvPr>
          <p:cNvSpPr>
            <a:spLocks noGrp="1"/>
          </p:cNvSpPr>
          <p:nvPr>
            <p:ph sz="quarter" idx="27"/>
          </p:nvPr>
        </p:nvSpPr>
        <p:spPr>
          <a:xfrm>
            <a:off x="10013464" y="2197896"/>
            <a:ext cx="1914195" cy="184666"/>
          </a:xfrm>
        </p:spPr>
        <p:txBody>
          <a:bodyPr/>
          <a:lstStyle/>
          <a:p>
            <a:r>
              <a:rPr lang="en-US" dirty="0">
                <a:solidFill>
                  <a:schemeClr val="bg2">
                    <a:lumMod val="25000"/>
                  </a:schemeClr>
                </a:solidFill>
                <a:cs typeface="Roboto Medium" panose="02000000000000000000" pitchFamily="2" charset="0"/>
              </a:rPr>
              <a:t>Raphael Figueredo</a:t>
            </a:r>
          </a:p>
        </p:txBody>
      </p:sp>
      <p:sp>
        <p:nvSpPr>
          <p:cNvPr id="39" name="Content Placeholder 10">
            <a:extLst>
              <a:ext uri="{FF2B5EF4-FFF2-40B4-BE49-F238E27FC236}">
                <a16:creationId xmlns:a16="http://schemas.microsoft.com/office/drawing/2014/main" id="{B55145B5-0428-400E-B896-5AB220409E8D}"/>
              </a:ext>
            </a:extLst>
          </p:cNvPr>
          <p:cNvSpPr>
            <a:spLocks noGrp="1"/>
          </p:cNvSpPr>
          <p:nvPr>
            <p:ph sz="quarter" idx="28"/>
          </p:nvPr>
        </p:nvSpPr>
        <p:spPr>
          <a:xfrm>
            <a:off x="10013464" y="2404212"/>
            <a:ext cx="1914195" cy="307777"/>
          </a:xfrm>
        </p:spPr>
        <p:txBody>
          <a:bodyPr/>
          <a:lstStyle/>
          <a:p>
            <a:r>
              <a:rPr lang="en-US" sz="1000" dirty="0" err="1">
                <a:solidFill>
                  <a:schemeClr val="accent6"/>
                </a:solidFill>
                <a:latin typeface="Roboto Light" panose="02000000000000000000" pitchFamily="2" charset="0"/>
                <a:ea typeface="Roboto Light" panose="02000000000000000000" pitchFamily="2" charset="0"/>
                <a:cs typeface="Roboto Medium" panose="02000000000000000000" pitchFamily="2" charset="0"/>
              </a:rPr>
              <a:t>Estrategista</a:t>
            </a:r>
            <a:r>
              <a:rPr lang="en-US" sz="1000" dirty="0">
                <a:solidFill>
                  <a:schemeClr val="accent6"/>
                </a:solidFill>
                <a:latin typeface="Roboto Light" panose="02000000000000000000" pitchFamily="2" charset="0"/>
                <a:ea typeface="Roboto Light" panose="02000000000000000000" pitchFamily="2" charset="0"/>
                <a:cs typeface="Roboto Medium" panose="02000000000000000000" pitchFamily="2" charset="0"/>
              </a:rPr>
              <a:t> de </a:t>
            </a:r>
            <a:r>
              <a:rPr lang="en-US" sz="1000" dirty="0" err="1">
                <a:solidFill>
                  <a:schemeClr val="accent6"/>
                </a:solidFill>
                <a:latin typeface="Roboto Light" panose="02000000000000000000" pitchFamily="2" charset="0"/>
                <a:ea typeface="Roboto Light" panose="02000000000000000000" pitchFamily="2" charset="0"/>
                <a:cs typeface="Roboto Medium" panose="02000000000000000000" pitchFamily="2" charset="0"/>
              </a:rPr>
              <a:t>Ações</a:t>
            </a:r>
            <a:endParaRPr lang="en-US" sz="1000" dirty="0">
              <a:solidFill>
                <a:schemeClr val="accent6"/>
              </a:solidFill>
              <a:latin typeface="Roboto Light" panose="02000000000000000000" pitchFamily="2" charset="0"/>
              <a:ea typeface="Roboto Light" panose="02000000000000000000" pitchFamily="2" charset="0"/>
              <a:cs typeface="Roboto Medium" panose="02000000000000000000" pitchFamily="2" charset="0"/>
            </a:endParaRPr>
          </a:p>
          <a:p>
            <a:endParaRPr lang="en-US" dirty="0"/>
          </a:p>
        </p:txBody>
      </p:sp>
      <p:sp>
        <p:nvSpPr>
          <p:cNvPr id="7" name="Text Placeholder 6">
            <a:extLst>
              <a:ext uri="{FF2B5EF4-FFF2-40B4-BE49-F238E27FC236}">
                <a16:creationId xmlns:a16="http://schemas.microsoft.com/office/drawing/2014/main" id="{D77F947B-E22B-48F4-1327-04CD6A362DE6}"/>
              </a:ext>
            </a:extLst>
          </p:cNvPr>
          <p:cNvSpPr>
            <a:spLocks noGrp="1"/>
          </p:cNvSpPr>
          <p:nvPr>
            <p:ph type="body" sz="quarter" idx="24"/>
          </p:nvPr>
        </p:nvSpPr>
        <p:spPr>
          <a:xfrm>
            <a:off x="336001" y="1100996"/>
            <a:ext cx="11518900" cy="663055"/>
          </a:xfrm>
        </p:spPr>
        <p:txBody>
          <a:bodyPr/>
          <a:lstStyle/>
          <a:p>
            <a:r>
              <a:rPr lang="pt-BR" dirty="0"/>
              <a:t>Agosto 2026</a:t>
            </a:r>
            <a:endParaRPr lang="en-US" dirty="0"/>
          </a:p>
        </p:txBody>
      </p:sp>
      <p:sp>
        <p:nvSpPr>
          <p:cNvPr id="29" name="Text Placeholder 28">
            <a:extLst>
              <a:ext uri="{FF2B5EF4-FFF2-40B4-BE49-F238E27FC236}">
                <a16:creationId xmlns:a16="http://schemas.microsoft.com/office/drawing/2014/main" id="{C46BAFED-1C7F-25F8-BDA4-5844B897B02B}"/>
              </a:ext>
            </a:extLst>
          </p:cNvPr>
          <p:cNvSpPr>
            <a:spLocks noGrp="1"/>
          </p:cNvSpPr>
          <p:nvPr>
            <p:ph type="body" sz="quarter" idx="17"/>
          </p:nvPr>
        </p:nvSpPr>
        <p:spPr>
          <a:xfrm>
            <a:off x="336001" y="756238"/>
            <a:ext cx="11518900" cy="299659"/>
          </a:xfrm>
        </p:spPr>
        <p:txBody>
          <a:bodyPr/>
          <a:lstStyle/>
          <a:p>
            <a:r>
              <a:rPr lang="pt-BR" sz="1600" dirty="0"/>
              <a:t>Removendo B3SA3 e RENT3; reduzindo IGTI11; aumentando EMBJ3, GGBR4, PETR4, SBSP3 e ROXO34</a:t>
            </a:r>
          </a:p>
        </p:txBody>
      </p:sp>
      <p:sp>
        <p:nvSpPr>
          <p:cNvPr id="31" name="Text Placeholder 30">
            <a:extLst>
              <a:ext uri="{FF2B5EF4-FFF2-40B4-BE49-F238E27FC236}">
                <a16:creationId xmlns:a16="http://schemas.microsoft.com/office/drawing/2014/main" id="{E808D39E-4E5D-288B-A000-23E311BBC7EE}"/>
              </a:ext>
            </a:extLst>
          </p:cNvPr>
          <p:cNvSpPr>
            <a:spLocks noGrp="1"/>
          </p:cNvSpPr>
          <p:nvPr>
            <p:ph type="body" sz="quarter" idx="16"/>
          </p:nvPr>
        </p:nvSpPr>
        <p:spPr/>
        <p:txBody>
          <a:bodyPr/>
          <a:lstStyle/>
          <a:p>
            <a:r>
              <a:rPr lang="pt-BR" dirty="0"/>
              <a:t>Carteira Top Ações XP</a:t>
            </a:r>
            <a:endParaRPr lang="en-US" dirty="0"/>
          </a:p>
        </p:txBody>
      </p:sp>
      <p:sp>
        <p:nvSpPr>
          <p:cNvPr id="8" name="Content Placeholder 9">
            <a:extLst>
              <a:ext uri="{FF2B5EF4-FFF2-40B4-BE49-F238E27FC236}">
                <a16:creationId xmlns:a16="http://schemas.microsoft.com/office/drawing/2014/main" id="{772E8317-4FC8-FCD6-FD32-4337A6A31DC0}"/>
              </a:ext>
            </a:extLst>
          </p:cNvPr>
          <p:cNvSpPr txBox="1">
            <a:spLocks/>
          </p:cNvSpPr>
          <p:nvPr/>
        </p:nvSpPr>
        <p:spPr>
          <a:xfrm>
            <a:off x="10013464" y="3184959"/>
            <a:ext cx="1914195" cy="369332"/>
          </a:xfrm>
          <a:prstGeom prst="rect">
            <a:avLst/>
          </a:prstGeom>
        </p:spPr>
        <p:txBody>
          <a:bodyPr lIns="0" tIns="0" rIns="0" bIns="0">
            <a:spAutoFit/>
          </a:bodyPr>
          <a:lstStyle>
            <a:lvl1pPr marL="0" indent="0" algn="l" defTabSz="685808" rtl="0" eaLnBrk="1" latinLnBrk="0" hangingPunct="1">
              <a:lnSpc>
                <a:spcPct val="100000"/>
              </a:lnSpc>
              <a:spcBef>
                <a:spcPts val="0"/>
              </a:spcBef>
              <a:buFont typeface="Arial" panose="020B0604020202020204" pitchFamily="34" charset="0"/>
              <a:buNone/>
              <a:defRPr sz="1200" b="1" kern="120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gn="l" defTabSz="685808" rtl="0" eaLnBrk="1" latinLnBrk="0" hangingPunct="1">
              <a:lnSpc>
                <a:spcPct val="100000"/>
              </a:lnSpc>
              <a:spcBef>
                <a:spcPts val="900"/>
              </a:spcBef>
              <a:buFont typeface="Arial" panose="020B0604020202020204" pitchFamily="34" charset="0"/>
              <a:buChar char="•"/>
              <a:defRPr sz="825" b="0" kern="1200">
                <a:solidFill>
                  <a:schemeClr val="accent6"/>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accent6"/>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accent6"/>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accent6"/>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r>
              <a:rPr lang="en-US" dirty="0">
                <a:solidFill>
                  <a:schemeClr val="bg2">
                    <a:lumMod val="25000"/>
                  </a:schemeClr>
                </a:solidFill>
                <a:cs typeface="Roboto Medium" panose="02000000000000000000" pitchFamily="2" charset="0"/>
              </a:rPr>
              <a:t>Research XP</a:t>
            </a:r>
          </a:p>
          <a:p>
            <a:endParaRPr lang="en-US" dirty="0"/>
          </a:p>
        </p:txBody>
      </p:sp>
      <p:sp>
        <p:nvSpPr>
          <p:cNvPr id="11" name="Espaço Reservado para Conteúdo 3">
            <a:extLst>
              <a:ext uri="{FF2B5EF4-FFF2-40B4-BE49-F238E27FC236}">
                <a16:creationId xmlns:a16="http://schemas.microsoft.com/office/drawing/2014/main" id="{072FA5C5-EA83-9853-6581-F665BF22ABDE}"/>
              </a:ext>
            </a:extLst>
          </p:cNvPr>
          <p:cNvSpPr txBox="1">
            <a:spLocks/>
          </p:cNvSpPr>
          <p:nvPr/>
        </p:nvSpPr>
        <p:spPr>
          <a:xfrm>
            <a:off x="335998" y="1594470"/>
            <a:ext cx="9468000" cy="1035322"/>
          </a:xfrm>
          <a:prstGeom prst="rect">
            <a:avLst/>
          </a:prstGeom>
          <a:solidFill>
            <a:schemeClr val="bg1">
              <a:lumMod val="95000"/>
            </a:schemeClr>
          </a:solidFill>
        </p:spPr>
        <p:txBody>
          <a:bodyPr lIns="36000" tIns="36000" rIns="36000" bIns="36000" anchor="ctr">
            <a:noAutofit/>
          </a:bodyPr>
          <a:lstStyle>
            <a:lvl1pPr marL="0" indent="0" algn="just" defTabSz="685808" rtl="0" eaLnBrk="1" latinLnBrk="0" hangingPunct="1">
              <a:lnSpc>
                <a:spcPct val="125000"/>
              </a:lnSpc>
              <a:spcBef>
                <a:spcPts val="600"/>
              </a:spcBef>
              <a:buFont typeface="Arial" panose="020B0604020202020204" pitchFamily="34" charset="0"/>
              <a:buNone/>
              <a:defRPr sz="1000" b="0" kern="1200">
                <a:solidFill>
                  <a:schemeClr val="accent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gn="l" defTabSz="685808" rtl="0" eaLnBrk="1" latinLnBrk="0" hangingPunct="1">
              <a:lnSpc>
                <a:spcPct val="100000"/>
              </a:lnSpc>
              <a:spcBef>
                <a:spcPts val="900"/>
              </a:spcBef>
              <a:buFont typeface="Arial" panose="020B0604020202020204" pitchFamily="34" charset="0"/>
              <a:buChar char="•"/>
              <a:defRPr sz="825" b="0" kern="1200">
                <a:solidFill>
                  <a:schemeClr val="accent6"/>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accent6"/>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accent6"/>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accent6"/>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pPr defTabSz="914400">
              <a:lnSpc>
                <a:spcPct val="100000"/>
              </a:lnSpc>
              <a:defRPr/>
            </a:pPr>
            <a:r>
              <a:rPr lang="pt-BR" sz="900" b="1" dirty="0"/>
              <a:t xml:space="preserve">Estamos removendo B3SA3 </a:t>
            </a:r>
            <a:r>
              <a:rPr lang="pt-BR" sz="900" dirty="0"/>
              <a:t xml:space="preserve">em meio a um cenário mais incerto para o segmento de mercado de capitais, pressionado pelo ambiente de taxas de juros altas por mais tempo. </a:t>
            </a:r>
            <a:r>
              <a:rPr lang="pt-BR" sz="900" b="1" dirty="0"/>
              <a:t>Estamos aumentando ROXO34 de 5,0% para 7,5%.</a:t>
            </a:r>
            <a:r>
              <a:rPr lang="pt-BR" sz="900" dirty="0"/>
              <a:t xml:space="preserve"> Esperamos um 2T de recuperação para o Nubank, o que deve sustentar uma recuperação do papel após a reação negativa do mercado frente a um 1T marcado por maiores despesas de provisão. </a:t>
            </a:r>
            <a:r>
              <a:rPr lang="pt-BR" sz="900" b="1" dirty="0"/>
              <a:t>Estamos removendo RENT3</a:t>
            </a:r>
            <a:r>
              <a:rPr lang="pt-BR" sz="900" dirty="0"/>
              <a:t xml:space="preserve"> em um movimento tático. Apesar da mudança, seguimos gostando da companhia, dada sua alta qualidade e melhora operacional. </a:t>
            </a:r>
            <a:r>
              <a:rPr lang="pt-BR" sz="900" b="1" dirty="0"/>
              <a:t xml:space="preserve">Estamos reduzindo IGTI11 de 10% para 7,5%, </a:t>
            </a:r>
            <a:r>
              <a:rPr lang="pt-BR" sz="900" dirty="0"/>
              <a:t xml:space="preserve">à medida que buscamos reduzir um pouco a exposição geral da carteira em nomes ligados à economia doméstica. </a:t>
            </a:r>
            <a:r>
              <a:rPr lang="pt-BR" sz="900" b="1" dirty="0"/>
              <a:t>Estamos aumentando GGBR4 de 5% para 10%</a:t>
            </a:r>
            <a:r>
              <a:rPr lang="pt-BR" sz="900" dirty="0"/>
              <a:t xml:space="preserve">, pois esperamos que o forte momento operacional na América do Norte continue, sustentando um sólido 2T26. </a:t>
            </a:r>
            <a:r>
              <a:rPr lang="pt-BR" sz="900" b="1" dirty="0"/>
              <a:t>Estamos aumentando EMBJ3 de 5% para 10%</a:t>
            </a:r>
            <a:r>
              <a:rPr lang="pt-BR" sz="900" dirty="0"/>
              <a:t>, pois seguimos construtivos com sua história micro, sustentada por uma carteira de pedidos robusta, que reduziu recentemente os riscos da tese de investimento.</a:t>
            </a:r>
            <a:endParaRPr lang="pt-BR" sz="800" b="1" dirty="0"/>
          </a:p>
        </p:txBody>
      </p:sp>
      <p:sp>
        <p:nvSpPr>
          <p:cNvPr id="12" name="Espaço Reservado para Conteúdo 17">
            <a:extLst>
              <a:ext uri="{FF2B5EF4-FFF2-40B4-BE49-F238E27FC236}">
                <a16:creationId xmlns:a16="http://schemas.microsoft.com/office/drawing/2014/main" id="{F9288861-89DB-FA91-60F8-42C6329D9C1B}"/>
              </a:ext>
            </a:extLst>
          </p:cNvPr>
          <p:cNvSpPr txBox="1">
            <a:spLocks/>
          </p:cNvSpPr>
          <p:nvPr/>
        </p:nvSpPr>
        <p:spPr>
          <a:xfrm>
            <a:off x="335998" y="2632975"/>
            <a:ext cx="9540000" cy="790697"/>
          </a:xfrm>
          <a:prstGeom prst="rect">
            <a:avLst/>
          </a:prstGeom>
        </p:spPr>
        <p:txBody>
          <a:bodyPr lIns="0">
            <a:noAutofit/>
          </a:bodyPr>
          <a:lstStyle>
            <a:lvl1pPr marL="0" indent="0" algn="just" defTabSz="685808" rtl="0" eaLnBrk="1" latinLnBrk="0" hangingPunct="1">
              <a:lnSpc>
                <a:spcPct val="125000"/>
              </a:lnSpc>
              <a:spcBef>
                <a:spcPts val="600"/>
              </a:spcBef>
              <a:buFont typeface="Arial" panose="020B0604020202020204" pitchFamily="34" charset="0"/>
              <a:buNone/>
              <a:defRPr sz="1000" b="0" kern="120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gn="l" defTabSz="685808" rtl="0" eaLnBrk="1" latinLnBrk="0" hangingPunct="1">
              <a:lnSpc>
                <a:spcPct val="100000"/>
              </a:lnSpc>
              <a:spcBef>
                <a:spcPts val="900"/>
              </a:spcBef>
              <a:buFont typeface="Arial" panose="020B0604020202020204" pitchFamily="34" charset="0"/>
              <a:buChar char="•"/>
              <a:defRPr sz="825" b="0" kern="1200">
                <a:solidFill>
                  <a:schemeClr val="accent6"/>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accent6"/>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accent6"/>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accent6"/>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r>
              <a:rPr lang="pt-BR" b="1" dirty="0"/>
              <a:t>Esta carteira é composta por papéis que são os principais nomes indicados pelos nossos analistas do Research XP.</a:t>
            </a:r>
            <a:r>
              <a:rPr lang="pt-BR" dirty="0"/>
              <a:t> A composição da carteira será analisada mensalmente pelos analistas da equipe, e ela pode ou não sofrer alterações a cada mês. O objetivo da Carteira Top Ações é superar o desempenho do índice Ibovespa no horizonte de longo prazo. As principais características que buscamos nos papéis que compõem a carteira são: i) Visão de longo prazo; </a:t>
            </a:r>
            <a:r>
              <a:rPr lang="pt-BR" dirty="0" err="1"/>
              <a:t>ii</a:t>
            </a:r>
            <a:r>
              <a:rPr lang="pt-BR" dirty="0"/>
              <a:t>) Diversificação setorial; (</a:t>
            </a:r>
            <a:r>
              <a:rPr lang="pt-BR" dirty="0" err="1"/>
              <a:t>iii</a:t>
            </a:r>
            <a:r>
              <a:rPr lang="pt-BR" dirty="0"/>
              <a:t>) Ações com </a:t>
            </a:r>
            <a:r>
              <a:rPr lang="pt-BR" dirty="0" err="1"/>
              <a:t>valuation</a:t>
            </a:r>
            <a:r>
              <a:rPr lang="pt-BR" dirty="0"/>
              <a:t> atraentes; (</a:t>
            </a:r>
            <a:r>
              <a:rPr lang="pt-BR" dirty="0" err="1"/>
              <a:t>iv</a:t>
            </a:r>
            <a:r>
              <a:rPr lang="pt-BR" dirty="0"/>
              <a:t>) Nomes com boas perspectivas de crescimento.</a:t>
            </a:r>
          </a:p>
          <a:p>
            <a:r>
              <a:rPr lang="pt-BR" b="1" dirty="0"/>
              <a:t xml:space="preserve">Desempenho. </a:t>
            </a:r>
            <a:r>
              <a:rPr lang="pt-BR" dirty="0"/>
              <a:t>Em julho, a carteira teve retorno de 2,2%, vs. 3,5% do Ibovespa.</a:t>
            </a:r>
          </a:p>
        </p:txBody>
      </p:sp>
      <p:sp>
        <p:nvSpPr>
          <p:cNvPr id="6" name="Content Placeholder 9">
            <a:extLst>
              <a:ext uri="{FF2B5EF4-FFF2-40B4-BE49-F238E27FC236}">
                <a16:creationId xmlns:a16="http://schemas.microsoft.com/office/drawing/2014/main" id="{2548F922-1FCA-B94D-0449-3CF88356127E}"/>
              </a:ext>
            </a:extLst>
          </p:cNvPr>
          <p:cNvSpPr txBox="1">
            <a:spLocks/>
          </p:cNvSpPr>
          <p:nvPr/>
        </p:nvSpPr>
        <p:spPr>
          <a:xfrm>
            <a:off x="10013464" y="2691428"/>
            <a:ext cx="1914195" cy="184666"/>
          </a:xfrm>
          <a:prstGeom prst="rect">
            <a:avLst/>
          </a:prstGeom>
        </p:spPr>
        <p:txBody>
          <a:bodyPr lIns="0" tIns="0" rIns="0" bIns="0">
            <a:spAutoFit/>
          </a:bodyPr>
          <a:lstStyle>
            <a:lvl1pPr marL="0" indent="0" algn="l" defTabSz="685808" rtl="0" eaLnBrk="1" latinLnBrk="0" hangingPunct="1">
              <a:lnSpc>
                <a:spcPct val="100000"/>
              </a:lnSpc>
              <a:spcBef>
                <a:spcPts val="0"/>
              </a:spcBef>
              <a:buFont typeface="Arial" panose="020B0604020202020204" pitchFamily="34" charset="0"/>
              <a:buNone/>
              <a:defRPr sz="1200" b="1" kern="120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gn="l" defTabSz="685808" rtl="0" eaLnBrk="1" latinLnBrk="0" hangingPunct="1">
              <a:lnSpc>
                <a:spcPct val="100000"/>
              </a:lnSpc>
              <a:spcBef>
                <a:spcPts val="900"/>
              </a:spcBef>
              <a:buFont typeface="Arial" panose="020B0604020202020204" pitchFamily="34" charset="0"/>
              <a:buChar char="•"/>
              <a:defRPr sz="825" b="0" kern="1200">
                <a:solidFill>
                  <a:schemeClr val="accent6"/>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accent6"/>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accent6"/>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accent6"/>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r>
              <a:rPr lang="en-US" dirty="0">
                <a:solidFill>
                  <a:schemeClr val="bg2">
                    <a:lumMod val="25000"/>
                  </a:schemeClr>
                </a:solidFill>
                <a:cs typeface="Roboto Medium" panose="02000000000000000000" pitchFamily="2" charset="0"/>
              </a:rPr>
              <a:t>Caio Souza</a:t>
            </a:r>
          </a:p>
        </p:txBody>
      </p:sp>
      <p:sp>
        <p:nvSpPr>
          <p:cNvPr id="9" name="Content Placeholder 10">
            <a:extLst>
              <a:ext uri="{FF2B5EF4-FFF2-40B4-BE49-F238E27FC236}">
                <a16:creationId xmlns:a16="http://schemas.microsoft.com/office/drawing/2014/main" id="{3DC792D3-B76C-571E-F081-9BAF32E442CE}"/>
              </a:ext>
            </a:extLst>
          </p:cNvPr>
          <p:cNvSpPr txBox="1">
            <a:spLocks/>
          </p:cNvSpPr>
          <p:nvPr/>
        </p:nvSpPr>
        <p:spPr>
          <a:xfrm>
            <a:off x="10013464" y="2897744"/>
            <a:ext cx="1914195" cy="307777"/>
          </a:xfrm>
          <a:prstGeom prst="rect">
            <a:avLst/>
          </a:prstGeom>
        </p:spPr>
        <p:txBody>
          <a:bodyPr lIns="0" tIns="0" rIns="0" bIns="0">
            <a:spAutoFit/>
          </a:bodyPr>
          <a:lstStyle>
            <a:lvl1pPr marL="0" indent="0" algn="l" defTabSz="685808" rtl="0" eaLnBrk="1" latinLnBrk="0" hangingPunct="1">
              <a:lnSpc>
                <a:spcPct val="100000"/>
              </a:lnSpc>
              <a:spcBef>
                <a:spcPts val="0"/>
              </a:spcBef>
              <a:buFont typeface="Arial" panose="020B0604020202020204" pitchFamily="34" charset="0"/>
              <a:buNone/>
              <a:defRPr sz="1000" b="0" kern="120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gn="l" defTabSz="685808" rtl="0" eaLnBrk="1" latinLnBrk="0" hangingPunct="1">
              <a:lnSpc>
                <a:spcPct val="100000"/>
              </a:lnSpc>
              <a:spcBef>
                <a:spcPts val="900"/>
              </a:spcBef>
              <a:buFont typeface="Arial" panose="020B0604020202020204" pitchFamily="34" charset="0"/>
              <a:buChar char="•"/>
              <a:defRPr sz="825" b="0" kern="1200">
                <a:solidFill>
                  <a:schemeClr val="accent6"/>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accent6"/>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accent6"/>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accent6"/>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r>
              <a:rPr lang="en-US">
                <a:cs typeface="Roboto Medium" panose="02000000000000000000" pitchFamily="2" charset="0"/>
              </a:rPr>
              <a:t>Estrategista de Ações</a:t>
            </a:r>
          </a:p>
          <a:p>
            <a:endParaRPr lang="en-US" dirty="0"/>
          </a:p>
        </p:txBody>
      </p:sp>
      <p:graphicFrame>
        <p:nvGraphicFramePr>
          <p:cNvPr id="2" name="Table 1">
            <a:extLst>
              <a:ext uri="{FF2B5EF4-FFF2-40B4-BE49-F238E27FC236}">
                <a16:creationId xmlns:a16="http://schemas.microsoft.com/office/drawing/2014/main" id="{73F130B6-1A99-F9AF-C584-1AEEF9CFAE2C}"/>
              </a:ext>
            </a:extLst>
          </p:cNvPr>
          <p:cNvGraphicFramePr>
            <a:graphicFrameLocks noGrp="1"/>
          </p:cNvGraphicFramePr>
          <p:nvPr>
            <p:extLst>
              <p:ext uri="{D42A27DB-BD31-4B8C-83A1-F6EECF244321}">
                <p14:modId xmlns:p14="http://schemas.microsoft.com/office/powerpoint/2010/main" val="2092422441"/>
              </p:ext>
            </p:extLst>
          </p:nvPr>
        </p:nvGraphicFramePr>
        <p:xfrm>
          <a:off x="335997" y="3839197"/>
          <a:ext cx="9467995" cy="2406673"/>
        </p:xfrm>
        <a:graphic>
          <a:graphicData uri="http://schemas.openxmlformats.org/drawingml/2006/table">
            <a:tbl>
              <a:tblPr/>
              <a:tblGrid>
                <a:gridCol w="952680">
                  <a:extLst>
                    <a:ext uri="{9D8B030D-6E8A-4147-A177-3AD203B41FA5}">
                      <a16:colId xmlns:a16="http://schemas.microsoft.com/office/drawing/2014/main" val="2928189665"/>
                    </a:ext>
                  </a:extLst>
                </a:gridCol>
                <a:gridCol w="1140864">
                  <a:extLst>
                    <a:ext uri="{9D8B030D-6E8A-4147-A177-3AD203B41FA5}">
                      <a16:colId xmlns:a16="http://schemas.microsoft.com/office/drawing/2014/main" val="338603255"/>
                    </a:ext>
                  </a:extLst>
                </a:gridCol>
                <a:gridCol w="1399617">
                  <a:extLst>
                    <a:ext uri="{9D8B030D-6E8A-4147-A177-3AD203B41FA5}">
                      <a16:colId xmlns:a16="http://schemas.microsoft.com/office/drawing/2014/main" val="1397579802"/>
                    </a:ext>
                  </a:extLst>
                </a:gridCol>
                <a:gridCol w="1528993">
                  <a:extLst>
                    <a:ext uri="{9D8B030D-6E8A-4147-A177-3AD203B41FA5}">
                      <a16:colId xmlns:a16="http://schemas.microsoft.com/office/drawing/2014/main" val="1047335340"/>
                    </a:ext>
                  </a:extLst>
                </a:gridCol>
                <a:gridCol w="1587801">
                  <a:extLst>
                    <a:ext uri="{9D8B030D-6E8A-4147-A177-3AD203B41FA5}">
                      <a16:colId xmlns:a16="http://schemas.microsoft.com/office/drawing/2014/main" val="1054907167"/>
                    </a:ext>
                  </a:extLst>
                </a:gridCol>
                <a:gridCol w="635120">
                  <a:extLst>
                    <a:ext uri="{9D8B030D-6E8A-4147-A177-3AD203B41FA5}">
                      <a16:colId xmlns:a16="http://schemas.microsoft.com/office/drawing/2014/main" val="2435128243"/>
                    </a:ext>
                  </a:extLst>
                </a:gridCol>
                <a:gridCol w="635120">
                  <a:extLst>
                    <a:ext uri="{9D8B030D-6E8A-4147-A177-3AD203B41FA5}">
                      <a16:colId xmlns:a16="http://schemas.microsoft.com/office/drawing/2014/main" val="1477894421"/>
                    </a:ext>
                  </a:extLst>
                </a:gridCol>
                <a:gridCol w="635120">
                  <a:extLst>
                    <a:ext uri="{9D8B030D-6E8A-4147-A177-3AD203B41FA5}">
                      <a16:colId xmlns:a16="http://schemas.microsoft.com/office/drawing/2014/main" val="290589835"/>
                    </a:ext>
                  </a:extLst>
                </a:gridCol>
                <a:gridCol w="952680">
                  <a:extLst>
                    <a:ext uri="{9D8B030D-6E8A-4147-A177-3AD203B41FA5}">
                      <a16:colId xmlns:a16="http://schemas.microsoft.com/office/drawing/2014/main" val="4180611162"/>
                    </a:ext>
                  </a:extLst>
                </a:gridCol>
              </a:tblGrid>
              <a:tr h="105809">
                <a:tc>
                  <a:txBody>
                    <a:bodyPr/>
                    <a:lstStyle/>
                    <a:p>
                      <a:pPr algn="ctr" fontAlgn="ctr">
                        <a:buNone/>
                      </a:pPr>
                      <a:r>
                        <a:rPr lang="pt-BR" sz="900" b="1" i="0" u="none" strike="noStrike" dirty="0">
                          <a:solidFill>
                            <a:srgbClr val="000000"/>
                          </a:solidFill>
                          <a:effectLst/>
                          <a:latin typeface="Roboto Light" panose="02000000000000000000" pitchFamily="2" charset="0"/>
                        </a:rPr>
                        <a:t>Segmento</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BC00"/>
                    </a:solidFill>
                  </a:tcPr>
                </a:tc>
                <a:tc>
                  <a:txBody>
                    <a:bodyPr/>
                    <a:lstStyle/>
                    <a:p>
                      <a:pPr algn="ctr" fontAlgn="ctr">
                        <a:buNone/>
                      </a:pPr>
                      <a:r>
                        <a:rPr lang="pt-BR" sz="900" b="1" i="0" u="none" strike="noStrike" dirty="0">
                          <a:solidFill>
                            <a:srgbClr val="000000"/>
                          </a:solidFill>
                          <a:effectLst/>
                          <a:latin typeface="Roboto Light" panose="02000000000000000000" pitchFamily="2" charset="0"/>
                        </a:rPr>
                        <a:t>Setor</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BC00"/>
                    </a:solidFill>
                  </a:tcPr>
                </a:tc>
                <a:tc>
                  <a:txBody>
                    <a:bodyPr/>
                    <a:lstStyle/>
                    <a:p>
                      <a:pPr algn="ctr" fontAlgn="ctr">
                        <a:buNone/>
                      </a:pPr>
                      <a:r>
                        <a:rPr lang="pt-BR" sz="900" b="1" i="0" u="none" strike="noStrike">
                          <a:solidFill>
                            <a:srgbClr val="000000"/>
                          </a:solidFill>
                          <a:effectLst/>
                          <a:latin typeface="Roboto Light" panose="02000000000000000000" pitchFamily="2" charset="0"/>
                        </a:rPr>
                        <a:t>Peso do setor (Ibovespa)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BC00"/>
                    </a:solidFill>
                  </a:tcPr>
                </a:tc>
                <a:tc>
                  <a:txBody>
                    <a:bodyPr/>
                    <a:lstStyle/>
                    <a:p>
                      <a:pPr algn="ctr" fontAlgn="ctr">
                        <a:buNone/>
                      </a:pPr>
                      <a:r>
                        <a:rPr lang="pt-BR" sz="900" b="1" i="0" u="none" strike="noStrike" dirty="0">
                          <a:solidFill>
                            <a:srgbClr val="000000"/>
                          </a:solidFill>
                          <a:effectLst/>
                          <a:latin typeface="Roboto Light" panose="02000000000000000000" pitchFamily="2" charset="0"/>
                        </a:rPr>
                        <a:t>Peso do setor (Carteira)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BC00"/>
                    </a:solidFill>
                  </a:tcPr>
                </a:tc>
                <a:tc>
                  <a:txBody>
                    <a:bodyPr/>
                    <a:lstStyle/>
                    <a:p>
                      <a:pPr algn="ctr" fontAlgn="ctr">
                        <a:buNone/>
                      </a:pPr>
                      <a:r>
                        <a:rPr lang="pt-BR" sz="900" b="1" i="0" u="none" strike="noStrike" dirty="0">
                          <a:solidFill>
                            <a:srgbClr val="000000"/>
                          </a:solidFill>
                          <a:effectLst/>
                          <a:latin typeface="Roboto Light" panose="02000000000000000000" pitchFamily="2" charset="0"/>
                        </a:rPr>
                        <a:t>Companhia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BC00"/>
                    </a:solidFill>
                  </a:tcPr>
                </a:tc>
                <a:tc>
                  <a:txBody>
                    <a:bodyPr/>
                    <a:lstStyle/>
                    <a:p>
                      <a:pPr algn="ctr" fontAlgn="ctr">
                        <a:buNone/>
                      </a:pPr>
                      <a:r>
                        <a:rPr lang="pt-BR" sz="900" b="1" i="0" u="none" strike="noStrike">
                          <a:solidFill>
                            <a:srgbClr val="000000"/>
                          </a:solidFill>
                          <a:effectLst/>
                          <a:latin typeface="Roboto Light" panose="02000000000000000000" pitchFamily="2" charset="0"/>
                        </a:rPr>
                        <a:t>Ticker</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BC00"/>
                    </a:solidFill>
                  </a:tcPr>
                </a:tc>
                <a:tc>
                  <a:txBody>
                    <a:bodyPr/>
                    <a:lstStyle/>
                    <a:p>
                      <a:pPr algn="ctr" fontAlgn="ctr">
                        <a:buNone/>
                      </a:pPr>
                      <a:r>
                        <a:rPr lang="pt-BR" sz="900" b="1" i="0" u="none" strike="noStrike">
                          <a:solidFill>
                            <a:srgbClr val="000000"/>
                          </a:solidFill>
                          <a:effectLst/>
                          <a:latin typeface="Roboto Light" panose="02000000000000000000" pitchFamily="2" charset="0"/>
                        </a:rPr>
                        <a:t>Peso</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BC00"/>
                    </a:solidFill>
                  </a:tcPr>
                </a:tc>
                <a:tc>
                  <a:txBody>
                    <a:bodyPr/>
                    <a:lstStyle/>
                    <a:p>
                      <a:pPr algn="ctr" fontAlgn="ctr">
                        <a:buNone/>
                      </a:pPr>
                      <a:r>
                        <a:rPr lang="pt-BR" sz="900" b="1" i="0" u="none" strike="noStrike">
                          <a:solidFill>
                            <a:srgbClr val="000000"/>
                          </a:solidFill>
                          <a:effectLst/>
                          <a:latin typeface="Roboto Light" panose="02000000000000000000" pitchFamily="2" charset="0"/>
                        </a:rPr>
                        <a:t>Rating</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BC00"/>
                    </a:solidFill>
                  </a:tcPr>
                </a:tc>
                <a:tc>
                  <a:txBody>
                    <a:bodyPr/>
                    <a:lstStyle/>
                    <a:p>
                      <a:pPr algn="ctr" fontAlgn="ctr">
                        <a:buNone/>
                      </a:pPr>
                      <a:r>
                        <a:rPr lang="pt-BR" sz="900" b="1" i="0" u="none" strike="noStrike">
                          <a:solidFill>
                            <a:srgbClr val="000000"/>
                          </a:solidFill>
                          <a:effectLst/>
                          <a:latin typeface="Roboto Light" panose="02000000000000000000" pitchFamily="2" charset="0"/>
                        </a:rPr>
                        <a:t>Preço-Alvo</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BC00"/>
                    </a:solidFill>
                  </a:tcPr>
                </a:tc>
                <a:extLst>
                  <a:ext uri="{0D108BD9-81ED-4DB2-BD59-A6C34878D82A}">
                    <a16:rowId xmlns:a16="http://schemas.microsoft.com/office/drawing/2014/main" val="336004580"/>
                  </a:ext>
                </a:extLst>
              </a:tr>
              <a:tr h="105809">
                <a:tc rowSpan="4">
                  <a:txBody>
                    <a:bodyPr/>
                    <a:lstStyle/>
                    <a:p>
                      <a:pPr algn="ctr" fontAlgn="ctr">
                        <a:buNone/>
                      </a:pPr>
                      <a:r>
                        <a:rPr lang="pt-BR" sz="900" b="0" i="0" u="none" strike="noStrike" dirty="0">
                          <a:solidFill>
                            <a:srgbClr val="000000"/>
                          </a:solidFill>
                          <a:effectLst/>
                          <a:latin typeface="Roboto Light" panose="02000000000000000000" pitchFamily="2" charset="0"/>
                        </a:rPr>
                        <a:t>Commodities</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rowSpan="2">
                  <a:txBody>
                    <a:bodyPr/>
                    <a:lstStyle/>
                    <a:p>
                      <a:pPr algn="ctr" fontAlgn="ctr">
                        <a:buNone/>
                      </a:pPr>
                      <a:r>
                        <a:rPr lang="pt-BR" sz="900" b="0" i="0" u="none" strike="noStrike" dirty="0">
                          <a:solidFill>
                            <a:srgbClr val="000000"/>
                          </a:solidFill>
                          <a:effectLst/>
                          <a:latin typeface="Roboto Light" panose="02000000000000000000" pitchFamily="2" charset="0"/>
                        </a:rPr>
                        <a:t>Energia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rowSpan="2">
                  <a:txBody>
                    <a:bodyPr/>
                    <a:lstStyle/>
                    <a:p>
                      <a:pPr algn="ctr" fontAlgn="ctr">
                        <a:buNone/>
                      </a:pPr>
                      <a:r>
                        <a:rPr lang="pt-BR" sz="900" b="0" i="0" u="none" strike="noStrike" dirty="0">
                          <a:solidFill>
                            <a:srgbClr val="000000"/>
                          </a:solidFill>
                          <a:effectLst/>
                          <a:latin typeface="Roboto Light" panose="02000000000000000000" pitchFamily="2" charset="0"/>
                        </a:rPr>
                        <a:t>18,1%</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rowSpan="2">
                  <a:txBody>
                    <a:bodyPr/>
                    <a:lstStyle/>
                    <a:p>
                      <a:pPr algn="ctr" fontAlgn="ctr">
                        <a:buNone/>
                      </a:pPr>
                      <a:r>
                        <a:rPr lang="pt-BR" sz="900" b="0" i="0" u="none" strike="noStrike" dirty="0">
                          <a:solidFill>
                            <a:srgbClr val="000000"/>
                          </a:solidFill>
                          <a:effectLst/>
                          <a:latin typeface="Roboto Light" panose="02000000000000000000" pitchFamily="2" charset="0"/>
                        </a:rPr>
                        <a:t>15,0%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Petrobras</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PETR4</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10,0%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Compra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R$ 63,00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1642837966"/>
                  </a:ext>
                </a:extLst>
              </a:tr>
              <a:tr h="105809">
                <a:tc vMerge="1">
                  <a:txBody>
                    <a:bodyPr/>
                    <a:lstStyle/>
                    <a:p>
                      <a:pPr algn="ctr" fontAlgn="ctr">
                        <a:buNone/>
                      </a:pPr>
                      <a:r>
                        <a:rPr lang="pt-BR" sz="900" b="0" i="0" u="none" strike="noStrike" dirty="0">
                          <a:solidFill>
                            <a:srgbClr val="000000"/>
                          </a:solidFill>
                          <a:effectLst/>
                          <a:latin typeface="Roboto Light" panose="02000000000000000000" pitchFamily="2" charset="0"/>
                        </a:rPr>
                        <a:t>Commodities</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vMerge="1">
                  <a:txBody>
                    <a:bodyPr/>
                    <a:lstStyle/>
                    <a:p>
                      <a:pPr algn="ctr" fontAlgn="ctr">
                        <a:buNone/>
                      </a:pPr>
                      <a:r>
                        <a:rPr lang="pt-BR" sz="900" b="0" i="0" u="none" strike="noStrike" dirty="0">
                          <a:solidFill>
                            <a:srgbClr val="000000"/>
                          </a:solidFill>
                          <a:effectLst/>
                          <a:latin typeface="Roboto Light" panose="02000000000000000000" pitchFamily="2" charset="0"/>
                        </a:rPr>
                        <a:t>Energia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vMerge="1">
                  <a:txBody>
                    <a:bodyPr/>
                    <a:lstStyle/>
                    <a:p>
                      <a:pPr algn="ctr" fontAlgn="ctr">
                        <a:buNone/>
                      </a:pPr>
                      <a:r>
                        <a:rPr lang="pt-BR" sz="900" b="0" i="0" u="none" strike="noStrike" dirty="0">
                          <a:solidFill>
                            <a:srgbClr val="000000"/>
                          </a:solidFill>
                          <a:effectLst/>
                          <a:latin typeface="Roboto Light" panose="02000000000000000000" pitchFamily="2" charset="0"/>
                        </a:rPr>
                        <a:t>18,1%</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vMerge="1">
                  <a:txBody>
                    <a:bodyPr/>
                    <a:lstStyle/>
                    <a:p>
                      <a:pPr algn="ctr" fontAlgn="ctr">
                        <a:buNone/>
                      </a:pPr>
                      <a:r>
                        <a:rPr lang="pt-BR" sz="900" b="0" i="0" u="none" strike="noStrike" dirty="0">
                          <a:solidFill>
                            <a:srgbClr val="000000"/>
                          </a:solidFill>
                          <a:effectLst/>
                          <a:latin typeface="Roboto Light" panose="02000000000000000000" pitchFamily="2" charset="0"/>
                        </a:rPr>
                        <a:t>15,0%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PRIO</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PRIO3</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5,0%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Compra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R$ 78,00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3727095152"/>
                  </a:ext>
                </a:extLst>
              </a:tr>
              <a:tr h="105809">
                <a:tc vMerge="1">
                  <a:txBody>
                    <a:bodyPr/>
                    <a:lstStyle/>
                    <a:p>
                      <a:pPr algn="ctr" fontAlgn="ctr">
                        <a:buNone/>
                      </a:pPr>
                      <a:r>
                        <a:rPr lang="pt-BR" sz="900" b="0" i="0" u="none" strike="noStrike" dirty="0">
                          <a:solidFill>
                            <a:srgbClr val="000000"/>
                          </a:solidFill>
                          <a:effectLst/>
                          <a:latin typeface="Roboto Light" panose="02000000000000000000" pitchFamily="2" charset="0"/>
                        </a:rPr>
                        <a:t>Commodities</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rowSpan="2">
                  <a:txBody>
                    <a:bodyPr/>
                    <a:lstStyle/>
                    <a:p>
                      <a:pPr algn="ctr" fontAlgn="ctr">
                        <a:buNone/>
                      </a:pPr>
                      <a:r>
                        <a:rPr lang="pt-BR" sz="900" b="0" i="0" u="none" strike="noStrike" dirty="0">
                          <a:solidFill>
                            <a:srgbClr val="000000"/>
                          </a:solidFill>
                          <a:effectLst/>
                          <a:latin typeface="Roboto Light" panose="02000000000000000000" pitchFamily="2" charset="0"/>
                        </a:rPr>
                        <a:t>Materiais</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rowSpan="2">
                  <a:txBody>
                    <a:bodyPr/>
                    <a:lstStyle/>
                    <a:p>
                      <a:pPr algn="ctr" fontAlgn="ctr">
                        <a:buNone/>
                      </a:pPr>
                      <a:r>
                        <a:rPr lang="pt-BR" sz="900" b="0" i="0" u="none" strike="noStrike" dirty="0">
                          <a:solidFill>
                            <a:srgbClr val="000000"/>
                          </a:solidFill>
                          <a:effectLst/>
                          <a:latin typeface="Roboto Light" panose="02000000000000000000" pitchFamily="2" charset="0"/>
                        </a:rPr>
                        <a:t>15,2%</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rowSpan="2">
                  <a:txBody>
                    <a:bodyPr/>
                    <a:lstStyle/>
                    <a:p>
                      <a:pPr algn="ctr" fontAlgn="ctr">
                        <a:buNone/>
                      </a:pPr>
                      <a:r>
                        <a:rPr lang="pt-BR" sz="900" b="0" i="0" u="none" strike="noStrike" dirty="0">
                          <a:solidFill>
                            <a:srgbClr val="000000"/>
                          </a:solidFill>
                          <a:effectLst/>
                          <a:latin typeface="Roboto Light" panose="02000000000000000000" pitchFamily="2" charset="0"/>
                        </a:rPr>
                        <a:t>15,0%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Gerdau</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GGBR4</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10,0%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Compra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R$ 28,00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3012407604"/>
                  </a:ext>
                </a:extLst>
              </a:tr>
              <a:tr h="105809">
                <a:tc vMerge="1">
                  <a:txBody>
                    <a:bodyPr/>
                    <a:lstStyle/>
                    <a:p>
                      <a:pPr algn="ctr" fontAlgn="ctr">
                        <a:buNone/>
                      </a:pPr>
                      <a:r>
                        <a:rPr lang="pt-BR" sz="900" b="0" i="0" u="none" strike="noStrike" dirty="0">
                          <a:solidFill>
                            <a:srgbClr val="000000"/>
                          </a:solidFill>
                          <a:effectLst/>
                          <a:latin typeface="Roboto Light" panose="02000000000000000000" pitchFamily="2" charset="0"/>
                        </a:rPr>
                        <a:t>Commodities</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vMerge="1">
                  <a:txBody>
                    <a:bodyPr/>
                    <a:lstStyle/>
                    <a:p>
                      <a:pPr algn="ctr" fontAlgn="ctr">
                        <a:buNone/>
                      </a:pPr>
                      <a:r>
                        <a:rPr lang="pt-BR" sz="900" b="0" i="0" u="none" strike="noStrike" dirty="0">
                          <a:solidFill>
                            <a:srgbClr val="000000"/>
                          </a:solidFill>
                          <a:effectLst/>
                          <a:latin typeface="Roboto Light" panose="02000000000000000000" pitchFamily="2" charset="0"/>
                        </a:rPr>
                        <a:t>Materiais</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vMerge="1">
                  <a:txBody>
                    <a:bodyPr/>
                    <a:lstStyle/>
                    <a:p>
                      <a:pPr algn="ctr" fontAlgn="ctr">
                        <a:buNone/>
                      </a:pPr>
                      <a:r>
                        <a:rPr lang="pt-BR" sz="900" b="0" i="0" u="none" strike="noStrike" dirty="0">
                          <a:solidFill>
                            <a:srgbClr val="000000"/>
                          </a:solidFill>
                          <a:effectLst/>
                          <a:latin typeface="Roboto Light" panose="02000000000000000000" pitchFamily="2" charset="0"/>
                        </a:rPr>
                        <a:t>15,2%</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vMerge="1">
                  <a:txBody>
                    <a:bodyPr/>
                    <a:lstStyle/>
                    <a:p>
                      <a:pPr algn="ctr" fontAlgn="ctr">
                        <a:buNone/>
                      </a:pPr>
                      <a:r>
                        <a:rPr lang="pt-BR" sz="900" b="0" i="0" u="none" strike="noStrike" dirty="0">
                          <a:solidFill>
                            <a:srgbClr val="000000"/>
                          </a:solidFill>
                          <a:effectLst/>
                          <a:latin typeface="Roboto Light" panose="02000000000000000000" pitchFamily="2" charset="0"/>
                        </a:rPr>
                        <a:t>15,0%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Vale</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VALE3</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5,0%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Neutro</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R$ 85,00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2891270684"/>
                  </a:ext>
                </a:extLst>
              </a:tr>
              <a:tr h="105809">
                <a:tc rowSpan="4">
                  <a:txBody>
                    <a:bodyPr/>
                    <a:lstStyle/>
                    <a:p>
                      <a:pPr algn="ctr" fontAlgn="ctr">
                        <a:buNone/>
                      </a:pPr>
                      <a:r>
                        <a:rPr lang="pt-BR" sz="900" b="0" i="0" u="none" strike="noStrike" dirty="0">
                          <a:solidFill>
                            <a:srgbClr val="000000"/>
                          </a:solidFill>
                          <a:effectLst/>
                          <a:latin typeface="Roboto Light" panose="02000000000000000000" pitchFamily="2" charset="0"/>
                        </a:rPr>
                        <a:t>Cíclicas Domésticas</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Cons. Disc.</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1,6%</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5,0%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Lojas Renner</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LREN3</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5,0%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Compra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R$ 22,00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3916820979"/>
                  </a:ext>
                </a:extLst>
              </a:tr>
              <a:tr h="105809">
                <a:tc vMerge="1">
                  <a:txBody>
                    <a:bodyPr/>
                    <a:lstStyle/>
                    <a:p>
                      <a:pPr algn="ctr" fontAlgn="ctr">
                        <a:buNone/>
                      </a:pPr>
                      <a:r>
                        <a:rPr lang="pt-BR" sz="900" b="0" i="0" u="none" strike="noStrike" dirty="0">
                          <a:solidFill>
                            <a:srgbClr val="000000"/>
                          </a:solidFill>
                          <a:effectLst/>
                          <a:latin typeface="Roboto Light" panose="02000000000000000000" pitchFamily="2" charset="0"/>
                        </a:rPr>
                        <a:t>Cíclicas Domésticas</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Bens Industriais</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8,3%</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10,0%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Embraer</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EMBJ3</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10,0%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Compra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R$ 87,00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2904574126"/>
                  </a:ext>
                </a:extLst>
              </a:tr>
              <a:tr h="105809">
                <a:tc vMerge="1">
                  <a:txBody>
                    <a:bodyPr/>
                    <a:lstStyle/>
                    <a:p>
                      <a:pPr algn="ctr" fontAlgn="ctr">
                        <a:buNone/>
                      </a:pPr>
                      <a:r>
                        <a:rPr lang="pt-BR" sz="900" b="0" i="0" u="none" strike="noStrike" dirty="0">
                          <a:solidFill>
                            <a:srgbClr val="000000"/>
                          </a:solidFill>
                          <a:effectLst/>
                          <a:latin typeface="Roboto Light" panose="02000000000000000000" pitchFamily="2" charset="0"/>
                        </a:rPr>
                        <a:t>Cíclicas Domésticas</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Tec. Info.</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0,7%</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5,0%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TOTVS</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TOTS3</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5,0%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Compra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R$ 50,50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2996924749"/>
                  </a:ext>
                </a:extLst>
              </a:tr>
              <a:tr h="105809">
                <a:tc vMerge="1">
                  <a:txBody>
                    <a:bodyPr/>
                    <a:lstStyle/>
                    <a:p>
                      <a:pPr algn="ctr" fontAlgn="ctr">
                        <a:buNone/>
                      </a:pPr>
                      <a:r>
                        <a:rPr lang="pt-BR" sz="900" b="0" i="0" u="none" strike="noStrike" dirty="0">
                          <a:solidFill>
                            <a:srgbClr val="000000"/>
                          </a:solidFill>
                          <a:effectLst/>
                          <a:latin typeface="Roboto Light" panose="02000000000000000000" pitchFamily="2" charset="0"/>
                        </a:rPr>
                        <a:t>Cíclicas Domésticas</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Imobiliário</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1,8%</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7,5%</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Iguatemi</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IGTI11</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7,5%</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Compra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R$ 32,00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2753267940"/>
                  </a:ext>
                </a:extLst>
              </a:tr>
              <a:tr h="105809">
                <a:tc rowSpan="3">
                  <a:txBody>
                    <a:bodyPr/>
                    <a:lstStyle/>
                    <a:p>
                      <a:pPr algn="ctr" fontAlgn="ctr">
                        <a:buNone/>
                      </a:pPr>
                      <a:r>
                        <a:rPr lang="pt-BR" sz="900" b="0" i="0" u="none" strike="noStrike" dirty="0">
                          <a:solidFill>
                            <a:srgbClr val="000000"/>
                          </a:solidFill>
                          <a:effectLst/>
                          <a:latin typeface="Roboto Light" panose="02000000000000000000" pitchFamily="2" charset="0"/>
                        </a:rPr>
                        <a:t>Defensivas Domésticas</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Saúde</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2,2%</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7,5%</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Rede D'Or</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RDOR3</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7,5%</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Compra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R$ 45,00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2579477771"/>
                  </a:ext>
                </a:extLst>
              </a:tr>
              <a:tr h="105809">
                <a:tc vMerge="1">
                  <a:txBody>
                    <a:bodyPr/>
                    <a:lstStyle/>
                    <a:p>
                      <a:pPr algn="ctr" fontAlgn="ctr">
                        <a:buNone/>
                      </a:pPr>
                      <a:r>
                        <a:rPr lang="pt-BR" sz="900" b="0" i="0" u="none" strike="noStrike" dirty="0">
                          <a:solidFill>
                            <a:srgbClr val="000000"/>
                          </a:solidFill>
                          <a:effectLst/>
                          <a:latin typeface="Roboto Light" panose="02000000000000000000" pitchFamily="2" charset="0"/>
                        </a:rPr>
                        <a:t>Defensivas Domésticas</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rowSpan="2">
                  <a:txBody>
                    <a:bodyPr/>
                    <a:lstStyle/>
                    <a:p>
                      <a:pPr algn="ctr" fontAlgn="ctr">
                        <a:buNone/>
                      </a:pPr>
                      <a:r>
                        <a:rPr lang="pt-BR" sz="900" b="0" i="0" u="none" strike="noStrike" dirty="0">
                          <a:solidFill>
                            <a:srgbClr val="000000"/>
                          </a:solidFill>
                          <a:effectLst/>
                          <a:latin typeface="Roboto Light" panose="02000000000000000000" pitchFamily="2" charset="0"/>
                        </a:rPr>
                        <a:t>Utilidade Pública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rowSpan="2">
                  <a:txBody>
                    <a:bodyPr/>
                    <a:lstStyle/>
                    <a:p>
                      <a:pPr algn="ctr" fontAlgn="ctr">
                        <a:buNone/>
                      </a:pPr>
                      <a:r>
                        <a:rPr lang="pt-BR" sz="900" b="0" i="0" u="none" strike="noStrike" dirty="0">
                          <a:solidFill>
                            <a:srgbClr val="000000"/>
                          </a:solidFill>
                          <a:effectLst/>
                          <a:latin typeface="Roboto Light" panose="02000000000000000000" pitchFamily="2" charset="0"/>
                        </a:rPr>
                        <a:t>17,9%</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rowSpan="2">
                  <a:txBody>
                    <a:bodyPr/>
                    <a:lstStyle/>
                    <a:p>
                      <a:pPr algn="ctr" fontAlgn="ctr">
                        <a:buNone/>
                      </a:pPr>
                      <a:r>
                        <a:rPr lang="pt-BR" sz="900" b="0" i="0" u="none" strike="noStrike" dirty="0">
                          <a:solidFill>
                            <a:srgbClr val="000000"/>
                          </a:solidFill>
                          <a:effectLst/>
                          <a:latin typeface="Roboto Light" panose="02000000000000000000" pitchFamily="2" charset="0"/>
                        </a:rPr>
                        <a:t>12,5%</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Sabesp</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SBSP3</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7,5%</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Compra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R$ 38,25</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99949912"/>
                  </a:ext>
                </a:extLst>
              </a:tr>
              <a:tr h="105809">
                <a:tc vMerge="1">
                  <a:txBody>
                    <a:bodyPr/>
                    <a:lstStyle/>
                    <a:p>
                      <a:pPr algn="ctr" fontAlgn="ctr">
                        <a:buNone/>
                      </a:pPr>
                      <a:r>
                        <a:rPr lang="pt-BR" sz="900" b="0" i="0" u="none" strike="noStrike" dirty="0">
                          <a:solidFill>
                            <a:srgbClr val="000000"/>
                          </a:solidFill>
                          <a:effectLst/>
                          <a:latin typeface="Roboto Light" panose="02000000000000000000" pitchFamily="2" charset="0"/>
                        </a:rPr>
                        <a:t>Defensivas Domésticas</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vMerge="1">
                  <a:txBody>
                    <a:bodyPr/>
                    <a:lstStyle/>
                    <a:p>
                      <a:pPr algn="ctr" fontAlgn="ctr">
                        <a:buNone/>
                      </a:pPr>
                      <a:r>
                        <a:rPr lang="pt-BR" sz="900" b="0" i="0" u="none" strike="noStrike" dirty="0">
                          <a:solidFill>
                            <a:srgbClr val="000000"/>
                          </a:solidFill>
                          <a:effectLst/>
                          <a:latin typeface="Roboto Light" panose="02000000000000000000" pitchFamily="2" charset="0"/>
                        </a:rPr>
                        <a:t>Utilidade Pública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vMerge="1">
                  <a:txBody>
                    <a:bodyPr/>
                    <a:lstStyle/>
                    <a:p>
                      <a:pPr algn="ctr" fontAlgn="ctr">
                        <a:buNone/>
                      </a:pPr>
                      <a:r>
                        <a:rPr lang="pt-BR" sz="900" b="0" i="0" u="none" strike="noStrike" dirty="0">
                          <a:solidFill>
                            <a:srgbClr val="000000"/>
                          </a:solidFill>
                          <a:effectLst/>
                          <a:latin typeface="Roboto Light" panose="02000000000000000000" pitchFamily="2" charset="0"/>
                        </a:rPr>
                        <a:t>17,9%</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vMerge="1">
                  <a:txBody>
                    <a:bodyPr/>
                    <a:lstStyle/>
                    <a:p>
                      <a:pPr algn="ctr" fontAlgn="ctr">
                        <a:buNone/>
                      </a:pPr>
                      <a:r>
                        <a:rPr lang="pt-BR" sz="900" b="0" i="0" u="none" strike="noStrike" dirty="0">
                          <a:solidFill>
                            <a:srgbClr val="000000"/>
                          </a:solidFill>
                          <a:effectLst/>
                          <a:latin typeface="Roboto Light" panose="02000000000000000000" pitchFamily="2" charset="0"/>
                        </a:rPr>
                        <a:t>12,5%</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Orizon</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ORVR3</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5,0%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Compra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R$ 97,48</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2644213667"/>
                  </a:ext>
                </a:extLst>
              </a:tr>
              <a:tr h="105809">
                <a:tc rowSpan="3">
                  <a:txBody>
                    <a:bodyPr/>
                    <a:lstStyle/>
                    <a:p>
                      <a:pPr algn="ctr" fontAlgn="ctr">
                        <a:buNone/>
                      </a:pPr>
                      <a:r>
                        <a:rPr lang="pt-BR" sz="900" b="0" i="0" u="none" strike="noStrike" dirty="0">
                          <a:solidFill>
                            <a:srgbClr val="000000"/>
                          </a:solidFill>
                          <a:effectLst/>
                          <a:latin typeface="Roboto Light" panose="02000000000000000000" pitchFamily="2" charset="0"/>
                        </a:rPr>
                        <a:t>Financeiro</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rowSpan="3">
                  <a:txBody>
                    <a:bodyPr/>
                    <a:lstStyle/>
                    <a:p>
                      <a:pPr algn="ctr" fontAlgn="ctr">
                        <a:buNone/>
                      </a:pPr>
                      <a:r>
                        <a:rPr lang="pt-BR" sz="900" b="0" i="0" u="none" strike="noStrike" dirty="0">
                          <a:solidFill>
                            <a:srgbClr val="000000"/>
                          </a:solidFill>
                          <a:effectLst/>
                          <a:latin typeface="Roboto Light" panose="02000000000000000000" pitchFamily="2" charset="0"/>
                        </a:rPr>
                        <a:t>Financeiro</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rowSpan="3">
                  <a:txBody>
                    <a:bodyPr/>
                    <a:lstStyle/>
                    <a:p>
                      <a:pPr algn="ctr" fontAlgn="ctr">
                        <a:buNone/>
                      </a:pPr>
                      <a:r>
                        <a:rPr lang="pt-BR" sz="900" b="0" i="0" u="none" strike="noStrike" dirty="0">
                          <a:solidFill>
                            <a:srgbClr val="000000"/>
                          </a:solidFill>
                          <a:effectLst/>
                          <a:latin typeface="Roboto Light" panose="02000000000000000000" pitchFamily="2" charset="0"/>
                        </a:rPr>
                        <a:t>27,5%</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rowSpan="3">
                  <a:txBody>
                    <a:bodyPr/>
                    <a:lstStyle/>
                    <a:p>
                      <a:pPr algn="ctr" fontAlgn="ctr">
                        <a:buNone/>
                      </a:pPr>
                      <a:r>
                        <a:rPr lang="pt-BR" sz="900" b="0" i="0" u="none" strike="noStrike" dirty="0">
                          <a:solidFill>
                            <a:srgbClr val="000000"/>
                          </a:solidFill>
                          <a:effectLst/>
                          <a:latin typeface="Roboto Light" panose="02000000000000000000" pitchFamily="2" charset="0"/>
                        </a:rPr>
                        <a:t>22,5%</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Itaú Unibanco</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ITUB4</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10,0%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Compra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R$ 51,00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3685115197"/>
                  </a:ext>
                </a:extLst>
              </a:tr>
              <a:tr h="105809">
                <a:tc vMerge="1">
                  <a:txBody>
                    <a:bodyPr/>
                    <a:lstStyle/>
                    <a:p>
                      <a:pPr algn="ctr" fontAlgn="ctr">
                        <a:buNone/>
                      </a:pPr>
                      <a:r>
                        <a:rPr lang="pt-BR" sz="900" b="0" i="0" u="none" strike="noStrike" dirty="0">
                          <a:solidFill>
                            <a:srgbClr val="000000"/>
                          </a:solidFill>
                          <a:effectLst/>
                          <a:latin typeface="Roboto Light" panose="02000000000000000000" pitchFamily="2" charset="0"/>
                        </a:rPr>
                        <a:t>Financeiro</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vMerge="1">
                  <a:txBody>
                    <a:bodyPr/>
                    <a:lstStyle/>
                    <a:p>
                      <a:pPr algn="ctr" fontAlgn="ctr">
                        <a:buNone/>
                      </a:pPr>
                      <a:r>
                        <a:rPr lang="pt-BR" sz="900" b="0" i="0" u="none" strike="noStrike" dirty="0">
                          <a:solidFill>
                            <a:srgbClr val="000000"/>
                          </a:solidFill>
                          <a:effectLst/>
                          <a:latin typeface="Roboto Light" panose="02000000000000000000" pitchFamily="2" charset="0"/>
                        </a:rPr>
                        <a:t>Financeiro</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vMerge="1">
                  <a:txBody>
                    <a:bodyPr/>
                    <a:lstStyle/>
                    <a:p>
                      <a:pPr algn="ctr" fontAlgn="ctr">
                        <a:buNone/>
                      </a:pPr>
                      <a:r>
                        <a:rPr lang="pt-BR" sz="900" b="0" i="0" u="none" strike="noStrike" dirty="0">
                          <a:solidFill>
                            <a:srgbClr val="000000"/>
                          </a:solidFill>
                          <a:effectLst/>
                          <a:latin typeface="Roboto Light" panose="02000000000000000000" pitchFamily="2" charset="0"/>
                        </a:rPr>
                        <a:t>27,5%</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vMerge="1">
                  <a:txBody>
                    <a:bodyPr/>
                    <a:lstStyle/>
                    <a:p>
                      <a:pPr algn="ctr" fontAlgn="ctr">
                        <a:buNone/>
                      </a:pPr>
                      <a:r>
                        <a:rPr lang="pt-BR" sz="900" b="0" i="0" u="none" strike="noStrike" dirty="0">
                          <a:solidFill>
                            <a:srgbClr val="000000"/>
                          </a:solidFill>
                          <a:effectLst/>
                          <a:latin typeface="Roboto Light" panose="02000000000000000000" pitchFamily="2" charset="0"/>
                        </a:rPr>
                        <a:t>22,5%</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BTG Pactual</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BPAC11</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5,0%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Compra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R$ 63,00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2293465151"/>
                  </a:ext>
                </a:extLst>
              </a:tr>
              <a:tr h="105809">
                <a:tc vMerge="1">
                  <a:txBody>
                    <a:bodyPr/>
                    <a:lstStyle/>
                    <a:p>
                      <a:pPr algn="ctr" fontAlgn="ctr">
                        <a:buNone/>
                      </a:pPr>
                      <a:r>
                        <a:rPr lang="pt-BR" sz="900" b="0" i="0" u="none" strike="noStrike" dirty="0">
                          <a:solidFill>
                            <a:srgbClr val="000000"/>
                          </a:solidFill>
                          <a:effectLst/>
                          <a:latin typeface="Roboto Light" panose="02000000000000000000" pitchFamily="2" charset="0"/>
                        </a:rPr>
                        <a:t>Financeiro</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vMerge="1">
                  <a:txBody>
                    <a:bodyPr/>
                    <a:lstStyle/>
                    <a:p>
                      <a:pPr algn="ctr" fontAlgn="ctr">
                        <a:buNone/>
                      </a:pPr>
                      <a:r>
                        <a:rPr lang="pt-BR" sz="900" b="0" i="0" u="none" strike="noStrike" dirty="0">
                          <a:solidFill>
                            <a:srgbClr val="000000"/>
                          </a:solidFill>
                          <a:effectLst/>
                          <a:latin typeface="Roboto Light" panose="02000000000000000000" pitchFamily="2" charset="0"/>
                        </a:rPr>
                        <a:t>Financeiro</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vMerge="1">
                  <a:txBody>
                    <a:bodyPr/>
                    <a:lstStyle/>
                    <a:p>
                      <a:pPr algn="ctr" fontAlgn="ctr">
                        <a:buNone/>
                      </a:pPr>
                      <a:r>
                        <a:rPr lang="pt-BR" sz="900" b="0" i="0" u="none" strike="noStrike" dirty="0">
                          <a:solidFill>
                            <a:srgbClr val="000000"/>
                          </a:solidFill>
                          <a:effectLst/>
                          <a:latin typeface="Roboto Light" panose="02000000000000000000" pitchFamily="2" charset="0"/>
                        </a:rPr>
                        <a:t>27,5%</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vMerge="1">
                  <a:txBody>
                    <a:bodyPr/>
                    <a:lstStyle/>
                    <a:p>
                      <a:pPr algn="ctr" fontAlgn="ctr">
                        <a:buNone/>
                      </a:pPr>
                      <a:r>
                        <a:rPr lang="pt-BR" sz="900" b="0" i="0" u="none" strike="noStrike" dirty="0">
                          <a:solidFill>
                            <a:srgbClr val="000000"/>
                          </a:solidFill>
                          <a:effectLst/>
                          <a:latin typeface="Roboto Light" panose="02000000000000000000" pitchFamily="2" charset="0"/>
                        </a:rPr>
                        <a:t>22,5%</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Nubank</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ROXO34</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7,5%</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Compra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R$ 18,60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1456833191"/>
                  </a:ext>
                </a:extLst>
              </a:tr>
            </a:tbl>
          </a:graphicData>
        </a:graphic>
      </p:graphicFrame>
    </p:spTree>
    <p:extLst>
      <p:ext uri="{BB962C8B-B14F-4D97-AF65-F5344CB8AC3E}">
        <p14:creationId xmlns:p14="http://schemas.microsoft.com/office/powerpoint/2010/main" val="17466177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71F2E3B-5CB4-4876-9A9D-2E97C1D73457}"/>
              </a:ext>
            </a:extLst>
          </p:cNvPr>
          <p:cNvSpPr>
            <a:spLocks noGrp="1"/>
          </p:cNvSpPr>
          <p:nvPr>
            <p:ph type="body" sz="quarter" idx="18"/>
          </p:nvPr>
        </p:nvSpPr>
        <p:spPr/>
        <p:txBody>
          <a:bodyPr/>
          <a:lstStyle/>
          <a:p>
            <a:r>
              <a:rPr lang="pt-BR" dirty="0"/>
              <a:t>Fonte: XP </a:t>
            </a:r>
            <a:r>
              <a:rPr lang="pt-BR" dirty="0" err="1"/>
              <a:t>Research</a:t>
            </a:r>
            <a:r>
              <a:rPr lang="pt-BR" dirty="0"/>
              <a:t>. /  Sempre consulte seu assessor de investimentos</a:t>
            </a:r>
            <a:endParaRPr lang="en-US" dirty="0"/>
          </a:p>
        </p:txBody>
      </p:sp>
      <p:sp>
        <p:nvSpPr>
          <p:cNvPr id="4" name="Text Placeholder 3">
            <a:extLst>
              <a:ext uri="{FF2B5EF4-FFF2-40B4-BE49-F238E27FC236}">
                <a16:creationId xmlns:a16="http://schemas.microsoft.com/office/drawing/2014/main" id="{0E873E02-4DFC-4684-A7B1-0ACA827741DD}"/>
              </a:ext>
            </a:extLst>
          </p:cNvPr>
          <p:cNvSpPr>
            <a:spLocks noGrp="1"/>
          </p:cNvSpPr>
          <p:nvPr>
            <p:ph type="body" sz="quarter" idx="24"/>
          </p:nvPr>
        </p:nvSpPr>
        <p:spPr>
          <a:xfrm>
            <a:off x="336001" y="1288975"/>
            <a:ext cx="11518900" cy="2027101"/>
          </a:xfrm>
        </p:spPr>
        <p:txBody>
          <a:bodyPr anchor="ctr"/>
          <a:lstStyle/>
          <a:p>
            <a:r>
              <a:rPr lang="pt-BR" sz="1100" b="1" dirty="0"/>
              <a:t xml:space="preserve">Estamos removendo B3SA3 </a:t>
            </a:r>
            <a:r>
              <a:rPr lang="pt-BR" sz="1100" dirty="0"/>
              <a:t xml:space="preserve">em meio a um cenário mais incerto para o segmento de mercado de capitais, pressionado pelo ambiente de taxas de juros altas por mais tempo. </a:t>
            </a:r>
            <a:r>
              <a:rPr lang="pt-BR" sz="1100" b="1" dirty="0"/>
              <a:t>Estamos aumentando ROXO34 de 5,0% para 7,5%.</a:t>
            </a:r>
            <a:r>
              <a:rPr lang="pt-BR" sz="1100" dirty="0"/>
              <a:t xml:space="preserve"> Esperamos um 2T de recuperação para o Nubank, o que deve sustentar uma recuperação do papel após a reação negativa do mercado frente a um 1T marcado por maiores despesas de provisão. </a:t>
            </a:r>
            <a:r>
              <a:rPr lang="pt-BR" sz="1100" b="1" dirty="0"/>
              <a:t>Estamos removendo RENT3</a:t>
            </a:r>
            <a:r>
              <a:rPr lang="pt-BR" sz="1100" dirty="0"/>
              <a:t xml:space="preserve"> em um movimento tático. Apesar da mudança, seguimos gostando da companhia, dada sua alta qualidade e melhora operacional. </a:t>
            </a:r>
            <a:r>
              <a:rPr lang="pt-BR" sz="1100" b="1" dirty="0"/>
              <a:t xml:space="preserve">Estamos reduzindo IGTI11 de 10% para 7,5%, </a:t>
            </a:r>
            <a:r>
              <a:rPr lang="pt-BR" sz="1100" dirty="0"/>
              <a:t xml:space="preserve">à medida que buscamos reduzir um pouco a exposição geral da carteira em nomes ligados à economia doméstica. </a:t>
            </a:r>
            <a:r>
              <a:rPr lang="pt-BR" sz="1100" b="1" dirty="0"/>
              <a:t>Estamos aumentando GGBR4 de 5% para 10%</a:t>
            </a:r>
            <a:r>
              <a:rPr lang="pt-BR" sz="1100" dirty="0"/>
              <a:t xml:space="preserve">, pois esperamos que o forte momento operacional na América do Norte continue, sustentando um sólido 2T26. </a:t>
            </a:r>
            <a:r>
              <a:rPr lang="pt-BR" sz="1100" b="1" dirty="0"/>
              <a:t>Estamos aumentando EMBJ3 de 5% para 10%</a:t>
            </a:r>
            <a:r>
              <a:rPr lang="pt-BR" sz="1100" dirty="0"/>
              <a:t>, pois seguimos construtivos com sua história micro, sustentada por uma carteira de pedidos robusta, que reduziu recentemente os riscos da tese de investimento.</a:t>
            </a:r>
            <a:endParaRPr lang="pt-BR" sz="800" dirty="0"/>
          </a:p>
        </p:txBody>
      </p:sp>
      <p:sp>
        <p:nvSpPr>
          <p:cNvPr id="6" name="Text Placeholder 5">
            <a:extLst>
              <a:ext uri="{FF2B5EF4-FFF2-40B4-BE49-F238E27FC236}">
                <a16:creationId xmlns:a16="http://schemas.microsoft.com/office/drawing/2014/main" id="{49500B37-A2A4-4707-B6A1-04E221FED814}"/>
              </a:ext>
            </a:extLst>
          </p:cNvPr>
          <p:cNvSpPr>
            <a:spLocks noGrp="1"/>
          </p:cNvSpPr>
          <p:nvPr>
            <p:ph type="body" sz="quarter" idx="16"/>
          </p:nvPr>
        </p:nvSpPr>
        <p:spPr/>
        <p:txBody>
          <a:bodyPr/>
          <a:lstStyle/>
          <a:p>
            <a:r>
              <a:rPr lang="pt-BR" dirty="0"/>
              <a:t>Comentário da carteira</a:t>
            </a:r>
            <a:endParaRPr lang="en-US" dirty="0"/>
          </a:p>
        </p:txBody>
      </p:sp>
      <p:sp>
        <p:nvSpPr>
          <p:cNvPr id="7" name="Text Placeholder 11">
            <a:extLst>
              <a:ext uri="{FF2B5EF4-FFF2-40B4-BE49-F238E27FC236}">
                <a16:creationId xmlns:a16="http://schemas.microsoft.com/office/drawing/2014/main" id="{714FDD09-8B65-6219-3820-1A4112A02F4C}"/>
              </a:ext>
            </a:extLst>
          </p:cNvPr>
          <p:cNvSpPr>
            <a:spLocks noGrp="1"/>
          </p:cNvSpPr>
          <p:nvPr>
            <p:ph type="body" sz="quarter" idx="17"/>
          </p:nvPr>
        </p:nvSpPr>
        <p:spPr/>
        <p:txBody>
          <a:bodyPr vert="horz" lIns="0" tIns="45720" rIns="91440" bIns="45720" rtlCol="0" anchor="t">
            <a:noAutofit/>
          </a:bodyPr>
          <a:lstStyle/>
          <a:p>
            <a:r>
              <a:rPr lang="pt-BR" sz="1600" dirty="0"/>
              <a:t>Removendo B3SA3 e RENT3; reduzindo IGTI11; aumentando EMBJ3, GGBR4, PETR4, SBSP3 e ROXO34</a:t>
            </a:r>
          </a:p>
        </p:txBody>
      </p:sp>
      <p:sp>
        <p:nvSpPr>
          <p:cNvPr id="3" name="Espaço Reservado para Data 5">
            <a:extLst>
              <a:ext uri="{FF2B5EF4-FFF2-40B4-BE49-F238E27FC236}">
                <a16:creationId xmlns:a16="http://schemas.microsoft.com/office/drawing/2014/main" id="{DB09EAE8-D8F7-A1EF-A0F1-A5F8659323EC}"/>
              </a:ext>
            </a:extLst>
          </p:cNvPr>
          <p:cNvSpPr>
            <a:spLocks noGrp="1"/>
          </p:cNvSpPr>
          <p:nvPr>
            <p:ph type="dt" sz="half" idx="2"/>
          </p:nvPr>
        </p:nvSpPr>
        <p:spPr>
          <a:xfrm>
            <a:off x="8723310" y="305162"/>
            <a:ext cx="3132139" cy="210546"/>
          </a:xfrm>
        </p:spPr>
        <p:txBody>
          <a:bodyPr/>
          <a:lstStyle/>
          <a:p>
            <a:fld id="{A6844A8F-C80F-444C-AD01-359786A22A4E}" type="datetime4">
              <a:rPr lang="pt-BR" sz="1100" smtClean="0"/>
              <a:pPr/>
              <a:t>5 de agosto de 2026</a:t>
            </a:fld>
            <a:endParaRPr lang="en-US" sz="1100" dirty="0"/>
          </a:p>
        </p:txBody>
      </p:sp>
    </p:spTree>
    <p:extLst>
      <p:ext uri="{BB962C8B-B14F-4D97-AF65-F5344CB8AC3E}">
        <p14:creationId xmlns:p14="http://schemas.microsoft.com/office/powerpoint/2010/main" val="25785830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ço Reservado para Texto 3">
            <a:extLst>
              <a:ext uri="{FF2B5EF4-FFF2-40B4-BE49-F238E27FC236}">
                <a16:creationId xmlns:a16="http://schemas.microsoft.com/office/drawing/2014/main" id="{D947090A-2FFE-4228-A491-829644B90809}"/>
              </a:ext>
            </a:extLst>
          </p:cNvPr>
          <p:cNvSpPr>
            <a:spLocks noGrp="1"/>
          </p:cNvSpPr>
          <p:nvPr>
            <p:ph type="body" sz="quarter" idx="16"/>
          </p:nvPr>
        </p:nvSpPr>
        <p:spPr/>
        <p:txBody>
          <a:bodyPr/>
          <a:lstStyle/>
          <a:p>
            <a:r>
              <a:rPr lang="pt-BR" dirty="0"/>
              <a:t>Desempenho</a:t>
            </a:r>
          </a:p>
        </p:txBody>
      </p:sp>
      <p:sp>
        <p:nvSpPr>
          <p:cNvPr id="6" name="Espaço Reservado para Data 5">
            <a:extLst>
              <a:ext uri="{FF2B5EF4-FFF2-40B4-BE49-F238E27FC236}">
                <a16:creationId xmlns:a16="http://schemas.microsoft.com/office/drawing/2014/main" id="{609C8695-3CC8-4A82-B06E-C9E5C28A3DB0}"/>
              </a:ext>
            </a:extLst>
          </p:cNvPr>
          <p:cNvSpPr>
            <a:spLocks noGrp="1"/>
          </p:cNvSpPr>
          <p:nvPr>
            <p:ph type="dt" sz="half" idx="2"/>
          </p:nvPr>
        </p:nvSpPr>
        <p:spPr/>
        <p:txBody>
          <a:bodyPr/>
          <a:lstStyle/>
          <a:p>
            <a:fld id="{A6844A8F-C80F-444C-AD01-359786A22A4E}" type="datetime4">
              <a:rPr lang="pt-BR" smtClean="0"/>
              <a:pPr/>
              <a:t>5 de agosto de 2026</a:t>
            </a:fld>
            <a:endParaRPr lang="en-US" dirty="0"/>
          </a:p>
        </p:txBody>
      </p:sp>
      <p:sp>
        <p:nvSpPr>
          <p:cNvPr id="21" name="Espaço Reservado para Conteúdo 6">
            <a:extLst>
              <a:ext uri="{FF2B5EF4-FFF2-40B4-BE49-F238E27FC236}">
                <a16:creationId xmlns:a16="http://schemas.microsoft.com/office/drawing/2014/main" id="{18F26912-C598-8ECF-A3BC-B407E871BFD5}"/>
              </a:ext>
            </a:extLst>
          </p:cNvPr>
          <p:cNvSpPr txBox="1">
            <a:spLocks/>
          </p:cNvSpPr>
          <p:nvPr/>
        </p:nvSpPr>
        <p:spPr>
          <a:xfrm>
            <a:off x="324164" y="2112844"/>
            <a:ext cx="6753571" cy="230832"/>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marL="0" indent="0" algn="l" defTabSz="685808" rtl="0" eaLnBrk="1" latinLnBrk="0" hangingPunct="1">
              <a:lnSpc>
                <a:spcPct val="90000"/>
              </a:lnSpc>
              <a:spcBef>
                <a:spcPts val="751"/>
              </a:spcBef>
              <a:buFont typeface="Arial" panose="020B0604020202020204" pitchFamily="34" charset="0"/>
              <a:buNone/>
              <a:defRPr lang="pt-BR" sz="1000" b="1" kern="120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404817" indent="-136925" algn="l" defTabSz="685808" rtl="0" eaLnBrk="1" latinLnBrk="0" hangingPunct="1">
              <a:lnSpc>
                <a:spcPct val="90000"/>
              </a:lnSpc>
              <a:spcBef>
                <a:spcPts val="375"/>
              </a:spcBef>
              <a:buFont typeface="Arial" panose="020B0604020202020204" pitchFamily="34" charset="0"/>
              <a:buChar char="•"/>
              <a:defRPr sz="1051" kern="1200">
                <a:solidFill>
                  <a:schemeClr val="tx2"/>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tx2"/>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r>
              <a:rPr lang="pt-BR" dirty="0"/>
              <a:t>Figura 2: Desempenho de cada ativo</a:t>
            </a:r>
          </a:p>
        </p:txBody>
      </p:sp>
      <p:sp>
        <p:nvSpPr>
          <p:cNvPr id="22" name="Espaço Reservado para Conteúdo 7">
            <a:extLst>
              <a:ext uri="{FF2B5EF4-FFF2-40B4-BE49-F238E27FC236}">
                <a16:creationId xmlns:a16="http://schemas.microsoft.com/office/drawing/2014/main" id="{2BBAB580-05A5-DA23-128D-DF9545D61122}"/>
              </a:ext>
            </a:extLst>
          </p:cNvPr>
          <p:cNvSpPr txBox="1">
            <a:spLocks/>
          </p:cNvSpPr>
          <p:nvPr/>
        </p:nvSpPr>
        <p:spPr>
          <a:xfrm>
            <a:off x="324164" y="4765591"/>
            <a:ext cx="6765405" cy="230832"/>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marL="0" indent="0" algn="l" defTabSz="685808" rtl="0" eaLnBrk="1" latinLnBrk="0" hangingPunct="1">
              <a:lnSpc>
                <a:spcPct val="90000"/>
              </a:lnSpc>
              <a:spcBef>
                <a:spcPts val="751"/>
              </a:spcBef>
              <a:buFont typeface="Arial" panose="020B0604020202020204" pitchFamily="34" charset="0"/>
              <a:buNone/>
              <a:defRPr lang="pt-BR" sz="1000" b="1" kern="120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404817" indent="-136925" algn="l" defTabSz="685808" rtl="0" eaLnBrk="1" latinLnBrk="0" hangingPunct="1">
              <a:lnSpc>
                <a:spcPct val="90000"/>
              </a:lnSpc>
              <a:spcBef>
                <a:spcPts val="375"/>
              </a:spcBef>
              <a:buFont typeface="Arial" panose="020B0604020202020204" pitchFamily="34" charset="0"/>
              <a:buChar char="•"/>
              <a:defRPr sz="1051" kern="1200">
                <a:solidFill>
                  <a:schemeClr val="tx2"/>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tx2"/>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r>
              <a:rPr lang="pt-BR" dirty="0"/>
              <a:t>Figura 4: Indicadores de desempenho desde o início da carteira</a:t>
            </a:r>
          </a:p>
        </p:txBody>
      </p:sp>
      <p:sp>
        <p:nvSpPr>
          <p:cNvPr id="23" name="Espaço Reservado para Conteúdo 9">
            <a:extLst>
              <a:ext uri="{FF2B5EF4-FFF2-40B4-BE49-F238E27FC236}">
                <a16:creationId xmlns:a16="http://schemas.microsoft.com/office/drawing/2014/main" id="{A87056D7-3108-F4B5-9F54-B8A3B4551E4D}"/>
              </a:ext>
            </a:extLst>
          </p:cNvPr>
          <p:cNvSpPr txBox="1">
            <a:spLocks/>
          </p:cNvSpPr>
          <p:nvPr/>
        </p:nvSpPr>
        <p:spPr>
          <a:xfrm>
            <a:off x="7209279" y="2075062"/>
            <a:ext cx="4658557" cy="230832"/>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marL="0" indent="0" algn="l" defTabSz="685808" rtl="0" eaLnBrk="1" latinLnBrk="0" hangingPunct="1">
              <a:lnSpc>
                <a:spcPct val="90000"/>
              </a:lnSpc>
              <a:spcBef>
                <a:spcPts val="751"/>
              </a:spcBef>
              <a:buFont typeface="Arial" panose="020B0604020202020204" pitchFamily="34" charset="0"/>
              <a:buNone/>
              <a:defRPr lang="pt-BR" sz="1000" b="1" kern="120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404817" indent="-136925" algn="l" defTabSz="685808" rtl="0" eaLnBrk="1" latinLnBrk="0" hangingPunct="1">
              <a:lnSpc>
                <a:spcPct val="90000"/>
              </a:lnSpc>
              <a:spcBef>
                <a:spcPts val="375"/>
              </a:spcBef>
              <a:buFont typeface="Arial" panose="020B0604020202020204" pitchFamily="34" charset="0"/>
              <a:buChar char="•"/>
              <a:defRPr sz="1051" kern="1200">
                <a:solidFill>
                  <a:schemeClr val="tx2"/>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tx2"/>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r>
              <a:rPr lang="pt-BR" dirty="0"/>
              <a:t>Figura 3: Desempenho da Carteira Top Ações XP vs. Ibovespa (100 = 28 fev. 2025)</a:t>
            </a:r>
          </a:p>
        </p:txBody>
      </p:sp>
      <p:sp>
        <p:nvSpPr>
          <p:cNvPr id="25" name="Espaço Reservado para Conteúdo 2">
            <a:extLst>
              <a:ext uri="{FF2B5EF4-FFF2-40B4-BE49-F238E27FC236}">
                <a16:creationId xmlns:a16="http://schemas.microsoft.com/office/drawing/2014/main" id="{D0FEFDFD-8589-5C1D-ADC4-480694564D3D}"/>
              </a:ext>
            </a:extLst>
          </p:cNvPr>
          <p:cNvSpPr txBox="1">
            <a:spLocks/>
          </p:cNvSpPr>
          <p:nvPr/>
        </p:nvSpPr>
        <p:spPr>
          <a:xfrm>
            <a:off x="336000" y="782702"/>
            <a:ext cx="11518899" cy="230832"/>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marL="0" indent="0" algn="l" defTabSz="685808" rtl="0" eaLnBrk="1" latinLnBrk="0" hangingPunct="1">
              <a:lnSpc>
                <a:spcPct val="90000"/>
              </a:lnSpc>
              <a:spcBef>
                <a:spcPts val="751"/>
              </a:spcBef>
              <a:buFont typeface="Arial" panose="020B0604020202020204" pitchFamily="34" charset="0"/>
              <a:buNone/>
              <a:defRPr lang="pt-BR" sz="1000" b="1" kern="120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404817" indent="-136925" algn="l" defTabSz="685808" rtl="0" eaLnBrk="1" latinLnBrk="0" hangingPunct="1">
              <a:lnSpc>
                <a:spcPct val="90000"/>
              </a:lnSpc>
              <a:spcBef>
                <a:spcPts val="375"/>
              </a:spcBef>
              <a:buFont typeface="Arial" panose="020B0604020202020204" pitchFamily="34" charset="0"/>
              <a:buChar char="•"/>
              <a:defRPr sz="1051" kern="1200">
                <a:solidFill>
                  <a:schemeClr val="tx2"/>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tx2"/>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r>
              <a:rPr lang="pt-BR" dirty="0"/>
              <a:t>Figura 1: Desempenho da Carteira Top Ações XP vs. Ibovespa</a:t>
            </a:r>
          </a:p>
        </p:txBody>
      </p:sp>
      <p:graphicFrame>
        <p:nvGraphicFramePr>
          <p:cNvPr id="37" name="Table 36">
            <a:extLst>
              <a:ext uri="{FF2B5EF4-FFF2-40B4-BE49-F238E27FC236}">
                <a16:creationId xmlns:a16="http://schemas.microsoft.com/office/drawing/2014/main" id="{D7BE1AF0-EDCC-A8D8-B9E8-C08B2535AF9E}"/>
              </a:ext>
            </a:extLst>
          </p:cNvPr>
          <p:cNvGraphicFramePr>
            <a:graphicFrameLocks noGrp="1"/>
          </p:cNvGraphicFramePr>
          <p:nvPr>
            <p:extLst>
              <p:ext uri="{D42A27DB-BD31-4B8C-83A1-F6EECF244321}">
                <p14:modId xmlns:p14="http://schemas.microsoft.com/office/powerpoint/2010/main" val="3977372824"/>
              </p:ext>
            </p:extLst>
          </p:nvPr>
        </p:nvGraphicFramePr>
        <p:xfrm>
          <a:off x="335998" y="5057256"/>
          <a:ext cx="6765404" cy="736600"/>
        </p:xfrm>
        <a:graphic>
          <a:graphicData uri="http://schemas.openxmlformats.org/drawingml/2006/table">
            <a:tbl>
              <a:tblPr/>
              <a:tblGrid>
                <a:gridCol w="2762103">
                  <a:extLst>
                    <a:ext uri="{9D8B030D-6E8A-4147-A177-3AD203B41FA5}">
                      <a16:colId xmlns:a16="http://schemas.microsoft.com/office/drawing/2014/main" val="3874460595"/>
                    </a:ext>
                  </a:extLst>
                </a:gridCol>
                <a:gridCol w="1538386">
                  <a:extLst>
                    <a:ext uri="{9D8B030D-6E8A-4147-A177-3AD203B41FA5}">
                      <a16:colId xmlns:a16="http://schemas.microsoft.com/office/drawing/2014/main" val="688580943"/>
                    </a:ext>
                  </a:extLst>
                </a:gridCol>
                <a:gridCol w="2464915">
                  <a:extLst>
                    <a:ext uri="{9D8B030D-6E8A-4147-A177-3AD203B41FA5}">
                      <a16:colId xmlns:a16="http://schemas.microsoft.com/office/drawing/2014/main" val="452379135"/>
                    </a:ext>
                  </a:extLst>
                </a:gridCol>
              </a:tblGrid>
              <a:tr h="184150">
                <a:tc>
                  <a:txBody>
                    <a:bodyPr/>
                    <a:lstStyle/>
                    <a:p>
                      <a:pPr algn="ctr" rtl="0" fontAlgn="ctr"/>
                      <a:r>
                        <a:rPr lang="en-US" sz="1000" b="1" i="0" u="none" strike="noStrike" dirty="0" err="1">
                          <a:solidFill>
                            <a:srgbClr val="000000"/>
                          </a:solidFill>
                          <a:effectLst/>
                          <a:latin typeface="+mj-lt"/>
                        </a:rPr>
                        <a:t>Indicador</a:t>
                      </a:r>
                      <a:r>
                        <a:rPr lang="en-US" sz="1000" b="1" i="0" u="none" strike="noStrike" dirty="0">
                          <a:solidFill>
                            <a:srgbClr val="000000"/>
                          </a:solidFill>
                          <a:effectLst/>
                          <a:latin typeface="+mj-lt"/>
                        </a:rPr>
                        <a:t> </a:t>
                      </a:r>
                    </a:p>
                  </a:txBody>
                  <a:tcPr marL="6350" marR="6350" marT="6350" marB="0" anchor="ctr">
                    <a:lnL>
                      <a:noFill/>
                    </a:lnL>
                    <a:lnR>
                      <a:noFill/>
                    </a:lnR>
                    <a:lnT>
                      <a:noFill/>
                    </a:lnT>
                    <a:lnB>
                      <a:noFill/>
                    </a:lnB>
                    <a:solidFill>
                      <a:srgbClr val="FFC000"/>
                    </a:solidFill>
                  </a:tcPr>
                </a:tc>
                <a:tc>
                  <a:txBody>
                    <a:bodyPr/>
                    <a:lstStyle/>
                    <a:p>
                      <a:pPr algn="ctr" rtl="0" fontAlgn="ctr"/>
                      <a:r>
                        <a:rPr lang="en-US" sz="1000" b="1" i="0" u="none" strike="noStrike" dirty="0">
                          <a:solidFill>
                            <a:srgbClr val="000000"/>
                          </a:solidFill>
                          <a:effectLst/>
                          <a:latin typeface="+mj-lt"/>
                        </a:rPr>
                        <a:t>Top </a:t>
                      </a:r>
                      <a:r>
                        <a:rPr lang="en-US" sz="1000" b="1" i="0" u="none" strike="noStrike" dirty="0" err="1">
                          <a:solidFill>
                            <a:srgbClr val="000000"/>
                          </a:solidFill>
                          <a:effectLst/>
                          <a:latin typeface="+mj-lt"/>
                        </a:rPr>
                        <a:t>Ações</a:t>
                      </a:r>
                      <a:r>
                        <a:rPr lang="en-US" sz="1000" b="1" i="0" u="none" strike="noStrike" dirty="0">
                          <a:solidFill>
                            <a:srgbClr val="000000"/>
                          </a:solidFill>
                          <a:effectLst/>
                          <a:latin typeface="+mj-lt"/>
                        </a:rPr>
                        <a:t> XP </a:t>
                      </a:r>
                    </a:p>
                  </a:txBody>
                  <a:tcPr marL="6350" marR="6350" marT="6350" marB="0" anchor="ctr">
                    <a:lnL>
                      <a:noFill/>
                    </a:lnL>
                    <a:lnR>
                      <a:noFill/>
                    </a:lnR>
                    <a:lnT>
                      <a:noFill/>
                    </a:lnT>
                    <a:lnB>
                      <a:noFill/>
                    </a:lnB>
                    <a:solidFill>
                      <a:srgbClr val="FFC000"/>
                    </a:solidFill>
                  </a:tcPr>
                </a:tc>
                <a:tc>
                  <a:txBody>
                    <a:bodyPr/>
                    <a:lstStyle/>
                    <a:p>
                      <a:pPr algn="ctr" rtl="0" fontAlgn="ctr"/>
                      <a:r>
                        <a:rPr lang="en-US" sz="1000" b="1" i="0" u="none" strike="noStrike" dirty="0">
                          <a:solidFill>
                            <a:srgbClr val="000000"/>
                          </a:solidFill>
                          <a:effectLst/>
                          <a:latin typeface="+mj-lt"/>
                        </a:rPr>
                        <a:t>Ibovespa </a:t>
                      </a:r>
                    </a:p>
                  </a:txBody>
                  <a:tcPr marL="6350" marR="6350" marT="6350" marB="0" anchor="ctr">
                    <a:lnL>
                      <a:noFill/>
                    </a:lnL>
                    <a:lnR>
                      <a:noFill/>
                    </a:lnR>
                    <a:lnT>
                      <a:noFill/>
                    </a:lnT>
                    <a:lnB>
                      <a:noFill/>
                    </a:lnB>
                    <a:solidFill>
                      <a:srgbClr val="FFC000"/>
                    </a:solidFill>
                  </a:tcPr>
                </a:tc>
                <a:extLst>
                  <a:ext uri="{0D108BD9-81ED-4DB2-BD59-A6C34878D82A}">
                    <a16:rowId xmlns:a16="http://schemas.microsoft.com/office/drawing/2014/main" val="3301384748"/>
                  </a:ext>
                </a:extLst>
              </a:tr>
              <a:tr h="184150">
                <a:tc>
                  <a:txBody>
                    <a:bodyPr/>
                    <a:lstStyle/>
                    <a:p>
                      <a:pPr algn="l" rtl="0" fontAlgn="b"/>
                      <a:r>
                        <a:rPr lang="en-US" sz="1000" b="0" i="0" u="none" strike="noStrike" dirty="0">
                          <a:solidFill>
                            <a:srgbClr val="000000"/>
                          </a:solidFill>
                          <a:effectLst/>
                          <a:latin typeface="+mj-lt"/>
                        </a:rPr>
                        <a:t>Sharpe </a:t>
                      </a:r>
                    </a:p>
                  </a:txBody>
                  <a:tcPr marL="6350" marR="6350" marT="6350" marB="0" anchor="b">
                    <a:lnL>
                      <a:noFill/>
                    </a:lnL>
                    <a:lnR>
                      <a:noFill/>
                    </a:lnR>
                    <a:lnT>
                      <a:noFill/>
                    </a:lnT>
                    <a:lnB>
                      <a:noFill/>
                    </a:lnB>
                  </a:tcPr>
                </a:tc>
                <a:tc>
                  <a:txBody>
                    <a:bodyPr/>
                    <a:lstStyle/>
                    <a:p>
                      <a:pPr algn="ctr" fontAlgn="b">
                        <a:buNone/>
                      </a:pPr>
                      <a:r>
                        <a:rPr lang="pt-BR" sz="1000" b="0" i="0" u="none" strike="noStrike">
                          <a:solidFill>
                            <a:srgbClr val="000000"/>
                          </a:solidFill>
                          <a:effectLst/>
                          <a:latin typeface="Roboto Light" panose="02000000000000000000" pitchFamily="2" charset="0"/>
                        </a:rPr>
                        <a:t>0.79</a:t>
                      </a:r>
                    </a:p>
                  </a:txBody>
                  <a:tcPr marL="7620" marR="7620" marT="7620" marB="0" anchor="b">
                    <a:lnL>
                      <a:noFill/>
                    </a:lnL>
                    <a:lnR>
                      <a:noFill/>
                    </a:lnR>
                    <a:lnT>
                      <a:noFill/>
                    </a:lnT>
                    <a:lnB>
                      <a:noFill/>
                    </a:lnB>
                  </a:tcPr>
                </a:tc>
                <a:tc>
                  <a:txBody>
                    <a:bodyPr/>
                    <a:lstStyle/>
                    <a:p>
                      <a:pPr algn="ctr" fontAlgn="b">
                        <a:buNone/>
                      </a:pPr>
                      <a:r>
                        <a:rPr lang="pt-BR" sz="1000" b="0" i="0" u="none" strike="noStrike">
                          <a:solidFill>
                            <a:srgbClr val="000000"/>
                          </a:solidFill>
                          <a:effectLst/>
                          <a:latin typeface="Roboto Light" panose="02000000000000000000" pitchFamily="2" charset="0"/>
                        </a:rPr>
                        <a:t>1.01</a:t>
                      </a:r>
                    </a:p>
                  </a:txBody>
                  <a:tcPr marL="7620" marR="7620" marT="7620" marB="0" anchor="b">
                    <a:lnL>
                      <a:noFill/>
                    </a:lnL>
                    <a:lnR>
                      <a:noFill/>
                    </a:lnR>
                    <a:lnT>
                      <a:noFill/>
                    </a:lnT>
                    <a:lnB>
                      <a:noFill/>
                    </a:lnB>
                  </a:tcPr>
                </a:tc>
                <a:extLst>
                  <a:ext uri="{0D108BD9-81ED-4DB2-BD59-A6C34878D82A}">
                    <a16:rowId xmlns:a16="http://schemas.microsoft.com/office/drawing/2014/main" val="3926316090"/>
                  </a:ext>
                </a:extLst>
              </a:tr>
              <a:tr h="184150">
                <a:tc>
                  <a:txBody>
                    <a:bodyPr/>
                    <a:lstStyle/>
                    <a:p>
                      <a:pPr algn="l" rtl="0" fontAlgn="b"/>
                      <a:r>
                        <a:rPr lang="en-US" sz="1000" b="0" i="0" u="none" strike="noStrike" dirty="0" err="1">
                          <a:solidFill>
                            <a:srgbClr val="000000"/>
                          </a:solidFill>
                          <a:effectLst/>
                          <a:latin typeface="+mj-lt"/>
                        </a:rPr>
                        <a:t>Volatilidade </a:t>
                      </a:r>
                    </a:p>
                  </a:txBody>
                  <a:tcPr marL="6350" marR="6350" marT="6350" marB="0" anchor="b">
                    <a:lnL>
                      <a:noFill/>
                    </a:lnL>
                    <a:lnR>
                      <a:noFill/>
                    </a:lnR>
                    <a:lnT>
                      <a:noFill/>
                    </a:lnT>
                    <a:lnB>
                      <a:noFill/>
                    </a:lnB>
                  </a:tcPr>
                </a:tc>
                <a:tc>
                  <a:txBody>
                    <a:bodyPr/>
                    <a:lstStyle/>
                    <a:p>
                      <a:pPr algn="ctr" fontAlgn="b">
                        <a:buNone/>
                      </a:pPr>
                      <a:r>
                        <a:rPr lang="pt-BR" sz="1000" b="0" i="0" u="none" strike="noStrike">
                          <a:solidFill>
                            <a:srgbClr val="000000"/>
                          </a:solidFill>
                          <a:effectLst/>
                          <a:latin typeface="Roboto Light" panose="02000000000000000000" pitchFamily="2" charset="0"/>
                        </a:rPr>
                        <a:t>20.18%</a:t>
                      </a:r>
                    </a:p>
                  </a:txBody>
                  <a:tcPr marL="7620" marR="7620" marT="7620" marB="0" anchor="b">
                    <a:lnL>
                      <a:noFill/>
                    </a:lnL>
                    <a:lnR>
                      <a:noFill/>
                    </a:lnR>
                    <a:lnT>
                      <a:noFill/>
                    </a:lnT>
                    <a:lnB>
                      <a:noFill/>
                    </a:lnB>
                  </a:tcPr>
                </a:tc>
                <a:tc>
                  <a:txBody>
                    <a:bodyPr/>
                    <a:lstStyle/>
                    <a:p>
                      <a:pPr algn="ctr" fontAlgn="b">
                        <a:buNone/>
                      </a:pPr>
                      <a:r>
                        <a:rPr lang="pt-BR" sz="1000" b="0" i="0" u="none" strike="noStrike">
                          <a:solidFill>
                            <a:srgbClr val="000000"/>
                          </a:solidFill>
                          <a:effectLst/>
                          <a:latin typeface="Roboto Light" panose="02000000000000000000" pitchFamily="2" charset="0"/>
                        </a:rPr>
                        <a:t>17.23%</a:t>
                      </a:r>
                    </a:p>
                  </a:txBody>
                  <a:tcPr marL="7620" marR="7620" marT="7620" marB="0" anchor="b">
                    <a:lnL>
                      <a:noFill/>
                    </a:lnL>
                    <a:lnR>
                      <a:noFill/>
                    </a:lnR>
                    <a:lnT>
                      <a:noFill/>
                    </a:lnT>
                    <a:lnB>
                      <a:noFill/>
                    </a:lnB>
                  </a:tcPr>
                </a:tc>
                <a:extLst>
                  <a:ext uri="{0D108BD9-81ED-4DB2-BD59-A6C34878D82A}">
                    <a16:rowId xmlns:a16="http://schemas.microsoft.com/office/drawing/2014/main" val="976243063"/>
                  </a:ext>
                </a:extLst>
              </a:tr>
              <a:tr h="184150">
                <a:tc>
                  <a:txBody>
                    <a:bodyPr/>
                    <a:lstStyle/>
                    <a:p>
                      <a:pPr algn="l" rtl="0" fontAlgn="b"/>
                      <a:r>
                        <a:rPr lang="en-US" sz="1000" b="0" i="0" u="none" strike="noStrike" dirty="0">
                          <a:solidFill>
                            <a:srgbClr val="000000"/>
                          </a:solidFill>
                          <a:effectLst/>
                          <a:latin typeface="+mj-lt"/>
                        </a:rPr>
                        <a:t>Beta </a:t>
                      </a:r>
                    </a:p>
                  </a:txBody>
                  <a:tcPr marL="6350" marR="6350" marT="6350" marB="0" anchor="b">
                    <a:lnL>
                      <a:noFill/>
                    </a:lnL>
                    <a:lnR>
                      <a:noFill/>
                    </a:lnR>
                    <a:lnT>
                      <a:noFill/>
                    </a:lnT>
                    <a:lnB w="6350" cap="flat" cmpd="sng" algn="ctr">
                      <a:solidFill>
                        <a:srgbClr val="A5A5A5"/>
                      </a:solidFill>
                      <a:prstDash val="solid"/>
                      <a:round/>
                      <a:headEnd type="none" w="med" len="med"/>
                      <a:tailEnd type="none" w="med" len="med"/>
                    </a:lnB>
                  </a:tcPr>
                </a:tc>
                <a:tc>
                  <a:txBody>
                    <a:bodyPr/>
                    <a:lstStyle/>
                    <a:p>
                      <a:pPr algn="ctr" fontAlgn="b">
                        <a:buNone/>
                      </a:pPr>
                      <a:r>
                        <a:rPr lang="pt-BR" sz="1000" b="0" i="0" u="none" strike="noStrike">
                          <a:solidFill>
                            <a:srgbClr val="000000"/>
                          </a:solidFill>
                          <a:effectLst/>
                          <a:latin typeface="Roboto Light" panose="02000000000000000000" pitchFamily="2" charset="0"/>
                        </a:rPr>
                        <a:t>1.12</a:t>
                      </a:r>
                    </a:p>
                  </a:txBody>
                  <a:tcPr marL="7620" marR="7620" marT="7620" marB="0" anchor="b">
                    <a:lnL>
                      <a:noFill/>
                    </a:lnL>
                    <a:lnR>
                      <a:noFill/>
                    </a:lnR>
                    <a:lnT>
                      <a:noFill/>
                    </a:lnT>
                    <a:lnB w="6350" cap="flat" cmpd="sng" algn="ctr">
                      <a:solidFill>
                        <a:srgbClr val="A5A5A5"/>
                      </a:solidFill>
                      <a:prstDash val="solid"/>
                      <a:round/>
                      <a:headEnd type="none" w="med" len="med"/>
                      <a:tailEnd type="none" w="med" len="med"/>
                    </a:lnB>
                  </a:tcPr>
                </a:tc>
                <a:tc>
                  <a:txBody>
                    <a:bodyPr/>
                    <a:lstStyle/>
                    <a:p>
                      <a:pPr algn="ctr" fontAlgn="b">
                        <a:buNone/>
                      </a:pPr>
                      <a:r>
                        <a:rPr lang="pt-BR" sz="1000" b="0" i="0" u="none" strike="noStrike" dirty="0">
                          <a:solidFill>
                            <a:srgbClr val="000000"/>
                          </a:solidFill>
                          <a:effectLst/>
                          <a:latin typeface="Roboto Light" panose="02000000000000000000" pitchFamily="2" charset="0"/>
                        </a:rPr>
                        <a:t>1.00</a:t>
                      </a:r>
                    </a:p>
                  </a:txBody>
                  <a:tcPr marL="7620" marR="7620" marT="7620" marB="0" anchor="b">
                    <a:lnL>
                      <a:noFill/>
                    </a:lnL>
                    <a:lnR>
                      <a:noFill/>
                    </a:lnR>
                    <a:lnT>
                      <a:noFill/>
                    </a:lnT>
                    <a:lnB w="6350" cap="flat" cmpd="sng" algn="ctr">
                      <a:solidFill>
                        <a:srgbClr val="A5A5A5"/>
                      </a:solidFill>
                      <a:prstDash val="solid"/>
                      <a:round/>
                      <a:headEnd type="none" w="med" len="med"/>
                      <a:tailEnd type="none" w="med" len="med"/>
                    </a:lnB>
                  </a:tcPr>
                </a:tc>
                <a:extLst>
                  <a:ext uri="{0D108BD9-81ED-4DB2-BD59-A6C34878D82A}">
                    <a16:rowId xmlns:a16="http://schemas.microsoft.com/office/drawing/2014/main" val="1798386771"/>
                  </a:ext>
                </a:extLst>
              </a:tr>
            </a:tbl>
          </a:graphicData>
        </a:graphic>
      </p:graphicFrame>
      <p:sp>
        <p:nvSpPr>
          <p:cNvPr id="8" name="Text Placeholder 7">
            <a:extLst>
              <a:ext uri="{FF2B5EF4-FFF2-40B4-BE49-F238E27FC236}">
                <a16:creationId xmlns:a16="http://schemas.microsoft.com/office/drawing/2014/main" id="{74645618-EAE8-8CD3-F89F-76F0C2BC26E0}"/>
              </a:ext>
            </a:extLst>
          </p:cNvPr>
          <p:cNvSpPr>
            <a:spLocks noGrp="1"/>
          </p:cNvSpPr>
          <p:nvPr>
            <p:ph type="body" sz="quarter" idx="18"/>
          </p:nvPr>
        </p:nvSpPr>
        <p:spPr/>
        <p:txBody>
          <a:bodyPr/>
          <a:lstStyle/>
          <a:p>
            <a:r>
              <a:rPr lang="pt-BR" dirty="0"/>
              <a:t>Fonte: Economatica e XP Research. Retornos da carteira incluem dividendos. Dados até 31/07/2026. /  Sempre consulte seu assessor de Investimentos</a:t>
            </a:r>
            <a:endParaRPr lang="en-US" dirty="0"/>
          </a:p>
        </p:txBody>
      </p:sp>
      <p:graphicFrame>
        <p:nvGraphicFramePr>
          <p:cNvPr id="3" name="Table 2">
            <a:extLst>
              <a:ext uri="{FF2B5EF4-FFF2-40B4-BE49-F238E27FC236}">
                <a16:creationId xmlns:a16="http://schemas.microsoft.com/office/drawing/2014/main" id="{F40D1E03-E241-CCFD-CEE5-FCC2F52069BA}"/>
              </a:ext>
            </a:extLst>
          </p:cNvPr>
          <p:cNvGraphicFramePr>
            <a:graphicFrameLocks noGrp="1"/>
          </p:cNvGraphicFramePr>
          <p:nvPr>
            <p:extLst>
              <p:ext uri="{D42A27DB-BD31-4B8C-83A1-F6EECF244321}">
                <p14:modId xmlns:p14="http://schemas.microsoft.com/office/powerpoint/2010/main" val="916861385"/>
              </p:ext>
            </p:extLst>
          </p:nvPr>
        </p:nvGraphicFramePr>
        <p:xfrm>
          <a:off x="335998" y="1036062"/>
          <a:ext cx="11520001" cy="828000"/>
        </p:xfrm>
        <a:graphic>
          <a:graphicData uri="http://schemas.openxmlformats.org/drawingml/2006/table">
            <a:tbl>
              <a:tblPr/>
              <a:tblGrid>
                <a:gridCol w="1475691">
                  <a:extLst>
                    <a:ext uri="{9D8B030D-6E8A-4147-A177-3AD203B41FA5}">
                      <a16:colId xmlns:a16="http://schemas.microsoft.com/office/drawing/2014/main" val="1669897858"/>
                    </a:ext>
                  </a:extLst>
                </a:gridCol>
                <a:gridCol w="1547115">
                  <a:extLst>
                    <a:ext uri="{9D8B030D-6E8A-4147-A177-3AD203B41FA5}">
                      <a16:colId xmlns:a16="http://schemas.microsoft.com/office/drawing/2014/main" val="1107771524"/>
                    </a:ext>
                  </a:extLst>
                </a:gridCol>
                <a:gridCol w="618846">
                  <a:extLst>
                    <a:ext uri="{9D8B030D-6E8A-4147-A177-3AD203B41FA5}">
                      <a16:colId xmlns:a16="http://schemas.microsoft.com/office/drawing/2014/main" val="3422858841"/>
                    </a:ext>
                  </a:extLst>
                </a:gridCol>
                <a:gridCol w="737857">
                  <a:extLst>
                    <a:ext uri="{9D8B030D-6E8A-4147-A177-3AD203B41FA5}">
                      <a16:colId xmlns:a16="http://schemas.microsoft.com/office/drawing/2014/main" val="253133041"/>
                    </a:ext>
                  </a:extLst>
                </a:gridCol>
                <a:gridCol w="618846">
                  <a:extLst>
                    <a:ext uri="{9D8B030D-6E8A-4147-A177-3AD203B41FA5}">
                      <a16:colId xmlns:a16="http://schemas.microsoft.com/office/drawing/2014/main" val="1165078535"/>
                    </a:ext>
                  </a:extLst>
                </a:gridCol>
                <a:gridCol w="618846">
                  <a:extLst>
                    <a:ext uri="{9D8B030D-6E8A-4147-A177-3AD203B41FA5}">
                      <a16:colId xmlns:a16="http://schemas.microsoft.com/office/drawing/2014/main" val="369150759"/>
                    </a:ext>
                  </a:extLst>
                </a:gridCol>
                <a:gridCol w="618846">
                  <a:extLst>
                    <a:ext uri="{9D8B030D-6E8A-4147-A177-3AD203B41FA5}">
                      <a16:colId xmlns:a16="http://schemas.microsoft.com/office/drawing/2014/main" val="2061320242"/>
                    </a:ext>
                  </a:extLst>
                </a:gridCol>
                <a:gridCol w="618846">
                  <a:extLst>
                    <a:ext uri="{9D8B030D-6E8A-4147-A177-3AD203B41FA5}">
                      <a16:colId xmlns:a16="http://schemas.microsoft.com/office/drawing/2014/main" val="3456878777"/>
                    </a:ext>
                  </a:extLst>
                </a:gridCol>
                <a:gridCol w="618846">
                  <a:extLst>
                    <a:ext uri="{9D8B030D-6E8A-4147-A177-3AD203B41FA5}">
                      <a16:colId xmlns:a16="http://schemas.microsoft.com/office/drawing/2014/main" val="229323161"/>
                    </a:ext>
                  </a:extLst>
                </a:gridCol>
                <a:gridCol w="618846">
                  <a:extLst>
                    <a:ext uri="{9D8B030D-6E8A-4147-A177-3AD203B41FA5}">
                      <a16:colId xmlns:a16="http://schemas.microsoft.com/office/drawing/2014/main" val="1891611400"/>
                    </a:ext>
                  </a:extLst>
                </a:gridCol>
                <a:gridCol w="571236">
                  <a:extLst>
                    <a:ext uri="{9D8B030D-6E8A-4147-A177-3AD203B41FA5}">
                      <a16:colId xmlns:a16="http://schemas.microsoft.com/office/drawing/2014/main" val="2929646893"/>
                    </a:ext>
                  </a:extLst>
                </a:gridCol>
                <a:gridCol w="571236">
                  <a:extLst>
                    <a:ext uri="{9D8B030D-6E8A-4147-A177-3AD203B41FA5}">
                      <a16:colId xmlns:a16="http://schemas.microsoft.com/office/drawing/2014/main" val="2827602307"/>
                    </a:ext>
                  </a:extLst>
                </a:gridCol>
                <a:gridCol w="571236">
                  <a:extLst>
                    <a:ext uri="{9D8B030D-6E8A-4147-A177-3AD203B41FA5}">
                      <a16:colId xmlns:a16="http://schemas.microsoft.com/office/drawing/2014/main" val="1608511552"/>
                    </a:ext>
                  </a:extLst>
                </a:gridCol>
                <a:gridCol w="571236">
                  <a:extLst>
                    <a:ext uri="{9D8B030D-6E8A-4147-A177-3AD203B41FA5}">
                      <a16:colId xmlns:a16="http://schemas.microsoft.com/office/drawing/2014/main" val="1108199673"/>
                    </a:ext>
                  </a:extLst>
                </a:gridCol>
                <a:gridCol w="571236">
                  <a:extLst>
                    <a:ext uri="{9D8B030D-6E8A-4147-A177-3AD203B41FA5}">
                      <a16:colId xmlns:a16="http://schemas.microsoft.com/office/drawing/2014/main" val="2643704785"/>
                    </a:ext>
                  </a:extLst>
                </a:gridCol>
                <a:gridCol w="571236">
                  <a:extLst>
                    <a:ext uri="{9D8B030D-6E8A-4147-A177-3AD203B41FA5}">
                      <a16:colId xmlns:a16="http://schemas.microsoft.com/office/drawing/2014/main" val="1503423056"/>
                    </a:ext>
                  </a:extLst>
                </a:gridCol>
              </a:tblGrid>
              <a:tr h="260584">
                <a:tc>
                  <a:txBody>
                    <a:bodyPr/>
                    <a:lstStyle/>
                    <a:p>
                      <a:pPr algn="ctr" fontAlgn="b">
                        <a:buNone/>
                      </a:pPr>
                      <a:r>
                        <a:rPr lang="pt-BR" sz="900" b="1" i="0" u="none" strike="noStrike" dirty="0">
                          <a:solidFill>
                            <a:srgbClr val="000000"/>
                          </a:solidFill>
                          <a:effectLst/>
                          <a:latin typeface="Roboto Light" panose="02000000000000000000" pitchFamily="2" charset="0"/>
                        </a:rPr>
                        <a:t> </a:t>
                      </a:r>
                    </a:p>
                  </a:txBody>
                  <a:tcPr marL="6518" marR="6518" marT="6518" marB="0" anchor="ctr">
                    <a:lnL>
                      <a:noFill/>
                    </a:lnL>
                    <a:lnR>
                      <a:noFill/>
                    </a:lnR>
                    <a:lnT>
                      <a:noFill/>
                    </a:lnT>
                    <a:lnB>
                      <a:noFill/>
                    </a:lnB>
                    <a:solidFill>
                      <a:srgbClr val="FFC000"/>
                    </a:solidFill>
                  </a:tcPr>
                </a:tc>
                <a:tc>
                  <a:txBody>
                    <a:bodyPr/>
                    <a:lstStyle/>
                    <a:p>
                      <a:pPr algn="ctr" fontAlgn="b">
                        <a:buNone/>
                      </a:pPr>
                      <a:r>
                        <a:rPr lang="pt-BR" sz="900" b="1" i="0" u="none" strike="noStrike" dirty="0">
                          <a:solidFill>
                            <a:srgbClr val="000000"/>
                          </a:solidFill>
                          <a:effectLst/>
                          <a:latin typeface="Roboto Light" panose="02000000000000000000" pitchFamily="2" charset="0"/>
                        </a:rPr>
                        <a:t>Desde o início</a:t>
                      </a:r>
                    </a:p>
                  </a:txBody>
                  <a:tcPr marL="6518" marR="6518" marT="6518" marB="0" anchor="ctr">
                    <a:lnL>
                      <a:noFill/>
                    </a:lnL>
                    <a:lnR>
                      <a:noFill/>
                    </a:lnR>
                    <a:lnT>
                      <a:noFill/>
                    </a:lnT>
                    <a:lnB>
                      <a:noFill/>
                    </a:lnB>
                    <a:solidFill>
                      <a:srgbClr val="FFC000"/>
                    </a:solidFill>
                  </a:tcPr>
                </a:tc>
                <a:tc>
                  <a:txBody>
                    <a:bodyPr/>
                    <a:lstStyle/>
                    <a:p>
                      <a:pPr algn="ctr" fontAlgn="b">
                        <a:buNone/>
                      </a:pPr>
                      <a:r>
                        <a:rPr lang="pt-BR" sz="900" b="1" i="0" u="none" strike="noStrike">
                          <a:solidFill>
                            <a:srgbClr val="000000"/>
                          </a:solidFill>
                          <a:effectLst/>
                          <a:latin typeface="Roboto Light" panose="02000000000000000000" pitchFamily="2" charset="0"/>
                        </a:rPr>
                        <a:t>2026</a:t>
                      </a:r>
                    </a:p>
                  </a:txBody>
                  <a:tcPr marL="6518" marR="6518" marT="6518" marB="0" anchor="ctr">
                    <a:lnL>
                      <a:noFill/>
                    </a:lnL>
                    <a:lnR>
                      <a:noFill/>
                    </a:lnR>
                    <a:lnT>
                      <a:noFill/>
                    </a:lnT>
                    <a:lnB>
                      <a:noFill/>
                    </a:lnB>
                    <a:solidFill>
                      <a:srgbClr val="FFC000"/>
                    </a:solidFill>
                  </a:tcPr>
                </a:tc>
                <a:tc>
                  <a:txBody>
                    <a:bodyPr/>
                    <a:lstStyle/>
                    <a:p>
                      <a:pPr algn="ctr" fontAlgn="b">
                        <a:buNone/>
                      </a:pPr>
                      <a:r>
                        <a:rPr lang="pt-BR" sz="900" b="1" i="0" u="none" strike="noStrike">
                          <a:solidFill>
                            <a:srgbClr val="000000"/>
                          </a:solidFill>
                          <a:effectLst/>
                          <a:latin typeface="Roboto Light" panose="02000000000000000000" pitchFamily="2" charset="0"/>
                        </a:rPr>
                        <a:t>Últ. 12M</a:t>
                      </a:r>
                    </a:p>
                  </a:txBody>
                  <a:tcPr marL="6518" marR="6518" marT="6518" marB="0" anchor="ctr">
                    <a:lnL>
                      <a:noFill/>
                    </a:lnL>
                    <a:lnR>
                      <a:noFill/>
                    </a:lnR>
                    <a:lnT>
                      <a:noFill/>
                    </a:lnT>
                    <a:lnB>
                      <a:noFill/>
                    </a:lnB>
                    <a:solidFill>
                      <a:srgbClr val="FFC000"/>
                    </a:solidFill>
                  </a:tcPr>
                </a:tc>
                <a:tc>
                  <a:txBody>
                    <a:bodyPr/>
                    <a:lstStyle/>
                    <a:p>
                      <a:pPr algn="ctr" fontAlgn="b">
                        <a:buNone/>
                      </a:pPr>
                      <a:r>
                        <a:rPr lang="pt-BR" sz="900" b="1" i="0" u="none" strike="noStrike">
                          <a:solidFill>
                            <a:srgbClr val="000000"/>
                          </a:solidFill>
                          <a:effectLst/>
                          <a:latin typeface="Roboto Light" panose="02000000000000000000" pitchFamily="2" charset="0"/>
                        </a:rPr>
                        <a:t>jul-26</a:t>
                      </a:r>
                    </a:p>
                  </a:txBody>
                  <a:tcPr marL="6518" marR="6518" marT="6518" marB="0" anchor="ctr">
                    <a:lnL>
                      <a:noFill/>
                    </a:lnL>
                    <a:lnR>
                      <a:noFill/>
                    </a:lnR>
                    <a:lnT>
                      <a:noFill/>
                    </a:lnT>
                    <a:lnB>
                      <a:noFill/>
                    </a:lnB>
                    <a:solidFill>
                      <a:srgbClr val="FFC000"/>
                    </a:solidFill>
                  </a:tcPr>
                </a:tc>
                <a:tc>
                  <a:txBody>
                    <a:bodyPr/>
                    <a:lstStyle/>
                    <a:p>
                      <a:pPr algn="ctr" fontAlgn="b">
                        <a:buNone/>
                      </a:pPr>
                      <a:r>
                        <a:rPr lang="pt-BR" sz="900" b="1" i="0" u="none" strike="noStrike">
                          <a:solidFill>
                            <a:srgbClr val="000000"/>
                          </a:solidFill>
                          <a:effectLst/>
                          <a:latin typeface="Roboto Light" panose="02000000000000000000" pitchFamily="2" charset="0"/>
                        </a:rPr>
                        <a:t>jun-26</a:t>
                      </a:r>
                    </a:p>
                  </a:txBody>
                  <a:tcPr marL="6518" marR="6518" marT="6518" marB="0" anchor="ctr">
                    <a:lnL>
                      <a:noFill/>
                    </a:lnL>
                    <a:lnR>
                      <a:noFill/>
                    </a:lnR>
                    <a:lnT>
                      <a:noFill/>
                    </a:lnT>
                    <a:lnB>
                      <a:noFill/>
                    </a:lnB>
                    <a:solidFill>
                      <a:srgbClr val="FFC000"/>
                    </a:solidFill>
                  </a:tcPr>
                </a:tc>
                <a:tc>
                  <a:txBody>
                    <a:bodyPr/>
                    <a:lstStyle/>
                    <a:p>
                      <a:pPr algn="ctr" fontAlgn="b">
                        <a:buNone/>
                      </a:pPr>
                      <a:r>
                        <a:rPr lang="pt-BR" sz="900" b="1" i="0" u="none" strike="noStrike">
                          <a:solidFill>
                            <a:srgbClr val="000000"/>
                          </a:solidFill>
                          <a:effectLst/>
                          <a:latin typeface="Roboto Light" panose="02000000000000000000" pitchFamily="2" charset="0"/>
                        </a:rPr>
                        <a:t>mai-26</a:t>
                      </a:r>
                    </a:p>
                  </a:txBody>
                  <a:tcPr marL="6518" marR="6518" marT="6518" marB="0" anchor="ctr">
                    <a:lnL>
                      <a:noFill/>
                    </a:lnL>
                    <a:lnR>
                      <a:noFill/>
                    </a:lnR>
                    <a:lnT>
                      <a:noFill/>
                    </a:lnT>
                    <a:lnB>
                      <a:noFill/>
                    </a:lnB>
                    <a:solidFill>
                      <a:srgbClr val="FFC000"/>
                    </a:solidFill>
                  </a:tcPr>
                </a:tc>
                <a:tc>
                  <a:txBody>
                    <a:bodyPr/>
                    <a:lstStyle/>
                    <a:p>
                      <a:pPr algn="ctr" fontAlgn="b">
                        <a:buNone/>
                      </a:pPr>
                      <a:r>
                        <a:rPr lang="pt-BR" sz="900" b="1" i="0" u="none" strike="noStrike">
                          <a:solidFill>
                            <a:srgbClr val="000000"/>
                          </a:solidFill>
                          <a:effectLst/>
                          <a:latin typeface="Roboto Light" panose="02000000000000000000" pitchFamily="2" charset="0"/>
                        </a:rPr>
                        <a:t>abr-26</a:t>
                      </a:r>
                    </a:p>
                  </a:txBody>
                  <a:tcPr marL="6518" marR="6518" marT="6518" marB="0" anchor="ctr">
                    <a:lnL>
                      <a:noFill/>
                    </a:lnL>
                    <a:lnR>
                      <a:noFill/>
                    </a:lnR>
                    <a:lnT>
                      <a:noFill/>
                    </a:lnT>
                    <a:lnB>
                      <a:noFill/>
                    </a:lnB>
                    <a:solidFill>
                      <a:srgbClr val="FFC000"/>
                    </a:solidFill>
                  </a:tcPr>
                </a:tc>
                <a:tc>
                  <a:txBody>
                    <a:bodyPr/>
                    <a:lstStyle/>
                    <a:p>
                      <a:pPr algn="ctr" fontAlgn="b">
                        <a:buNone/>
                      </a:pPr>
                      <a:r>
                        <a:rPr lang="pt-BR" sz="900" b="1" i="0" u="none" strike="noStrike">
                          <a:solidFill>
                            <a:srgbClr val="000000"/>
                          </a:solidFill>
                          <a:effectLst/>
                          <a:latin typeface="Roboto Light" panose="02000000000000000000" pitchFamily="2" charset="0"/>
                        </a:rPr>
                        <a:t>mar-26</a:t>
                      </a:r>
                    </a:p>
                  </a:txBody>
                  <a:tcPr marL="6518" marR="6518" marT="6518" marB="0" anchor="ctr">
                    <a:lnL>
                      <a:noFill/>
                    </a:lnL>
                    <a:lnR>
                      <a:noFill/>
                    </a:lnR>
                    <a:lnT>
                      <a:noFill/>
                    </a:lnT>
                    <a:lnB>
                      <a:noFill/>
                    </a:lnB>
                    <a:solidFill>
                      <a:srgbClr val="FFC000"/>
                    </a:solidFill>
                  </a:tcPr>
                </a:tc>
                <a:tc>
                  <a:txBody>
                    <a:bodyPr/>
                    <a:lstStyle/>
                    <a:p>
                      <a:pPr algn="ctr" fontAlgn="b">
                        <a:buNone/>
                      </a:pPr>
                      <a:r>
                        <a:rPr lang="pt-BR" sz="900" b="1" i="0" u="none" strike="noStrike">
                          <a:solidFill>
                            <a:srgbClr val="000000"/>
                          </a:solidFill>
                          <a:effectLst/>
                          <a:latin typeface="Roboto Light" panose="02000000000000000000" pitchFamily="2" charset="0"/>
                        </a:rPr>
                        <a:t>fev-26</a:t>
                      </a:r>
                    </a:p>
                  </a:txBody>
                  <a:tcPr marL="6518" marR="6518" marT="6518" marB="0" anchor="ctr">
                    <a:lnL>
                      <a:noFill/>
                    </a:lnL>
                    <a:lnR>
                      <a:noFill/>
                    </a:lnR>
                    <a:lnT>
                      <a:noFill/>
                    </a:lnT>
                    <a:lnB>
                      <a:noFill/>
                    </a:lnB>
                    <a:solidFill>
                      <a:srgbClr val="FFC000"/>
                    </a:solidFill>
                  </a:tcPr>
                </a:tc>
                <a:tc>
                  <a:txBody>
                    <a:bodyPr/>
                    <a:lstStyle/>
                    <a:p>
                      <a:pPr algn="ctr" fontAlgn="b">
                        <a:buNone/>
                      </a:pPr>
                      <a:r>
                        <a:rPr lang="pt-BR" sz="900" b="1" i="0" u="none" strike="noStrike">
                          <a:solidFill>
                            <a:srgbClr val="000000"/>
                          </a:solidFill>
                          <a:effectLst/>
                          <a:latin typeface="Roboto Light" panose="02000000000000000000" pitchFamily="2" charset="0"/>
                        </a:rPr>
                        <a:t>jan-26</a:t>
                      </a:r>
                    </a:p>
                  </a:txBody>
                  <a:tcPr marL="6518" marR="6518" marT="6518" marB="0" anchor="ctr">
                    <a:lnL>
                      <a:noFill/>
                    </a:lnL>
                    <a:lnR>
                      <a:noFill/>
                    </a:lnR>
                    <a:lnT>
                      <a:noFill/>
                    </a:lnT>
                    <a:lnB>
                      <a:noFill/>
                    </a:lnB>
                    <a:solidFill>
                      <a:srgbClr val="FFC000"/>
                    </a:solidFill>
                  </a:tcPr>
                </a:tc>
                <a:tc>
                  <a:txBody>
                    <a:bodyPr/>
                    <a:lstStyle/>
                    <a:p>
                      <a:pPr algn="ctr" fontAlgn="b">
                        <a:buNone/>
                      </a:pPr>
                      <a:r>
                        <a:rPr lang="pt-BR" sz="900" b="1" i="0" u="none" strike="noStrike">
                          <a:solidFill>
                            <a:srgbClr val="000000"/>
                          </a:solidFill>
                          <a:effectLst/>
                          <a:latin typeface="Roboto Light" panose="02000000000000000000" pitchFamily="2" charset="0"/>
                        </a:rPr>
                        <a:t>dez-25</a:t>
                      </a:r>
                    </a:p>
                  </a:txBody>
                  <a:tcPr marL="6518" marR="6518" marT="6518" marB="0" anchor="ctr">
                    <a:lnL>
                      <a:noFill/>
                    </a:lnL>
                    <a:lnR>
                      <a:noFill/>
                    </a:lnR>
                    <a:lnT>
                      <a:noFill/>
                    </a:lnT>
                    <a:lnB>
                      <a:noFill/>
                    </a:lnB>
                    <a:solidFill>
                      <a:srgbClr val="FFC000"/>
                    </a:solidFill>
                  </a:tcPr>
                </a:tc>
                <a:tc>
                  <a:txBody>
                    <a:bodyPr/>
                    <a:lstStyle/>
                    <a:p>
                      <a:pPr algn="ctr" fontAlgn="b">
                        <a:buNone/>
                      </a:pPr>
                      <a:r>
                        <a:rPr lang="pt-BR" sz="900" b="1" i="0" u="none" strike="noStrike">
                          <a:solidFill>
                            <a:srgbClr val="000000"/>
                          </a:solidFill>
                          <a:effectLst/>
                          <a:latin typeface="Roboto Light" panose="02000000000000000000" pitchFamily="2" charset="0"/>
                        </a:rPr>
                        <a:t>nov-25</a:t>
                      </a:r>
                    </a:p>
                  </a:txBody>
                  <a:tcPr marL="6518" marR="6518" marT="6518" marB="0" anchor="ctr">
                    <a:lnL>
                      <a:noFill/>
                    </a:lnL>
                    <a:lnR>
                      <a:noFill/>
                    </a:lnR>
                    <a:lnT>
                      <a:noFill/>
                    </a:lnT>
                    <a:lnB>
                      <a:noFill/>
                    </a:lnB>
                    <a:solidFill>
                      <a:srgbClr val="FFC000"/>
                    </a:solidFill>
                  </a:tcPr>
                </a:tc>
                <a:tc>
                  <a:txBody>
                    <a:bodyPr/>
                    <a:lstStyle/>
                    <a:p>
                      <a:pPr algn="ctr" fontAlgn="b">
                        <a:buNone/>
                      </a:pPr>
                      <a:r>
                        <a:rPr lang="pt-BR" sz="900" b="1" i="0" u="none" strike="noStrike">
                          <a:solidFill>
                            <a:srgbClr val="000000"/>
                          </a:solidFill>
                          <a:effectLst/>
                          <a:latin typeface="Roboto Light" panose="02000000000000000000" pitchFamily="2" charset="0"/>
                        </a:rPr>
                        <a:t>out-25</a:t>
                      </a:r>
                    </a:p>
                  </a:txBody>
                  <a:tcPr marL="6518" marR="6518" marT="6518" marB="0" anchor="ctr">
                    <a:lnL>
                      <a:noFill/>
                    </a:lnL>
                    <a:lnR>
                      <a:noFill/>
                    </a:lnR>
                    <a:lnT>
                      <a:noFill/>
                    </a:lnT>
                    <a:lnB>
                      <a:noFill/>
                    </a:lnB>
                    <a:solidFill>
                      <a:srgbClr val="FFC000"/>
                    </a:solidFill>
                  </a:tcPr>
                </a:tc>
                <a:tc>
                  <a:txBody>
                    <a:bodyPr/>
                    <a:lstStyle/>
                    <a:p>
                      <a:pPr algn="ctr" fontAlgn="b">
                        <a:buNone/>
                      </a:pPr>
                      <a:r>
                        <a:rPr lang="pt-BR" sz="900" b="1" i="0" u="none" strike="noStrike">
                          <a:solidFill>
                            <a:srgbClr val="000000"/>
                          </a:solidFill>
                          <a:effectLst/>
                          <a:latin typeface="Roboto Light" panose="02000000000000000000" pitchFamily="2" charset="0"/>
                        </a:rPr>
                        <a:t>set-25</a:t>
                      </a:r>
                    </a:p>
                  </a:txBody>
                  <a:tcPr marL="6518" marR="6518" marT="6518" marB="0" anchor="ctr">
                    <a:lnL>
                      <a:noFill/>
                    </a:lnL>
                    <a:lnR>
                      <a:noFill/>
                    </a:lnR>
                    <a:lnT>
                      <a:noFill/>
                    </a:lnT>
                    <a:lnB>
                      <a:noFill/>
                    </a:lnB>
                    <a:solidFill>
                      <a:srgbClr val="FFC000"/>
                    </a:solidFill>
                  </a:tcPr>
                </a:tc>
                <a:tc>
                  <a:txBody>
                    <a:bodyPr/>
                    <a:lstStyle/>
                    <a:p>
                      <a:pPr algn="ctr" fontAlgn="b">
                        <a:buNone/>
                      </a:pPr>
                      <a:r>
                        <a:rPr lang="pt-BR" sz="900" b="1" i="0" u="none" strike="noStrike">
                          <a:solidFill>
                            <a:srgbClr val="000000"/>
                          </a:solidFill>
                          <a:effectLst/>
                          <a:latin typeface="Roboto Light" panose="02000000000000000000" pitchFamily="2" charset="0"/>
                        </a:rPr>
                        <a:t>ago-25</a:t>
                      </a:r>
                    </a:p>
                  </a:txBody>
                  <a:tcPr marL="6518" marR="6518" marT="6518" marB="0" anchor="ctr">
                    <a:lnL>
                      <a:noFill/>
                    </a:lnL>
                    <a:lnR>
                      <a:noFill/>
                    </a:lnR>
                    <a:lnT>
                      <a:noFill/>
                    </a:lnT>
                    <a:lnB>
                      <a:noFill/>
                    </a:lnB>
                    <a:solidFill>
                      <a:srgbClr val="FFC000"/>
                    </a:solidFill>
                  </a:tcPr>
                </a:tc>
                <a:extLst>
                  <a:ext uri="{0D108BD9-81ED-4DB2-BD59-A6C34878D82A}">
                    <a16:rowId xmlns:a16="http://schemas.microsoft.com/office/drawing/2014/main" val="4057590156"/>
                  </a:ext>
                </a:extLst>
              </a:tr>
              <a:tr h="283708">
                <a:tc>
                  <a:txBody>
                    <a:bodyPr/>
                    <a:lstStyle/>
                    <a:p>
                      <a:pPr algn="ctr" fontAlgn="b">
                        <a:buNone/>
                      </a:pPr>
                      <a:r>
                        <a:rPr lang="pt-BR" sz="900" b="0" i="0" u="none" strike="noStrike">
                          <a:solidFill>
                            <a:srgbClr val="000000"/>
                          </a:solidFill>
                          <a:effectLst/>
                          <a:latin typeface="Roboto Light" panose="02000000000000000000" pitchFamily="2" charset="0"/>
                        </a:rPr>
                        <a:t>Top Ações XP</a:t>
                      </a:r>
                    </a:p>
                  </a:txBody>
                  <a:tcPr marL="6518" marR="6518" marT="6518" marB="0" anchor="ctr">
                    <a:lnL>
                      <a:noFill/>
                    </a:lnL>
                    <a:lnR>
                      <a:noFill/>
                    </a:lnR>
                    <a:lnT>
                      <a:noFill/>
                    </a:lnT>
                    <a:lnB w="6350" cap="flat" cmpd="sng" algn="ctr">
                      <a:solidFill>
                        <a:srgbClr val="7E7E7E"/>
                      </a:solidFill>
                      <a:prstDash val="solid"/>
                      <a:round/>
                      <a:headEnd type="none" w="med" len="med"/>
                      <a:tailEnd type="none" w="med" len="med"/>
                    </a:lnB>
                    <a:noFill/>
                  </a:tcPr>
                </a:tc>
                <a:tc>
                  <a:txBody>
                    <a:bodyPr/>
                    <a:lstStyle/>
                    <a:p>
                      <a:pPr algn="ctr" fontAlgn="b">
                        <a:buNone/>
                      </a:pPr>
                      <a:r>
                        <a:rPr lang="pt-BR" sz="900" b="0" i="0" u="none" strike="noStrike">
                          <a:solidFill>
                            <a:srgbClr val="000000"/>
                          </a:solidFill>
                          <a:effectLst/>
                          <a:latin typeface="Roboto Light" panose="02000000000000000000" pitchFamily="2" charset="0"/>
                        </a:rPr>
                        <a:t>36.8%</a:t>
                      </a:r>
                    </a:p>
                  </a:txBody>
                  <a:tcPr marL="6518" marR="6518" marT="6518" marB="0" anchor="ctr">
                    <a:lnL>
                      <a:noFill/>
                    </a:lnL>
                    <a:lnR>
                      <a:noFill/>
                    </a:lnR>
                    <a:lnT>
                      <a:noFill/>
                    </a:lnT>
                    <a:lnB w="6350" cap="flat" cmpd="sng" algn="ctr">
                      <a:solidFill>
                        <a:srgbClr val="7E7E7E"/>
                      </a:solidFill>
                      <a:prstDash val="solid"/>
                      <a:round/>
                      <a:headEnd type="none" w="med" len="med"/>
                      <a:tailEnd type="none" w="med" len="med"/>
                    </a:lnB>
                    <a:noFill/>
                  </a:tcPr>
                </a:tc>
                <a:tc>
                  <a:txBody>
                    <a:bodyPr/>
                    <a:lstStyle/>
                    <a:p>
                      <a:pPr algn="ctr" fontAlgn="b">
                        <a:buNone/>
                      </a:pPr>
                      <a:r>
                        <a:rPr lang="pt-BR" sz="900" b="0" i="0" u="none" strike="noStrike">
                          <a:solidFill>
                            <a:srgbClr val="000000"/>
                          </a:solidFill>
                          <a:effectLst/>
                          <a:latin typeface="Roboto Light" panose="02000000000000000000" pitchFamily="2" charset="0"/>
                        </a:rPr>
                        <a:t>8.1%</a:t>
                      </a:r>
                    </a:p>
                  </a:txBody>
                  <a:tcPr marL="6518" marR="6518" marT="6518" marB="0" anchor="ctr">
                    <a:lnL>
                      <a:noFill/>
                    </a:lnL>
                    <a:lnR>
                      <a:noFill/>
                    </a:lnR>
                    <a:lnT>
                      <a:noFill/>
                    </a:lnT>
                    <a:lnB w="6350" cap="flat" cmpd="sng" algn="ctr">
                      <a:solidFill>
                        <a:srgbClr val="7E7E7E"/>
                      </a:solidFill>
                      <a:prstDash val="solid"/>
                      <a:round/>
                      <a:headEnd type="none" w="med" len="med"/>
                      <a:tailEnd type="none" w="med" len="med"/>
                    </a:lnB>
                    <a:noFill/>
                  </a:tcPr>
                </a:tc>
                <a:tc>
                  <a:txBody>
                    <a:bodyPr/>
                    <a:lstStyle/>
                    <a:p>
                      <a:pPr algn="ctr" fontAlgn="b">
                        <a:buNone/>
                      </a:pPr>
                      <a:r>
                        <a:rPr lang="pt-BR" sz="900" b="0" i="0" u="none" strike="noStrike">
                          <a:solidFill>
                            <a:srgbClr val="000000"/>
                          </a:solidFill>
                          <a:effectLst/>
                          <a:latin typeface="Roboto Light" panose="02000000000000000000" pitchFamily="2" charset="0"/>
                        </a:rPr>
                        <a:t>31.6%</a:t>
                      </a:r>
                    </a:p>
                  </a:txBody>
                  <a:tcPr marL="6518" marR="6518" marT="6518" marB="0" anchor="ctr">
                    <a:lnL>
                      <a:noFill/>
                    </a:lnL>
                    <a:lnR>
                      <a:noFill/>
                    </a:lnR>
                    <a:lnT>
                      <a:noFill/>
                    </a:lnT>
                    <a:lnB w="6350" cap="flat" cmpd="sng" algn="ctr">
                      <a:solidFill>
                        <a:srgbClr val="7E7E7E"/>
                      </a:solidFill>
                      <a:prstDash val="solid"/>
                      <a:round/>
                      <a:headEnd type="none" w="med" len="med"/>
                      <a:tailEnd type="none" w="med" len="med"/>
                    </a:lnB>
                    <a:noFill/>
                  </a:tcPr>
                </a:tc>
                <a:tc>
                  <a:txBody>
                    <a:bodyPr/>
                    <a:lstStyle/>
                    <a:p>
                      <a:pPr algn="ctr" fontAlgn="b">
                        <a:buNone/>
                      </a:pPr>
                      <a:r>
                        <a:rPr lang="pt-BR" sz="900" b="0" i="0" u="none" strike="noStrike">
                          <a:solidFill>
                            <a:srgbClr val="000000"/>
                          </a:solidFill>
                          <a:effectLst/>
                          <a:latin typeface="Roboto Light" panose="02000000000000000000" pitchFamily="2" charset="0"/>
                        </a:rPr>
                        <a:t>2.2%</a:t>
                      </a:r>
                    </a:p>
                  </a:txBody>
                  <a:tcPr marL="6518" marR="6518" marT="6518" marB="0" anchor="ctr">
                    <a:lnL>
                      <a:noFill/>
                    </a:lnL>
                    <a:lnR>
                      <a:noFill/>
                    </a:lnR>
                    <a:lnT>
                      <a:noFill/>
                    </a:lnT>
                    <a:lnB w="6350" cap="flat" cmpd="sng" algn="ctr">
                      <a:solidFill>
                        <a:srgbClr val="7E7E7E"/>
                      </a:solidFill>
                      <a:prstDash val="solid"/>
                      <a:round/>
                      <a:headEnd type="none" w="med" len="med"/>
                      <a:tailEnd type="none" w="med" len="med"/>
                    </a:lnB>
                    <a:noFill/>
                  </a:tcPr>
                </a:tc>
                <a:tc>
                  <a:txBody>
                    <a:bodyPr/>
                    <a:lstStyle/>
                    <a:p>
                      <a:pPr algn="ctr" fontAlgn="b">
                        <a:buNone/>
                      </a:pPr>
                      <a:r>
                        <a:rPr lang="pt-BR" sz="900" b="0" i="0" u="none" strike="noStrike">
                          <a:solidFill>
                            <a:srgbClr val="000000"/>
                          </a:solidFill>
                          <a:effectLst/>
                          <a:latin typeface="Roboto Light" panose="02000000000000000000" pitchFamily="2" charset="0"/>
                        </a:rPr>
                        <a:t>-1.7%</a:t>
                      </a:r>
                    </a:p>
                  </a:txBody>
                  <a:tcPr marL="6518" marR="6518" marT="6518" marB="0" anchor="ctr">
                    <a:lnL>
                      <a:noFill/>
                    </a:lnL>
                    <a:lnR>
                      <a:noFill/>
                    </a:lnR>
                    <a:lnT>
                      <a:noFill/>
                    </a:lnT>
                    <a:lnB w="6350" cap="flat" cmpd="sng" algn="ctr">
                      <a:solidFill>
                        <a:srgbClr val="7E7E7E"/>
                      </a:solidFill>
                      <a:prstDash val="solid"/>
                      <a:round/>
                      <a:headEnd type="none" w="med" len="med"/>
                      <a:tailEnd type="none" w="med" len="med"/>
                    </a:lnB>
                    <a:noFill/>
                  </a:tcPr>
                </a:tc>
                <a:tc>
                  <a:txBody>
                    <a:bodyPr/>
                    <a:lstStyle/>
                    <a:p>
                      <a:pPr algn="ctr" fontAlgn="b">
                        <a:buNone/>
                      </a:pPr>
                      <a:r>
                        <a:rPr lang="pt-BR" sz="900" b="0" i="0" u="none" strike="noStrike">
                          <a:solidFill>
                            <a:srgbClr val="000000"/>
                          </a:solidFill>
                          <a:effectLst/>
                          <a:latin typeface="Roboto Light" panose="02000000000000000000" pitchFamily="2" charset="0"/>
                        </a:rPr>
                        <a:t>-6.7%</a:t>
                      </a:r>
                    </a:p>
                  </a:txBody>
                  <a:tcPr marL="6518" marR="6518" marT="6518" marB="0" anchor="ctr">
                    <a:lnL>
                      <a:noFill/>
                    </a:lnL>
                    <a:lnR>
                      <a:noFill/>
                    </a:lnR>
                    <a:lnT>
                      <a:noFill/>
                    </a:lnT>
                    <a:lnB w="6350" cap="flat" cmpd="sng" algn="ctr">
                      <a:solidFill>
                        <a:srgbClr val="7E7E7E"/>
                      </a:solidFill>
                      <a:prstDash val="solid"/>
                      <a:round/>
                      <a:headEnd type="none" w="med" len="med"/>
                      <a:tailEnd type="none" w="med" len="med"/>
                    </a:lnB>
                    <a:noFill/>
                  </a:tcPr>
                </a:tc>
                <a:tc>
                  <a:txBody>
                    <a:bodyPr/>
                    <a:lstStyle/>
                    <a:p>
                      <a:pPr algn="ctr" fontAlgn="b">
                        <a:buNone/>
                      </a:pPr>
                      <a:r>
                        <a:rPr lang="pt-BR" sz="900" b="0" i="0" u="none" strike="noStrike">
                          <a:solidFill>
                            <a:srgbClr val="000000"/>
                          </a:solidFill>
                          <a:effectLst/>
                          <a:latin typeface="Roboto Light" panose="02000000000000000000" pitchFamily="2" charset="0"/>
                        </a:rPr>
                        <a:t>-0.6%</a:t>
                      </a:r>
                    </a:p>
                  </a:txBody>
                  <a:tcPr marL="6518" marR="6518" marT="6518" marB="0" anchor="ctr">
                    <a:lnL>
                      <a:noFill/>
                    </a:lnL>
                    <a:lnR>
                      <a:noFill/>
                    </a:lnR>
                    <a:lnT>
                      <a:noFill/>
                    </a:lnT>
                    <a:lnB w="6350" cap="flat" cmpd="sng" algn="ctr">
                      <a:solidFill>
                        <a:srgbClr val="7E7E7E"/>
                      </a:solidFill>
                      <a:prstDash val="solid"/>
                      <a:round/>
                      <a:headEnd type="none" w="med" len="med"/>
                      <a:tailEnd type="none" w="med" len="med"/>
                    </a:lnB>
                    <a:noFill/>
                  </a:tcPr>
                </a:tc>
                <a:tc>
                  <a:txBody>
                    <a:bodyPr/>
                    <a:lstStyle/>
                    <a:p>
                      <a:pPr algn="ctr" fontAlgn="b">
                        <a:buNone/>
                      </a:pPr>
                      <a:r>
                        <a:rPr lang="pt-BR" sz="900" b="0" i="0" u="none" strike="noStrike">
                          <a:solidFill>
                            <a:srgbClr val="000000"/>
                          </a:solidFill>
                          <a:effectLst/>
                          <a:latin typeface="Roboto Light" panose="02000000000000000000" pitchFamily="2" charset="0"/>
                        </a:rPr>
                        <a:t>0.6%</a:t>
                      </a:r>
                    </a:p>
                  </a:txBody>
                  <a:tcPr marL="6518" marR="6518" marT="6518" marB="0" anchor="ctr">
                    <a:lnL>
                      <a:noFill/>
                    </a:lnL>
                    <a:lnR>
                      <a:noFill/>
                    </a:lnR>
                    <a:lnT>
                      <a:noFill/>
                    </a:lnT>
                    <a:lnB w="6350" cap="flat" cmpd="sng" algn="ctr">
                      <a:solidFill>
                        <a:srgbClr val="7E7E7E"/>
                      </a:solidFill>
                      <a:prstDash val="solid"/>
                      <a:round/>
                      <a:headEnd type="none" w="med" len="med"/>
                      <a:tailEnd type="none" w="med" len="med"/>
                    </a:lnB>
                    <a:noFill/>
                  </a:tcPr>
                </a:tc>
                <a:tc>
                  <a:txBody>
                    <a:bodyPr/>
                    <a:lstStyle/>
                    <a:p>
                      <a:pPr algn="ctr" fontAlgn="b">
                        <a:buNone/>
                      </a:pPr>
                      <a:r>
                        <a:rPr lang="pt-BR" sz="900" b="0" i="0" u="none" strike="noStrike">
                          <a:solidFill>
                            <a:srgbClr val="000000"/>
                          </a:solidFill>
                          <a:effectLst/>
                          <a:latin typeface="Roboto Light" panose="02000000000000000000" pitchFamily="2" charset="0"/>
                        </a:rPr>
                        <a:t>2.7%</a:t>
                      </a:r>
                    </a:p>
                  </a:txBody>
                  <a:tcPr marL="6518" marR="6518" marT="6518" marB="0" anchor="ctr">
                    <a:lnL>
                      <a:noFill/>
                    </a:lnL>
                    <a:lnR>
                      <a:noFill/>
                    </a:lnR>
                    <a:lnT>
                      <a:noFill/>
                    </a:lnT>
                    <a:lnB w="6350" cap="flat" cmpd="sng" algn="ctr">
                      <a:solidFill>
                        <a:srgbClr val="7E7E7E"/>
                      </a:solidFill>
                      <a:prstDash val="solid"/>
                      <a:round/>
                      <a:headEnd type="none" w="med" len="med"/>
                      <a:tailEnd type="none" w="med" len="med"/>
                    </a:lnB>
                    <a:noFill/>
                  </a:tcPr>
                </a:tc>
                <a:tc>
                  <a:txBody>
                    <a:bodyPr/>
                    <a:lstStyle/>
                    <a:p>
                      <a:pPr algn="ctr" fontAlgn="b">
                        <a:buNone/>
                      </a:pPr>
                      <a:r>
                        <a:rPr lang="pt-BR" sz="900" b="0" i="0" u="none" strike="noStrike">
                          <a:solidFill>
                            <a:srgbClr val="000000"/>
                          </a:solidFill>
                          <a:effectLst/>
                          <a:latin typeface="Roboto Light" panose="02000000000000000000" pitchFamily="2" charset="0"/>
                        </a:rPr>
                        <a:t>12.3%</a:t>
                      </a:r>
                    </a:p>
                  </a:txBody>
                  <a:tcPr marL="6518" marR="6518" marT="6518" marB="0" anchor="ctr">
                    <a:lnL>
                      <a:noFill/>
                    </a:lnL>
                    <a:lnR>
                      <a:noFill/>
                    </a:lnR>
                    <a:lnT>
                      <a:noFill/>
                    </a:lnT>
                    <a:lnB w="6350" cap="flat" cmpd="sng" algn="ctr">
                      <a:solidFill>
                        <a:srgbClr val="7E7E7E"/>
                      </a:solidFill>
                      <a:prstDash val="solid"/>
                      <a:round/>
                      <a:headEnd type="none" w="med" len="med"/>
                      <a:tailEnd type="none" w="med" len="med"/>
                    </a:lnB>
                    <a:noFill/>
                  </a:tcPr>
                </a:tc>
                <a:tc>
                  <a:txBody>
                    <a:bodyPr/>
                    <a:lstStyle/>
                    <a:p>
                      <a:pPr algn="ctr" fontAlgn="b">
                        <a:buNone/>
                      </a:pPr>
                      <a:r>
                        <a:rPr lang="pt-BR" sz="900" b="0" i="0" u="none" strike="noStrike">
                          <a:solidFill>
                            <a:srgbClr val="000000"/>
                          </a:solidFill>
                          <a:effectLst/>
                          <a:latin typeface="Roboto Light" panose="02000000000000000000" pitchFamily="2" charset="0"/>
                        </a:rPr>
                        <a:t>0.7%</a:t>
                      </a:r>
                    </a:p>
                  </a:txBody>
                  <a:tcPr marL="6518" marR="6518" marT="6518" marB="0" anchor="ctr">
                    <a:lnL>
                      <a:noFill/>
                    </a:lnL>
                    <a:lnR>
                      <a:noFill/>
                    </a:lnR>
                    <a:lnT>
                      <a:noFill/>
                    </a:lnT>
                    <a:lnB w="6350" cap="flat" cmpd="sng" algn="ctr">
                      <a:solidFill>
                        <a:srgbClr val="7E7E7E"/>
                      </a:solidFill>
                      <a:prstDash val="solid"/>
                      <a:round/>
                      <a:headEnd type="none" w="med" len="med"/>
                      <a:tailEnd type="none" w="med" len="med"/>
                    </a:lnB>
                    <a:noFill/>
                  </a:tcPr>
                </a:tc>
                <a:tc>
                  <a:txBody>
                    <a:bodyPr/>
                    <a:lstStyle/>
                    <a:p>
                      <a:pPr algn="ctr" fontAlgn="b">
                        <a:buNone/>
                      </a:pPr>
                      <a:r>
                        <a:rPr lang="pt-BR" sz="900" b="0" i="0" u="none" strike="noStrike">
                          <a:solidFill>
                            <a:srgbClr val="000000"/>
                          </a:solidFill>
                          <a:effectLst/>
                          <a:latin typeface="Roboto Light" panose="02000000000000000000" pitchFamily="2" charset="0"/>
                        </a:rPr>
                        <a:t>6.9%</a:t>
                      </a:r>
                    </a:p>
                  </a:txBody>
                  <a:tcPr marL="6518" marR="6518" marT="6518" marB="0" anchor="ctr">
                    <a:lnL>
                      <a:noFill/>
                    </a:lnL>
                    <a:lnR>
                      <a:noFill/>
                    </a:lnR>
                    <a:lnT>
                      <a:noFill/>
                    </a:lnT>
                    <a:lnB w="6350" cap="flat" cmpd="sng" algn="ctr">
                      <a:solidFill>
                        <a:srgbClr val="7E7E7E"/>
                      </a:solidFill>
                      <a:prstDash val="solid"/>
                      <a:round/>
                      <a:headEnd type="none" w="med" len="med"/>
                      <a:tailEnd type="none" w="med" len="med"/>
                    </a:lnB>
                    <a:noFill/>
                  </a:tcPr>
                </a:tc>
                <a:tc>
                  <a:txBody>
                    <a:bodyPr/>
                    <a:lstStyle/>
                    <a:p>
                      <a:pPr algn="ctr" fontAlgn="b">
                        <a:buNone/>
                      </a:pPr>
                      <a:r>
                        <a:rPr lang="pt-BR" sz="900" b="0" i="0" u="none" strike="noStrike">
                          <a:solidFill>
                            <a:srgbClr val="000000"/>
                          </a:solidFill>
                          <a:effectLst/>
                          <a:latin typeface="Roboto Light" panose="02000000000000000000" pitchFamily="2" charset="0"/>
                        </a:rPr>
                        <a:t>1.8%</a:t>
                      </a:r>
                    </a:p>
                  </a:txBody>
                  <a:tcPr marL="6518" marR="6518" marT="6518" marB="0" anchor="ctr">
                    <a:lnL>
                      <a:noFill/>
                    </a:lnL>
                    <a:lnR>
                      <a:noFill/>
                    </a:lnR>
                    <a:lnT>
                      <a:noFill/>
                    </a:lnT>
                    <a:lnB w="6350" cap="flat" cmpd="sng" algn="ctr">
                      <a:solidFill>
                        <a:srgbClr val="7E7E7E"/>
                      </a:solidFill>
                      <a:prstDash val="solid"/>
                      <a:round/>
                      <a:headEnd type="none" w="med" len="med"/>
                      <a:tailEnd type="none" w="med" len="med"/>
                    </a:lnB>
                    <a:noFill/>
                  </a:tcPr>
                </a:tc>
                <a:tc>
                  <a:txBody>
                    <a:bodyPr/>
                    <a:lstStyle/>
                    <a:p>
                      <a:pPr algn="ctr" fontAlgn="b">
                        <a:buNone/>
                      </a:pPr>
                      <a:r>
                        <a:rPr lang="pt-BR" sz="900" b="0" i="0" u="none" strike="noStrike">
                          <a:solidFill>
                            <a:srgbClr val="000000"/>
                          </a:solidFill>
                          <a:effectLst/>
                          <a:latin typeface="Roboto Light" panose="02000000000000000000" pitchFamily="2" charset="0"/>
                        </a:rPr>
                        <a:t>4.1%</a:t>
                      </a:r>
                    </a:p>
                  </a:txBody>
                  <a:tcPr marL="6518" marR="6518" marT="6518" marB="0" anchor="ctr">
                    <a:lnL>
                      <a:noFill/>
                    </a:lnL>
                    <a:lnR>
                      <a:noFill/>
                    </a:lnR>
                    <a:lnT>
                      <a:noFill/>
                    </a:lnT>
                    <a:lnB w="6350" cap="flat" cmpd="sng" algn="ctr">
                      <a:solidFill>
                        <a:srgbClr val="7E7E7E"/>
                      </a:solidFill>
                      <a:prstDash val="solid"/>
                      <a:round/>
                      <a:headEnd type="none" w="med" len="med"/>
                      <a:tailEnd type="none" w="med" len="med"/>
                    </a:lnB>
                    <a:noFill/>
                  </a:tcPr>
                </a:tc>
                <a:tc>
                  <a:txBody>
                    <a:bodyPr/>
                    <a:lstStyle/>
                    <a:p>
                      <a:pPr algn="ctr" fontAlgn="b">
                        <a:buNone/>
                      </a:pPr>
                      <a:r>
                        <a:rPr lang="pt-BR" sz="900" b="0" i="0" u="none" strike="noStrike">
                          <a:solidFill>
                            <a:srgbClr val="000000"/>
                          </a:solidFill>
                          <a:effectLst/>
                          <a:latin typeface="Roboto Light" panose="02000000000000000000" pitchFamily="2" charset="0"/>
                        </a:rPr>
                        <a:t>6.7%</a:t>
                      </a:r>
                    </a:p>
                  </a:txBody>
                  <a:tcPr marL="6518" marR="6518" marT="6518" marB="0" anchor="ctr">
                    <a:lnL>
                      <a:noFill/>
                    </a:lnL>
                    <a:lnR>
                      <a:noFill/>
                    </a:lnR>
                    <a:lnT>
                      <a:noFill/>
                    </a:lnT>
                    <a:lnB w="6350" cap="flat" cmpd="sng" algn="ctr">
                      <a:solidFill>
                        <a:srgbClr val="7E7E7E"/>
                      </a:solidFill>
                      <a:prstDash val="solid"/>
                      <a:round/>
                      <a:headEnd type="none" w="med" len="med"/>
                      <a:tailEnd type="none" w="med" len="med"/>
                    </a:lnB>
                    <a:noFill/>
                  </a:tcPr>
                </a:tc>
                <a:extLst>
                  <a:ext uri="{0D108BD9-81ED-4DB2-BD59-A6C34878D82A}">
                    <a16:rowId xmlns:a16="http://schemas.microsoft.com/office/drawing/2014/main" val="1667511739"/>
                  </a:ext>
                </a:extLst>
              </a:tr>
              <a:tr h="283708">
                <a:tc>
                  <a:txBody>
                    <a:bodyPr/>
                    <a:lstStyle/>
                    <a:p>
                      <a:pPr algn="ctr" fontAlgn="b">
                        <a:buNone/>
                      </a:pPr>
                      <a:r>
                        <a:rPr lang="pt-BR" sz="900" b="0" i="0" u="none" strike="noStrike">
                          <a:solidFill>
                            <a:srgbClr val="000000"/>
                          </a:solidFill>
                          <a:effectLst/>
                          <a:latin typeface="Roboto Light" panose="02000000000000000000" pitchFamily="2" charset="0"/>
                        </a:rPr>
                        <a:t>Ibovespa</a:t>
                      </a:r>
                    </a:p>
                  </a:txBody>
                  <a:tcPr marL="6518" marR="6518" marT="6518"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900" b="0" i="0" u="none" strike="noStrike">
                          <a:solidFill>
                            <a:srgbClr val="000000"/>
                          </a:solidFill>
                          <a:effectLst/>
                          <a:latin typeface="Roboto Light" panose="02000000000000000000" pitchFamily="2" charset="0"/>
                        </a:rPr>
                        <a:t>45.0%</a:t>
                      </a:r>
                    </a:p>
                  </a:txBody>
                  <a:tcPr marL="6518" marR="6518" marT="6518"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900" b="0" i="0" u="none" strike="noStrike">
                          <a:solidFill>
                            <a:srgbClr val="000000"/>
                          </a:solidFill>
                          <a:effectLst/>
                          <a:latin typeface="Roboto Light" panose="02000000000000000000" pitchFamily="2" charset="0"/>
                        </a:rPr>
                        <a:t>10.5%</a:t>
                      </a:r>
                    </a:p>
                  </a:txBody>
                  <a:tcPr marL="6518" marR="6518" marT="6518"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900" b="0" i="0" u="none" strike="noStrike" dirty="0">
                          <a:solidFill>
                            <a:srgbClr val="000000"/>
                          </a:solidFill>
                          <a:effectLst/>
                          <a:latin typeface="Roboto Light" panose="02000000000000000000" pitchFamily="2" charset="0"/>
                        </a:rPr>
                        <a:t>33.8%</a:t>
                      </a:r>
                    </a:p>
                  </a:txBody>
                  <a:tcPr marL="6518" marR="6518" marT="6518"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900" b="0" i="0" u="none" strike="noStrike">
                          <a:solidFill>
                            <a:srgbClr val="000000"/>
                          </a:solidFill>
                          <a:effectLst/>
                          <a:latin typeface="Roboto Light" panose="02000000000000000000" pitchFamily="2" charset="0"/>
                        </a:rPr>
                        <a:t>3.5%</a:t>
                      </a:r>
                    </a:p>
                  </a:txBody>
                  <a:tcPr marL="6518" marR="6518" marT="6518"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900" b="0" i="0" u="none" strike="noStrike">
                          <a:solidFill>
                            <a:srgbClr val="000000"/>
                          </a:solidFill>
                          <a:effectLst/>
                          <a:latin typeface="Roboto Light" panose="02000000000000000000" pitchFamily="2" charset="0"/>
                        </a:rPr>
                        <a:t>-1.0%</a:t>
                      </a:r>
                    </a:p>
                  </a:txBody>
                  <a:tcPr marL="6518" marR="6518" marT="6518"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900" b="0" i="0" u="none" strike="noStrike">
                          <a:solidFill>
                            <a:srgbClr val="000000"/>
                          </a:solidFill>
                          <a:effectLst/>
                          <a:latin typeface="Roboto Light" panose="02000000000000000000" pitchFamily="2" charset="0"/>
                        </a:rPr>
                        <a:t>-7.2%</a:t>
                      </a:r>
                    </a:p>
                  </a:txBody>
                  <a:tcPr marL="6518" marR="6518" marT="6518"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900" b="0" i="0" u="none" strike="noStrike">
                          <a:solidFill>
                            <a:srgbClr val="000000"/>
                          </a:solidFill>
                          <a:effectLst/>
                          <a:latin typeface="Roboto Light" panose="02000000000000000000" pitchFamily="2" charset="0"/>
                        </a:rPr>
                        <a:t>-0.1%</a:t>
                      </a:r>
                    </a:p>
                  </a:txBody>
                  <a:tcPr marL="6518" marR="6518" marT="6518"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900" b="0" i="0" u="none" strike="noStrike">
                          <a:solidFill>
                            <a:srgbClr val="000000"/>
                          </a:solidFill>
                          <a:effectLst/>
                          <a:latin typeface="Roboto Light" panose="02000000000000000000" pitchFamily="2" charset="0"/>
                        </a:rPr>
                        <a:t>-0.7%</a:t>
                      </a:r>
                    </a:p>
                  </a:txBody>
                  <a:tcPr marL="6518" marR="6518" marT="6518"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900" b="0" i="0" u="none" strike="noStrike">
                          <a:solidFill>
                            <a:srgbClr val="000000"/>
                          </a:solidFill>
                          <a:effectLst/>
                          <a:latin typeface="Roboto Light" panose="02000000000000000000" pitchFamily="2" charset="0"/>
                        </a:rPr>
                        <a:t>4.1%</a:t>
                      </a:r>
                    </a:p>
                  </a:txBody>
                  <a:tcPr marL="6518" marR="6518" marT="6518"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900" b="0" i="0" u="none" strike="noStrike">
                          <a:solidFill>
                            <a:srgbClr val="000000"/>
                          </a:solidFill>
                          <a:effectLst/>
                          <a:latin typeface="Roboto Light" panose="02000000000000000000" pitchFamily="2" charset="0"/>
                        </a:rPr>
                        <a:t>12.6%</a:t>
                      </a:r>
                    </a:p>
                  </a:txBody>
                  <a:tcPr marL="6518" marR="6518" marT="6518"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900" b="0" i="0" u="none" strike="noStrike">
                          <a:solidFill>
                            <a:srgbClr val="000000"/>
                          </a:solidFill>
                          <a:effectLst/>
                          <a:latin typeface="Roboto Light" panose="02000000000000000000" pitchFamily="2" charset="0"/>
                        </a:rPr>
                        <a:t>1.3%</a:t>
                      </a:r>
                    </a:p>
                  </a:txBody>
                  <a:tcPr marL="6518" marR="6518" marT="6518"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900" b="0" i="0" u="none" strike="noStrike">
                          <a:solidFill>
                            <a:srgbClr val="000000"/>
                          </a:solidFill>
                          <a:effectLst/>
                          <a:latin typeface="Roboto Light" panose="02000000000000000000" pitchFamily="2" charset="0"/>
                        </a:rPr>
                        <a:t>6.4%</a:t>
                      </a:r>
                    </a:p>
                  </a:txBody>
                  <a:tcPr marL="6518" marR="6518" marT="6518"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900" b="0" i="0" u="none" strike="noStrike" dirty="0">
                          <a:solidFill>
                            <a:srgbClr val="000000"/>
                          </a:solidFill>
                          <a:effectLst/>
                          <a:latin typeface="Roboto Light" panose="02000000000000000000" pitchFamily="2" charset="0"/>
                        </a:rPr>
                        <a:t>2.3%</a:t>
                      </a:r>
                    </a:p>
                  </a:txBody>
                  <a:tcPr marL="6518" marR="6518" marT="6518"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900" b="0" i="0" u="none" strike="noStrike">
                          <a:solidFill>
                            <a:srgbClr val="000000"/>
                          </a:solidFill>
                          <a:effectLst/>
                          <a:latin typeface="Roboto Light" panose="02000000000000000000" pitchFamily="2" charset="0"/>
                        </a:rPr>
                        <a:t>3.4%</a:t>
                      </a:r>
                    </a:p>
                  </a:txBody>
                  <a:tcPr marL="6518" marR="6518" marT="6518"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900" b="0" i="0" u="none" strike="noStrike" dirty="0">
                          <a:solidFill>
                            <a:srgbClr val="000000"/>
                          </a:solidFill>
                          <a:effectLst/>
                          <a:latin typeface="Roboto Light" panose="02000000000000000000" pitchFamily="2" charset="0"/>
                        </a:rPr>
                        <a:t>6.3%</a:t>
                      </a:r>
                    </a:p>
                  </a:txBody>
                  <a:tcPr marL="6518" marR="6518" marT="6518"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extLst>
                  <a:ext uri="{0D108BD9-81ED-4DB2-BD59-A6C34878D82A}">
                    <a16:rowId xmlns:a16="http://schemas.microsoft.com/office/drawing/2014/main" val="411450042"/>
                  </a:ext>
                </a:extLst>
              </a:tr>
            </a:tbl>
          </a:graphicData>
        </a:graphic>
      </p:graphicFrame>
      <p:graphicFrame>
        <p:nvGraphicFramePr>
          <p:cNvPr id="7" name="Table 6">
            <a:extLst>
              <a:ext uri="{FF2B5EF4-FFF2-40B4-BE49-F238E27FC236}">
                <a16:creationId xmlns:a16="http://schemas.microsoft.com/office/drawing/2014/main" id="{D645BE80-1CEC-57E8-1A95-EFB6B95186C9}"/>
              </a:ext>
            </a:extLst>
          </p:cNvPr>
          <p:cNvGraphicFramePr>
            <a:graphicFrameLocks noGrp="1"/>
          </p:cNvGraphicFramePr>
          <p:nvPr>
            <p:extLst>
              <p:ext uri="{D42A27DB-BD31-4B8C-83A1-F6EECF244321}">
                <p14:modId xmlns:p14="http://schemas.microsoft.com/office/powerpoint/2010/main" val="1368910724"/>
              </p:ext>
            </p:extLst>
          </p:nvPr>
        </p:nvGraphicFramePr>
        <p:xfrm>
          <a:off x="335998" y="2390720"/>
          <a:ext cx="6732002" cy="2324100"/>
        </p:xfrm>
        <a:graphic>
          <a:graphicData uri="http://schemas.openxmlformats.org/drawingml/2006/table">
            <a:tbl>
              <a:tblPr/>
              <a:tblGrid>
                <a:gridCol w="837885">
                  <a:extLst>
                    <a:ext uri="{9D8B030D-6E8A-4147-A177-3AD203B41FA5}">
                      <a16:colId xmlns:a16="http://schemas.microsoft.com/office/drawing/2014/main" val="1579666313"/>
                    </a:ext>
                  </a:extLst>
                </a:gridCol>
                <a:gridCol w="939014">
                  <a:extLst>
                    <a:ext uri="{9D8B030D-6E8A-4147-A177-3AD203B41FA5}">
                      <a16:colId xmlns:a16="http://schemas.microsoft.com/office/drawing/2014/main" val="3941335089"/>
                    </a:ext>
                  </a:extLst>
                </a:gridCol>
                <a:gridCol w="939014">
                  <a:extLst>
                    <a:ext uri="{9D8B030D-6E8A-4147-A177-3AD203B41FA5}">
                      <a16:colId xmlns:a16="http://schemas.microsoft.com/office/drawing/2014/main" val="3137878983"/>
                    </a:ext>
                  </a:extLst>
                </a:gridCol>
                <a:gridCol w="939014">
                  <a:extLst>
                    <a:ext uri="{9D8B030D-6E8A-4147-A177-3AD203B41FA5}">
                      <a16:colId xmlns:a16="http://schemas.microsoft.com/office/drawing/2014/main" val="634482751"/>
                    </a:ext>
                  </a:extLst>
                </a:gridCol>
                <a:gridCol w="1141262">
                  <a:extLst>
                    <a:ext uri="{9D8B030D-6E8A-4147-A177-3AD203B41FA5}">
                      <a16:colId xmlns:a16="http://schemas.microsoft.com/office/drawing/2014/main" val="199584274"/>
                    </a:ext>
                  </a:extLst>
                </a:gridCol>
                <a:gridCol w="939014">
                  <a:extLst>
                    <a:ext uri="{9D8B030D-6E8A-4147-A177-3AD203B41FA5}">
                      <a16:colId xmlns:a16="http://schemas.microsoft.com/office/drawing/2014/main" val="2829254521"/>
                    </a:ext>
                  </a:extLst>
                </a:gridCol>
                <a:gridCol w="996799">
                  <a:extLst>
                    <a:ext uri="{9D8B030D-6E8A-4147-A177-3AD203B41FA5}">
                      <a16:colId xmlns:a16="http://schemas.microsoft.com/office/drawing/2014/main" val="3200944140"/>
                    </a:ext>
                  </a:extLst>
                </a:gridCol>
              </a:tblGrid>
              <a:tr h="244512">
                <a:tc>
                  <a:txBody>
                    <a:bodyPr/>
                    <a:lstStyle/>
                    <a:p>
                      <a:pPr algn="ctr" fontAlgn="ctr">
                        <a:buNone/>
                      </a:pPr>
                      <a:r>
                        <a:rPr lang="pt-BR" sz="800" b="1" i="0" u="none" strike="noStrike" dirty="0">
                          <a:solidFill>
                            <a:srgbClr val="000000"/>
                          </a:solidFill>
                          <a:effectLst/>
                          <a:latin typeface="Roboto Light" panose="02000000000000000000" pitchFamily="2" charset="0"/>
                        </a:rPr>
                        <a:t>Companhia</a:t>
                      </a:r>
                    </a:p>
                  </a:txBody>
                  <a:tcPr marL="7620" marR="7620" marT="7620" marB="0" anchor="ctr">
                    <a:lnL>
                      <a:noFill/>
                    </a:lnL>
                    <a:lnR>
                      <a:noFill/>
                    </a:lnR>
                    <a:lnT>
                      <a:noFill/>
                    </a:lnT>
                    <a:lnB>
                      <a:noFill/>
                    </a:lnB>
                    <a:solidFill>
                      <a:srgbClr val="FFC000"/>
                    </a:solidFill>
                  </a:tcPr>
                </a:tc>
                <a:tc>
                  <a:txBody>
                    <a:bodyPr/>
                    <a:lstStyle/>
                    <a:p>
                      <a:pPr algn="ctr" fontAlgn="ctr">
                        <a:buNone/>
                      </a:pPr>
                      <a:r>
                        <a:rPr lang="pt-BR" sz="800" b="1" i="0" u="none" strike="noStrike">
                          <a:solidFill>
                            <a:srgbClr val="000000"/>
                          </a:solidFill>
                          <a:effectLst/>
                          <a:latin typeface="Roboto Light" panose="02000000000000000000" pitchFamily="2" charset="0"/>
                        </a:rPr>
                        <a:t>Ticker</a:t>
                      </a:r>
                    </a:p>
                  </a:txBody>
                  <a:tcPr marL="7620" marR="7620" marT="7620" marB="0" anchor="ctr">
                    <a:lnL>
                      <a:noFill/>
                    </a:lnL>
                    <a:lnR>
                      <a:noFill/>
                    </a:lnR>
                    <a:lnT>
                      <a:noFill/>
                    </a:lnT>
                    <a:lnB>
                      <a:noFill/>
                    </a:lnB>
                    <a:solidFill>
                      <a:srgbClr val="FFC000"/>
                    </a:solidFill>
                  </a:tcPr>
                </a:tc>
                <a:tc>
                  <a:txBody>
                    <a:bodyPr/>
                    <a:lstStyle/>
                    <a:p>
                      <a:pPr algn="ctr" fontAlgn="ctr">
                        <a:buNone/>
                      </a:pPr>
                      <a:r>
                        <a:rPr lang="pt-BR" sz="800" b="1" i="0" u="none" strike="noStrike">
                          <a:solidFill>
                            <a:srgbClr val="000000"/>
                          </a:solidFill>
                          <a:effectLst/>
                          <a:latin typeface="Roboto Light" panose="02000000000000000000" pitchFamily="2" charset="0"/>
                        </a:rPr>
                        <a:t>Peso</a:t>
                      </a:r>
                    </a:p>
                  </a:txBody>
                  <a:tcPr marL="7620" marR="7620" marT="7620" marB="0" anchor="ctr">
                    <a:lnL>
                      <a:noFill/>
                    </a:lnL>
                    <a:lnR>
                      <a:noFill/>
                    </a:lnR>
                    <a:lnT>
                      <a:noFill/>
                    </a:lnT>
                    <a:lnB>
                      <a:noFill/>
                    </a:lnB>
                    <a:solidFill>
                      <a:srgbClr val="FFC000"/>
                    </a:solidFill>
                  </a:tcPr>
                </a:tc>
                <a:tc>
                  <a:txBody>
                    <a:bodyPr/>
                    <a:lstStyle/>
                    <a:p>
                      <a:pPr algn="ctr" fontAlgn="ctr">
                        <a:buNone/>
                      </a:pPr>
                      <a:r>
                        <a:rPr lang="pt-BR" sz="800" b="1" i="0" u="none" strike="noStrike">
                          <a:solidFill>
                            <a:srgbClr val="000000"/>
                          </a:solidFill>
                          <a:effectLst/>
                          <a:latin typeface="Roboto Light" panose="02000000000000000000" pitchFamily="2" charset="0"/>
                        </a:rPr>
                        <a:t>Data de entrada</a:t>
                      </a:r>
                    </a:p>
                  </a:txBody>
                  <a:tcPr marL="7620" marR="7620" marT="7620" marB="0" anchor="ctr">
                    <a:lnL>
                      <a:noFill/>
                    </a:lnL>
                    <a:lnR>
                      <a:noFill/>
                    </a:lnR>
                    <a:lnT>
                      <a:noFill/>
                    </a:lnT>
                    <a:lnB>
                      <a:noFill/>
                    </a:lnB>
                    <a:solidFill>
                      <a:srgbClr val="FFC000"/>
                    </a:solidFill>
                  </a:tcPr>
                </a:tc>
                <a:tc>
                  <a:txBody>
                    <a:bodyPr/>
                    <a:lstStyle/>
                    <a:p>
                      <a:pPr algn="ctr" fontAlgn="ctr">
                        <a:buNone/>
                      </a:pPr>
                      <a:r>
                        <a:rPr lang="pt-BR" sz="800" b="1" i="0" u="none" strike="noStrike">
                          <a:solidFill>
                            <a:srgbClr val="000000"/>
                          </a:solidFill>
                          <a:effectLst/>
                          <a:latin typeface="Roboto Light" panose="02000000000000000000" pitchFamily="2" charset="0"/>
                        </a:rPr>
                        <a:t>Desempenho desde entrada</a:t>
                      </a:r>
                    </a:p>
                  </a:txBody>
                  <a:tcPr marL="7620" marR="7620" marT="7620" marB="0" anchor="ctr">
                    <a:lnL>
                      <a:noFill/>
                    </a:lnL>
                    <a:lnR>
                      <a:noFill/>
                    </a:lnR>
                    <a:lnT>
                      <a:noFill/>
                    </a:lnT>
                    <a:lnB>
                      <a:noFill/>
                    </a:lnB>
                    <a:solidFill>
                      <a:srgbClr val="FFC000"/>
                    </a:solidFill>
                  </a:tcPr>
                </a:tc>
                <a:tc>
                  <a:txBody>
                    <a:bodyPr/>
                    <a:lstStyle/>
                    <a:p>
                      <a:pPr algn="ctr" fontAlgn="ctr">
                        <a:buNone/>
                      </a:pPr>
                      <a:r>
                        <a:rPr lang="pt-BR" sz="800" b="1" i="0" u="none" strike="noStrike">
                          <a:solidFill>
                            <a:srgbClr val="000000"/>
                          </a:solidFill>
                          <a:effectLst/>
                          <a:latin typeface="Roboto Light" panose="02000000000000000000" pitchFamily="2" charset="0"/>
                        </a:rPr>
                        <a:t>Desempenho no mês</a:t>
                      </a:r>
                    </a:p>
                  </a:txBody>
                  <a:tcPr marL="7620" marR="7620" marT="7620" marB="0" anchor="ctr">
                    <a:lnL>
                      <a:noFill/>
                    </a:lnL>
                    <a:lnR>
                      <a:noFill/>
                    </a:lnR>
                    <a:lnT>
                      <a:noFill/>
                    </a:lnT>
                    <a:lnB>
                      <a:noFill/>
                    </a:lnB>
                    <a:solidFill>
                      <a:srgbClr val="FFC000"/>
                    </a:solidFill>
                  </a:tcPr>
                </a:tc>
                <a:tc>
                  <a:txBody>
                    <a:bodyPr/>
                    <a:lstStyle/>
                    <a:p>
                      <a:pPr algn="ctr" fontAlgn="ctr">
                        <a:buNone/>
                      </a:pPr>
                      <a:r>
                        <a:rPr lang="pt-BR" sz="800" b="1" i="0" u="none" strike="noStrike">
                          <a:solidFill>
                            <a:srgbClr val="000000"/>
                          </a:solidFill>
                          <a:effectLst/>
                          <a:latin typeface="Roboto Light" panose="02000000000000000000" pitchFamily="2" charset="0"/>
                        </a:rPr>
                        <a:t>Desempenho YTD</a:t>
                      </a:r>
                    </a:p>
                  </a:txBody>
                  <a:tcPr marL="7620" marR="7620" marT="7620" marB="0" anchor="ctr">
                    <a:lnL>
                      <a:noFill/>
                    </a:lnL>
                    <a:lnR>
                      <a:noFill/>
                    </a:lnR>
                    <a:lnT>
                      <a:noFill/>
                    </a:lnT>
                    <a:lnB>
                      <a:noFill/>
                    </a:lnB>
                    <a:solidFill>
                      <a:srgbClr val="FFC000"/>
                    </a:solidFill>
                  </a:tcPr>
                </a:tc>
                <a:extLst>
                  <a:ext uri="{0D108BD9-81ED-4DB2-BD59-A6C34878D82A}">
                    <a16:rowId xmlns:a16="http://schemas.microsoft.com/office/drawing/2014/main" val="3179169223"/>
                  </a:ext>
                </a:extLst>
              </a:tr>
              <a:tr h="125560">
                <a:tc>
                  <a:txBody>
                    <a:bodyPr/>
                    <a:lstStyle/>
                    <a:p>
                      <a:pPr algn="l" fontAlgn="b">
                        <a:buNone/>
                      </a:pPr>
                      <a:r>
                        <a:rPr lang="pt-BR" sz="800" b="0" i="0" u="none" strike="noStrike">
                          <a:solidFill>
                            <a:srgbClr val="000000"/>
                          </a:solidFill>
                          <a:effectLst/>
                          <a:latin typeface="Roboto Light" panose="02000000000000000000" pitchFamily="2" charset="0"/>
                        </a:rPr>
                        <a:t>B3</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B3SA3</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7.50%</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dez-25</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10.2%</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8.3%</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18.7%</a:t>
                      </a:r>
                    </a:p>
                  </a:txBody>
                  <a:tcPr marL="7620" marR="7620" marT="7620" marB="0" anchor="b">
                    <a:lnL>
                      <a:noFill/>
                    </a:lnL>
                    <a:lnR>
                      <a:noFill/>
                    </a:lnR>
                    <a:lnT>
                      <a:noFill/>
                    </a:lnT>
                    <a:lnB>
                      <a:noFill/>
                    </a:lnB>
                    <a:noFill/>
                  </a:tcPr>
                </a:tc>
                <a:extLst>
                  <a:ext uri="{0D108BD9-81ED-4DB2-BD59-A6C34878D82A}">
                    <a16:rowId xmlns:a16="http://schemas.microsoft.com/office/drawing/2014/main" val="3940188916"/>
                  </a:ext>
                </a:extLst>
              </a:tr>
              <a:tr h="125560">
                <a:tc>
                  <a:txBody>
                    <a:bodyPr/>
                    <a:lstStyle/>
                    <a:p>
                      <a:pPr algn="l" fontAlgn="b">
                        <a:buNone/>
                      </a:pPr>
                      <a:r>
                        <a:rPr lang="pt-BR" sz="800" b="0" i="0" u="none" strike="noStrike" dirty="0">
                          <a:solidFill>
                            <a:srgbClr val="000000"/>
                          </a:solidFill>
                          <a:effectLst/>
                          <a:latin typeface="Roboto Light" panose="02000000000000000000" pitchFamily="2" charset="0"/>
                        </a:rPr>
                        <a:t>BTG Pactual</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BPAC11</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5.00%</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dez-25</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6.5%</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5.0%</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8.0%</a:t>
                      </a:r>
                    </a:p>
                  </a:txBody>
                  <a:tcPr marL="7620" marR="7620" marT="7620" marB="0" anchor="b">
                    <a:lnL>
                      <a:noFill/>
                    </a:lnL>
                    <a:lnR>
                      <a:noFill/>
                    </a:lnR>
                    <a:lnT>
                      <a:noFill/>
                    </a:lnT>
                    <a:lnB>
                      <a:noFill/>
                    </a:lnB>
                    <a:noFill/>
                  </a:tcPr>
                </a:tc>
                <a:extLst>
                  <a:ext uri="{0D108BD9-81ED-4DB2-BD59-A6C34878D82A}">
                    <a16:rowId xmlns:a16="http://schemas.microsoft.com/office/drawing/2014/main" val="1996726625"/>
                  </a:ext>
                </a:extLst>
              </a:tr>
              <a:tr h="125560">
                <a:tc>
                  <a:txBody>
                    <a:bodyPr/>
                    <a:lstStyle/>
                    <a:p>
                      <a:pPr algn="l" fontAlgn="b">
                        <a:buNone/>
                      </a:pPr>
                      <a:r>
                        <a:rPr lang="pt-BR" sz="800" b="0" i="0" u="none" strike="noStrike">
                          <a:solidFill>
                            <a:srgbClr val="000000"/>
                          </a:solidFill>
                          <a:effectLst/>
                          <a:latin typeface="Roboto Light" panose="02000000000000000000" pitchFamily="2" charset="0"/>
                        </a:rPr>
                        <a:t>Embraer</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EMBJ3</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5.00%</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mai-26</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13.2%</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6.2%</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-1.6%</a:t>
                      </a:r>
                    </a:p>
                  </a:txBody>
                  <a:tcPr marL="7620" marR="7620" marT="7620" marB="0" anchor="b">
                    <a:lnL>
                      <a:noFill/>
                    </a:lnL>
                    <a:lnR>
                      <a:noFill/>
                    </a:lnR>
                    <a:lnT>
                      <a:noFill/>
                    </a:lnT>
                    <a:lnB>
                      <a:noFill/>
                    </a:lnB>
                    <a:noFill/>
                  </a:tcPr>
                </a:tc>
                <a:extLst>
                  <a:ext uri="{0D108BD9-81ED-4DB2-BD59-A6C34878D82A}">
                    <a16:rowId xmlns:a16="http://schemas.microsoft.com/office/drawing/2014/main" val="2086726634"/>
                  </a:ext>
                </a:extLst>
              </a:tr>
              <a:tr h="125560">
                <a:tc>
                  <a:txBody>
                    <a:bodyPr/>
                    <a:lstStyle/>
                    <a:p>
                      <a:pPr algn="l" fontAlgn="b">
                        <a:buNone/>
                      </a:pPr>
                      <a:r>
                        <a:rPr lang="pt-BR" sz="800" b="0" i="0" u="none" strike="noStrike">
                          <a:solidFill>
                            <a:srgbClr val="000000"/>
                          </a:solidFill>
                          <a:effectLst/>
                          <a:latin typeface="Roboto Light" panose="02000000000000000000" pitchFamily="2" charset="0"/>
                        </a:rPr>
                        <a:t>Gerdau</a:t>
                      </a:r>
                    </a:p>
                  </a:txBody>
                  <a:tcPr marL="7620" marR="7620" marT="7620" marB="0" anchor="b">
                    <a:lnL>
                      <a:noFill/>
                    </a:lnL>
                    <a:lnR>
                      <a:noFill/>
                    </a:lnR>
                    <a:lnT>
                      <a:noFill/>
                    </a:lnT>
                    <a:lnB>
                      <a:noFill/>
                    </a:lnB>
                    <a:noFill/>
                  </a:tcPr>
                </a:tc>
                <a:tc>
                  <a:txBody>
                    <a:bodyPr/>
                    <a:lstStyle/>
                    <a:p>
                      <a:pPr algn="ctr" fontAlgn="b">
                        <a:buNone/>
                      </a:pPr>
                      <a:r>
                        <a:rPr lang="pt-BR" sz="800" b="0" i="0" u="none" strike="noStrike" dirty="0">
                          <a:solidFill>
                            <a:srgbClr val="000000"/>
                          </a:solidFill>
                          <a:effectLst/>
                          <a:latin typeface="Roboto Light" panose="02000000000000000000" pitchFamily="2" charset="0"/>
                        </a:rPr>
                        <a:t>GGBR4</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5.00%</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mai-26</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11.3%</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20.2%</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24.1%</a:t>
                      </a:r>
                    </a:p>
                  </a:txBody>
                  <a:tcPr marL="7620" marR="7620" marT="7620" marB="0" anchor="b">
                    <a:lnL>
                      <a:noFill/>
                    </a:lnL>
                    <a:lnR>
                      <a:noFill/>
                    </a:lnR>
                    <a:lnT>
                      <a:noFill/>
                    </a:lnT>
                    <a:lnB>
                      <a:noFill/>
                    </a:lnB>
                    <a:noFill/>
                  </a:tcPr>
                </a:tc>
                <a:extLst>
                  <a:ext uri="{0D108BD9-81ED-4DB2-BD59-A6C34878D82A}">
                    <a16:rowId xmlns:a16="http://schemas.microsoft.com/office/drawing/2014/main" val="9727773"/>
                  </a:ext>
                </a:extLst>
              </a:tr>
              <a:tr h="125560">
                <a:tc>
                  <a:txBody>
                    <a:bodyPr/>
                    <a:lstStyle/>
                    <a:p>
                      <a:pPr algn="l" fontAlgn="b">
                        <a:buNone/>
                      </a:pPr>
                      <a:r>
                        <a:rPr lang="pt-BR" sz="800" b="0" i="0" u="none" strike="noStrike">
                          <a:solidFill>
                            <a:srgbClr val="000000"/>
                          </a:solidFill>
                          <a:effectLst/>
                          <a:latin typeface="Roboto Light" panose="02000000000000000000" pitchFamily="2" charset="0"/>
                        </a:rPr>
                        <a:t>Iguatemi</a:t>
                      </a:r>
                    </a:p>
                  </a:txBody>
                  <a:tcPr marL="7620" marR="7620" marT="7620" marB="0" anchor="b">
                    <a:lnL>
                      <a:noFill/>
                    </a:lnL>
                    <a:lnR>
                      <a:noFill/>
                    </a:lnR>
                    <a:lnT>
                      <a:noFill/>
                    </a:lnT>
                    <a:lnB>
                      <a:noFill/>
                    </a:lnB>
                    <a:noFill/>
                  </a:tcPr>
                </a:tc>
                <a:tc>
                  <a:txBody>
                    <a:bodyPr/>
                    <a:lstStyle/>
                    <a:p>
                      <a:pPr algn="ctr" fontAlgn="b">
                        <a:buNone/>
                      </a:pPr>
                      <a:r>
                        <a:rPr lang="pt-BR" sz="800" b="0" i="0" u="none" strike="noStrike" dirty="0">
                          <a:solidFill>
                            <a:srgbClr val="000000"/>
                          </a:solidFill>
                          <a:effectLst/>
                          <a:latin typeface="Roboto Light" panose="02000000000000000000" pitchFamily="2" charset="0"/>
                        </a:rPr>
                        <a:t>IGTI11</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10.00%</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mar-25</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46.9%</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-0.7%</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-1.1%</a:t>
                      </a:r>
                    </a:p>
                  </a:txBody>
                  <a:tcPr marL="7620" marR="7620" marT="7620" marB="0" anchor="b">
                    <a:lnL>
                      <a:noFill/>
                    </a:lnL>
                    <a:lnR>
                      <a:noFill/>
                    </a:lnR>
                    <a:lnT>
                      <a:noFill/>
                    </a:lnT>
                    <a:lnB>
                      <a:noFill/>
                    </a:lnB>
                    <a:noFill/>
                  </a:tcPr>
                </a:tc>
                <a:extLst>
                  <a:ext uri="{0D108BD9-81ED-4DB2-BD59-A6C34878D82A}">
                    <a16:rowId xmlns:a16="http://schemas.microsoft.com/office/drawing/2014/main" val="4168847311"/>
                  </a:ext>
                </a:extLst>
              </a:tr>
              <a:tr h="125560">
                <a:tc>
                  <a:txBody>
                    <a:bodyPr/>
                    <a:lstStyle/>
                    <a:p>
                      <a:pPr algn="l" fontAlgn="b">
                        <a:buNone/>
                      </a:pPr>
                      <a:r>
                        <a:rPr lang="pt-BR" sz="800" b="0" i="0" u="none" strike="noStrike">
                          <a:solidFill>
                            <a:srgbClr val="000000"/>
                          </a:solidFill>
                          <a:effectLst/>
                          <a:latin typeface="Roboto Light" panose="02000000000000000000" pitchFamily="2" charset="0"/>
                        </a:rPr>
                        <a:t>Itaú Unibanco</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ITUB4</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10.00%</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mar-25</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68.1%</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1.7%</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11.6%</a:t>
                      </a:r>
                    </a:p>
                  </a:txBody>
                  <a:tcPr marL="7620" marR="7620" marT="7620" marB="0" anchor="b">
                    <a:lnL>
                      <a:noFill/>
                    </a:lnL>
                    <a:lnR>
                      <a:noFill/>
                    </a:lnR>
                    <a:lnT>
                      <a:noFill/>
                    </a:lnT>
                    <a:lnB>
                      <a:noFill/>
                    </a:lnB>
                    <a:noFill/>
                  </a:tcPr>
                </a:tc>
                <a:extLst>
                  <a:ext uri="{0D108BD9-81ED-4DB2-BD59-A6C34878D82A}">
                    <a16:rowId xmlns:a16="http://schemas.microsoft.com/office/drawing/2014/main" val="2795349975"/>
                  </a:ext>
                </a:extLst>
              </a:tr>
              <a:tr h="125560">
                <a:tc>
                  <a:txBody>
                    <a:bodyPr/>
                    <a:lstStyle/>
                    <a:p>
                      <a:pPr algn="l" fontAlgn="b">
                        <a:buNone/>
                      </a:pPr>
                      <a:r>
                        <a:rPr lang="pt-BR" sz="800" b="0" i="0" u="none" strike="noStrike">
                          <a:solidFill>
                            <a:srgbClr val="000000"/>
                          </a:solidFill>
                          <a:effectLst/>
                          <a:latin typeface="Roboto Light" panose="02000000000000000000" pitchFamily="2" charset="0"/>
                        </a:rPr>
                        <a:t>Lojas Renner</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LREN3</a:t>
                      </a:r>
                    </a:p>
                  </a:txBody>
                  <a:tcPr marL="7620" marR="7620" marT="7620" marB="0" anchor="b">
                    <a:lnL>
                      <a:noFill/>
                    </a:lnL>
                    <a:lnR>
                      <a:noFill/>
                    </a:lnR>
                    <a:lnT>
                      <a:noFill/>
                    </a:lnT>
                    <a:lnB>
                      <a:noFill/>
                    </a:lnB>
                    <a:noFill/>
                  </a:tcPr>
                </a:tc>
                <a:tc>
                  <a:txBody>
                    <a:bodyPr/>
                    <a:lstStyle/>
                    <a:p>
                      <a:pPr algn="ctr" fontAlgn="b">
                        <a:buNone/>
                      </a:pPr>
                      <a:r>
                        <a:rPr lang="pt-BR" sz="800" b="0" i="0" u="none" strike="noStrike" dirty="0">
                          <a:solidFill>
                            <a:srgbClr val="000000"/>
                          </a:solidFill>
                          <a:effectLst/>
                          <a:latin typeface="Roboto Light" panose="02000000000000000000" pitchFamily="2" charset="0"/>
                        </a:rPr>
                        <a:t>5.00%</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fev-26</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-10.0%</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-7.9%</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4.2%</a:t>
                      </a:r>
                    </a:p>
                  </a:txBody>
                  <a:tcPr marL="7620" marR="7620" marT="7620" marB="0" anchor="b">
                    <a:lnL>
                      <a:noFill/>
                    </a:lnL>
                    <a:lnR>
                      <a:noFill/>
                    </a:lnR>
                    <a:lnT>
                      <a:noFill/>
                    </a:lnT>
                    <a:lnB>
                      <a:noFill/>
                    </a:lnB>
                    <a:noFill/>
                  </a:tcPr>
                </a:tc>
                <a:extLst>
                  <a:ext uri="{0D108BD9-81ED-4DB2-BD59-A6C34878D82A}">
                    <a16:rowId xmlns:a16="http://schemas.microsoft.com/office/drawing/2014/main" val="1454286690"/>
                  </a:ext>
                </a:extLst>
              </a:tr>
              <a:tr h="125560">
                <a:tc>
                  <a:txBody>
                    <a:bodyPr/>
                    <a:lstStyle/>
                    <a:p>
                      <a:pPr algn="l" fontAlgn="b">
                        <a:buNone/>
                      </a:pPr>
                      <a:r>
                        <a:rPr lang="pt-BR" sz="800" b="0" i="0" u="none" strike="noStrike">
                          <a:solidFill>
                            <a:srgbClr val="000000"/>
                          </a:solidFill>
                          <a:effectLst/>
                          <a:latin typeface="Roboto Light" panose="02000000000000000000" pitchFamily="2" charset="0"/>
                        </a:rPr>
                        <a:t>Orizon</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ORVR3</a:t>
                      </a:r>
                    </a:p>
                  </a:txBody>
                  <a:tcPr marL="7620" marR="7620" marT="7620" marB="0" anchor="b">
                    <a:lnL>
                      <a:noFill/>
                    </a:lnL>
                    <a:lnR>
                      <a:noFill/>
                    </a:lnR>
                    <a:lnT>
                      <a:noFill/>
                    </a:lnT>
                    <a:lnB>
                      <a:noFill/>
                    </a:lnB>
                    <a:noFill/>
                  </a:tcPr>
                </a:tc>
                <a:tc>
                  <a:txBody>
                    <a:bodyPr/>
                    <a:lstStyle/>
                    <a:p>
                      <a:pPr algn="ctr" fontAlgn="b">
                        <a:buNone/>
                      </a:pPr>
                      <a:r>
                        <a:rPr lang="pt-BR" sz="800" b="0" i="0" u="none" strike="noStrike" dirty="0">
                          <a:solidFill>
                            <a:srgbClr val="000000"/>
                          </a:solidFill>
                          <a:effectLst/>
                          <a:latin typeface="Roboto Light" panose="02000000000000000000" pitchFamily="2" charset="0"/>
                        </a:rPr>
                        <a:t>5.00%</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jun-26</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-12.9%</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-10.9%</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0.8%</a:t>
                      </a:r>
                    </a:p>
                  </a:txBody>
                  <a:tcPr marL="7620" marR="7620" marT="7620" marB="0" anchor="b">
                    <a:lnL>
                      <a:noFill/>
                    </a:lnL>
                    <a:lnR>
                      <a:noFill/>
                    </a:lnR>
                    <a:lnT>
                      <a:noFill/>
                    </a:lnT>
                    <a:lnB>
                      <a:noFill/>
                    </a:lnB>
                    <a:noFill/>
                  </a:tcPr>
                </a:tc>
                <a:extLst>
                  <a:ext uri="{0D108BD9-81ED-4DB2-BD59-A6C34878D82A}">
                    <a16:rowId xmlns:a16="http://schemas.microsoft.com/office/drawing/2014/main" val="2894350890"/>
                  </a:ext>
                </a:extLst>
              </a:tr>
              <a:tr h="125560">
                <a:tc>
                  <a:txBody>
                    <a:bodyPr/>
                    <a:lstStyle/>
                    <a:p>
                      <a:pPr algn="l" fontAlgn="b">
                        <a:buNone/>
                      </a:pPr>
                      <a:r>
                        <a:rPr lang="pt-BR" sz="800" b="0" i="0" u="none" strike="noStrike">
                          <a:solidFill>
                            <a:srgbClr val="000000"/>
                          </a:solidFill>
                          <a:effectLst/>
                          <a:latin typeface="Roboto Light" panose="02000000000000000000" pitchFamily="2" charset="0"/>
                        </a:rPr>
                        <a:t>Petrobras</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PETR4</a:t>
                      </a:r>
                    </a:p>
                  </a:txBody>
                  <a:tcPr marL="7620" marR="7620" marT="7620" marB="0" anchor="b">
                    <a:lnL>
                      <a:noFill/>
                    </a:lnL>
                    <a:lnR>
                      <a:noFill/>
                    </a:lnR>
                    <a:lnT>
                      <a:noFill/>
                    </a:lnT>
                    <a:lnB>
                      <a:noFill/>
                    </a:lnB>
                    <a:noFill/>
                  </a:tcPr>
                </a:tc>
                <a:tc>
                  <a:txBody>
                    <a:bodyPr/>
                    <a:lstStyle/>
                    <a:p>
                      <a:pPr algn="ctr" fontAlgn="b">
                        <a:buNone/>
                      </a:pPr>
                      <a:r>
                        <a:rPr lang="pt-BR" sz="800" b="0" i="0" u="none" strike="noStrike" dirty="0">
                          <a:solidFill>
                            <a:srgbClr val="000000"/>
                          </a:solidFill>
                          <a:effectLst/>
                          <a:latin typeface="Roboto Light" panose="02000000000000000000" pitchFamily="2" charset="0"/>
                        </a:rPr>
                        <a:t>5.00%</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jan-26</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18.5%</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14.9%</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45.2%</a:t>
                      </a:r>
                    </a:p>
                  </a:txBody>
                  <a:tcPr marL="7620" marR="7620" marT="7620" marB="0" anchor="b">
                    <a:lnL>
                      <a:noFill/>
                    </a:lnL>
                    <a:lnR>
                      <a:noFill/>
                    </a:lnR>
                    <a:lnT>
                      <a:noFill/>
                    </a:lnT>
                    <a:lnB>
                      <a:noFill/>
                    </a:lnB>
                    <a:noFill/>
                  </a:tcPr>
                </a:tc>
                <a:extLst>
                  <a:ext uri="{0D108BD9-81ED-4DB2-BD59-A6C34878D82A}">
                    <a16:rowId xmlns:a16="http://schemas.microsoft.com/office/drawing/2014/main" val="2606703416"/>
                  </a:ext>
                </a:extLst>
              </a:tr>
              <a:tr h="125560">
                <a:tc>
                  <a:txBody>
                    <a:bodyPr/>
                    <a:lstStyle/>
                    <a:p>
                      <a:pPr algn="l" fontAlgn="b">
                        <a:buNone/>
                      </a:pPr>
                      <a:r>
                        <a:rPr lang="pt-BR" sz="800" b="0" i="0" u="none" strike="noStrike">
                          <a:solidFill>
                            <a:srgbClr val="000000"/>
                          </a:solidFill>
                          <a:effectLst/>
                          <a:latin typeface="Roboto Light" panose="02000000000000000000" pitchFamily="2" charset="0"/>
                        </a:rPr>
                        <a:t>PRIO</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PRIO3</a:t>
                      </a:r>
                    </a:p>
                  </a:txBody>
                  <a:tcPr marL="7620" marR="7620" marT="7620" marB="0" anchor="b">
                    <a:lnL>
                      <a:noFill/>
                    </a:lnL>
                    <a:lnR>
                      <a:noFill/>
                    </a:lnR>
                    <a:lnT>
                      <a:noFill/>
                    </a:lnT>
                    <a:lnB>
                      <a:noFill/>
                    </a:lnB>
                    <a:noFill/>
                  </a:tcPr>
                </a:tc>
                <a:tc>
                  <a:txBody>
                    <a:bodyPr/>
                    <a:lstStyle/>
                    <a:p>
                      <a:pPr algn="ctr" fontAlgn="b">
                        <a:buNone/>
                      </a:pPr>
                      <a:r>
                        <a:rPr lang="pt-BR" sz="800" b="0" i="0" u="none" strike="noStrike" dirty="0">
                          <a:solidFill>
                            <a:srgbClr val="000000"/>
                          </a:solidFill>
                          <a:effectLst/>
                          <a:latin typeface="Roboto Light" panose="02000000000000000000" pitchFamily="2" charset="0"/>
                        </a:rPr>
                        <a:t>5.00%</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jun-25</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56.2%</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16.7%</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46.9%</a:t>
                      </a:r>
                    </a:p>
                  </a:txBody>
                  <a:tcPr marL="7620" marR="7620" marT="7620" marB="0" anchor="b">
                    <a:lnL>
                      <a:noFill/>
                    </a:lnL>
                    <a:lnR>
                      <a:noFill/>
                    </a:lnR>
                    <a:lnT>
                      <a:noFill/>
                    </a:lnT>
                    <a:lnB>
                      <a:noFill/>
                    </a:lnB>
                    <a:noFill/>
                  </a:tcPr>
                </a:tc>
                <a:extLst>
                  <a:ext uri="{0D108BD9-81ED-4DB2-BD59-A6C34878D82A}">
                    <a16:rowId xmlns:a16="http://schemas.microsoft.com/office/drawing/2014/main" val="26952385"/>
                  </a:ext>
                </a:extLst>
              </a:tr>
              <a:tr h="125560">
                <a:tc>
                  <a:txBody>
                    <a:bodyPr/>
                    <a:lstStyle/>
                    <a:p>
                      <a:pPr algn="l" fontAlgn="b">
                        <a:buNone/>
                      </a:pPr>
                      <a:r>
                        <a:rPr lang="pt-BR" sz="800" b="0" i="0" u="none" strike="noStrike">
                          <a:solidFill>
                            <a:srgbClr val="000000"/>
                          </a:solidFill>
                          <a:effectLst/>
                          <a:latin typeface="Roboto Light" panose="02000000000000000000" pitchFamily="2" charset="0"/>
                        </a:rPr>
                        <a:t>Rede D'Or</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RDOR3</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7.50%</a:t>
                      </a:r>
                    </a:p>
                  </a:txBody>
                  <a:tcPr marL="7620" marR="7620" marT="7620" marB="0" anchor="b">
                    <a:lnL>
                      <a:noFill/>
                    </a:lnL>
                    <a:lnR>
                      <a:noFill/>
                    </a:lnR>
                    <a:lnT>
                      <a:noFill/>
                    </a:lnT>
                    <a:lnB>
                      <a:noFill/>
                    </a:lnB>
                    <a:noFill/>
                  </a:tcPr>
                </a:tc>
                <a:tc>
                  <a:txBody>
                    <a:bodyPr/>
                    <a:lstStyle/>
                    <a:p>
                      <a:pPr algn="ctr" fontAlgn="b">
                        <a:buNone/>
                      </a:pPr>
                      <a:r>
                        <a:rPr lang="pt-BR" sz="800" b="0" i="0" u="none" strike="noStrike" dirty="0">
                          <a:solidFill>
                            <a:srgbClr val="000000"/>
                          </a:solidFill>
                          <a:effectLst/>
                          <a:latin typeface="Roboto Light" panose="02000000000000000000" pitchFamily="2" charset="0"/>
                        </a:rPr>
                        <a:t>jul-26</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-0.2%</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-0.2%</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-13.9%</a:t>
                      </a:r>
                    </a:p>
                  </a:txBody>
                  <a:tcPr marL="7620" marR="7620" marT="7620" marB="0" anchor="b">
                    <a:lnL>
                      <a:noFill/>
                    </a:lnL>
                    <a:lnR>
                      <a:noFill/>
                    </a:lnR>
                    <a:lnT>
                      <a:noFill/>
                    </a:lnT>
                    <a:lnB>
                      <a:noFill/>
                    </a:lnB>
                    <a:noFill/>
                  </a:tcPr>
                </a:tc>
                <a:extLst>
                  <a:ext uri="{0D108BD9-81ED-4DB2-BD59-A6C34878D82A}">
                    <a16:rowId xmlns:a16="http://schemas.microsoft.com/office/drawing/2014/main" val="220972565"/>
                  </a:ext>
                </a:extLst>
              </a:tr>
              <a:tr h="125560">
                <a:tc>
                  <a:txBody>
                    <a:bodyPr/>
                    <a:lstStyle/>
                    <a:p>
                      <a:pPr algn="l" fontAlgn="b">
                        <a:buNone/>
                      </a:pPr>
                      <a:r>
                        <a:rPr lang="pt-BR" sz="800" b="0" i="0" u="none" strike="noStrike">
                          <a:solidFill>
                            <a:srgbClr val="000000"/>
                          </a:solidFill>
                          <a:effectLst/>
                          <a:latin typeface="Roboto Light" panose="02000000000000000000" pitchFamily="2" charset="0"/>
                        </a:rPr>
                        <a:t>Localiza</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RENT3</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10.00%</a:t>
                      </a:r>
                    </a:p>
                  </a:txBody>
                  <a:tcPr marL="7620" marR="7620" marT="7620" marB="0" anchor="b">
                    <a:lnL>
                      <a:noFill/>
                    </a:lnL>
                    <a:lnR>
                      <a:noFill/>
                    </a:lnR>
                    <a:lnT>
                      <a:noFill/>
                    </a:lnT>
                    <a:lnB>
                      <a:noFill/>
                    </a:lnB>
                    <a:noFill/>
                  </a:tcPr>
                </a:tc>
                <a:tc>
                  <a:txBody>
                    <a:bodyPr/>
                    <a:lstStyle/>
                    <a:p>
                      <a:pPr algn="ctr" fontAlgn="b">
                        <a:buNone/>
                      </a:pPr>
                      <a:r>
                        <a:rPr lang="pt-BR" sz="800" b="0" i="0" u="none" strike="noStrike" dirty="0">
                          <a:solidFill>
                            <a:srgbClr val="000000"/>
                          </a:solidFill>
                          <a:effectLst/>
                          <a:latin typeface="Roboto Light" panose="02000000000000000000" pitchFamily="2" charset="0"/>
                        </a:rPr>
                        <a:t>dez-25</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-10.5%</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-9.5%</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-11.6%</a:t>
                      </a:r>
                    </a:p>
                  </a:txBody>
                  <a:tcPr marL="7620" marR="7620" marT="7620" marB="0" anchor="b">
                    <a:lnL>
                      <a:noFill/>
                    </a:lnL>
                    <a:lnR>
                      <a:noFill/>
                    </a:lnR>
                    <a:lnT>
                      <a:noFill/>
                    </a:lnT>
                    <a:lnB>
                      <a:noFill/>
                    </a:lnB>
                    <a:noFill/>
                  </a:tcPr>
                </a:tc>
                <a:extLst>
                  <a:ext uri="{0D108BD9-81ED-4DB2-BD59-A6C34878D82A}">
                    <a16:rowId xmlns:a16="http://schemas.microsoft.com/office/drawing/2014/main" val="2850372994"/>
                  </a:ext>
                </a:extLst>
              </a:tr>
              <a:tr h="125560">
                <a:tc>
                  <a:txBody>
                    <a:bodyPr/>
                    <a:lstStyle/>
                    <a:p>
                      <a:pPr algn="l" fontAlgn="b">
                        <a:buNone/>
                      </a:pPr>
                      <a:r>
                        <a:rPr lang="pt-BR" sz="800" b="0" i="0" u="none" strike="noStrike">
                          <a:solidFill>
                            <a:srgbClr val="000000"/>
                          </a:solidFill>
                          <a:effectLst/>
                          <a:latin typeface="Roboto Light" panose="02000000000000000000" pitchFamily="2" charset="0"/>
                        </a:rPr>
                        <a:t>Nubank</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ROXO34</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5.00%</a:t>
                      </a:r>
                    </a:p>
                  </a:txBody>
                  <a:tcPr marL="7620" marR="7620" marT="7620" marB="0" anchor="b">
                    <a:lnL>
                      <a:noFill/>
                    </a:lnL>
                    <a:lnR>
                      <a:noFill/>
                    </a:lnR>
                    <a:lnT>
                      <a:noFill/>
                    </a:lnT>
                    <a:lnB>
                      <a:noFill/>
                    </a:lnB>
                    <a:noFill/>
                  </a:tcPr>
                </a:tc>
                <a:tc>
                  <a:txBody>
                    <a:bodyPr/>
                    <a:lstStyle/>
                    <a:p>
                      <a:pPr algn="ctr" fontAlgn="b">
                        <a:buNone/>
                      </a:pPr>
                      <a:r>
                        <a:rPr lang="pt-BR" sz="800" b="0" i="0" u="none" strike="noStrike" dirty="0">
                          <a:solidFill>
                            <a:srgbClr val="000000"/>
                          </a:solidFill>
                          <a:effectLst/>
                          <a:latin typeface="Roboto Light" panose="02000000000000000000" pitchFamily="2" charset="0"/>
                        </a:rPr>
                        <a:t>abr-26</a:t>
                      </a:r>
                    </a:p>
                  </a:txBody>
                  <a:tcPr marL="7620" marR="7620" marT="7620" marB="0" anchor="b">
                    <a:lnL>
                      <a:noFill/>
                    </a:lnL>
                    <a:lnR>
                      <a:noFill/>
                    </a:lnR>
                    <a:lnT>
                      <a:noFill/>
                    </a:lnT>
                    <a:lnB>
                      <a:noFill/>
                    </a:lnB>
                    <a:noFill/>
                  </a:tcPr>
                </a:tc>
                <a:tc>
                  <a:txBody>
                    <a:bodyPr/>
                    <a:lstStyle/>
                    <a:p>
                      <a:pPr algn="ctr" fontAlgn="b">
                        <a:buNone/>
                      </a:pPr>
                      <a:r>
                        <a:rPr lang="pt-BR" sz="800" b="0" i="0" u="none" strike="noStrike" dirty="0">
                          <a:solidFill>
                            <a:srgbClr val="000000"/>
                          </a:solidFill>
                          <a:effectLst/>
                          <a:latin typeface="Roboto Light" panose="02000000000000000000" pitchFamily="2" charset="0"/>
                        </a:rPr>
                        <a:t>-3.2%</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5.7%</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-22.2%</a:t>
                      </a:r>
                    </a:p>
                  </a:txBody>
                  <a:tcPr marL="7620" marR="7620" marT="7620" marB="0" anchor="b">
                    <a:lnL>
                      <a:noFill/>
                    </a:lnL>
                    <a:lnR>
                      <a:noFill/>
                    </a:lnR>
                    <a:lnT>
                      <a:noFill/>
                    </a:lnT>
                    <a:lnB>
                      <a:noFill/>
                    </a:lnB>
                    <a:noFill/>
                  </a:tcPr>
                </a:tc>
                <a:extLst>
                  <a:ext uri="{0D108BD9-81ED-4DB2-BD59-A6C34878D82A}">
                    <a16:rowId xmlns:a16="http://schemas.microsoft.com/office/drawing/2014/main" val="598982014"/>
                  </a:ext>
                </a:extLst>
              </a:tr>
              <a:tr h="125560">
                <a:tc>
                  <a:txBody>
                    <a:bodyPr/>
                    <a:lstStyle/>
                    <a:p>
                      <a:pPr algn="l" fontAlgn="b">
                        <a:buNone/>
                      </a:pPr>
                      <a:r>
                        <a:rPr lang="pt-BR" sz="800" b="0" i="0" u="none" strike="noStrike">
                          <a:solidFill>
                            <a:srgbClr val="000000"/>
                          </a:solidFill>
                          <a:effectLst/>
                          <a:latin typeface="Roboto Light" panose="02000000000000000000" pitchFamily="2" charset="0"/>
                        </a:rPr>
                        <a:t>Sabesp</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SBSP3</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5.00%</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jan-26</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4.6%</a:t>
                      </a:r>
                    </a:p>
                  </a:txBody>
                  <a:tcPr marL="7620" marR="7620" marT="7620" marB="0" anchor="b">
                    <a:lnL>
                      <a:noFill/>
                    </a:lnL>
                    <a:lnR>
                      <a:noFill/>
                    </a:lnR>
                    <a:lnT>
                      <a:noFill/>
                    </a:lnT>
                    <a:lnB>
                      <a:noFill/>
                    </a:lnB>
                    <a:noFill/>
                  </a:tcPr>
                </a:tc>
                <a:tc>
                  <a:txBody>
                    <a:bodyPr/>
                    <a:lstStyle/>
                    <a:p>
                      <a:pPr algn="ctr" fontAlgn="b">
                        <a:buNone/>
                      </a:pPr>
                      <a:r>
                        <a:rPr lang="pt-BR" sz="800" b="0" i="0" u="none" strike="noStrike" dirty="0">
                          <a:solidFill>
                            <a:srgbClr val="000000"/>
                          </a:solidFill>
                          <a:effectLst/>
                          <a:latin typeface="Roboto Light" panose="02000000000000000000" pitchFamily="2" charset="0"/>
                        </a:rPr>
                        <a:t>-6.5%</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4.6%</a:t>
                      </a:r>
                    </a:p>
                  </a:txBody>
                  <a:tcPr marL="7620" marR="7620" marT="7620" marB="0" anchor="b">
                    <a:lnL>
                      <a:noFill/>
                    </a:lnL>
                    <a:lnR>
                      <a:noFill/>
                    </a:lnR>
                    <a:lnT>
                      <a:noFill/>
                    </a:lnT>
                    <a:lnB>
                      <a:noFill/>
                    </a:lnB>
                    <a:noFill/>
                  </a:tcPr>
                </a:tc>
                <a:extLst>
                  <a:ext uri="{0D108BD9-81ED-4DB2-BD59-A6C34878D82A}">
                    <a16:rowId xmlns:a16="http://schemas.microsoft.com/office/drawing/2014/main" val="2639698680"/>
                  </a:ext>
                </a:extLst>
              </a:tr>
              <a:tr h="125560">
                <a:tc>
                  <a:txBody>
                    <a:bodyPr/>
                    <a:lstStyle/>
                    <a:p>
                      <a:pPr algn="l" fontAlgn="b">
                        <a:buNone/>
                      </a:pPr>
                      <a:r>
                        <a:rPr lang="pt-BR" sz="800" b="0" i="0" u="none" strike="noStrike">
                          <a:solidFill>
                            <a:srgbClr val="000000"/>
                          </a:solidFill>
                          <a:effectLst/>
                          <a:latin typeface="Roboto Light" panose="02000000000000000000" pitchFamily="2" charset="0"/>
                        </a:rPr>
                        <a:t>TOTVS</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TOTS3</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5.00%</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mai-26</a:t>
                      </a:r>
                    </a:p>
                  </a:txBody>
                  <a:tcPr marL="7620" marR="7620" marT="7620" marB="0" anchor="b">
                    <a:lnL>
                      <a:noFill/>
                    </a:lnL>
                    <a:lnR>
                      <a:noFill/>
                    </a:lnR>
                    <a:lnT>
                      <a:noFill/>
                    </a:lnT>
                    <a:lnB>
                      <a:noFill/>
                    </a:lnB>
                    <a:noFill/>
                  </a:tcPr>
                </a:tc>
                <a:tc>
                  <a:txBody>
                    <a:bodyPr/>
                    <a:lstStyle/>
                    <a:p>
                      <a:pPr algn="ctr" fontAlgn="b">
                        <a:buNone/>
                      </a:pPr>
                      <a:r>
                        <a:rPr lang="pt-BR" sz="800" b="0" i="0" u="none" strike="noStrike" dirty="0">
                          <a:solidFill>
                            <a:srgbClr val="000000"/>
                          </a:solidFill>
                          <a:effectLst/>
                          <a:latin typeface="Roboto Light" panose="02000000000000000000" pitchFamily="2" charset="0"/>
                        </a:rPr>
                        <a:t>-1.9%</a:t>
                      </a:r>
                    </a:p>
                  </a:txBody>
                  <a:tcPr marL="7620" marR="7620" marT="7620" marB="0" anchor="b">
                    <a:lnL>
                      <a:noFill/>
                    </a:lnL>
                    <a:lnR>
                      <a:noFill/>
                    </a:lnR>
                    <a:lnT>
                      <a:noFill/>
                    </a:lnT>
                    <a:lnB>
                      <a:noFill/>
                    </a:lnB>
                    <a:noFill/>
                  </a:tcPr>
                </a:tc>
                <a:tc>
                  <a:txBody>
                    <a:bodyPr/>
                    <a:lstStyle/>
                    <a:p>
                      <a:pPr algn="ctr" fontAlgn="b">
                        <a:buNone/>
                      </a:pPr>
                      <a:r>
                        <a:rPr lang="pt-BR" sz="800" b="0" i="0" u="none" strike="noStrike" dirty="0">
                          <a:solidFill>
                            <a:srgbClr val="000000"/>
                          </a:solidFill>
                          <a:effectLst/>
                          <a:latin typeface="Roboto Light" panose="02000000000000000000" pitchFamily="2" charset="0"/>
                        </a:rPr>
                        <a:t>8.2%</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-25.4%</a:t>
                      </a:r>
                    </a:p>
                  </a:txBody>
                  <a:tcPr marL="7620" marR="7620" marT="7620" marB="0" anchor="b">
                    <a:lnL>
                      <a:noFill/>
                    </a:lnL>
                    <a:lnR>
                      <a:noFill/>
                    </a:lnR>
                    <a:lnT>
                      <a:noFill/>
                    </a:lnT>
                    <a:lnB>
                      <a:noFill/>
                    </a:lnB>
                    <a:noFill/>
                  </a:tcPr>
                </a:tc>
                <a:extLst>
                  <a:ext uri="{0D108BD9-81ED-4DB2-BD59-A6C34878D82A}">
                    <a16:rowId xmlns:a16="http://schemas.microsoft.com/office/drawing/2014/main" val="3938030767"/>
                  </a:ext>
                </a:extLst>
              </a:tr>
              <a:tr h="125560">
                <a:tc>
                  <a:txBody>
                    <a:bodyPr/>
                    <a:lstStyle/>
                    <a:p>
                      <a:pPr algn="l" fontAlgn="b">
                        <a:buNone/>
                      </a:pPr>
                      <a:r>
                        <a:rPr lang="pt-BR" sz="800" b="0" i="0" u="none" strike="noStrike">
                          <a:solidFill>
                            <a:srgbClr val="000000"/>
                          </a:solidFill>
                          <a:effectLst/>
                          <a:latin typeface="Roboto Light" panose="02000000000000000000" pitchFamily="2" charset="0"/>
                        </a:rPr>
                        <a:t>Vale</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VALE3</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5.00%</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mar-25</a:t>
                      </a:r>
                    </a:p>
                  </a:txBody>
                  <a:tcPr marL="7620" marR="7620" marT="7620" marB="0" anchor="b">
                    <a:lnL>
                      <a:noFill/>
                    </a:lnL>
                    <a:lnR>
                      <a:noFill/>
                    </a:lnR>
                    <a:lnT>
                      <a:noFill/>
                    </a:lnT>
                    <a:lnB>
                      <a:noFill/>
                    </a:lnB>
                    <a:noFill/>
                  </a:tcPr>
                </a:tc>
                <a:tc>
                  <a:txBody>
                    <a:bodyPr/>
                    <a:lstStyle/>
                    <a:p>
                      <a:pPr algn="ctr" fontAlgn="b">
                        <a:buNone/>
                      </a:pPr>
                      <a:r>
                        <a:rPr lang="pt-BR" sz="800" b="0" i="0" u="none" strike="noStrike" dirty="0">
                          <a:solidFill>
                            <a:srgbClr val="000000"/>
                          </a:solidFill>
                          <a:effectLst/>
                          <a:latin typeface="Roboto Light" panose="02000000000000000000" pitchFamily="2" charset="0"/>
                        </a:rPr>
                        <a:t>56.5%</a:t>
                      </a:r>
                    </a:p>
                  </a:txBody>
                  <a:tcPr marL="7620" marR="7620" marT="7620" marB="0" anchor="b">
                    <a:lnL>
                      <a:noFill/>
                    </a:lnL>
                    <a:lnR>
                      <a:noFill/>
                    </a:lnR>
                    <a:lnT>
                      <a:noFill/>
                    </a:lnT>
                    <a:lnB>
                      <a:noFill/>
                    </a:lnB>
                    <a:noFill/>
                  </a:tcPr>
                </a:tc>
                <a:tc>
                  <a:txBody>
                    <a:bodyPr/>
                    <a:lstStyle/>
                    <a:p>
                      <a:pPr algn="ctr" fontAlgn="b">
                        <a:buNone/>
                      </a:pPr>
                      <a:r>
                        <a:rPr lang="pt-BR" sz="800" b="0" i="0" u="none" strike="noStrike" dirty="0">
                          <a:solidFill>
                            <a:srgbClr val="000000"/>
                          </a:solidFill>
                          <a:effectLst/>
                          <a:latin typeface="Roboto Light" panose="02000000000000000000" pitchFamily="2" charset="0"/>
                        </a:rPr>
                        <a:t>-2.1%</a:t>
                      </a:r>
                    </a:p>
                  </a:txBody>
                  <a:tcPr marL="7620" marR="7620" marT="7620" marB="0" anchor="b">
                    <a:lnL>
                      <a:noFill/>
                    </a:lnL>
                    <a:lnR>
                      <a:noFill/>
                    </a:lnR>
                    <a:lnT>
                      <a:noFill/>
                    </a:lnT>
                    <a:lnB>
                      <a:noFill/>
                    </a:lnB>
                    <a:noFill/>
                  </a:tcPr>
                </a:tc>
                <a:tc>
                  <a:txBody>
                    <a:bodyPr/>
                    <a:lstStyle/>
                    <a:p>
                      <a:pPr algn="ctr" fontAlgn="b">
                        <a:buNone/>
                      </a:pPr>
                      <a:r>
                        <a:rPr lang="pt-BR" sz="800" b="0" i="0" u="none" strike="noStrike" dirty="0">
                          <a:solidFill>
                            <a:srgbClr val="000000"/>
                          </a:solidFill>
                          <a:effectLst/>
                          <a:latin typeface="Roboto Light" panose="02000000000000000000" pitchFamily="2" charset="0"/>
                        </a:rPr>
                        <a:t>6.0%</a:t>
                      </a:r>
                    </a:p>
                  </a:txBody>
                  <a:tcPr marL="7620" marR="7620" marT="7620" marB="0" anchor="b">
                    <a:lnL>
                      <a:noFill/>
                    </a:lnL>
                    <a:lnR>
                      <a:noFill/>
                    </a:lnR>
                    <a:lnT>
                      <a:noFill/>
                    </a:lnT>
                    <a:lnB>
                      <a:noFill/>
                    </a:lnB>
                    <a:noFill/>
                  </a:tcPr>
                </a:tc>
                <a:extLst>
                  <a:ext uri="{0D108BD9-81ED-4DB2-BD59-A6C34878D82A}">
                    <a16:rowId xmlns:a16="http://schemas.microsoft.com/office/drawing/2014/main" val="1802091252"/>
                  </a:ext>
                </a:extLst>
              </a:tr>
            </a:tbl>
          </a:graphicData>
        </a:graphic>
      </p:graphicFrame>
      <p:graphicFrame>
        <p:nvGraphicFramePr>
          <p:cNvPr id="10" name="Chart 9">
            <a:extLst>
              <a:ext uri="{FF2B5EF4-FFF2-40B4-BE49-F238E27FC236}">
                <a16:creationId xmlns:a16="http://schemas.microsoft.com/office/drawing/2014/main" id="{749827C0-56C4-104E-CD1A-EE898945BE8C}"/>
              </a:ext>
            </a:extLst>
          </p:cNvPr>
          <p:cNvGraphicFramePr>
            <a:graphicFrameLocks/>
          </p:cNvGraphicFramePr>
          <p:nvPr>
            <p:extLst>
              <p:ext uri="{D42A27DB-BD31-4B8C-83A1-F6EECF244321}">
                <p14:modId xmlns:p14="http://schemas.microsoft.com/office/powerpoint/2010/main" val="4042964746"/>
              </p:ext>
            </p:extLst>
          </p:nvPr>
        </p:nvGraphicFramePr>
        <p:xfrm>
          <a:off x="7209279" y="2370825"/>
          <a:ext cx="4572000" cy="3487962"/>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7123395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6EA958-2E20-2D33-D831-E722566AC703}"/>
            </a:ext>
          </a:extLst>
        </p:cNvPr>
        <p:cNvGrpSpPr/>
        <p:nvPr/>
      </p:nvGrpSpPr>
      <p:grpSpPr>
        <a:xfrm>
          <a:off x="0" y="0"/>
          <a:ext cx="0" cy="0"/>
          <a:chOff x="0" y="0"/>
          <a:chExt cx="0" cy="0"/>
        </a:xfrm>
      </p:grpSpPr>
      <p:sp>
        <p:nvSpPr>
          <p:cNvPr id="15" name="Text Placeholder 14">
            <a:extLst>
              <a:ext uri="{FF2B5EF4-FFF2-40B4-BE49-F238E27FC236}">
                <a16:creationId xmlns:a16="http://schemas.microsoft.com/office/drawing/2014/main" id="{47528D57-35BF-2FB7-CCA9-FE004E1388BD}"/>
              </a:ext>
            </a:extLst>
          </p:cNvPr>
          <p:cNvSpPr>
            <a:spLocks noGrp="1"/>
          </p:cNvSpPr>
          <p:nvPr>
            <p:ph type="body" sz="quarter" idx="18"/>
          </p:nvPr>
        </p:nvSpPr>
        <p:spPr/>
        <p:txBody>
          <a:bodyPr/>
          <a:lstStyle/>
          <a:p>
            <a:r>
              <a:rPr lang="pt-BR" dirty="0"/>
              <a:t>Fonte: XP Research. </a:t>
            </a:r>
          </a:p>
        </p:txBody>
      </p:sp>
      <p:sp>
        <p:nvSpPr>
          <p:cNvPr id="14" name="Text Placeholder 13">
            <a:extLst>
              <a:ext uri="{FF2B5EF4-FFF2-40B4-BE49-F238E27FC236}">
                <a16:creationId xmlns:a16="http://schemas.microsoft.com/office/drawing/2014/main" id="{895543C9-CC26-D778-949D-EF53FE3F21F6}"/>
              </a:ext>
            </a:extLst>
          </p:cNvPr>
          <p:cNvSpPr>
            <a:spLocks noGrp="1"/>
          </p:cNvSpPr>
          <p:nvPr>
            <p:ph type="body" sz="quarter" idx="16"/>
          </p:nvPr>
        </p:nvSpPr>
        <p:spPr/>
        <p:txBody>
          <a:bodyPr/>
          <a:lstStyle/>
          <a:p>
            <a:r>
              <a:rPr lang="pt-BR" dirty="0"/>
              <a:t>Carteira Top Ações XP</a:t>
            </a:r>
          </a:p>
        </p:txBody>
      </p:sp>
      <p:sp>
        <p:nvSpPr>
          <p:cNvPr id="5" name="Date Placeholder 4">
            <a:extLst>
              <a:ext uri="{FF2B5EF4-FFF2-40B4-BE49-F238E27FC236}">
                <a16:creationId xmlns:a16="http://schemas.microsoft.com/office/drawing/2014/main" id="{70817814-44FF-3046-BEE8-F67F4F44A1F4}"/>
              </a:ext>
            </a:extLst>
          </p:cNvPr>
          <p:cNvSpPr>
            <a:spLocks noGrp="1"/>
          </p:cNvSpPr>
          <p:nvPr>
            <p:ph type="dt" sz="half" idx="2"/>
          </p:nvPr>
        </p:nvSpPr>
        <p:spPr/>
        <p:txBody>
          <a:bodyPr/>
          <a:lstStyle/>
          <a:p>
            <a:fld id="{A6844A8F-C80F-444C-AD01-359786A22A4E}" type="datetime4">
              <a:rPr lang="pt-BR" smtClean="0"/>
              <a:pPr/>
              <a:t>5 de agosto de 2026</a:t>
            </a:fld>
            <a:endParaRPr lang="en-US" dirty="0"/>
          </a:p>
        </p:txBody>
      </p:sp>
      <p:graphicFrame>
        <p:nvGraphicFramePr>
          <p:cNvPr id="21" name="Table 21">
            <a:extLst>
              <a:ext uri="{FF2B5EF4-FFF2-40B4-BE49-F238E27FC236}">
                <a16:creationId xmlns:a16="http://schemas.microsoft.com/office/drawing/2014/main" id="{587F1BAC-EF0B-3289-83BF-349D0CA7241E}"/>
              </a:ext>
            </a:extLst>
          </p:cNvPr>
          <p:cNvGraphicFramePr>
            <a:graphicFrameLocks noGrp="1"/>
          </p:cNvGraphicFramePr>
          <p:nvPr>
            <p:ph sz="quarter" idx="25"/>
            <p:extLst>
              <p:ext uri="{D42A27DB-BD31-4B8C-83A1-F6EECF244321}">
                <p14:modId xmlns:p14="http://schemas.microsoft.com/office/powerpoint/2010/main" val="2533929417"/>
              </p:ext>
            </p:extLst>
          </p:nvPr>
        </p:nvGraphicFramePr>
        <p:xfrm>
          <a:off x="249771" y="837635"/>
          <a:ext cx="11605678" cy="5439182"/>
        </p:xfrm>
        <a:graphic>
          <a:graphicData uri="http://schemas.openxmlformats.org/drawingml/2006/table">
            <a:tbl>
              <a:tblPr firstRow="1" bandRow="1">
                <a:tableStyleId>{F2DE63D5-997A-4646-A377-4702673A728D}</a:tableStyleId>
              </a:tblPr>
              <a:tblGrid>
                <a:gridCol w="970696">
                  <a:extLst>
                    <a:ext uri="{9D8B030D-6E8A-4147-A177-3AD203B41FA5}">
                      <a16:colId xmlns:a16="http://schemas.microsoft.com/office/drawing/2014/main" val="4145286018"/>
                    </a:ext>
                  </a:extLst>
                </a:gridCol>
                <a:gridCol w="649373">
                  <a:extLst>
                    <a:ext uri="{9D8B030D-6E8A-4147-A177-3AD203B41FA5}">
                      <a16:colId xmlns:a16="http://schemas.microsoft.com/office/drawing/2014/main" val="173187423"/>
                    </a:ext>
                  </a:extLst>
                </a:gridCol>
                <a:gridCol w="456006">
                  <a:extLst>
                    <a:ext uri="{9D8B030D-6E8A-4147-A177-3AD203B41FA5}">
                      <a16:colId xmlns:a16="http://schemas.microsoft.com/office/drawing/2014/main" val="4270396654"/>
                    </a:ext>
                  </a:extLst>
                </a:gridCol>
                <a:gridCol w="998282">
                  <a:extLst>
                    <a:ext uri="{9D8B030D-6E8A-4147-A177-3AD203B41FA5}">
                      <a16:colId xmlns:a16="http://schemas.microsoft.com/office/drawing/2014/main" val="235090091"/>
                    </a:ext>
                  </a:extLst>
                </a:gridCol>
                <a:gridCol w="715720">
                  <a:extLst>
                    <a:ext uri="{9D8B030D-6E8A-4147-A177-3AD203B41FA5}">
                      <a16:colId xmlns:a16="http://schemas.microsoft.com/office/drawing/2014/main" val="542523139"/>
                    </a:ext>
                  </a:extLst>
                </a:gridCol>
                <a:gridCol w="6905583">
                  <a:extLst>
                    <a:ext uri="{9D8B030D-6E8A-4147-A177-3AD203B41FA5}">
                      <a16:colId xmlns:a16="http://schemas.microsoft.com/office/drawing/2014/main" val="1650878578"/>
                    </a:ext>
                  </a:extLst>
                </a:gridCol>
                <a:gridCol w="910018">
                  <a:extLst>
                    <a:ext uri="{9D8B030D-6E8A-4147-A177-3AD203B41FA5}">
                      <a16:colId xmlns:a16="http://schemas.microsoft.com/office/drawing/2014/main" val="2243829412"/>
                    </a:ext>
                  </a:extLst>
                </a:gridCol>
              </a:tblGrid>
              <a:tr h="180000">
                <a:tc>
                  <a:txBody>
                    <a:bodyPr/>
                    <a:lstStyle/>
                    <a:p>
                      <a:pPr algn="ctr" fontAlgn="b">
                        <a:buNone/>
                      </a:pPr>
                      <a:r>
                        <a:rPr lang="pt-BR" sz="700" b="1" i="0" u="none" strike="noStrike" dirty="0">
                          <a:solidFill>
                            <a:srgbClr val="000000"/>
                          </a:solidFill>
                          <a:effectLst/>
                          <a:latin typeface="+mj-lt"/>
                        </a:rPr>
                        <a:t>Companhia</a:t>
                      </a:r>
                    </a:p>
                  </a:txBody>
                  <a:tcPr marL="9525" marR="9525" marT="9525" marB="0" anchor="ctr"/>
                </a:tc>
                <a:tc>
                  <a:txBody>
                    <a:bodyPr/>
                    <a:lstStyle/>
                    <a:p>
                      <a:pPr algn="ctr" fontAlgn="b">
                        <a:buNone/>
                      </a:pPr>
                      <a:r>
                        <a:rPr lang="pt-BR" sz="700" b="1" i="0" u="none" strike="noStrike" dirty="0" err="1">
                          <a:solidFill>
                            <a:srgbClr val="000000"/>
                          </a:solidFill>
                          <a:effectLst/>
                          <a:latin typeface="+mj-lt"/>
                        </a:rPr>
                        <a:t>Ticker</a:t>
                      </a:r>
                      <a:endParaRPr lang="pt-BR" sz="700" b="1" i="0" u="none" strike="noStrike" dirty="0">
                        <a:solidFill>
                          <a:srgbClr val="000000"/>
                        </a:solidFill>
                        <a:effectLst/>
                        <a:latin typeface="+mj-lt"/>
                      </a:endParaRPr>
                    </a:p>
                  </a:txBody>
                  <a:tcPr marL="9525" marR="9525" marT="9525" marB="0" anchor="ctr"/>
                </a:tc>
                <a:tc>
                  <a:txBody>
                    <a:bodyPr/>
                    <a:lstStyle/>
                    <a:p>
                      <a:pPr algn="ctr" fontAlgn="b">
                        <a:buNone/>
                      </a:pPr>
                      <a:r>
                        <a:rPr lang="pt-BR" sz="700" b="1" i="0" u="none" strike="noStrike" dirty="0">
                          <a:solidFill>
                            <a:srgbClr val="000000"/>
                          </a:solidFill>
                          <a:effectLst/>
                          <a:latin typeface="+mj-lt"/>
                        </a:rPr>
                        <a:t>Peso </a:t>
                      </a:r>
                    </a:p>
                  </a:txBody>
                  <a:tcPr marL="9525" marR="9525" marT="9525" marB="0" anchor="ctr"/>
                </a:tc>
                <a:tc>
                  <a:txBody>
                    <a:bodyPr/>
                    <a:lstStyle/>
                    <a:p>
                      <a:pPr algn="ctr" fontAlgn="b">
                        <a:buNone/>
                      </a:pPr>
                      <a:r>
                        <a:rPr lang="pt-BR" sz="700" b="1" i="0" u="none" strike="noStrike" dirty="0">
                          <a:solidFill>
                            <a:srgbClr val="000000"/>
                          </a:solidFill>
                          <a:effectLst/>
                          <a:latin typeface="+mj-lt"/>
                        </a:rPr>
                        <a:t>Recomendação</a:t>
                      </a:r>
                    </a:p>
                  </a:txBody>
                  <a:tcPr marL="9525" marR="9525" marT="9525" marB="0" anchor="ctr"/>
                </a:tc>
                <a:tc>
                  <a:txBody>
                    <a:bodyPr/>
                    <a:lstStyle/>
                    <a:p>
                      <a:pPr algn="ctr" fontAlgn="b">
                        <a:buNone/>
                      </a:pPr>
                      <a:r>
                        <a:rPr lang="pt-BR" sz="700" b="1" i="0" u="none" strike="noStrike" dirty="0">
                          <a:solidFill>
                            <a:srgbClr val="000000"/>
                          </a:solidFill>
                          <a:effectLst/>
                          <a:latin typeface="+mj-lt"/>
                        </a:rPr>
                        <a:t>Preço-Alvo</a:t>
                      </a:r>
                    </a:p>
                  </a:txBody>
                  <a:tcPr marL="9525" marR="9525" marT="9525" marB="0" anchor="ctr"/>
                </a:tc>
                <a:tc>
                  <a:txBody>
                    <a:bodyPr/>
                    <a:lstStyle/>
                    <a:p>
                      <a:pPr algn="ctr" rtl="0" fontAlgn="ctr"/>
                      <a:r>
                        <a:rPr lang="pt-BR" sz="700" b="1" i="0" u="none" strike="noStrike" dirty="0">
                          <a:solidFill>
                            <a:schemeClr val="tx1"/>
                          </a:solidFill>
                          <a:effectLst/>
                          <a:latin typeface="+mj-lt"/>
                        </a:rPr>
                        <a:t>Comentários</a:t>
                      </a:r>
                    </a:p>
                  </a:txBody>
                  <a:tcPr marL="2739" marR="2739" marT="2739" marB="0" anchor="ctr"/>
                </a:tc>
                <a:tc>
                  <a:txBody>
                    <a:bodyPr/>
                    <a:lstStyle/>
                    <a:p>
                      <a:pPr algn="ctr" rtl="0" fontAlgn="ctr"/>
                      <a:r>
                        <a:rPr lang="pt-BR" sz="700" b="1" i="0" u="none" strike="noStrike" dirty="0">
                          <a:solidFill>
                            <a:schemeClr val="tx1"/>
                          </a:solidFill>
                          <a:effectLst/>
                          <a:latin typeface="+mj-lt"/>
                        </a:rPr>
                        <a:t>Link para tese</a:t>
                      </a:r>
                    </a:p>
                  </a:txBody>
                  <a:tcPr marL="2739" marR="2739" marT="2739" marB="0" anchor="ctr"/>
                </a:tc>
                <a:extLst>
                  <a:ext uri="{0D108BD9-81ED-4DB2-BD59-A6C34878D82A}">
                    <a16:rowId xmlns:a16="http://schemas.microsoft.com/office/drawing/2014/main" val="3107392619"/>
                  </a:ext>
                </a:extLst>
              </a:tr>
              <a:tr h="285933">
                <a:tc>
                  <a:txBody>
                    <a:bodyPr/>
                    <a:lstStyle/>
                    <a:p>
                      <a:pPr algn="ctr" fontAlgn="ctr">
                        <a:buNone/>
                      </a:pPr>
                      <a:r>
                        <a:rPr lang="pt-BR" sz="700" b="0" i="0" u="none" strike="noStrike" dirty="0">
                          <a:solidFill>
                            <a:srgbClr val="000000"/>
                          </a:solidFill>
                          <a:effectLst/>
                          <a:latin typeface="Roboto Light" panose="02000000000000000000" pitchFamily="2" charset="0"/>
                        </a:rPr>
                        <a:t>Petrobras</a:t>
                      </a:r>
                    </a:p>
                  </a:txBody>
                  <a:tcPr marL="4409" marR="4409" marT="4409" marB="0" anchor="ctr"/>
                </a:tc>
                <a:tc>
                  <a:txBody>
                    <a:bodyPr/>
                    <a:lstStyle/>
                    <a:p>
                      <a:pPr algn="ctr" fontAlgn="ctr">
                        <a:buNone/>
                      </a:pPr>
                      <a:r>
                        <a:rPr lang="pt-BR" sz="700" b="0" i="0" u="none" strike="noStrike" dirty="0">
                          <a:solidFill>
                            <a:srgbClr val="000000"/>
                          </a:solidFill>
                          <a:effectLst/>
                          <a:latin typeface="Roboto Light" panose="02000000000000000000" pitchFamily="2" charset="0"/>
                        </a:rPr>
                        <a:t>PETR4</a:t>
                      </a:r>
                    </a:p>
                  </a:txBody>
                  <a:tcPr marL="4409" marR="4409" marT="4409" marB="0" anchor="ctr"/>
                </a:tc>
                <a:tc>
                  <a:txBody>
                    <a:bodyPr/>
                    <a:lstStyle/>
                    <a:p>
                      <a:pPr algn="ctr" fontAlgn="ctr">
                        <a:buNone/>
                      </a:pPr>
                      <a:r>
                        <a:rPr lang="pt-BR" sz="700" b="0" i="0" u="none" strike="noStrike" dirty="0">
                          <a:solidFill>
                            <a:srgbClr val="000000"/>
                          </a:solidFill>
                          <a:effectLst/>
                          <a:latin typeface="Roboto Light" panose="02000000000000000000" pitchFamily="2" charset="0"/>
                        </a:rPr>
                        <a:t>10,0%</a:t>
                      </a:r>
                    </a:p>
                  </a:txBody>
                  <a:tcPr marL="4409" marR="4409" marT="4409" marB="0" anchor="ctr"/>
                </a:tc>
                <a:tc>
                  <a:txBody>
                    <a:bodyPr/>
                    <a:lstStyle/>
                    <a:p>
                      <a:pPr algn="ctr" fontAlgn="ctr">
                        <a:buNone/>
                      </a:pPr>
                      <a:r>
                        <a:rPr lang="pt-BR" sz="700" b="0" i="0" u="none" strike="noStrike" dirty="0">
                          <a:solidFill>
                            <a:srgbClr val="000000"/>
                          </a:solidFill>
                          <a:effectLst/>
                          <a:latin typeface="Roboto Light" panose="02000000000000000000" pitchFamily="2" charset="0"/>
                        </a:rPr>
                        <a:t>Compra</a:t>
                      </a:r>
                    </a:p>
                  </a:txBody>
                  <a:tcPr marL="4409" marR="4409" marT="4409" marB="0" anchor="ctr"/>
                </a:tc>
                <a:tc>
                  <a:txBody>
                    <a:bodyPr/>
                    <a:lstStyle/>
                    <a:p>
                      <a:pPr algn="ctr" fontAlgn="ctr">
                        <a:buNone/>
                      </a:pPr>
                      <a:r>
                        <a:rPr lang="pt-BR" sz="700" b="0" i="0" u="none" strike="noStrike" dirty="0">
                          <a:solidFill>
                            <a:srgbClr val="000000"/>
                          </a:solidFill>
                          <a:effectLst/>
                          <a:latin typeface="Roboto Light" panose="02000000000000000000" pitchFamily="2" charset="0"/>
                        </a:rPr>
                        <a:t>R$ 63,00</a:t>
                      </a:r>
                    </a:p>
                  </a:txBody>
                  <a:tcPr marL="4409" marR="4409" marT="4409" marB="0" anchor="ctr"/>
                </a:tc>
                <a:tc>
                  <a:txBody>
                    <a:bodyPr/>
                    <a:lstStyle/>
                    <a:p>
                      <a:pPr algn="just" rtl="0" fontAlgn="b">
                        <a:lnSpc>
                          <a:spcPct val="100000"/>
                        </a:lnSpc>
                      </a:pPr>
                      <a:r>
                        <a:rPr lang="pt-BR" sz="700" dirty="0"/>
                        <a:t>Alta em julho. Ainda que os preços do petróleo tenham recuado, seguem em patamares relativamente elevados, o que sustenta nossa preferência pelo papel: a companhia oferece uma das melhores relações entre risco e retorno no setor e os retornos permanecem atrativos caso esse cenário se mantenha.</a:t>
                      </a:r>
                      <a:endParaRPr lang="pt-BR" sz="700" b="0" i="0" u="none" strike="noStrike" dirty="0">
                        <a:solidFill>
                          <a:srgbClr val="000000"/>
                        </a:solidFill>
                        <a:effectLst/>
                        <a:latin typeface="+mj-lt"/>
                      </a:endParaRPr>
                    </a:p>
                  </a:txBody>
                  <a:tcPr marL="36000" anchor="ctr"/>
                </a:tc>
                <a:tc>
                  <a:txBody>
                    <a:bodyPr/>
                    <a:lstStyle/>
                    <a:p>
                      <a:pPr marL="0" marR="0" lvl="0" indent="0" algn="ctr" defTabSz="685808" rtl="0" eaLnBrk="1" fontAlgn="auto" latinLnBrk="0" hangingPunct="1">
                        <a:lnSpc>
                          <a:spcPct val="100000"/>
                        </a:lnSpc>
                        <a:spcBef>
                          <a:spcPts val="0"/>
                        </a:spcBef>
                        <a:spcAft>
                          <a:spcPts val="0"/>
                        </a:spcAft>
                        <a:buClrTx/>
                        <a:buSzTx/>
                        <a:buFontTx/>
                        <a:buNone/>
                        <a:tabLst/>
                        <a:defRPr/>
                      </a:pPr>
                      <a:r>
                        <a:rPr lang="pt-BR" sz="700" b="1" i="0" dirty="0">
                          <a:latin typeface="+mj-lt"/>
                          <a:ea typeface="Roboto Light" panose="02000000000000000000" pitchFamily="2" charset="0"/>
                          <a:cs typeface="Roboto Light" panose="02000000000000000000" pitchFamily="2" charset="0"/>
                          <a:hlinkClick r:id="rId3"/>
                        </a:rPr>
                        <a:t>Clique aqui</a:t>
                      </a:r>
                      <a:endParaRPr lang="pt-BR" sz="700" i="0" dirty="0">
                        <a:latin typeface="+mj-lt"/>
                      </a:endParaRPr>
                    </a:p>
                  </a:txBody>
                  <a:tcPr anchor="ctr"/>
                </a:tc>
                <a:extLst>
                  <a:ext uri="{0D108BD9-81ED-4DB2-BD59-A6C34878D82A}">
                    <a16:rowId xmlns:a16="http://schemas.microsoft.com/office/drawing/2014/main" val="2605982814"/>
                  </a:ext>
                </a:extLst>
              </a:tr>
              <a:tr h="285933">
                <a:tc>
                  <a:txBody>
                    <a:bodyPr/>
                    <a:lstStyle/>
                    <a:p>
                      <a:pPr algn="ctr" fontAlgn="ctr">
                        <a:buNone/>
                      </a:pPr>
                      <a:r>
                        <a:rPr lang="pt-BR" sz="700" b="0" i="0" u="none" strike="noStrike" dirty="0">
                          <a:solidFill>
                            <a:srgbClr val="000000"/>
                          </a:solidFill>
                          <a:effectLst/>
                          <a:latin typeface="Roboto Light" panose="02000000000000000000" pitchFamily="2" charset="0"/>
                        </a:rPr>
                        <a:t>PRIO</a:t>
                      </a:r>
                    </a:p>
                  </a:txBody>
                  <a:tcPr marL="4409" marR="4409" marT="4409" marB="0" anchor="ctr"/>
                </a:tc>
                <a:tc>
                  <a:txBody>
                    <a:bodyPr/>
                    <a:lstStyle/>
                    <a:p>
                      <a:pPr algn="ctr" fontAlgn="ctr">
                        <a:buNone/>
                      </a:pPr>
                      <a:r>
                        <a:rPr lang="pt-BR" sz="700" b="0" i="0" u="none" strike="noStrike" dirty="0">
                          <a:solidFill>
                            <a:srgbClr val="000000"/>
                          </a:solidFill>
                          <a:effectLst/>
                          <a:latin typeface="Roboto Light" panose="02000000000000000000" pitchFamily="2" charset="0"/>
                        </a:rPr>
                        <a:t>PRIO3</a:t>
                      </a:r>
                    </a:p>
                  </a:txBody>
                  <a:tcPr marL="4409" marR="4409" marT="4409" marB="0" anchor="ctr"/>
                </a:tc>
                <a:tc>
                  <a:txBody>
                    <a:bodyPr/>
                    <a:lstStyle/>
                    <a:p>
                      <a:pPr algn="ctr" fontAlgn="ctr">
                        <a:buNone/>
                      </a:pPr>
                      <a:r>
                        <a:rPr lang="pt-BR" sz="700" b="0" i="0" u="none" strike="noStrike" dirty="0">
                          <a:solidFill>
                            <a:srgbClr val="000000"/>
                          </a:solidFill>
                          <a:effectLst/>
                          <a:latin typeface="Roboto Light" panose="02000000000000000000" pitchFamily="2" charset="0"/>
                        </a:rPr>
                        <a:t>5,0%</a:t>
                      </a:r>
                    </a:p>
                  </a:txBody>
                  <a:tcPr marL="4409" marR="4409" marT="4409" marB="0" anchor="ctr"/>
                </a:tc>
                <a:tc>
                  <a:txBody>
                    <a:bodyPr/>
                    <a:lstStyle/>
                    <a:p>
                      <a:pPr algn="ctr" fontAlgn="ctr">
                        <a:buNone/>
                      </a:pPr>
                      <a:r>
                        <a:rPr lang="pt-BR" sz="700" b="0" i="0" u="none" strike="noStrike" dirty="0">
                          <a:solidFill>
                            <a:srgbClr val="000000"/>
                          </a:solidFill>
                          <a:effectLst/>
                          <a:latin typeface="Roboto Light" panose="02000000000000000000" pitchFamily="2" charset="0"/>
                        </a:rPr>
                        <a:t>Compra</a:t>
                      </a:r>
                    </a:p>
                  </a:txBody>
                  <a:tcPr marL="4409" marR="4409" marT="4409" marB="0" anchor="ctr"/>
                </a:tc>
                <a:tc>
                  <a:txBody>
                    <a:bodyPr/>
                    <a:lstStyle/>
                    <a:p>
                      <a:pPr algn="ctr" fontAlgn="ctr">
                        <a:buNone/>
                      </a:pPr>
                      <a:r>
                        <a:rPr lang="pt-BR" sz="700" b="0" i="0" u="none" strike="noStrike" dirty="0">
                          <a:solidFill>
                            <a:srgbClr val="000000"/>
                          </a:solidFill>
                          <a:effectLst/>
                          <a:latin typeface="Roboto Light" panose="02000000000000000000" pitchFamily="2" charset="0"/>
                        </a:rPr>
                        <a:t>R$ 78,00</a:t>
                      </a:r>
                    </a:p>
                  </a:txBody>
                  <a:tcPr marL="4409" marR="4409" marT="4409" marB="0" anchor="ctr"/>
                </a:tc>
                <a:tc>
                  <a:txBody>
                    <a:bodyPr/>
                    <a:lstStyle/>
                    <a:p>
                      <a:pPr marL="0" marR="0" lvl="0" indent="0" algn="just" defTabSz="685808" rtl="0" eaLnBrk="1" fontAlgn="auto" latinLnBrk="0" hangingPunct="1">
                        <a:lnSpc>
                          <a:spcPct val="100000"/>
                        </a:lnSpc>
                        <a:spcBef>
                          <a:spcPts val="0"/>
                        </a:spcBef>
                        <a:spcAft>
                          <a:spcPts val="0"/>
                        </a:spcAft>
                        <a:buClrTx/>
                        <a:buSzTx/>
                        <a:buFontTx/>
                        <a:buNone/>
                        <a:tabLst/>
                        <a:defRPr/>
                      </a:pPr>
                      <a:r>
                        <a:rPr lang="pt-BR" sz="700" dirty="0"/>
                        <a:t>Alta em julho. A PRIO segue como nossa principal preferência em óleo e gás: mesmo com o recuo recente do petróleo, os preços continuam em patamares relativamente elevados e esperamos forte geração de caixa em 2026. A companhia atingiu níveis recordes de produção, impulsionados sobretudo pela entrada em regime do campo de Wahoo.</a:t>
                      </a:r>
                      <a:endParaRPr lang="pt-BR" sz="700" i="0" dirty="0">
                        <a:latin typeface="+mj-lt"/>
                      </a:endParaRPr>
                    </a:p>
                  </a:txBody>
                  <a:tcPr marL="36000" anchor="ctr"/>
                </a:tc>
                <a:tc>
                  <a:txBody>
                    <a:bodyPr/>
                    <a:lstStyle/>
                    <a:p>
                      <a:pPr marL="0" marR="0" lvl="0" indent="0" algn="ctr" defTabSz="685808" rtl="0" eaLnBrk="1" fontAlgn="auto" latinLnBrk="0" hangingPunct="1">
                        <a:lnSpc>
                          <a:spcPct val="100000"/>
                        </a:lnSpc>
                        <a:spcBef>
                          <a:spcPts val="0"/>
                        </a:spcBef>
                        <a:spcAft>
                          <a:spcPts val="0"/>
                        </a:spcAft>
                        <a:buClrTx/>
                        <a:buSzTx/>
                        <a:buFontTx/>
                        <a:buNone/>
                        <a:tabLst/>
                        <a:defRPr/>
                      </a:pPr>
                      <a:r>
                        <a:rPr lang="pt-BR" sz="700" b="1" i="0" dirty="0">
                          <a:latin typeface="+mj-lt"/>
                          <a:ea typeface="Roboto Light" panose="02000000000000000000" pitchFamily="2" charset="0"/>
                          <a:cs typeface="Roboto Light" panose="02000000000000000000" pitchFamily="2" charset="0"/>
                          <a:hlinkClick r:id="rId4"/>
                        </a:rPr>
                        <a:t>Clique aqui</a:t>
                      </a:r>
                      <a:endParaRPr lang="pt-BR" sz="700" i="0" dirty="0">
                        <a:latin typeface="+mj-lt"/>
                      </a:endParaRPr>
                    </a:p>
                  </a:txBody>
                  <a:tcPr anchor="ctr"/>
                </a:tc>
                <a:extLst>
                  <a:ext uri="{0D108BD9-81ED-4DB2-BD59-A6C34878D82A}">
                    <a16:rowId xmlns:a16="http://schemas.microsoft.com/office/drawing/2014/main" val="1862565642"/>
                  </a:ext>
                </a:extLst>
              </a:tr>
              <a:tr h="407735">
                <a:tc>
                  <a:txBody>
                    <a:bodyPr/>
                    <a:lstStyle/>
                    <a:p>
                      <a:pPr algn="ctr" fontAlgn="ctr">
                        <a:buNone/>
                      </a:pPr>
                      <a:r>
                        <a:rPr lang="pt-BR" sz="700" b="0" i="0" u="none" strike="noStrike" dirty="0">
                          <a:solidFill>
                            <a:srgbClr val="000000"/>
                          </a:solidFill>
                          <a:effectLst/>
                          <a:latin typeface="Roboto Light" panose="02000000000000000000" pitchFamily="2" charset="0"/>
                        </a:rPr>
                        <a:t>Gerdau</a:t>
                      </a:r>
                    </a:p>
                  </a:txBody>
                  <a:tcPr marL="4409" marR="4409" marT="4409" marB="0" anchor="ctr"/>
                </a:tc>
                <a:tc>
                  <a:txBody>
                    <a:bodyPr/>
                    <a:lstStyle/>
                    <a:p>
                      <a:pPr algn="ctr" fontAlgn="ctr">
                        <a:buNone/>
                      </a:pPr>
                      <a:r>
                        <a:rPr lang="pt-BR" sz="700" b="0" i="0" u="none" strike="noStrike" dirty="0">
                          <a:solidFill>
                            <a:srgbClr val="000000"/>
                          </a:solidFill>
                          <a:effectLst/>
                          <a:latin typeface="Roboto Light" panose="02000000000000000000" pitchFamily="2" charset="0"/>
                        </a:rPr>
                        <a:t>GGBR4</a:t>
                      </a:r>
                    </a:p>
                  </a:txBody>
                  <a:tcPr marL="4409" marR="4409" marT="4409" marB="0" anchor="ctr"/>
                </a:tc>
                <a:tc>
                  <a:txBody>
                    <a:bodyPr/>
                    <a:lstStyle/>
                    <a:p>
                      <a:pPr algn="ctr" fontAlgn="ctr">
                        <a:buNone/>
                      </a:pPr>
                      <a:r>
                        <a:rPr lang="pt-BR" sz="700" b="0" i="0" u="none" strike="noStrike" dirty="0">
                          <a:solidFill>
                            <a:srgbClr val="000000"/>
                          </a:solidFill>
                          <a:effectLst/>
                          <a:latin typeface="Roboto Light" panose="02000000000000000000" pitchFamily="2" charset="0"/>
                        </a:rPr>
                        <a:t>10,0%</a:t>
                      </a:r>
                    </a:p>
                  </a:txBody>
                  <a:tcPr marL="4409" marR="4409" marT="4409" marB="0" anchor="ctr"/>
                </a:tc>
                <a:tc>
                  <a:txBody>
                    <a:bodyPr/>
                    <a:lstStyle/>
                    <a:p>
                      <a:pPr algn="ctr" fontAlgn="ctr">
                        <a:buNone/>
                      </a:pPr>
                      <a:r>
                        <a:rPr lang="pt-BR" sz="700" b="0" i="0" u="none" strike="noStrike" dirty="0">
                          <a:solidFill>
                            <a:srgbClr val="000000"/>
                          </a:solidFill>
                          <a:effectLst/>
                          <a:latin typeface="Roboto Light" panose="02000000000000000000" pitchFamily="2" charset="0"/>
                        </a:rPr>
                        <a:t>Compra</a:t>
                      </a:r>
                    </a:p>
                  </a:txBody>
                  <a:tcPr marL="4409" marR="4409" marT="4409" marB="0" anchor="ctr"/>
                </a:tc>
                <a:tc>
                  <a:txBody>
                    <a:bodyPr/>
                    <a:lstStyle/>
                    <a:p>
                      <a:pPr algn="ctr" fontAlgn="ctr">
                        <a:buNone/>
                      </a:pPr>
                      <a:r>
                        <a:rPr lang="pt-BR" sz="700" b="0" i="0" u="none" strike="noStrike" dirty="0">
                          <a:solidFill>
                            <a:srgbClr val="000000"/>
                          </a:solidFill>
                          <a:effectLst/>
                          <a:latin typeface="Roboto Light" panose="02000000000000000000" pitchFamily="2" charset="0"/>
                        </a:rPr>
                        <a:t>R$ 28,00</a:t>
                      </a:r>
                    </a:p>
                  </a:txBody>
                  <a:tcPr marL="4409" marR="4409" marT="4409" marB="0" anchor="ctr"/>
                </a:tc>
                <a:tc>
                  <a:txBody>
                    <a:bodyPr/>
                    <a:lstStyle/>
                    <a:p>
                      <a:pPr marL="0" marR="0" lvl="0" indent="0" algn="just" defTabSz="685808" rtl="0" eaLnBrk="1" fontAlgn="auto" latinLnBrk="0" hangingPunct="1">
                        <a:lnSpc>
                          <a:spcPct val="100000"/>
                        </a:lnSpc>
                        <a:spcBef>
                          <a:spcPts val="0"/>
                        </a:spcBef>
                        <a:spcAft>
                          <a:spcPts val="0"/>
                        </a:spcAft>
                        <a:buClrTx/>
                        <a:buSzTx/>
                        <a:buFontTx/>
                        <a:buNone/>
                        <a:tabLst/>
                        <a:defRPr/>
                      </a:pPr>
                      <a:r>
                        <a:rPr lang="pt-BR" sz="700" i="0" dirty="0">
                          <a:latin typeface="+mj-lt"/>
                        </a:rPr>
                        <a:t>Alta em julho, refletindo um pano de fundo operacional mais construtivo, puxado pela melhora dos fundamentos na América do Norte. No Brasil, as medidas antidumping vêm sustentando a recuperação dos preços de aços planos; nos Estados Unidos, a menor importação e preços mais favoráveis seguem apoiando a rentabilidade. Segue nossa preferência no setor.</a:t>
                      </a:r>
                    </a:p>
                  </a:txBody>
                  <a:tcPr marL="36000" anchor="ctr"/>
                </a:tc>
                <a:tc>
                  <a:txBody>
                    <a:bodyPr/>
                    <a:lstStyle/>
                    <a:p>
                      <a:pPr marL="0" marR="0" lvl="0" indent="0" algn="ctr" defTabSz="685808" rtl="0" eaLnBrk="1" fontAlgn="auto" latinLnBrk="0" hangingPunct="1">
                        <a:lnSpc>
                          <a:spcPct val="100000"/>
                        </a:lnSpc>
                        <a:spcBef>
                          <a:spcPts val="0"/>
                        </a:spcBef>
                        <a:spcAft>
                          <a:spcPts val="0"/>
                        </a:spcAft>
                        <a:buClrTx/>
                        <a:buSzTx/>
                        <a:buFontTx/>
                        <a:buNone/>
                        <a:tabLst/>
                        <a:defRPr/>
                      </a:pPr>
                      <a:r>
                        <a:rPr lang="pt-BR" sz="700" b="1" i="0" kern="1200" dirty="0">
                          <a:solidFill>
                            <a:schemeClr val="tx1"/>
                          </a:solidFill>
                          <a:latin typeface="+mj-lt"/>
                          <a:ea typeface="Roboto Light" panose="02000000000000000000" pitchFamily="2" charset="0"/>
                          <a:cs typeface="Roboto Light" panose="02000000000000000000" pitchFamily="2" charset="0"/>
                          <a:hlinkClick r:id="rId5"/>
                        </a:rPr>
                        <a:t>Clique aqui</a:t>
                      </a:r>
                      <a:endParaRPr lang="pt-BR" sz="700" i="0" kern="1200" dirty="0">
                        <a:solidFill>
                          <a:schemeClr val="tx1"/>
                        </a:solidFill>
                        <a:latin typeface="+mj-lt"/>
                        <a:ea typeface="+mn-ea"/>
                        <a:cs typeface="+mn-cs"/>
                      </a:endParaRPr>
                    </a:p>
                  </a:txBody>
                  <a:tcPr anchor="ctr"/>
                </a:tc>
                <a:extLst>
                  <a:ext uri="{0D108BD9-81ED-4DB2-BD59-A6C34878D82A}">
                    <a16:rowId xmlns:a16="http://schemas.microsoft.com/office/drawing/2014/main" val="131953208"/>
                  </a:ext>
                </a:extLst>
              </a:tr>
              <a:tr h="285933">
                <a:tc>
                  <a:txBody>
                    <a:bodyPr/>
                    <a:lstStyle/>
                    <a:p>
                      <a:pPr algn="ctr" fontAlgn="ctr">
                        <a:buNone/>
                      </a:pPr>
                      <a:r>
                        <a:rPr lang="pt-BR" sz="700" b="0" i="0" u="none" strike="noStrike" dirty="0">
                          <a:solidFill>
                            <a:srgbClr val="000000"/>
                          </a:solidFill>
                          <a:effectLst/>
                          <a:latin typeface="Roboto Light" panose="02000000000000000000" pitchFamily="2" charset="0"/>
                        </a:rPr>
                        <a:t>Vale</a:t>
                      </a:r>
                    </a:p>
                  </a:txBody>
                  <a:tcPr marL="4409" marR="4409" marT="4409" marB="0" anchor="ctr"/>
                </a:tc>
                <a:tc>
                  <a:txBody>
                    <a:bodyPr/>
                    <a:lstStyle/>
                    <a:p>
                      <a:pPr algn="ctr" fontAlgn="ctr">
                        <a:buNone/>
                      </a:pPr>
                      <a:r>
                        <a:rPr lang="pt-BR" sz="700" b="0" i="0" u="none" strike="noStrike" dirty="0">
                          <a:solidFill>
                            <a:srgbClr val="000000"/>
                          </a:solidFill>
                          <a:effectLst/>
                          <a:latin typeface="Roboto Light" panose="02000000000000000000" pitchFamily="2" charset="0"/>
                        </a:rPr>
                        <a:t>VALE3</a:t>
                      </a:r>
                    </a:p>
                  </a:txBody>
                  <a:tcPr marL="4409" marR="4409" marT="4409" marB="0" anchor="ctr"/>
                </a:tc>
                <a:tc>
                  <a:txBody>
                    <a:bodyPr/>
                    <a:lstStyle/>
                    <a:p>
                      <a:pPr algn="ctr" fontAlgn="ctr">
                        <a:buNone/>
                      </a:pPr>
                      <a:r>
                        <a:rPr lang="pt-BR" sz="700" b="0" i="0" u="none" strike="noStrike" dirty="0">
                          <a:solidFill>
                            <a:srgbClr val="000000"/>
                          </a:solidFill>
                          <a:effectLst/>
                          <a:latin typeface="Roboto Light" panose="02000000000000000000" pitchFamily="2" charset="0"/>
                        </a:rPr>
                        <a:t>5,0%</a:t>
                      </a:r>
                    </a:p>
                  </a:txBody>
                  <a:tcPr marL="4409" marR="4409" marT="4409" marB="0" anchor="ctr"/>
                </a:tc>
                <a:tc>
                  <a:txBody>
                    <a:bodyPr/>
                    <a:lstStyle/>
                    <a:p>
                      <a:pPr algn="ctr" fontAlgn="ctr">
                        <a:buNone/>
                      </a:pPr>
                      <a:r>
                        <a:rPr lang="pt-BR" sz="700" b="0" i="0" u="none" strike="noStrike" dirty="0">
                          <a:solidFill>
                            <a:srgbClr val="000000"/>
                          </a:solidFill>
                          <a:effectLst/>
                          <a:latin typeface="Roboto Light" panose="02000000000000000000" pitchFamily="2" charset="0"/>
                        </a:rPr>
                        <a:t>Neutro</a:t>
                      </a:r>
                    </a:p>
                  </a:txBody>
                  <a:tcPr marL="4409" marR="4409" marT="4409" marB="0" anchor="ctr"/>
                </a:tc>
                <a:tc>
                  <a:txBody>
                    <a:bodyPr/>
                    <a:lstStyle/>
                    <a:p>
                      <a:pPr algn="ctr" fontAlgn="ctr">
                        <a:buNone/>
                      </a:pPr>
                      <a:r>
                        <a:rPr lang="pt-BR" sz="700" b="0" i="0" u="none" strike="noStrike" dirty="0">
                          <a:solidFill>
                            <a:srgbClr val="000000"/>
                          </a:solidFill>
                          <a:effectLst/>
                          <a:latin typeface="Roboto Light" panose="02000000000000000000" pitchFamily="2" charset="0"/>
                        </a:rPr>
                        <a:t>R$ 85,00</a:t>
                      </a:r>
                    </a:p>
                  </a:txBody>
                  <a:tcPr marL="4409" marR="4409" marT="4409" marB="0" anchor="ctr"/>
                </a:tc>
                <a:tc>
                  <a:txBody>
                    <a:bodyPr/>
                    <a:lstStyle/>
                    <a:p>
                      <a:pPr marL="0" marR="0" lvl="0" indent="0" algn="just" defTabSz="685808" rtl="0" eaLnBrk="1" fontAlgn="auto" latinLnBrk="0" hangingPunct="1">
                        <a:lnSpc>
                          <a:spcPct val="100000"/>
                        </a:lnSpc>
                        <a:spcBef>
                          <a:spcPts val="0"/>
                        </a:spcBef>
                        <a:spcAft>
                          <a:spcPts val="0"/>
                        </a:spcAft>
                        <a:buClrTx/>
                        <a:buSzTx/>
                        <a:buFontTx/>
                        <a:buNone/>
                        <a:tabLst/>
                        <a:defRPr/>
                      </a:pPr>
                      <a:r>
                        <a:rPr lang="pt-BR" sz="700" i="0" dirty="0">
                          <a:latin typeface="+mj-lt"/>
                        </a:rPr>
                        <a:t>Queda em julho, refletindo a manutenção dos preços do minério de ferro próximos de US$ 100 por tonelada, ainda pressionados pela demanda mais fraca na China e por uma oferta confortável. Em contrapartida, o relatório de produção do 2T26 reforçou a sólida execução operacional, com embarques acima do esperado e bom desempenho em Metais Básicos.</a:t>
                      </a:r>
                    </a:p>
                  </a:txBody>
                  <a:tcPr marL="36000" anchor="ctr"/>
                </a:tc>
                <a:tc>
                  <a:txBody>
                    <a:bodyPr/>
                    <a:lstStyle/>
                    <a:p>
                      <a:pPr marL="0" marR="0" lvl="0" indent="0" algn="ctr" defTabSz="685808" rtl="0" eaLnBrk="1" fontAlgn="auto" latinLnBrk="0" hangingPunct="1">
                        <a:lnSpc>
                          <a:spcPct val="100000"/>
                        </a:lnSpc>
                        <a:spcBef>
                          <a:spcPts val="0"/>
                        </a:spcBef>
                        <a:spcAft>
                          <a:spcPts val="0"/>
                        </a:spcAft>
                        <a:buClrTx/>
                        <a:buSzTx/>
                        <a:buFontTx/>
                        <a:buNone/>
                        <a:tabLst/>
                        <a:defRPr/>
                      </a:pPr>
                      <a:r>
                        <a:rPr lang="pt-BR" sz="700" b="1" i="0" dirty="0">
                          <a:solidFill>
                            <a:schemeClr val="tx1"/>
                          </a:solidFill>
                          <a:latin typeface="+mj-lt"/>
                          <a:ea typeface="Roboto Light" panose="02000000000000000000" pitchFamily="2" charset="0"/>
                          <a:cs typeface="Roboto Light" panose="02000000000000000000" pitchFamily="2" charset="0"/>
                          <a:hlinkClick r:id="rId6"/>
                        </a:rPr>
                        <a:t>Clique aqui</a:t>
                      </a:r>
                      <a:endParaRPr lang="pt-BR" sz="700" i="0" dirty="0">
                        <a:solidFill>
                          <a:schemeClr val="tx1"/>
                        </a:solidFill>
                        <a:latin typeface="+mj-lt"/>
                      </a:endParaRPr>
                    </a:p>
                  </a:txBody>
                  <a:tcPr anchor="ctr"/>
                </a:tc>
                <a:extLst>
                  <a:ext uri="{0D108BD9-81ED-4DB2-BD59-A6C34878D82A}">
                    <a16:rowId xmlns:a16="http://schemas.microsoft.com/office/drawing/2014/main" val="1262842000"/>
                  </a:ext>
                </a:extLst>
              </a:tr>
              <a:tr h="285933">
                <a:tc>
                  <a:txBody>
                    <a:bodyPr/>
                    <a:lstStyle/>
                    <a:p>
                      <a:pPr algn="ctr" fontAlgn="ctr">
                        <a:buNone/>
                      </a:pPr>
                      <a:r>
                        <a:rPr lang="pt-BR" sz="700" b="0" i="0" u="none" strike="noStrike" dirty="0">
                          <a:solidFill>
                            <a:srgbClr val="000000"/>
                          </a:solidFill>
                          <a:effectLst/>
                          <a:latin typeface="Roboto Light" panose="02000000000000000000" pitchFamily="2" charset="0"/>
                        </a:rPr>
                        <a:t>Lojas Renner</a:t>
                      </a:r>
                    </a:p>
                  </a:txBody>
                  <a:tcPr marL="4409" marR="4409" marT="4409" marB="0" anchor="ctr"/>
                </a:tc>
                <a:tc>
                  <a:txBody>
                    <a:bodyPr/>
                    <a:lstStyle/>
                    <a:p>
                      <a:pPr algn="ctr" fontAlgn="ctr">
                        <a:buNone/>
                      </a:pPr>
                      <a:r>
                        <a:rPr lang="pt-BR" sz="700" b="0" i="0" u="none" strike="noStrike" dirty="0">
                          <a:solidFill>
                            <a:srgbClr val="000000"/>
                          </a:solidFill>
                          <a:effectLst/>
                          <a:latin typeface="Roboto Light" panose="02000000000000000000" pitchFamily="2" charset="0"/>
                        </a:rPr>
                        <a:t>LREN3</a:t>
                      </a:r>
                    </a:p>
                  </a:txBody>
                  <a:tcPr marL="4409" marR="4409" marT="4409" marB="0" anchor="ctr"/>
                </a:tc>
                <a:tc>
                  <a:txBody>
                    <a:bodyPr/>
                    <a:lstStyle/>
                    <a:p>
                      <a:pPr algn="ctr" fontAlgn="ctr">
                        <a:buNone/>
                      </a:pPr>
                      <a:r>
                        <a:rPr lang="pt-BR" sz="700" b="0" i="0" u="none" strike="noStrike" dirty="0">
                          <a:solidFill>
                            <a:srgbClr val="000000"/>
                          </a:solidFill>
                          <a:effectLst/>
                          <a:latin typeface="Roboto Light" panose="02000000000000000000" pitchFamily="2" charset="0"/>
                        </a:rPr>
                        <a:t>5,0%</a:t>
                      </a:r>
                    </a:p>
                  </a:txBody>
                  <a:tcPr marL="4409" marR="4409" marT="4409" marB="0" anchor="ctr"/>
                </a:tc>
                <a:tc>
                  <a:txBody>
                    <a:bodyPr/>
                    <a:lstStyle/>
                    <a:p>
                      <a:pPr algn="ctr" fontAlgn="ctr">
                        <a:buNone/>
                      </a:pPr>
                      <a:r>
                        <a:rPr lang="pt-BR" sz="700" b="0" i="0" u="none" strike="noStrike" dirty="0">
                          <a:solidFill>
                            <a:srgbClr val="000000"/>
                          </a:solidFill>
                          <a:effectLst/>
                          <a:latin typeface="Roboto Light" panose="02000000000000000000" pitchFamily="2" charset="0"/>
                        </a:rPr>
                        <a:t>Compra</a:t>
                      </a:r>
                    </a:p>
                  </a:txBody>
                  <a:tcPr marL="4409" marR="4409" marT="4409" marB="0" anchor="ctr"/>
                </a:tc>
                <a:tc>
                  <a:txBody>
                    <a:bodyPr/>
                    <a:lstStyle/>
                    <a:p>
                      <a:pPr algn="ctr" fontAlgn="ctr">
                        <a:buNone/>
                      </a:pPr>
                      <a:r>
                        <a:rPr lang="pt-BR" sz="700" b="0" i="0" u="none" strike="noStrike" dirty="0">
                          <a:solidFill>
                            <a:srgbClr val="000000"/>
                          </a:solidFill>
                          <a:effectLst/>
                          <a:latin typeface="Roboto Light" panose="02000000000000000000" pitchFamily="2" charset="0"/>
                        </a:rPr>
                        <a:t>R$ 22,00</a:t>
                      </a:r>
                    </a:p>
                  </a:txBody>
                  <a:tcPr marL="4409" marR="4409" marT="4409" marB="0" anchor="ctr"/>
                </a:tc>
                <a:tc>
                  <a:txBody>
                    <a:bodyPr/>
                    <a:lstStyle/>
                    <a:p>
                      <a:pPr marL="0" marR="0" lvl="0" indent="0" algn="just" defTabSz="685808" rtl="0" eaLnBrk="1" fontAlgn="auto" latinLnBrk="0" hangingPunct="1">
                        <a:lnSpc>
                          <a:spcPct val="100000"/>
                        </a:lnSpc>
                        <a:spcBef>
                          <a:spcPts val="0"/>
                        </a:spcBef>
                        <a:spcAft>
                          <a:spcPts val="0"/>
                        </a:spcAft>
                        <a:buClrTx/>
                        <a:buSzTx/>
                        <a:buFontTx/>
                        <a:buNone/>
                        <a:tabLst/>
                        <a:defRPr/>
                      </a:pPr>
                      <a:r>
                        <a:rPr lang="pt-BR" sz="700" i="0" dirty="0">
                          <a:latin typeface="+mj-lt"/>
                        </a:rPr>
                        <a:t>Queda em julho. O movimento reflete sobretudo a preocupação com os efeitos da taxação das encomendas internacionais de baixo valor sobre o vestuário, somada a uma base de comparação difícil no 2T25. Seguimos confiantes na tese, com espaço para expansão de margem e geração de caixa no segundo semestre.</a:t>
                      </a:r>
                    </a:p>
                  </a:txBody>
                  <a:tcPr marL="36000" anchor="ctr"/>
                </a:tc>
                <a:tc>
                  <a:txBody>
                    <a:bodyPr/>
                    <a:lstStyle/>
                    <a:p>
                      <a:pPr marL="0" marR="0" lvl="0" indent="0" algn="ctr" defTabSz="685808" rtl="0" eaLnBrk="1" fontAlgn="auto" latinLnBrk="0" hangingPunct="1">
                        <a:lnSpc>
                          <a:spcPct val="100000"/>
                        </a:lnSpc>
                        <a:spcBef>
                          <a:spcPts val="0"/>
                        </a:spcBef>
                        <a:spcAft>
                          <a:spcPts val="0"/>
                        </a:spcAft>
                        <a:buClrTx/>
                        <a:buSzTx/>
                        <a:buFontTx/>
                        <a:buNone/>
                        <a:tabLst/>
                        <a:defRPr/>
                      </a:pPr>
                      <a:r>
                        <a:rPr lang="pt-BR" sz="700" b="1" i="0" dirty="0">
                          <a:latin typeface="+mj-lt"/>
                          <a:ea typeface="Roboto Light" panose="02000000000000000000" pitchFamily="2" charset="0"/>
                          <a:cs typeface="Roboto Light" panose="02000000000000000000" pitchFamily="2" charset="0"/>
                          <a:hlinkClick r:id="rId7"/>
                        </a:rPr>
                        <a:t>Clique aqui</a:t>
                      </a:r>
                      <a:endParaRPr lang="pt-BR" sz="700" i="0" dirty="0">
                        <a:latin typeface="+mj-lt"/>
                      </a:endParaRPr>
                    </a:p>
                  </a:txBody>
                  <a:tcPr anchor="ctr"/>
                </a:tc>
                <a:extLst>
                  <a:ext uri="{0D108BD9-81ED-4DB2-BD59-A6C34878D82A}">
                    <a16:rowId xmlns:a16="http://schemas.microsoft.com/office/drawing/2014/main" val="281520302"/>
                  </a:ext>
                </a:extLst>
              </a:tr>
              <a:tr h="386009">
                <a:tc>
                  <a:txBody>
                    <a:bodyPr/>
                    <a:lstStyle/>
                    <a:p>
                      <a:pPr algn="ctr" fontAlgn="ctr">
                        <a:buNone/>
                      </a:pPr>
                      <a:r>
                        <a:rPr lang="pt-BR" sz="700" b="0" i="0" u="none" strike="noStrike" dirty="0">
                          <a:solidFill>
                            <a:srgbClr val="000000"/>
                          </a:solidFill>
                          <a:effectLst/>
                          <a:latin typeface="Roboto Light" panose="02000000000000000000" pitchFamily="2" charset="0"/>
                        </a:rPr>
                        <a:t>Embraer</a:t>
                      </a:r>
                    </a:p>
                  </a:txBody>
                  <a:tcPr marL="4409" marR="4409" marT="4409" marB="0" anchor="ctr"/>
                </a:tc>
                <a:tc>
                  <a:txBody>
                    <a:bodyPr/>
                    <a:lstStyle/>
                    <a:p>
                      <a:pPr algn="ctr" fontAlgn="ctr">
                        <a:buNone/>
                      </a:pPr>
                      <a:r>
                        <a:rPr lang="pt-BR" sz="700" b="0" i="0" u="none" strike="noStrike" dirty="0">
                          <a:solidFill>
                            <a:srgbClr val="000000"/>
                          </a:solidFill>
                          <a:effectLst/>
                          <a:latin typeface="Roboto Light" panose="02000000000000000000" pitchFamily="2" charset="0"/>
                        </a:rPr>
                        <a:t>EMBJ3</a:t>
                      </a:r>
                    </a:p>
                  </a:txBody>
                  <a:tcPr marL="4409" marR="4409" marT="4409" marB="0" anchor="ctr"/>
                </a:tc>
                <a:tc>
                  <a:txBody>
                    <a:bodyPr/>
                    <a:lstStyle/>
                    <a:p>
                      <a:pPr algn="ctr" fontAlgn="ctr">
                        <a:buNone/>
                      </a:pPr>
                      <a:r>
                        <a:rPr lang="pt-BR" sz="700" b="0" i="0" u="none" strike="noStrike" dirty="0">
                          <a:solidFill>
                            <a:srgbClr val="000000"/>
                          </a:solidFill>
                          <a:effectLst/>
                          <a:latin typeface="Roboto Light" panose="02000000000000000000" pitchFamily="2" charset="0"/>
                        </a:rPr>
                        <a:t>10,0%</a:t>
                      </a:r>
                    </a:p>
                  </a:txBody>
                  <a:tcPr marL="4409" marR="4409" marT="4409" marB="0" anchor="ctr"/>
                </a:tc>
                <a:tc>
                  <a:txBody>
                    <a:bodyPr/>
                    <a:lstStyle/>
                    <a:p>
                      <a:pPr algn="ctr" fontAlgn="ctr">
                        <a:buNone/>
                      </a:pPr>
                      <a:r>
                        <a:rPr lang="pt-BR" sz="700" b="0" i="0" u="none" strike="noStrike" dirty="0">
                          <a:solidFill>
                            <a:srgbClr val="000000"/>
                          </a:solidFill>
                          <a:effectLst/>
                          <a:latin typeface="Roboto Light" panose="02000000000000000000" pitchFamily="2" charset="0"/>
                        </a:rPr>
                        <a:t>Compra</a:t>
                      </a:r>
                    </a:p>
                  </a:txBody>
                  <a:tcPr marL="4409" marR="4409" marT="4409" marB="0" anchor="ctr"/>
                </a:tc>
                <a:tc>
                  <a:txBody>
                    <a:bodyPr/>
                    <a:lstStyle/>
                    <a:p>
                      <a:pPr algn="ctr" fontAlgn="ctr">
                        <a:buNone/>
                      </a:pPr>
                      <a:r>
                        <a:rPr lang="pt-BR" sz="700" b="0" i="0" u="none" strike="noStrike" dirty="0">
                          <a:solidFill>
                            <a:srgbClr val="000000"/>
                          </a:solidFill>
                          <a:effectLst/>
                          <a:latin typeface="Roboto Light" panose="02000000000000000000" pitchFamily="2" charset="0"/>
                        </a:rPr>
                        <a:t>R$ 87,00</a:t>
                      </a:r>
                    </a:p>
                  </a:txBody>
                  <a:tcPr marL="4409" marR="4409" marT="4409" marB="0" anchor="ctr"/>
                </a:tc>
                <a:tc>
                  <a:txBody>
                    <a:bodyPr/>
                    <a:lstStyle/>
                    <a:p>
                      <a:pPr marL="0" marR="0" lvl="0" indent="0" algn="just" defTabSz="685808" rtl="0" eaLnBrk="1" fontAlgn="auto" latinLnBrk="0" hangingPunct="1">
                        <a:lnSpc>
                          <a:spcPct val="100000"/>
                        </a:lnSpc>
                        <a:spcBef>
                          <a:spcPts val="0"/>
                        </a:spcBef>
                        <a:spcAft>
                          <a:spcPts val="0"/>
                        </a:spcAft>
                        <a:buClrTx/>
                        <a:buSzTx/>
                        <a:buFontTx/>
                        <a:buNone/>
                        <a:tabLst/>
                        <a:defRPr/>
                      </a:pPr>
                      <a:r>
                        <a:rPr lang="pt-BR" sz="700" i="0" dirty="0">
                          <a:latin typeface="+mj-lt"/>
                        </a:rPr>
                        <a:t>Alta em julho, acompanhada de notícias comerciais construtivas, com destaque para os pedidos anunciados no Farnborough Airshow, que reforçam a demanda por aviação comercial. A companhia encerrou o 2T26 com carteira de pedidos recorde de US$ 34,5 bilhões, com destaque para Defesa. Segue nossa preferência em Bens de Capital.</a:t>
                      </a:r>
                    </a:p>
                  </a:txBody>
                  <a:tcPr marL="36000" anchor="ctr"/>
                </a:tc>
                <a:tc>
                  <a:txBody>
                    <a:bodyPr/>
                    <a:lstStyle/>
                    <a:p>
                      <a:pPr marL="0" marR="0" lvl="0" indent="0" algn="ctr" defTabSz="685808" rtl="0" eaLnBrk="1" fontAlgn="auto" latinLnBrk="0" hangingPunct="1">
                        <a:lnSpc>
                          <a:spcPct val="100000"/>
                        </a:lnSpc>
                        <a:spcBef>
                          <a:spcPts val="0"/>
                        </a:spcBef>
                        <a:spcAft>
                          <a:spcPts val="0"/>
                        </a:spcAft>
                        <a:buClrTx/>
                        <a:buSzTx/>
                        <a:buFontTx/>
                        <a:buNone/>
                        <a:tabLst/>
                        <a:defRPr/>
                      </a:pPr>
                      <a:r>
                        <a:rPr lang="pt-BR" sz="700" b="1" i="0" kern="1200" dirty="0">
                          <a:solidFill>
                            <a:schemeClr val="tx1"/>
                          </a:solidFill>
                          <a:latin typeface="+mj-lt"/>
                          <a:ea typeface="Roboto Light" panose="02000000000000000000" pitchFamily="2" charset="0"/>
                          <a:cs typeface="Roboto Light" panose="02000000000000000000" pitchFamily="2" charset="0"/>
                          <a:hlinkClick r:id="rId9"/>
                        </a:rPr>
                        <a:t>Clique aqui</a:t>
                      </a:r>
                      <a:endParaRPr lang="pt-BR" sz="700" i="0" kern="1200" dirty="0">
                        <a:solidFill>
                          <a:schemeClr val="tx1"/>
                        </a:solidFill>
                        <a:latin typeface="+mj-lt"/>
                        <a:ea typeface="+mn-ea"/>
                        <a:cs typeface="+mn-cs"/>
                      </a:endParaRPr>
                    </a:p>
                  </a:txBody>
                  <a:tcPr anchor="ctr"/>
                </a:tc>
                <a:extLst>
                  <a:ext uri="{0D108BD9-81ED-4DB2-BD59-A6C34878D82A}">
                    <a16:rowId xmlns:a16="http://schemas.microsoft.com/office/drawing/2014/main" val="565185090"/>
                  </a:ext>
                </a:extLst>
              </a:tr>
              <a:tr h="285933">
                <a:tc>
                  <a:txBody>
                    <a:bodyPr/>
                    <a:lstStyle/>
                    <a:p>
                      <a:pPr algn="ctr" fontAlgn="ctr">
                        <a:buNone/>
                      </a:pPr>
                      <a:r>
                        <a:rPr lang="pt-BR" sz="700" b="0" i="0" u="none" strike="noStrike" dirty="0">
                          <a:solidFill>
                            <a:srgbClr val="000000"/>
                          </a:solidFill>
                          <a:effectLst/>
                          <a:latin typeface="Roboto Light" panose="02000000000000000000" pitchFamily="2" charset="0"/>
                        </a:rPr>
                        <a:t>TOTVS</a:t>
                      </a:r>
                    </a:p>
                  </a:txBody>
                  <a:tcPr marL="4409" marR="4409" marT="4409" marB="0" anchor="ctr"/>
                </a:tc>
                <a:tc>
                  <a:txBody>
                    <a:bodyPr/>
                    <a:lstStyle/>
                    <a:p>
                      <a:pPr algn="ctr" fontAlgn="ctr">
                        <a:buNone/>
                      </a:pPr>
                      <a:r>
                        <a:rPr lang="pt-BR" sz="700" b="0" i="0" u="none" strike="noStrike" dirty="0">
                          <a:solidFill>
                            <a:srgbClr val="000000"/>
                          </a:solidFill>
                          <a:effectLst/>
                          <a:latin typeface="Roboto Light" panose="02000000000000000000" pitchFamily="2" charset="0"/>
                        </a:rPr>
                        <a:t>TOTS3</a:t>
                      </a:r>
                    </a:p>
                  </a:txBody>
                  <a:tcPr marL="4409" marR="4409" marT="4409" marB="0" anchor="ctr"/>
                </a:tc>
                <a:tc>
                  <a:txBody>
                    <a:bodyPr/>
                    <a:lstStyle/>
                    <a:p>
                      <a:pPr algn="ctr" fontAlgn="ctr">
                        <a:buNone/>
                      </a:pPr>
                      <a:r>
                        <a:rPr lang="pt-BR" sz="700" b="0" i="0" u="none" strike="noStrike" dirty="0">
                          <a:solidFill>
                            <a:srgbClr val="000000"/>
                          </a:solidFill>
                          <a:effectLst/>
                          <a:latin typeface="Roboto Light" panose="02000000000000000000" pitchFamily="2" charset="0"/>
                        </a:rPr>
                        <a:t>5,0%</a:t>
                      </a:r>
                    </a:p>
                  </a:txBody>
                  <a:tcPr marL="4409" marR="4409" marT="4409" marB="0" anchor="ctr"/>
                </a:tc>
                <a:tc>
                  <a:txBody>
                    <a:bodyPr/>
                    <a:lstStyle/>
                    <a:p>
                      <a:pPr algn="ctr" fontAlgn="ctr">
                        <a:buNone/>
                      </a:pPr>
                      <a:r>
                        <a:rPr lang="pt-BR" sz="700" b="0" i="0" u="none" strike="noStrike" dirty="0">
                          <a:solidFill>
                            <a:srgbClr val="000000"/>
                          </a:solidFill>
                          <a:effectLst/>
                          <a:latin typeface="Roboto Light" panose="02000000000000000000" pitchFamily="2" charset="0"/>
                        </a:rPr>
                        <a:t>Compra</a:t>
                      </a:r>
                    </a:p>
                  </a:txBody>
                  <a:tcPr marL="4409" marR="4409" marT="4409" marB="0" anchor="ctr"/>
                </a:tc>
                <a:tc>
                  <a:txBody>
                    <a:bodyPr/>
                    <a:lstStyle/>
                    <a:p>
                      <a:pPr algn="ctr" fontAlgn="ctr">
                        <a:buNone/>
                      </a:pPr>
                      <a:r>
                        <a:rPr lang="pt-BR" sz="700" b="0" i="0" u="none" strike="noStrike" dirty="0">
                          <a:solidFill>
                            <a:srgbClr val="000000"/>
                          </a:solidFill>
                          <a:effectLst/>
                          <a:latin typeface="Roboto Light" panose="02000000000000000000" pitchFamily="2" charset="0"/>
                        </a:rPr>
                        <a:t>R$ 50,50</a:t>
                      </a:r>
                    </a:p>
                  </a:txBody>
                  <a:tcPr marL="4409" marR="4409" marT="4409" marB="0" anchor="ctr"/>
                </a:tc>
                <a:tc>
                  <a:txBody>
                    <a:bodyPr/>
                    <a:lstStyle/>
                    <a:p>
                      <a:pPr marL="0" marR="0" lvl="0" indent="0" algn="just" defTabSz="685808" rtl="0" eaLnBrk="1" fontAlgn="auto" latinLnBrk="0" hangingPunct="1">
                        <a:lnSpc>
                          <a:spcPct val="100000"/>
                        </a:lnSpc>
                        <a:spcBef>
                          <a:spcPts val="0"/>
                        </a:spcBef>
                        <a:spcAft>
                          <a:spcPts val="0"/>
                        </a:spcAft>
                        <a:buClrTx/>
                        <a:buSzTx/>
                        <a:buFontTx/>
                        <a:buNone/>
                        <a:tabLst/>
                        <a:defRPr/>
                      </a:pPr>
                      <a:r>
                        <a:rPr lang="pt-BR" sz="700" i="0" dirty="0">
                          <a:latin typeface="+mj-lt"/>
                        </a:rPr>
                        <a:t>Alta em julho, com o mercado corrigindo parte da forte queda acumulada nos seis meses anteriores, ligada a preocupações com os riscos da inteligência artificial e à deterioração do cenário macroeconômico.</a:t>
                      </a:r>
                    </a:p>
                  </a:txBody>
                  <a:tcPr marL="36000" anchor="ctr"/>
                </a:tc>
                <a:tc>
                  <a:txBody>
                    <a:bodyPr/>
                    <a:lstStyle/>
                    <a:p>
                      <a:pPr marL="0" marR="0" lvl="0" indent="0" algn="ctr" defTabSz="685808" rtl="0" eaLnBrk="1" fontAlgn="auto" latinLnBrk="0" hangingPunct="1">
                        <a:lnSpc>
                          <a:spcPct val="100000"/>
                        </a:lnSpc>
                        <a:spcBef>
                          <a:spcPts val="0"/>
                        </a:spcBef>
                        <a:spcAft>
                          <a:spcPts val="0"/>
                        </a:spcAft>
                        <a:buClrTx/>
                        <a:buSzTx/>
                        <a:buFontTx/>
                        <a:buNone/>
                        <a:tabLst/>
                        <a:defRPr/>
                      </a:pPr>
                      <a:r>
                        <a:rPr lang="pt-BR" sz="700" b="1" i="0" dirty="0">
                          <a:latin typeface="+mj-lt"/>
                          <a:ea typeface="Roboto Light" panose="02000000000000000000" pitchFamily="2" charset="0"/>
                          <a:cs typeface="Roboto Light" panose="02000000000000000000" pitchFamily="2" charset="0"/>
                          <a:hlinkClick r:id="rId10"/>
                        </a:rPr>
                        <a:t>Clique aqui</a:t>
                      </a:r>
                      <a:endParaRPr lang="pt-BR" sz="700" i="0" dirty="0">
                        <a:latin typeface="+mj-lt"/>
                      </a:endParaRPr>
                    </a:p>
                  </a:txBody>
                  <a:tcPr anchor="ctr"/>
                </a:tc>
                <a:extLst>
                  <a:ext uri="{0D108BD9-81ED-4DB2-BD59-A6C34878D82A}">
                    <a16:rowId xmlns:a16="http://schemas.microsoft.com/office/drawing/2014/main" val="1243717988"/>
                  </a:ext>
                </a:extLst>
              </a:tr>
              <a:tr h="285933">
                <a:tc>
                  <a:txBody>
                    <a:bodyPr/>
                    <a:lstStyle/>
                    <a:p>
                      <a:pPr algn="ctr" fontAlgn="ctr">
                        <a:buNone/>
                      </a:pPr>
                      <a:r>
                        <a:rPr lang="pt-BR" sz="700" b="0" i="0" u="none" strike="noStrike" dirty="0">
                          <a:solidFill>
                            <a:srgbClr val="000000"/>
                          </a:solidFill>
                          <a:effectLst/>
                          <a:latin typeface="Roboto Light" panose="02000000000000000000" pitchFamily="2" charset="0"/>
                        </a:rPr>
                        <a:t>Iguatemi</a:t>
                      </a:r>
                    </a:p>
                  </a:txBody>
                  <a:tcPr marL="4409" marR="4409" marT="4409" marB="0" anchor="ctr"/>
                </a:tc>
                <a:tc>
                  <a:txBody>
                    <a:bodyPr/>
                    <a:lstStyle/>
                    <a:p>
                      <a:pPr algn="ctr" fontAlgn="ctr">
                        <a:buNone/>
                      </a:pPr>
                      <a:r>
                        <a:rPr lang="pt-BR" sz="700" b="0" i="0" u="none" strike="noStrike" dirty="0">
                          <a:solidFill>
                            <a:srgbClr val="000000"/>
                          </a:solidFill>
                          <a:effectLst/>
                          <a:latin typeface="Roboto Light" panose="02000000000000000000" pitchFamily="2" charset="0"/>
                        </a:rPr>
                        <a:t>IGTI11</a:t>
                      </a:r>
                    </a:p>
                  </a:txBody>
                  <a:tcPr marL="4409" marR="4409" marT="4409" marB="0" anchor="ctr"/>
                </a:tc>
                <a:tc>
                  <a:txBody>
                    <a:bodyPr/>
                    <a:lstStyle/>
                    <a:p>
                      <a:pPr algn="ctr" fontAlgn="ctr">
                        <a:buNone/>
                      </a:pPr>
                      <a:r>
                        <a:rPr lang="pt-BR" sz="700" b="0" i="0" u="none" strike="noStrike" dirty="0">
                          <a:solidFill>
                            <a:srgbClr val="000000"/>
                          </a:solidFill>
                          <a:effectLst/>
                          <a:latin typeface="Roboto Light" panose="02000000000000000000" pitchFamily="2" charset="0"/>
                        </a:rPr>
                        <a:t>7,5%</a:t>
                      </a:r>
                    </a:p>
                  </a:txBody>
                  <a:tcPr marL="4409" marR="4409" marT="4409" marB="0" anchor="ctr"/>
                </a:tc>
                <a:tc>
                  <a:txBody>
                    <a:bodyPr/>
                    <a:lstStyle/>
                    <a:p>
                      <a:pPr algn="ctr" fontAlgn="ctr">
                        <a:buNone/>
                      </a:pPr>
                      <a:r>
                        <a:rPr lang="pt-BR" sz="700" b="0" i="0" u="none" strike="noStrike" dirty="0">
                          <a:solidFill>
                            <a:srgbClr val="000000"/>
                          </a:solidFill>
                          <a:effectLst/>
                          <a:latin typeface="Roboto Light" panose="02000000000000000000" pitchFamily="2" charset="0"/>
                        </a:rPr>
                        <a:t>Compra</a:t>
                      </a:r>
                    </a:p>
                  </a:txBody>
                  <a:tcPr marL="4409" marR="4409" marT="4409" marB="0" anchor="ctr"/>
                </a:tc>
                <a:tc>
                  <a:txBody>
                    <a:bodyPr/>
                    <a:lstStyle/>
                    <a:p>
                      <a:pPr algn="ctr" fontAlgn="ctr">
                        <a:buNone/>
                      </a:pPr>
                      <a:r>
                        <a:rPr lang="pt-BR" sz="700" b="0" i="0" u="none" strike="noStrike" dirty="0">
                          <a:solidFill>
                            <a:srgbClr val="000000"/>
                          </a:solidFill>
                          <a:effectLst/>
                          <a:latin typeface="Roboto Light" panose="02000000000000000000" pitchFamily="2" charset="0"/>
                        </a:rPr>
                        <a:t>R$ 32,00</a:t>
                      </a:r>
                    </a:p>
                  </a:txBody>
                  <a:tcPr marL="4409" marR="4409" marT="4409" marB="0" anchor="ctr"/>
                </a:tc>
                <a:tc>
                  <a:txBody>
                    <a:bodyPr/>
                    <a:lstStyle/>
                    <a:p>
                      <a:pPr marL="0" marR="0" lvl="0" indent="0" algn="just" defTabSz="685808" rtl="0" eaLnBrk="1" fontAlgn="auto" latinLnBrk="0" hangingPunct="1">
                        <a:lnSpc>
                          <a:spcPct val="100000"/>
                        </a:lnSpc>
                        <a:spcBef>
                          <a:spcPts val="0"/>
                        </a:spcBef>
                        <a:spcAft>
                          <a:spcPts val="0"/>
                        </a:spcAft>
                        <a:buClrTx/>
                        <a:buSzTx/>
                        <a:buFontTx/>
                        <a:buNone/>
                        <a:tabLst/>
                        <a:defRPr/>
                      </a:pPr>
                      <a:r>
                        <a:rPr lang="pt-BR" sz="700" i="0" dirty="0">
                          <a:latin typeface="+mj-lt"/>
                        </a:rPr>
                        <a:t>Desempenho praticamente estável em julho, abaixo do Ibovespa. Mantemos visão positiva para a companhia, apoiada na qualidade de seus ativos, na maior exposição ao segmento de alta renda e no potencial de crescimento de resultados acima da média do setor.</a:t>
                      </a:r>
                    </a:p>
                  </a:txBody>
                  <a:tcPr marL="36000" anchor="ctr"/>
                </a:tc>
                <a:tc>
                  <a:txBody>
                    <a:bodyPr/>
                    <a:lstStyle/>
                    <a:p>
                      <a:pPr marL="0" marR="0" lvl="0" indent="0" algn="ctr" defTabSz="685808" rtl="0" eaLnBrk="1" fontAlgn="auto" latinLnBrk="0" hangingPunct="1">
                        <a:lnSpc>
                          <a:spcPct val="100000"/>
                        </a:lnSpc>
                        <a:spcBef>
                          <a:spcPts val="0"/>
                        </a:spcBef>
                        <a:spcAft>
                          <a:spcPts val="0"/>
                        </a:spcAft>
                        <a:buClrTx/>
                        <a:buSzTx/>
                        <a:buFontTx/>
                        <a:buNone/>
                        <a:tabLst/>
                        <a:defRPr/>
                      </a:pPr>
                      <a:r>
                        <a:rPr lang="pt-BR" sz="700" b="1" i="0" kern="1200" dirty="0">
                          <a:solidFill>
                            <a:schemeClr val="tx1"/>
                          </a:solidFill>
                          <a:latin typeface="+mj-lt"/>
                          <a:ea typeface="Roboto Light" panose="02000000000000000000" pitchFamily="2" charset="0"/>
                          <a:cs typeface="Roboto Light" panose="02000000000000000000" pitchFamily="2" charset="0"/>
                          <a:hlinkClick r:id="rId11"/>
                        </a:rPr>
                        <a:t>Clique aqui</a:t>
                      </a:r>
                      <a:endParaRPr lang="pt-BR" sz="700" i="0" kern="1200" dirty="0">
                        <a:solidFill>
                          <a:schemeClr val="tx1"/>
                        </a:solidFill>
                        <a:latin typeface="+mj-lt"/>
                        <a:ea typeface="+mn-ea"/>
                        <a:cs typeface="+mn-cs"/>
                      </a:endParaRPr>
                    </a:p>
                  </a:txBody>
                  <a:tcPr anchor="ctr"/>
                </a:tc>
                <a:extLst>
                  <a:ext uri="{0D108BD9-81ED-4DB2-BD59-A6C34878D82A}">
                    <a16:rowId xmlns:a16="http://schemas.microsoft.com/office/drawing/2014/main" val="300089981"/>
                  </a:ext>
                </a:extLst>
              </a:tr>
              <a:tr h="285933">
                <a:tc>
                  <a:txBody>
                    <a:bodyPr/>
                    <a:lstStyle/>
                    <a:p>
                      <a:pPr algn="ctr" fontAlgn="ctr">
                        <a:buNone/>
                      </a:pPr>
                      <a:r>
                        <a:rPr lang="pt-BR" sz="700" b="0" i="0" u="none" strike="noStrike" dirty="0">
                          <a:solidFill>
                            <a:srgbClr val="000000"/>
                          </a:solidFill>
                          <a:effectLst/>
                          <a:latin typeface="Roboto Light" panose="02000000000000000000" pitchFamily="2" charset="0"/>
                        </a:rPr>
                        <a:t>Rede D'Or</a:t>
                      </a:r>
                    </a:p>
                  </a:txBody>
                  <a:tcPr marL="4409" marR="4409" marT="4409" marB="0" anchor="ctr"/>
                </a:tc>
                <a:tc>
                  <a:txBody>
                    <a:bodyPr/>
                    <a:lstStyle/>
                    <a:p>
                      <a:pPr algn="ctr" fontAlgn="ctr">
                        <a:buNone/>
                      </a:pPr>
                      <a:r>
                        <a:rPr lang="pt-BR" sz="700" b="0" i="0" u="none" strike="noStrike" dirty="0">
                          <a:solidFill>
                            <a:srgbClr val="000000"/>
                          </a:solidFill>
                          <a:effectLst/>
                          <a:latin typeface="Roboto Light" panose="02000000000000000000" pitchFamily="2" charset="0"/>
                        </a:rPr>
                        <a:t>RDOR3</a:t>
                      </a:r>
                    </a:p>
                  </a:txBody>
                  <a:tcPr marL="4409" marR="4409" marT="4409" marB="0" anchor="ctr"/>
                </a:tc>
                <a:tc>
                  <a:txBody>
                    <a:bodyPr/>
                    <a:lstStyle/>
                    <a:p>
                      <a:pPr algn="ctr" fontAlgn="ctr">
                        <a:buNone/>
                      </a:pPr>
                      <a:r>
                        <a:rPr lang="pt-BR" sz="700" b="0" i="0" u="none" strike="noStrike" dirty="0">
                          <a:solidFill>
                            <a:srgbClr val="000000"/>
                          </a:solidFill>
                          <a:effectLst/>
                          <a:latin typeface="Roboto Light" panose="02000000000000000000" pitchFamily="2" charset="0"/>
                        </a:rPr>
                        <a:t>7,5%</a:t>
                      </a:r>
                    </a:p>
                  </a:txBody>
                  <a:tcPr marL="4409" marR="4409" marT="4409" marB="0" anchor="ctr"/>
                </a:tc>
                <a:tc>
                  <a:txBody>
                    <a:bodyPr/>
                    <a:lstStyle/>
                    <a:p>
                      <a:pPr algn="ctr" fontAlgn="ctr">
                        <a:buNone/>
                      </a:pPr>
                      <a:r>
                        <a:rPr lang="pt-BR" sz="700" b="0" i="0" u="none" strike="noStrike" dirty="0">
                          <a:solidFill>
                            <a:srgbClr val="000000"/>
                          </a:solidFill>
                          <a:effectLst/>
                          <a:latin typeface="Roboto Light" panose="02000000000000000000" pitchFamily="2" charset="0"/>
                        </a:rPr>
                        <a:t>Compra</a:t>
                      </a:r>
                    </a:p>
                  </a:txBody>
                  <a:tcPr marL="4409" marR="4409" marT="4409" marB="0" anchor="ctr"/>
                </a:tc>
                <a:tc>
                  <a:txBody>
                    <a:bodyPr/>
                    <a:lstStyle/>
                    <a:p>
                      <a:pPr algn="ctr" fontAlgn="ctr">
                        <a:buNone/>
                      </a:pPr>
                      <a:r>
                        <a:rPr lang="pt-BR" sz="700" b="0" i="0" u="none" strike="noStrike" dirty="0">
                          <a:solidFill>
                            <a:srgbClr val="000000"/>
                          </a:solidFill>
                          <a:effectLst/>
                          <a:latin typeface="Roboto Light" panose="02000000000000000000" pitchFamily="2" charset="0"/>
                        </a:rPr>
                        <a:t>R$ 45,00</a:t>
                      </a:r>
                    </a:p>
                  </a:txBody>
                  <a:tcPr marL="4409" marR="4409" marT="4409" marB="0" anchor="ctr"/>
                </a:tc>
                <a:tc>
                  <a:txBody>
                    <a:bodyPr/>
                    <a:lstStyle/>
                    <a:p>
                      <a:pPr marL="0" marR="0" lvl="0" indent="0" algn="just" defTabSz="685808" rtl="0" eaLnBrk="1" fontAlgn="auto" latinLnBrk="0" hangingPunct="1">
                        <a:lnSpc>
                          <a:spcPct val="100000"/>
                        </a:lnSpc>
                        <a:spcBef>
                          <a:spcPts val="0"/>
                        </a:spcBef>
                        <a:spcAft>
                          <a:spcPts val="0"/>
                        </a:spcAft>
                        <a:buClrTx/>
                        <a:buSzTx/>
                        <a:buFontTx/>
                        <a:buNone/>
                        <a:tabLst/>
                        <a:defRPr/>
                      </a:pPr>
                      <a:r>
                        <a:rPr lang="pt-BR" sz="700" i="0" dirty="0">
                          <a:latin typeface="+mj-lt"/>
                        </a:rPr>
                        <a:t>Desempenho estável em julho, que atribuímos a ruídos sobre as perspectivas operacionais do 2T26. A correção nos parece exagerada, já que mantivemos as estimativas de lucro para 2026 e 2027. A ação negocia a 13 vezes o lucro projetado para 2027, com desconto de cerca de 31% ante o histórico recente.</a:t>
                      </a:r>
                    </a:p>
                  </a:txBody>
                  <a:tcPr marL="36000" anchor="ctr"/>
                </a:tc>
                <a:tc>
                  <a:txBody>
                    <a:bodyPr/>
                    <a:lstStyle/>
                    <a:p>
                      <a:pPr marL="0" marR="0" lvl="0" indent="0" algn="ctr" defTabSz="685808" rtl="0" eaLnBrk="1" fontAlgn="auto" latinLnBrk="0" hangingPunct="1">
                        <a:lnSpc>
                          <a:spcPct val="100000"/>
                        </a:lnSpc>
                        <a:spcBef>
                          <a:spcPts val="0"/>
                        </a:spcBef>
                        <a:spcAft>
                          <a:spcPts val="0"/>
                        </a:spcAft>
                        <a:buClrTx/>
                        <a:buSzTx/>
                        <a:buFontTx/>
                        <a:buNone/>
                        <a:tabLst/>
                        <a:defRPr/>
                      </a:pPr>
                      <a:r>
                        <a:rPr lang="pt-BR" sz="700" b="1" i="0" kern="1200" dirty="0">
                          <a:solidFill>
                            <a:schemeClr val="tx1"/>
                          </a:solidFill>
                          <a:latin typeface="+mj-lt"/>
                          <a:ea typeface="Roboto Light" panose="02000000000000000000" pitchFamily="2" charset="0"/>
                          <a:cs typeface="Roboto Light" panose="02000000000000000000" pitchFamily="2" charset="0"/>
                          <a:hlinkClick r:id="rId12"/>
                        </a:rPr>
                        <a:t>Clique aqui</a:t>
                      </a:r>
                      <a:endParaRPr lang="pt-BR" sz="700" i="0" dirty="0">
                        <a:latin typeface="+mj-lt"/>
                      </a:endParaRPr>
                    </a:p>
                  </a:txBody>
                  <a:tcPr anchor="ctr"/>
                </a:tc>
                <a:extLst>
                  <a:ext uri="{0D108BD9-81ED-4DB2-BD59-A6C34878D82A}">
                    <a16:rowId xmlns:a16="http://schemas.microsoft.com/office/drawing/2014/main" val="2849596623"/>
                  </a:ext>
                </a:extLst>
              </a:tr>
              <a:tr h="285933">
                <a:tc>
                  <a:txBody>
                    <a:bodyPr/>
                    <a:lstStyle/>
                    <a:p>
                      <a:pPr algn="ctr" fontAlgn="ctr">
                        <a:buNone/>
                      </a:pPr>
                      <a:r>
                        <a:rPr lang="pt-BR" sz="700" b="0" i="0" u="none" strike="noStrike" dirty="0">
                          <a:solidFill>
                            <a:srgbClr val="000000"/>
                          </a:solidFill>
                          <a:effectLst/>
                          <a:latin typeface="Roboto Light" panose="02000000000000000000" pitchFamily="2" charset="0"/>
                        </a:rPr>
                        <a:t>Sabesp</a:t>
                      </a:r>
                    </a:p>
                  </a:txBody>
                  <a:tcPr marL="4409" marR="4409" marT="4409" marB="0" anchor="ctr"/>
                </a:tc>
                <a:tc>
                  <a:txBody>
                    <a:bodyPr/>
                    <a:lstStyle/>
                    <a:p>
                      <a:pPr algn="ctr" fontAlgn="ctr">
                        <a:buNone/>
                      </a:pPr>
                      <a:r>
                        <a:rPr lang="pt-BR" sz="700" b="0" i="0" u="none" strike="noStrike" dirty="0">
                          <a:solidFill>
                            <a:srgbClr val="000000"/>
                          </a:solidFill>
                          <a:effectLst/>
                          <a:latin typeface="Roboto Light" panose="02000000000000000000" pitchFamily="2" charset="0"/>
                        </a:rPr>
                        <a:t>SBSP3</a:t>
                      </a:r>
                    </a:p>
                  </a:txBody>
                  <a:tcPr marL="4409" marR="4409" marT="4409" marB="0" anchor="ctr"/>
                </a:tc>
                <a:tc>
                  <a:txBody>
                    <a:bodyPr/>
                    <a:lstStyle/>
                    <a:p>
                      <a:pPr algn="ctr" fontAlgn="ctr">
                        <a:buNone/>
                      </a:pPr>
                      <a:r>
                        <a:rPr lang="pt-BR" sz="700" b="0" i="0" u="none" strike="noStrike" dirty="0">
                          <a:solidFill>
                            <a:srgbClr val="000000"/>
                          </a:solidFill>
                          <a:effectLst/>
                          <a:latin typeface="Roboto Light" panose="02000000000000000000" pitchFamily="2" charset="0"/>
                        </a:rPr>
                        <a:t>7,5%</a:t>
                      </a:r>
                    </a:p>
                  </a:txBody>
                  <a:tcPr marL="4409" marR="4409" marT="4409" marB="0" anchor="ctr"/>
                </a:tc>
                <a:tc>
                  <a:txBody>
                    <a:bodyPr/>
                    <a:lstStyle/>
                    <a:p>
                      <a:pPr algn="ctr" fontAlgn="ctr">
                        <a:buNone/>
                      </a:pPr>
                      <a:r>
                        <a:rPr lang="pt-BR" sz="700" b="0" i="0" u="none" strike="noStrike" dirty="0">
                          <a:solidFill>
                            <a:srgbClr val="000000"/>
                          </a:solidFill>
                          <a:effectLst/>
                          <a:latin typeface="Roboto Light" panose="02000000000000000000" pitchFamily="2" charset="0"/>
                        </a:rPr>
                        <a:t>Compra</a:t>
                      </a:r>
                    </a:p>
                  </a:txBody>
                  <a:tcPr marL="4409" marR="4409" marT="4409" marB="0" anchor="ctr"/>
                </a:tc>
                <a:tc>
                  <a:txBody>
                    <a:bodyPr/>
                    <a:lstStyle/>
                    <a:p>
                      <a:pPr algn="ctr" fontAlgn="ctr">
                        <a:buNone/>
                      </a:pPr>
                      <a:r>
                        <a:rPr lang="pt-BR" sz="700" b="0" i="0" u="none" strike="noStrike" dirty="0">
                          <a:solidFill>
                            <a:srgbClr val="000000"/>
                          </a:solidFill>
                          <a:effectLst/>
                          <a:latin typeface="Roboto Light" panose="02000000000000000000" pitchFamily="2" charset="0"/>
                        </a:rPr>
                        <a:t>R$ 38,25</a:t>
                      </a:r>
                    </a:p>
                  </a:txBody>
                  <a:tcPr marL="4409" marR="4409" marT="4409" marB="0" anchor="ctr"/>
                </a:tc>
                <a:tc>
                  <a:txBody>
                    <a:bodyPr/>
                    <a:lstStyle/>
                    <a:p>
                      <a:pPr algn="just">
                        <a:lnSpc>
                          <a:spcPct val="100000"/>
                        </a:lnSpc>
                      </a:pPr>
                      <a:r>
                        <a:rPr lang="pt-BR" sz="700" b="0" i="0" dirty="0">
                          <a:latin typeface="+mj-lt"/>
                        </a:rPr>
                        <a:t>Queda em julho, abaixo do Ibovespa. Por ser um papel com grande participação de investidores institucionais estrangeiros, o desempenho é bastante sensível ao movimento dessa classe; a realocação desses recursos para posições ligadas à inteligência artificial pressionou a ação ao longo do mês.</a:t>
                      </a:r>
                    </a:p>
                  </a:txBody>
                  <a:tcPr marL="36000" anchor="ctr"/>
                </a:tc>
                <a:tc>
                  <a:txBody>
                    <a:bodyPr/>
                    <a:lstStyle/>
                    <a:p>
                      <a:pPr marL="0" marR="0" lvl="0" indent="0" algn="ctr" defTabSz="685808" rtl="0" eaLnBrk="1" fontAlgn="auto" latinLnBrk="0" hangingPunct="1">
                        <a:lnSpc>
                          <a:spcPct val="100000"/>
                        </a:lnSpc>
                        <a:spcBef>
                          <a:spcPts val="0"/>
                        </a:spcBef>
                        <a:spcAft>
                          <a:spcPts val="0"/>
                        </a:spcAft>
                        <a:buClrTx/>
                        <a:buSzTx/>
                        <a:buFontTx/>
                        <a:buNone/>
                        <a:tabLst/>
                        <a:defRPr/>
                      </a:pPr>
                      <a:r>
                        <a:rPr lang="pt-BR" sz="700" b="1" i="0" dirty="0">
                          <a:latin typeface="+mj-lt"/>
                          <a:ea typeface="Roboto Light" panose="02000000000000000000" pitchFamily="2" charset="0"/>
                          <a:cs typeface="Roboto Light" panose="02000000000000000000" pitchFamily="2" charset="0"/>
                          <a:hlinkClick r:id="rId13"/>
                        </a:rPr>
                        <a:t>Clique aqui</a:t>
                      </a:r>
                      <a:endParaRPr lang="pt-BR" sz="700" i="0" dirty="0">
                        <a:latin typeface="+mj-lt"/>
                      </a:endParaRPr>
                    </a:p>
                  </a:txBody>
                  <a:tcPr anchor="ctr"/>
                </a:tc>
                <a:extLst>
                  <a:ext uri="{0D108BD9-81ED-4DB2-BD59-A6C34878D82A}">
                    <a16:rowId xmlns:a16="http://schemas.microsoft.com/office/drawing/2014/main" val="2495869504"/>
                  </a:ext>
                </a:extLst>
              </a:tr>
              <a:tr h="386009">
                <a:tc>
                  <a:txBody>
                    <a:bodyPr/>
                    <a:lstStyle/>
                    <a:p>
                      <a:pPr algn="ctr" fontAlgn="ctr">
                        <a:buNone/>
                      </a:pPr>
                      <a:r>
                        <a:rPr lang="pt-BR" sz="700" b="0" i="0" u="none" strike="noStrike" dirty="0">
                          <a:solidFill>
                            <a:srgbClr val="000000"/>
                          </a:solidFill>
                          <a:effectLst/>
                          <a:latin typeface="Roboto Light" panose="02000000000000000000" pitchFamily="2" charset="0"/>
                        </a:rPr>
                        <a:t>Orizon</a:t>
                      </a:r>
                    </a:p>
                  </a:txBody>
                  <a:tcPr marL="4409" marR="4409" marT="4409" marB="0" anchor="ctr"/>
                </a:tc>
                <a:tc>
                  <a:txBody>
                    <a:bodyPr/>
                    <a:lstStyle/>
                    <a:p>
                      <a:pPr algn="ctr" fontAlgn="ctr">
                        <a:buNone/>
                      </a:pPr>
                      <a:r>
                        <a:rPr lang="pt-BR" sz="700" b="0" i="0" u="none" strike="noStrike" dirty="0">
                          <a:solidFill>
                            <a:srgbClr val="000000"/>
                          </a:solidFill>
                          <a:effectLst/>
                          <a:latin typeface="Roboto Light" panose="02000000000000000000" pitchFamily="2" charset="0"/>
                        </a:rPr>
                        <a:t>ORVR3</a:t>
                      </a:r>
                    </a:p>
                  </a:txBody>
                  <a:tcPr marL="4409" marR="4409" marT="4409" marB="0" anchor="ctr"/>
                </a:tc>
                <a:tc>
                  <a:txBody>
                    <a:bodyPr/>
                    <a:lstStyle/>
                    <a:p>
                      <a:pPr algn="ctr" fontAlgn="ctr">
                        <a:buNone/>
                      </a:pPr>
                      <a:r>
                        <a:rPr lang="pt-BR" sz="700" b="0" i="0" u="none" strike="noStrike" dirty="0">
                          <a:solidFill>
                            <a:srgbClr val="000000"/>
                          </a:solidFill>
                          <a:effectLst/>
                          <a:latin typeface="Roboto Light" panose="02000000000000000000" pitchFamily="2" charset="0"/>
                        </a:rPr>
                        <a:t>5,0%</a:t>
                      </a:r>
                    </a:p>
                  </a:txBody>
                  <a:tcPr marL="4409" marR="4409" marT="4409" marB="0" anchor="ctr"/>
                </a:tc>
                <a:tc>
                  <a:txBody>
                    <a:bodyPr/>
                    <a:lstStyle/>
                    <a:p>
                      <a:pPr algn="ctr" fontAlgn="ctr">
                        <a:buNone/>
                      </a:pPr>
                      <a:r>
                        <a:rPr lang="pt-BR" sz="700" b="0" i="0" u="none" strike="noStrike" dirty="0">
                          <a:solidFill>
                            <a:srgbClr val="000000"/>
                          </a:solidFill>
                          <a:effectLst/>
                          <a:latin typeface="Roboto Light" panose="02000000000000000000" pitchFamily="2" charset="0"/>
                        </a:rPr>
                        <a:t>Compra</a:t>
                      </a:r>
                    </a:p>
                  </a:txBody>
                  <a:tcPr marL="4409" marR="4409" marT="4409" marB="0" anchor="ctr"/>
                </a:tc>
                <a:tc>
                  <a:txBody>
                    <a:bodyPr/>
                    <a:lstStyle/>
                    <a:p>
                      <a:pPr algn="ctr" fontAlgn="ctr">
                        <a:buNone/>
                      </a:pPr>
                      <a:r>
                        <a:rPr lang="pt-BR" sz="700" b="0" i="0" u="none" strike="noStrike" dirty="0">
                          <a:solidFill>
                            <a:srgbClr val="000000"/>
                          </a:solidFill>
                          <a:effectLst/>
                          <a:latin typeface="Roboto Light" panose="02000000000000000000" pitchFamily="2" charset="0"/>
                        </a:rPr>
                        <a:t>R$ 97,48</a:t>
                      </a:r>
                    </a:p>
                  </a:txBody>
                  <a:tcPr marL="4409" marR="4409" marT="4409" marB="0" anchor="ctr"/>
                </a:tc>
                <a:tc>
                  <a:txBody>
                    <a:bodyPr/>
                    <a:lstStyle/>
                    <a:p>
                      <a:pPr marL="0" marR="0" lvl="0" indent="0" algn="just" defTabSz="685808" rtl="0" eaLnBrk="1" fontAlgn="auto" latinLnBrk="0" hangingPunct="1">
                        <a:lnSpc>
                          <a:spcPct val="100000"/>
                        </a:lnSpc>
                        <a:spcBef>
                          <a:spcPts val="0"/>
                        </a:spcBef>
                        <a:spcAft>
                          <a:spcPts val="0"/>
                        </a:spcAft>
                        <a:buClrTx/>
                        <a:buSzTx/>
                        <a:buFontTx/>
                        <a:buNone/>
                        <a:tabLst/>
                        <a:defRPr/>
                      </a:pPr>
                      <a:r>
                        <a:rPr lang="pt-BR" sz="700" dirty="0">
                          <a:latin typeface="+mj-lt"/>
                        </a:rPr>
                        <a:t>Queda em julho, abaixo do Ibovespa. Por ter menor liquidez, a companhia tende a sofrer mais em um cenário macroeconômico mais desfavorável.</a:t>
                      </a:r>
                    </a:p>
                  </a:txBody>
                  <a:tcPr marL="36000" anchor="ctr"/>
                </a:tc>
                <a:tc>
                  <a:txBody>
                    <a:bodyPr/>
                    <a:lstStyle/>
                    <a:p>
                      <a:pPr marL="0" marR="0" lvl="0" indent="0" algn="ctr" defTabSz="685808" rtl="0" eaLnBrk="1" fontAlgn="auto" latinLnBrk="0" hangingPunct="1">
                        <a:lnSpc>
                          <a:spcPct val="100000"/>
                        </a:lnSpc>
                        <a:spcBef>
                          <a:spcPts val="0"/>
                        </a:spcBef>
                        <a:spcAft>
                          <a:spcPts val="0"/>
                        </a:spcAft>
                        <a:buClrTx/>
                        <a:buSzTx/>
                        <a:buFontTx/>
                        <a:buNone/>
                        <a:tabLst/>
                        <a:defRPr/>
                      </a:pPr>
                      <a:r>
                        <a:rPr lang="pt-BR" sz="700" b="1" i="0" dirty="0">
                          <a:latin typeface="+mj-lt"/>
                          <a:ea typeface="Roboto Light" panose="02000000000000000000" pitchFamily="2" charset="0"/>
                          <a:cs typeface="Roboto Light" panose="02000000000000000000" pitchFamily="2" charset="0"/>
                          <a:hlinkClick r:id="rId14"/>
                        </a:rPr>
                        <a:t>Clique aqui</a:t>
                      </a:r>
                      <a:endParaRPr lang="pt-BR" sz="700" i="0" dirty="0">
                        <a:latin typeface="+mj-lt"/>
                      </a:endParaRPr>
                    </a:p>
                  </a:txBody>
                  <a:tcPr anchor="ctr"/>
                </a:tc>
                <a:extLst>
                  <a:ext uri="{0D108BD9-81ED-4DB2-BD59-A6C34878D82A}">
                    <a16:rowId xmlns:a16="http://schemas.microsoft.com/office/drawing/2014/main" val="2429060278"/>
                  </a:ext>
                </a:extLst>
              </a:tr>
              <a:tr h="285933">
                <a:tc>
                  <a:txBody>
                    <a:bodyPr/>
                    <a:lstStyle/>
                    <a:p>
                      <a:pPr algn="ctr" fontAlgn="ctr">
                        <a:buNone/>
                      </a:pPr>
                      <a:r>
                        <a:rPr lang="pt-BR" sz="700" b="0" i="0" u="none" strike="noStrike" dirty="0" err="1">
                          <a:solidFill>
                            <a:srgbClr val="000000"/>
                          </a:solidFill>
                          <a:effectLst/>
                          <a:latin typeface="Roboto Light" panose="02000000000000000000" pitchFamily="2" charset="0"/>
                        </a:rPr>
                        <a:t>Itaú Unibanco</a:t>
                      </a:r>
                      <a:endParaRPr lang="pt-BR" sz="700" b="0" i="0" u="none" strike="noStrike" dirty="0">
                        <a:solidFill>
                          <a:srgbClr val="000000"/>
                        </a:solidFill>
                        <a:effectLst/>
                        <a:latin typeface="Roboto Light" panose="02000000000000000000" pitchFamily="2" charset="0"/>
                      </a:endParaRPr>
                    </a:p>
                  </a:txBody>
                  <a:tcPr marL="4409" marR="4409" marT="4409" marB="0" anchor="ctr"/>
                </a:tc>
                <a:tc>
                  <a:txBody>
                    <a:bodyPr/>
                    <a:lstStyle/>
                    <a:p>
                      <a:pPr algn="ctr" fontAlgn="ctr">
                        <a:buNone/>
                      </a:pPr>
                      <a:r>
                        <a:rPr lang="pt-BR" sz="700" b="0" i="0" u="none" strike="noStrike" dirty="0">
                          <a:solidFill>
                            <a:srgbClr val="000000"/>
                          </a:solidFill>
                          <a:effectLst/>
                          <a:latin typeface="Roboto Light" panose="02000000000000000000" pitchFamily="2" charset="0"/>
                        </a:rPr>
                        <a:t>ITUB4</a:t>
                      </a:r>
                    </a:p>
                  </a:txBody>
                  <a:tcPr marL="4409" marR="4409" marT="4409" marB="0" anchor="ctr"/>
                </a:tc>
                <a:tc>
                  <a:txBody>
                    <a:bodyPr/>
                    <a:lstStyle/>
                    <a:p>
                      <a:pPr algn="ctr" fontAlgn="ctr">
                        <a:buNone/>
                      </a:pPr>
                      <a:r>
                        <a:rPr lang="pt-BR" sz="700" b="0" i="0" u="none" strike="noStrike" dirty="0">
                          <a:solidFill>
                            <a:srgbClr val="000000"/>
                          </a:solidFill>
                          <a:effectLst/>
                          <a:latin typeface="Roboto Light" panose="02000000000000000000" pitchFamily="2" charset="0"/>
                        </a:rPr>
                        <a:t>10,0%</a:t>
                      </a:r>
                    </a:p>
                  </a:txBody>
                  <a:tcPr marL="4409" marR="4409" marT="4409" marB="0" anchor="ctr"/>
                </a:tc>
                <a:tc>
                  <a:txBody>
                    <a:bodyPr/>
                    <a:lstStyle/>
                    <a:p>
                      <a:pPr algn="ctr" fontAlgn="ctr">
                        <a:buNone/>
                      </a:pPr>
                      <a:r>
                        <a:rPr lang="pt-BR" sz="700" b="0" i="0" u="none" strike="noStrike" dirty="0">
                          <a:solidFill>
                            <a:srgbClr val="000000"/>
                          </a:solidFill>
                          <a:effectLst/>
                          <a:latin typeface="Roboto Light" panose="02000000000000000000" pitchFamily="2" charset="0"/>
                        </a:rPr>
                        <a:t>Compra</a:t>
                      </a:r>
                    </a:p>
                  </a:txBody>
                  <a:tcPr marL="4409" marR="4409" marT="4409" marB="0" anchor="ctr"/>
                </a:tc>
                <a:tc>
                  <a:txBody>
                    <a:bodyPr/>
                    <a:lstStyle/>
                    <a:p>
                      <a:pPr algn="ctr" fontAlgn="ctr">
                        <a:buNone/>
                      </a:pPr>
                      <a:r>
                        <a:rPr lang="pt-BR" sz="700" b="0" i="0" u="none" strike="noStrike" dirty="0">
                          <a:solidFill>
                            <a:srgbClr val="000000"/>
                          </a:solidFill>
                          <a:effectLst/>
                          <a:latin typeface="Roboto Light" panose="02000000000000000000" pitchFamily="2" charset="0"/>
                        </a:rPr>
                        <a:t>R$ 51,00</a:t>
                      </a:r>
                    </a:p>
                  </a:txBody>
                  <a:tcPr marL="4409" marR="4409" marT="4409" marB="0" anchor="ctr"/>
                </a:tc>
                <a:tc>
                  <a:txBody>
                    <a:bodyPr/>
                    <a:lstStyle/>
                    <a:p>
                      <a:pPr algn="just">
                        <a:lnSpc>
                          <a:spcPct val="100000"/>
                        </a:lnSpc>
                      </a:pPr>
                      <a:r>
                        <a:rPr lang="pt-BR" sz="700" i="0" dirty="0">
                          <a:latin typeface="+mj-lt"/>
                        </a:rPr>
                        <a:t>Alta em julho, em linha com o setor. Seguimos vendo o banco bem posicionado para manter retornos sobre o patrimônio acima dos pares e do próprio custo de capital, o que explica em parte o múltiplo mais elevado. Vemos ainda riscos altistas relevantes para a tese e o melhor papel do setor para atravessar um ciclo de alta da inadimplência.</a:t>
                      </a:r>
                    </a:p>
                  </a:txBody>
                  <a:tcPr marL="36000" anchor="ctr"/>
                </a:tc>
                <a:tc>
                  <a:txBody>
                    <a:bodyPr/>
                    <a:lstStyle/>
                    <a:p>
                      <a:pPr marL="0" marR="0" lvl="0" indent="0" algn="ctr" defTabSz="685808" rtl="0" eaLnBrk="1" fontAlgn="auto" latinLnBrk="0" hangingPunct="1">
                        <a:lnSpc>
                          <a:spcPct val="100000"/>
                        </a:lnSpc>
                        <a:spcBef>
                          <a:spcPts val="0"/>
                        </a:spcBef>
                        <a:spcAft>
                          <a:spcPts val="0"/>
                        </a:spcAft>
                        <a:buClrTx/>
                        <a:buSzTx/>
                        <a:buFontTx/>
                        <a:buNone/>
                        <a:tabLst/>
                        <a:defRPr/>
                      </a:pPr>
                      <a:r>
                        <a:rPr lang="pt-BR" sz="700" b="1" i="0" dirty="0">
                          <a:latin typeface="+mj-lt"/>
                          <a:ea typeface="Roboto Light" panose="02000000000000000000" pitchFamily="2" charset="0"/>
                          <a:cs typeface="Roboto Light" panose="02000000000000000000" pitchFamily="2" charset="0"/>
                          <a:hlinkClick r:id="rId16"/>
                        </a:rPr>
                        <a:t>Clique aqui</a:t>
                      </a:r>
                      <a:endParaRPr lang="pt-BR" sz="700" i="0" dirty="0">
                        <a:latin typeface="+mj-lt"/>
                      </a:endParaRPr>
                    </a:p>
                  </a:txBody>
                  <a:tcPr anchor="ctr"/>
                </a:tc>
                <a:extLst>
                  <a:ext uri="{0D108BD9-81ED-4DB2-BD59-A6C34878D82A}">
                    <a16:rowId xmlns:a16="http://schemas.microsoft.com/office/drawing/2014/main" val="18462571"/>
                  </a:ext>
                </a:extLst>
              </a:tr>
              <a:tr h="285933">
                <a:tc>
                  <a:txBody>
                    <a:bodyPr/>
                    <a:lstStyle/>
                    <a:p>
                      <a:pPr algn="ctr" fontAlgn="ctr">
                        <a:buNone/>
                      </a:pPr>
                      <a:r>
                        <a:rPr lang="pt-BR" sz="700" b="0" i="0" u="none" strike="noStrike" dirty="0">
                          <a:solidFill>
                            <a:srgbClr val="000000"/>
                          </a:solidFill>
                          <a:effectLst/>
                          <a:latin typeface="Roboto Light" panose="02000000000000000000" pitchFamily="2" charset="0"/>
                        </a:rPr>
                        <a:t>BTG Pactual</a:t>
                      </a:r>
                    </a:p>
                  </a:txBody>
                  <a:tcPr marL="4409" marR="4409" marT="4409" marB="0" anchor="ctr"/>
                </a:tc>
                <a:tc>
                  <a:txBody>
                    <a:bodyPr/>
                    <a:lstStyle/>
                    <a:p>
                      <a:pPr algn="ctr" fontAlgn="ctr">
                        <a:buNone/>
                      </a:pPr>
                      <a:r>
                        <a:rPr lang="pt-BR" sz="700" b="0" i="0" u="none" strike="noStrike" dirty="0">
                          <a:solidFill>
                            <a:srgbClr val="000000"/>
                          </a:solidFill>
                          <a:effectLst/>
                          <a:latin typeface="Roboto Light" panose="02000000000000000000" pitchFamily="2" charset="0"/>
                        </a:rPr>
                        <a:t>BPAC11</a:t>
                      </a:r>
                    </a:p>
                  </a:txBody>
                  <a:tcPr marL="4409" marR="4409" marT="4409" marB="0" anchor="ctr"/>
                </a:tc>
                <a:tc>
                  <a:txBody>
                    <a:bodyPr/>
                    <a:lstStyle/>
                    <a:p>
                      <a:pPr algn="ctr" fontAlgn="ctr">
                        <a:buNone/>
                      </a:pPr>
                      <a:r>
                        <a:rPr lang="pt-BR" sz="700" b="0" i="0" u="none" strike="noStrike" dirty="0">
                          <a:solidFill>
                            <a:srgbClr val="000000"/>
                          </a:solidFill>
                          <a:effectLst/>
                          <a:latin typeface="Roboto Light" panose="02000000000000000000" pitchFamily="2" charset="0"/>
                        </a:rPr>
                        <a:t>5,0%</a:t>
                      </a:r>
                    </a:p>
                  </a:txBody>
                  <a:tcPr marL="4409" marR="4409" marT="4409" marB="0" anchor="ctr"/>
                </a:tc>
                <a:tc>
                  <a:txBody>
                    <a:bodyPr/>
                    <a:lstStyle/>
                    <a:p>
                      <a:pPr algn="ctr" fontAlgn="ctr">
                        <a:buNone/>
                      </a:pPr>
                      <a:r>
                        <a:rPr lang="pt-BR" sz="700" b="0" i="0" u="none" strike="noStrike" dirty="0">
                          <a:solidFill>
                            <a:srgbClr val="000000"/>
                          </a:solidFill>
                          <a:effectLst/>
                          <a:latin typeface="Roboto Light" panose="02000000000000000000" pitchFamily="2" charset="0"/>
                        </a:rPr>
                        <a:t>Compra</a:t>
                      </a:r>
                    </a:p>
                  </a:txBody>
                  <a:tcPr marL="4409" marR="4409" marT="4409" marB="0" anchor="ctr"/>
                </a:tc>
                <a:tc>
                  <a:txBody>
                    <a:bodyPr/>
                    <a:lstStyle/>
                    <a:p>
                      <a:pPr algn="ctr" fontAlgn="ctr">
                        <a:buNone/>
                      </a:pPr>
                      <a:r>
                        <a:rPr lang="pt-BR" sz="700" b="0" i="0" u="none" strike="noStrike" dirty="0">
                          <a:solidFill>
                            <a:srgbClr val="000000"/>
                          </a:solidFill>
                          <a:effectLst/>
                          <a:latin typeface="Roboto Light" panose="02000000000000000000" pitchFamily="2" charset="0"/>
                        </a:rPr>
                        <a:t>R$ 63,00</a:t>
                      </a:r>
                    </a:p>
                  </a:txBody>
                  <a:tcPr marL="4409" marR="4409" marT="4409" marB="0" anchor="ctr"/>
                </a:tc>
                <a:tc>
                  <a:txBody>
                    <a:bodyPr/>
                    <a:lstStyle/>
                    <a:p>
                      <a:pPr marL="0" marR="0" lvl="0" indent="0" algn="just" defTabSz="685808" rtl="0" eaLnBrk="1" fontAlgn="auto" latinLnBrk="0" hangingPunct="1">
                        <a:lnSpc>
                          <a:spcPct val="100000"/>
                        </a:lnSpc>
                        <a:spcBef>
                          <a:spcPts val="0"/>
                        </a:spcBef>
                        <a:spcAft>
                          <a:spcPts val="0"/>
                        </a:spcAft>
                        <a:buClrTx/>
                        <a:buSzTx/>
                        <a:buFontTx/>
                        <a:buNone/>
                        <a:tabLst/>
                        <a:defRPr/>
                      </a:pPr>
                      <a:r>
                        <a:rPr lang="pt-BR" sz="700" i="0" dirty="0">
                          <a:latin typeface="+mj-lt"/>
                        </a:rPr>
                        <a:t>Alta em julho, corrigindo parte da queda expressiva recente. O movimento reflete a expectativa de um segundo semestre menos aquecido que o primeiro, mas ainda sólido. Isso, somado à maior convicção na sustentabilidade de retornos sobre o patrimônio acima dos pares, sustenta a manutenção do banco na carteira.</a:t>
                      </a:r>
                    </a:p>
                  </a:txBody>
                  <a:tcPr marL="36000" anchor="ctr"/>
                </a:tc>
                <a:tc>
                  <a:txBody>
                    <a:bodyPr/>
                    <a:lstStyle/>
                    <a:p>
                      <a:pPr marL="0" marR="0" lvl="0" indent="0" algn="ctr" defTabSz="685808" rtl="0" eaLnBrk="1" fontAlgn="auto" latinLnBrk="0" hangingPunct="1">
                        <a:lnSpc>
                          <a:spcPct val="100000"/>
                        </a:lnSpc>
                        <a:spcBef>
                          <a:spcPts val="0"/>
                        </a:spcBef>
                        <a:spcAft>
                          <a:spcPts val="0"/>
                        </a:spcAft>
                        <a:buClrTx/>
                        <a:buSzTx/>
                        <a:buFontTx/>
                        <a:buNone/>
                        <a:tabLst/>
                        <a:defRPr/>
                      </a:pPr>
                      <a:r>
                        <a:rPr lang="pt-BR" sz="700" b="1" i="0" dirty="0">
                          <a:latin typeface="+mj-lt"/>
                          <a:ea typeface="Roboto Light" panose="02000000000000000000" pitchFamily="2" charset="0"/>
                          <a:cs typeface="Roboto Light" panose="02000000000000000000" pitchFamily="2" charset="0"/>
                          <a:hlinkClick r:id="rId17"/>
                        </a:rPr>
                        <a:t>Clique aqui</a:t>
                      </a:r>
                      <a:endParaRPr lang="pt-BR" sz="700" i="0" dirty="0">
                        <a:latin typeface="+mj-lt"/>
                      </a:endParaRPr>
                    </a:p>
                  </a:txBody>
                  <a:tcPr anchor="ctr"/>
                </a:tc>
                <a:extLst>
                  <a:ext uri="{0D108BD9-81ED-4DB2-BD59-A6C34878D82A}">
                    <a16:rowId xmlns:a16="http://schemas.microsoft.com/office/drawing/2014/main" val="1567495168"/>
                  </a:ext>
                </a:extLst>
              </a:tr>
              <a:tr h="386009">
                <a:tc>
                  <a:txBody>
                    <a:bodyPr/>
                    <a:lstStyle/>
                    <a:p>
                      <a:pPr algn="ctr" fontAlgn="ctr">
                        <a:buNone/>
                      </a:pPr>
                      <a:r>
                        <a:rPr lang="pt-BR" sz="700" b="0" i="0" u="none" strike="noStrike" dirty="0">
                          <a:solidFill>
                            <a:srgbClr val="000000"/>
                          </a:solidFill>
                          <a:effectLst/>
                          <a:latin typeface="Roboto Light" panose="02000000000000000000" pitchFamily="2" charset="0"/>
                        </a:rPr>
                        <a:t>Nubank</a:t>
                      </a:r>
                    </a:p>
                  </a:txBody>
                  <a:tcPr marL="4409" marR="4409" marT="4409" marB="0" anchor="ctr"/>
                </a:tc>
                <a:tc>
                  <a:txBody>
                    <a:bodyPr/>
                    <a:lstStyle/>
                    <a:p>
                      <a:pPr algn="ctr" fontAlgn="ctr">
                        <a:buNone/>
                      </a:pPr>
                      <a:r>
                        <a:rPr lang="pt-BR" sz="700" b="0" i="0" u="none" strike="noStrike" dirty="0">
                          <a:solidFill>
                            <a:srgbClr val="000000"/>
                          </a:solidFill>
                          <a:effectLst/>
                          <a:latin typeface="Roboto Light" panose="02000000000000000000" pitchFamily="2" charset="0"/>
                        </a:rPr>
                        <a:t>ROXO34</a:t>
                      </a:r>
                    </a:p>
                  </a:txBody>
                  <a:tcPr marL="4409" marR="4409" marT="4409" marB="0" anchor="ctr"/>
                </a:tc>
                <a:tc>
                  <a:txBody>
                    <a:bodyPr/>
                    <a:lstStyle/>
                    <a:p>
                      <a:pPr algn="ctr" fontAlgn="ctr">
                        <a:buNone/>
                      </a:pPr>
                      <a:r>
                        <a:rPr lang="pt-BR" sz="700" b="0" i="0" u="none" strike="noStrike" dirty="0">
                          <a:solidFill>
                            <a:srgbClr val="000000"/>
                          </a:solidFill>
                          <a:effectLst/>
                          <a:latin typeface="Roboto Light" panose="02000000000000000000" pitchFamily="2" charset="0"/>
                        </a:rPr>
                        <a:t>7,5%</a:t>
                      </a:r>
                    </a:p>
                  </a:txBody>
                  <a:tcPr marL="4409" marR="4409" marT="4409" marB="0" anchor="ctr"/>
                </a:tc>
                <a:tc>
                  <a:txBody>
                    <a:bodyPr/>
                    <a:lstStyle/>
                    <a:p>
                      <a:pPr algn="ctr" fontAlgn="ctr">
                        <a:buNone/>
                      </a:pPr>
                      <a:r>
                        <a:rPr lang="pt-BR" sz="700" b="0" i="0" u="none" strike="noStrike" dirty="0">
                          <a:solidFill>
                            <a:srgbClr val="000000"/>
                          </a:solidFill>
                          <a:effectLst/>
                          <a:latin typeface="Roboto Light" panose="02000000000000000000" pitchFamily="2" charset="0"/>
                        </a:rPr>
                        <a:t>Compra</a:t>
                      </a:r>
                    </a:p>
                  </a:txBody>
                  <a:tcPr marL="4409" marR="4409" marT="4409" marB="0" anchor="ctr"/>
                </a:tc>
                <a:tc>
                  <a:txBody>
                    <a:bodyPr/>
                    <a:lstStyle/>
                    <a:p>
                      <a:pPr algn="ctr" fontAlgn="ctr">
                        <a:buNone/>
                      </a:pPr>
                      <a:r>
                        <a:rPr lang="pt-BR" sz="700" b="0" i="0" u="none" strike="noStrike" dirty="0">
                          <a:solidFill>
                            <a:srgbClr val="000000"/>
                          </a:solidFill>
                          <a:effectLst/>
                          <a:latin typeface="Roboto Light" panose="02000000000000000000" pitchFamily="2" charset="0"/>
                        </a:rPr>
                        <a:t>R$ 18,60</a:t>
                      </a:r>
                    </a:p>
                  </a:txBody>
                  <a:tcPr marL="4409" marR="4409" marT="4409" marB="0" anchor="ctr"/>
                </a:tc>
                <a:tc>
                  <a:txBody>
                    <a:bodyPr/>
                    <a:lstStyle/>
                    <a:p>
                      <a:pPr marL="0" marR="0" lvl="0" indent="0" algn="just" defTabSz="685808" rtl="0" eaLnBrk="1" fontAlgn="auto" latinLnBrk="0" hangingPunct="1">
                        <a:lnSpc>
                          <a:spcPct val="100000"/>
                        </a:lnSpc>
                        <a:spcBef>
                          <a:spcPts val="0"/>
                        </a:spcBef>
                        <a:spcAft>
                          <a:spcPts val="0"/>
                        </a:spcAft>
                        <a:buClrTx/>
                        <a:buSzTx/>
                        <a:buFontTx/>
                        <a:buNone/>
                        <a:tabLst/>
                        <a:defRPr/>
                      </a:pPr>
                      <a:r>
                        <a:rPr lang="pt-BR" sz="700" i="0" dirty="0">
                          <a:latin typeface="+mj-lt"/>
                        </a:rPr>
                        <a:t>Alta em julho, em linha com a expectativa de um bom 2T26, impulsionado pela normalização do custo do risco e pela recuperação parcial da margem financeira ajustada ao risco. Ainda que gradual, a melhora reforça a percepção de que as métricas de crédito seguem sob controle.</a:t>
                      </a:r>
                    </a:p>
                  </a:txBody>
                  <a:tcPr marL="36000" anchor="ctr"/>
                </a:tc>
                <a:tc>
                  <a:txBody>
                    <a:bodyPr/>
                    <a:lstStyle/>
                    <a:p>
                      <a:pPr marL="0" marR="0" lvl="0" indent="0" algn="ctr" defTabSz="685808" rtl="0" eaLnBrk="1" fontAlgn="auto" latinLnBrk="0" hangingPunct="1">
                        <a:lnSpc>
                          <a:spcPct val="100000"/>
                        </a:lnSpc>
                        <a:spcBef>
                          <a:spcPts val="0"/>
                        </a:spcBef>
                        <a:spcAft>
                          <a:spcPts val="0"/>
                        </a:spcAft>
                        <a:buClrTx/>
                        <a:buSzTx/>
                        <a:buFontTx/>
                        <a:buNone/>
                        <a:tabLst/>
                        <a:defRPr/>
                      </a:pPr>
                      <a:r>
                        <a:rPr kumimoji="0" lang="pt-BR" sz="700" b="1" i="0" u="none" strike="noStrike" kern="1200" cap="none" spc="0" normalizeH="0" baseline="0" noProof="0" dirty="0">
                          <a:ln>
                            <a:noFill/>
                          </a:ln>
                          <a:solidFill>
                            <a:srgbClr val="18191A"/>
                          </a:solidFill>
                          <a:effectLst/>
                          <a:uLnTx/>
                          <a:uFillTx/>
                          <a:latin typeface="+mj-lt"/>
                          <a:ea typeface="Roboto Light" panose="02000000000000000000" pitchFamily="2" charset="0"/>
                          <a:cs typeface="Roboto Light" panose="02000000000000000000" pitchFamily="2" charset="0"/>
                          <a:hlinkClick r:id="rId18"/>
                        </a:rPr>
                        <a:t>Clique aqui</a:t>
                      </a:r>
                      <a:endParaRPr kumimoji="0" lang="pt-BR" sz="700" b="0" i="0" u="none" strike="noStrike" kern="1200" cap="none" spc="0" normalizeH="0" baseline="0" noProof="0" dirty="0">
                        <a:ln>
                          <a:noFill/>
                        </a:ln>
                        <a:solidFill>
                          <a:srgbClr val="18191A"/>
                        </a:solidFill>
                        <a:effectLst/>
                        <a:uLnTx/>
                        <a:uFillTx/>
                        <a:latin typeface="+mj-lt"/>
                        <a:ea typeface="+mn-ea"/>
                        <a:cs typeface="+mn-cs"/>
                      </a:endParaRPr>
                    </a:p>
                  </a:txBody>
                  <a:tcPr anchor="ctr"/>
                </a:tc>
                <a:extLst>
                  <a:ext uri="{0D108BD9-81ED-4DB2-BD59-A6C34878D82A}">
                    <a16:rowId xmlns:a16="http://schemas.microsoft.com/office/drawing/2014/main" val="2098545810"/>
                  </a:ext>
                </a:extLst>
              </a:tr>
            </a:tbl>
          </a:graphicData>
        </a:graphic>
      </p:graphicFrame>
    </p:spTree>
    <p:extLst>
      <p:ext uri="{BB962C8B-B14F-4D97-AF65-F5344CB8AC3E}">
        <p14:creationId xmlns:p14="http://schemas.microsoft.com/office/powerpoint/2010/main" val="30728256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4554A37-0243-8E93-0FE1-6326D9D6D491}"/>
              </a:ext>
            </a:extLst>
          </p:cNvPr>
          <p:cNvSpPr>
            <a:spLocks noGrp="1"/>
          </p:cNvSpPr>
          <p:nvPr>
            <p:ph sz="quarter" idx="20"/>
          </p:nvPr>
        </p:nvSpPr>
        <p:spPr>
          <a:xfrm>
            <a:off x="335999" y="797169"/>
            <a:ext cx="11518900" cy="5393906"/>
          </a:xfrm>
        </p:spPr>
        <p:txBody>
          <a:bodyPr/>
          <a:lstStyle/>
          <a:p>
            <a:pPr lvl="0" algn="just">
              <a:lnSpc>
                <a:spcPct val="100000"/>
              </a:lnSpc>
              <a:spcBef>
                <a:spcPts val="400"/>
              </a:spcBef>
              <a:tabLst>
                <a:tab pos="270510" algn="l"/>
              </a:tabLst>
            </a:pPr>
            <a:r>
              <a:rPr lang="pt-BR" sz="700" dirty="0">
                <a:solidFill>
                  <a:schemeClr val="tx2"/>
                </a:solidFill>
                <a:latin typeface="+mj-lt"/>
                <a:ea typeface="Calibri" panose="020F0502020204030204" pitchFamily="34" charset="0"/>
                <a:cs typeface="Times New Roman" panose="02020603050405020304" pitchFamily="18" charset="0"/>
              </a:rPr>
              <a:t>1) </a:t>
            </a:r>
            <a:r>
              <a:rPr lang="pt-BR" sz="700" dirty="0">
                <a:solidFill>
                  <a:schemeClr val="tx2"/>
                </a:solidFill>
                <a:effectLst/>
                <a:latin typeface="+mj-lt"/>
                <a:ea typeface="Calibri" panose="020F0502020204030204" pitchFamily="34" charset="0"/>
                <a:cs typeface="Times New Roman" panose="02020603050405020304" pitchFamily="18" charset="0"/>
              </a:rPr>
              <a:t>Este relatório de análise foi elaborado pela XP Investimentos CCTVM S.A. (“XP Investimentos ou XP”) de acordo com todas as exigências previstas na Resolução CVM 20/2021, tem como objetivo fornecer informações que possam auxiliar o investidor a tomar sua própria decisão de investimento, não constituindo qualquer tipo de oferta ou solicitação de compra e/ou venda de qualquer produto. As informações contidas neste relatório são consideradas válidas na data de sua divulgação e foram obtidas de fontes públicas. A XP Investimentos não se responsabiliza por qualquer decisão tomada pelo cliente com base no presente relatório. </a:t>
            </a:r>
          </a:p>
          <a:p>
            <a:pPr lvl="0" algn="just">
              <a:lnSpc>
                <a:spcPct val="100000"/>
              </a:lnSpc>
              <a:spcBef>
                <a:spcPts val="400"/>
              </a:spcBef>
              <a:tabLst>
                <a:tab pos="270510" algn="l"/>
              </a:tabLst>
            </a:pPr>
            <a:r>
              <a:rPr lang="pt-BR" sz="700" dirty="0">
                <a:solidFill>
                  <a:schemeClr val="tx2"/>
                </a:solidFill>
                <a:latin typeface="+mj-lt"/>
                <a:ea typeface="Calibri" panose="020F0502020204030204" pitchFamily="34" charset="0"/>
                <a:cs typeface="Times New Roman" panose="02020603050405020304" pitchFamily="18" charset="0"/>
              </a:rPr>
              <a:t>2) </a:t>
            </a:r>
            <a:r>
              <a:rPr lang="pt-BR" sz="700" dirty="0">
                <a:solidFill>
                  <a:schemeClr val="tx2"/>
                </a:solidFill>
                <a:effectLst/>
                <a:latin typeface="+mj-lt"/>
                <a:ea typeface="Calibri" panose="020F0502020204030204" pitchFamily="34" charset="0"/>
                <a:cs typeface="Times New Roman" panose="02020603050405020304" pitchFamily="18" charset="0"/>
              </a:rPr>
              <a:t>Este relatório foi elaborado considerando a classificação de risco dos produtos de modo a gerar resultados de alocação para cada perfil de investidor. </a:t>
            </a:r>
          </a:p>
          <a:p>
            <a:pPr lvl="0" algn="just">
              <a:lnSpc>
                <a:spcPct val="100000"/>
              </a:lnSpc>
              <a:spcBef>
                <a:spcPts val="400"/>
              </a:spcBef>
              <a:tabLst>
                <a:tab pos="270510" algn="l"/>
              </a:tabLst>
            </a:pPr>
            <a:r>
              <a:rPr lang="pt-BR" sz="700" dirty="0">
                <a:solidFill>
                  <a:schemeClr val="tx2"/>
                </a:solidFill>
                <a:latin typeface="+mj-lt"/>
                <a:ea typeface="Calibri" panose="020F0502020204030204" pitchFamily="34" charset="0"/>
                <a:cs typeface="Times New Roman" panose="02020603050405020304" pitchFamily="18" charset="0"/>
              </a:rPr>
              <a:t>3) </a:t>
            </a:r>
            <a:r>
              <a:rPr lang="pt-BR" sz="700" dirty="0">
                <a:solidFill>
                  <a:schemeClr val="tx2"/>
                </a:solidFill>
                <a:effectLst/>
                <a:latin typeface="+mj-lt"/>
                <a:ea typeface="Calibri" panose="020F0502020204030204" pitchFamily="34" charset="0"/>
                <a:cs typeface="Times New Roman" panose="02020603050405020304" pitchFamily="18" charset="0"/>
              </a:rPr>
              <a:t>O(s) signatário(s) deste relatório declara(m) que as recomendações refletem única e exclusivamente suas análises e opiniões pessoais, que foram produzidas de forma independente, inclusive em relação à XP Investimentos e que estão sujeitas a modificações sem aviso prévio em decorrência de alterações nas condições de mercado, e que sua(s) remuneração(es) é(são) indiretamente influenciada por receitas provenientes dos negócios e operações financeiras realizadas pela XP Investimentos. </a:t>
            </a:r>
          </a:p>
          <a:p>
            <a:pPr lvl="0" algn="just">
              <a:lnSpc>
                <a:spcPct val="100000"/>
              </a:lnSpc>
              <a:spcBef>
                <a:spcPts val="400"/>
              </a:spcBef>
              <a:tabLst>
                <a:tab pos="270510" algn="l"/>
              </a:tabLst>
            </a:pPr>
            <a:r>
              <a:rPr lang="pt-BR" sz="700" dirty="0">
                <a:solidFill>
                  <a:schemeClr val="tx2"/>
                </a:solidFill>
                <a:effectLst/>
                <a:latin typeface="+mj-lt"/>
                <a:ea typeface="Calibri" panose="020F0502020204030204" pitchFamily="34" charset="0"/>
                <a:cs typeface="Times New Roman" panose="02020603050405020304" pitchFamily="18" charset="0"/>
              </a:rPr>
              <a:t>4) O analista responsável pelo conteúdo deste relatório e pelo cumprimento da Resolução CVM nº 20/2021 está indicado acima, sendo que, caso constem a indicação de mais um analista no relatório, o responsável será o primeiro analista credenciado a ser mencionado no relatório.  </a:t>
            </a:r>
          </a:p>
          <a:p>
            <a:pPr lvl="0" algn="just">
              <a:lnSpc>
                <a:spcPct val="100000"/>
              </a:lnSpc>
              <a:spcBef>
                <a:spcPts val="400"/>
              </a:spcBef>
              <a:tabLst>
                <a:tab pos="270510" algn="l"/>
              </a:tabLst>
            </a:pPr>
            <a:r>
              <a:rPr lang="pt-BR" sz="700" dirty="0">
                <a:solidFill>
                  <a:schemeClr val="tx2"/>
                </a:solidFill>
                <a:latin typeface="+mj-lt"/>
                <a:ea typeface="Calibri" panose="020F0502020204030204" pitchFamily="34" charset="0"/>
                <a:cs typeface="Times New Roman" panose="02020603050405020304" pitchFamily="18" charset="0"/>
              </a:rPr>
              <a:t>5) O</a:t>
            </a:r>
            <a:r>
              <a:rPr lang="pt-BR" sz="700" dirty="0">
                <a:solidFill>
                  <a:schemeClr val="tx2"/>
                </a:solidFill>
                <a:effectLst/>
                <a:latin typeface="+mj-lt"/>
                <a:ea typeface="Calibri" panose="020F0502020204030204" pitchFamily="34" charset="0"/>
                <a:cs typeface="Times New Roman" panose="02020603050405020304" pitchFamily="18" charset="0"/>
              </a:rPr>
              <a:t>s analistas da XP Investimentos estão obrigados ao cumprimento de todas as regras previstas no Código de Conduta da APIMEC para o Analista de Valores Mobiliários e na Política de Conduta dos Analistas de Valores Mobiliários da XP Investimentos.  </a:t>
            </a:r>
          </a:p>
          <a:p>
            <a:pPr lvl="0" algn="just">
              <a:lnSpc>
                <a:spcPct val="100000"/>
              </a:lnSpc>
              <a:spcBef>
                <a:spcPts val="400"/>
              </a:spcBef>
              <a:tabLst>
                <a:tab pos="270510" algn="l"/>
              </a:tabLst>
            </a:pPr>
            <a:r>
              <a:rPr lang="pt-BR" sz="700" dirty="0">
                <a:solidFill>
                  <a:schemeClr val="tx2"/>
                </a:solidFill>
                <a:effectLst/>
                <a:latin typeface="+mj-lt"/>
                <a:ea typeface="Calibri" panose="020F0502020204030204" pitchFamily="34" charset="0"/>
                <a:cs typeface="Times New Roman" panose="02020603050405020304" pitchFamily="18" charset="0"/>
              </a:rPr>
              <a:t>6) O atendimento de nossos clientes é realizado por empregados da XP Investimentos ou por agentes autônomos de investimento que desempenham suas atividades por meio da XP, em conformidade com a Resolução CVM nº 178/2023, os quais encontram-se registrados na Associação Nacional das Corretoras e Distribuidoras de Títulos e Valores Mobiliários – ANCORD. O agente autônomo de investimento não pode realizar consultoria, administração ou gestão de patrimônio de clientes, devendo atuar como intermediário e solicitar autorização prévia do cliente para a realização de qualquer operação no mercado de capitais. </a:t>
            </a:r>
          </a:p>
          <a:p>
            <a:pPr lvl="0" algn="just">
              <a:lnSpc>
                <a:spcPct val="100000"/>
              </a:lnSpc>
              <a:spcBef>
                <a:spcPts val="400"/>
              </a:spcBef>
              <a:tabLst>
                <a:tab pos="270510" algn="l"/>
              </a:tabLst>
            </a:pPr>
            <a:r>
              <a:rPr lang="pt-BR" sz="700" dirty="0">
                <a:solidFill>
                  <a:schemeClr val="tx2"/>
                </a:solidFill>
                <a:effectLst/>
                <a:latin typeface="+mj-lt"/>
                <a:ea typeface="Calibri" panose="020F0502020204030204" pitchFamily="34" charset="0"/>
                <a:cs typeface="Times New Roman" panose="02020603050405020304" pitchFamily="18" charset="0"/>
              </a:rPr>
              <a:t>7)Para fins de verificação da adequação do perfil do investidor aos serviços e produtos de investimento oferecidos pela XP Investimentos, utilizamos a metodologia de adequação dos produtos por portfólio, nos termos das Regras e Procedimentos ANBIMA de </a:t>
            </a:r>
            <a:r>
              <a:rPr lang="pt-BR" sz="700" dirty="0" err="1">
                <a:solidFill>
                  <a:schemeClr val="tx2"/>
                </a:solidFill>
                <a:effectLst/>
                <a:latin typeface="+mj-lt"/>
                <a:ea typeface="Calibri" panose="020F0502020204030204" pitchFamily="34" charset="0"/>
                <a:cs typeface="Times New Roman" panose="02020603050405020304" pitchFamily="18" charset="0"/>
              </a:rPr>
              <a:t>Suitability</a:t>
            </a:r>
            <a:r>
              <a:rPr lang="pt-BR" sz="700" dirty="0">
                <a:solidFill>
                  <a:schemeClr val="tx2"/>
                </a:solidFill>
                <a:effectLst/>
                <a:latin typeface="+mj-lt"/>
                <a:ea typeface="Calibri" panose="020F0502020204030204" pitchFamily="34" charset="0"/>
                <a:cs typeface="Times New Roman" panose="02020603050405020304" pitchFamily="18" charset="0"/>
              </a:rPr>
              <a:t> nº 01 e do Código ANBIMA de Regulação e Melhores Práticas para Distribuição de Produtos de Investimento. Essa metodologia consiste em atribuir uma pontuação máxima de risco para cada perfil de investidor (conservador, moderado e agressivo), bem como uma pontuação de risco para cada um dos produtos oferecidos pela XP Investimentos, de modo que todos os clientes possam ter acesso a todos os produtos, desde que dentro das quantidades e limites da pontuação de risco definidas para o seu perfil. Antes de aplicar nos produtos e/ou contratar os serviços objeto deste material, é importante que você verifique se a sua pontuação de risco atual comporta a aplicação nos produtos e/ou a contratação dos serviços em questão, bem como se há limitações de volume, concentração e/ou quantidade para a aplicação desejada. Você pode consultar essas informações diretamente no momento da transmissão da sua ordem ou, ainda, consultando o risco geral da sua carteira na tela de carteira (Visão Risco). Caso a sua pontuação de risco atual não comporte a aplicação/contratação pretendida, ou caso existam limitações em relação à quantidade e/ou volume financeiro para a referida aplicação/contratação, isto significa que, com base na composição atual da sua carteira, esta aplicação/contratação não está adequada ao seu perfil. Em caso de dúvidas sobre o processo de adequação dos produtos oferecidos pela XP Investimentos ao seu perfil de investidor, consulte o FAQ. As condições de mercado, mudanças climáticas e o cenário macroeconômico podem afetar o desempenho do investimento.</a:t>
            </a:r>
          </a:p>
          <a:p>
            <a:pPr lvl="0" algn="just">
              <a:lnSpc>
                <a:spcPct val="100000"/>
              </a:lnSpc>
              <a:spcBef>
                <a:spcPts val="400"/>
              </a:spcBef>
              <a:tabLst>
                <a:tab pos="270510" algn="l"/>
              </a:tabLst>
            </a:pPr>
            <a:r>
              <a:rPr lang="pt-BR" sz="700" dirty="0">
                <a:solidFill>
                  <a:schemeClr val="tx2"/>
                </a:solidFill>
                <a:effectLst/>
                <a:latin typeface="+mj-lt"/>
                <a:ea typeface="Calibri" panose="020F0502020204030204" pitchFamily="34" charset="0"/>
                <a:cs typeface="Times New Roman" panose="02020603050405020304" pitchFamily="18" charset="0"/>
              </a:rPr>
              <a:t>8) A rentabilidade de produtos financeiros pode apresentar variações e seu preço ou valor pode aumentar ou diminuir num curto espaço de tempo. Os desempenhos anteriores não são necessariamente indicativos de resultados futuros. A rentabilidade divulgada não é líquida de impostos. As informações presentes neste material são baseadas em simulações e os resultados reais poderão ser significativamente diferentes. </a:t>
            </a:r>
          </a:p>
          <a:p>
            <a:pPr lvl="0" algn="just">
              <a:lnSpc>
                <a:spcPct val="100000"/>
              </a:lnSpc>
              <a:spcBef>
                <a:spcPts val="400"/>
              </a:spcBef>
              <a:tabLst>
                <a:tab pos="270510" algn="l"/>
              </a:tabLst>
            </a:pPr>
            <a:r>
              <a:rPr lang="pt-BR" sz="700" dirty="0">
                <a:solidFill>
                  <a:schemeClr val="tx2"/>
                </a:solidFill>
                <a:effectLst/>
                <a:latin typeface="+mj-lt"/>
                <a:ea typeface="Calibri" panose="020F0502020204030204" pitchFamily="34" charset="0"/>
                <a:cs typeface="Times New Roman" panose="02020603050405020304" pitchFamily="18" charset="0"/>
              </a:rPr>
              <a:t>9) Este relatório é destinado à circulação exclusiva para a rede de relacionamento da XP Investimentos, incluindo agentes autônomos da XP e clientes da XP, podendo também ser divulgado no site da XP. Fica proibida sua reprodução ou redistribuição para qualquer pessoa, no todo ou em parte, qualquer que seja o propósito, sem o prévio consentimento expresso da XP Investimentos. </a:t>
            </a:r>
          </a:p>
          <a:p>
            <a:pPr lvl="0" algn="just">
              <a:lnSpc>
                <a:spcPct val="100000"/>
              </a:lnSpc>
              <a:spcBef>
                <a:spcPts val="400"/>
              </a:spcBef>
              <a:tabLst>
                <a:tab pos="270510" algn="l"/>
              </a:tabLst>
            </a:pPr>
            <a:r>
              <a:rPr lang="pt-BR" sz="700" dirty="0">
                <a:solidFill>
                  <a:schemeClr val="tx2"/>
                </a:solidFill>
                <a:latin typeface="+mj-lt"/>
                <a:ea typeface="Calibri" panose="020F0502020204030204" pitchFamily="34" charset="0"/>
                <a:cs typeface="Times New Roman" panose="02020603050405020304" pitchFamily="18" charset="0"/>
              </a:rPr>
              <a:t>10) </a:t>
            </a:r>
            <a:r>
              <a:rPr lang="pt-BR" sz="700" dirty="0">
                <a:solidFill>
                  <a:schemeClr val="tx2"/>
                </a:solidFill>
                <a:effectLst/>
                <a:latin typeface="+mj-lt"/>
                <a:ea typeface="Calibri" panose="020F0502020204030204" pitchFamily="34" charset="0"/>
                <a:cs typeface="Times New Roman" panose="02020603050405020304" pitchFamily="18" charset="0"/>
              </a:rPr>
              <a:t>SAC. 0800 77 20202. A Ouvidoria da XP Investimentos tem a missão de servir de canal de contato sempre que os clientes que não se sentirem satisfeitos com as soluções dadas pela empresa aos seus problemas. O contato pode ser realizado por meio do telefone: 0800 722 3710. </a:t>
            </a:r>
          </a:p>
          <a:p>
            <a:pPr lvl="0" algn="just">
              <a:lnSpc>
                <a:spcPct val="100000"/>
              </a:lnSpc>
              <a:spcBef>
                <a:spcPts val="400"/>
              </a:spcBef>
              <a:tabLst>
                <a:tab pos="270510" algn="l"/>
              </a:tabLst>
            </a:pPr>
            <a:r>
              <a:rPr lang="pt-BR" sz="700" dirty="0">
                <a:solidFill>
                  <a:schemeClr val="tx2"/>
                </a:solidFill>
                <a:effectLst/>
                <a:latin typeface="+mj-lt"/>
                <a:ea typeface="Calibri" panose="020F0502020204030204" pitchFamily="34" charset="0"/>
                <a:cs typeface="Times New Roman" panose="02020603050405020304" pitchFamily="18" charset="0"/>
              </a:rPr>
              <a:t>11) O custo da operação e a política de cobrança estão definidos nas tabelas de custos operacionais disponibilizadas no site da XP Investimentos: www.xpi.com.br. </a:t>
            </a:r>
          </a:p>
          <a:p>
            <a:pPr lvl="0" algn="just">
              <a:lnSpc>
                <a:spcPct val="100000"/>
              </a:lnSpc>
              <a:spcBef>
                <a:spcPts val="400"/>
              </a:spcBef>
              <a:tabLst>
                <a:tab pos="270510" algn="l"/>
              </a:tabLst>
            </a:pPr>
            <a:r>
              <a:rPr lang="pt-BR" sz="700" dirty="0">
                <a:solidFill>
                  <a:schemeClr val="tx2"/>
                </a:solidFill>
                <a:effectLst/>
                <a:latin typeface="+mj-lt"/>
                <a:ea typeface="Calibri" panose="020F0502020204030204" pitchFamily="34" charset="0"/>
                <a:cs typeface="Times New Roman" panose="02020603050405020304" pitchFamily="18" charset="0"/>
              </a:rPr>
              <a:t>12) A XP Investimentos se exime de qualquer responsabilidade por quaisquer prejuízos, diretos ou indiretos, que venham a decorrer da utilização deste relatório ou seu conteúdo. </a:t>
            </a:r>
          </a:p>
          <a:p>
            <a:pPr lvl="0" algn="just">
              <a:lnSpc>
                <a:spcPct val="100000"/>
              </a:lnSpc>
              <a:spcBef>
                <a:spcPts val="400"/>
              </a:spcBef>
              <a:tabLst>
                <a:tab pos="270510" algn="l"/>
              </a:tabLst>
            </a:pPr>
            <a:r>
              <a:rPr lang="pt-BR" sz="700" dirty="0">
                <a:solidFill>
                  <a:schemeClr val="tx2"/>
                </a:solidFill>
                <a:effectLst/>
                <a:latin typeface="+mj-lt"/>
                <a:ea typeface="Calibri" panose="020F0502020204030204" pitchFamily="34" charset="0"/>
                <a:cs typeface="Times New Roman" panose="02020603050405020304" pitchFamily="18" charset="0"/>
              </a:rPr>
              <a:t>13) A Avaliação Técnica e a Avaliação de Fundamentos seguem diferentes metodologias de análise. A Análise Técnica é executada seguindo conceitos como tendência, suporte, resistência, </a:t>
            </a:r>
            <a:r>
              <a:rPr lang="pt-BR" sz="700" dirty="0" err="1">
                <a:solidFill>
                  <a:schemeClr val="tx2"/>
                </a:solidFill>
                <a:effectLst/>
                <a:latin typeface="+mj-lt"/>
                <a:ea typeface="Calibri" panose="020F0502020204030204" pitchFamily="34" charset="0"/>
                <a:cs typeface="Times New Roman" panose="02020603050405020304" pitchFamily="18" charset="0"/>
              </a:rPr>
              <a:t>candles</a:t>
            </a:r>
            <a:r>
              <a:rPr lang="pt-BR" sz="700" dirty="0">
                <a:solidFill>
                  <a:schemeClr val="tx2"/>
                </a:solidFill>
                <a:effectLst/>
                <a:latin typeface="+mj-lt"/>
                <a:ea typeface="Calibri" panose="020F0502020204030204" pitchFamily="34" charset="0"/>
                <a:cs typeface="Times New Roman" panose="02020603050405020304" pitchFamily="18" charset="0"/>
              </a:rPr>
              <a:t>, volumes, médias móveis entre outros. Já a Análise Fundamentalista utiliza como informação os resultados divulgados pelas companhias emissoras e suas projeções. Desta forma, as opiniões dos Analistas Fundamentalistas, que buscam os melhores retornos dadas as condições de mercado, o cenário macroeconômico e os eventos específicos da empresa e do setor, podem divergir das opiniões dos Analistas Técnicos, que visam identificar os movimentos mais prováveis dos preços dos ativos, com utilização de “</a:t>
            </a:r>
            <a:r>
              <a:rPr lang="pt-BR" sz="700" dirty="0" err="1">
                <a:solidFill>
                  <a:schemeClr val="tx2"/>
                </a:solidFill>
                <a:effectLst/>
                <a:latin typeface="+mj-lt"/>
                <a:ea typeface="Calibri" panose="020F0502020204030204" pitchFamily="34" charset="0"/>
                <a:cs typeface="Times New Roman" panose="02020603050405020304" pitchFamily="18" charset="0"/>
              </a:rPr>
              <a:t>stops</a:t>
            </a:r>
            <a:r>
              <a:rPr lang="pt-BR" sz="700" dirty="0">
                <a:solidFill>
                  <a:schemeClr val="tx2"/>
                </a:solidFill>
                <a:effectLst/>
                <a:latin typeface="+mj-lt"/>
                <a:ea typeface="Calibri" panose="020F0502020204030204" pitchFamily="34" charset="0"/>
                <a:cs typeface="Times New Roman" panose="02020603050405020304" pitchFamily="18" charset="0"/>
              </a:rPr>
              <a:t>” para limitar as possíveis perdas.  </a:t>
            </a:r>
          </a:p>
          <a:p>
            <a:pPr lvl="0" algn="just">
              <a:lnSpc>
                <a:spcPct val="100000"/>
              </a:lnSpc>
              <a:spcBef>
                <a:spcPts val="400"/>
              </a:spcBef>
              <a:tabLst>
                <a:tab pos="270510" algn="l"/>
              </a:tabLst>
            </a:pPr>
            <a:r>
              <a:rPr lang="pt-BR" sz="700" dirty="0">
                <a:solidFill>
                  <a:schemeClr val="tx2"/>
                </a:solidFill>
                <a:effectLst/>
                <a:latin typeface="+mj-lt"/>
                <a:ea typeface="Calibri" panose="020F0502020204030204" pitchFamily="34" charset="0"/>
                <a:cs typeface="Times New Roman" panose="02020603050405020304" pitchFamily="18" charset="0"/>
              </a:rPr>
              <a:t>14) Ação é uma fração do capital de uma empresa que é negociada no mercado. É um título de renda variável, ou seja, um investimento no qual a rentabilidade não é preestabelecida, varia conforme as cotações de mercado. O investimento em ações é um investimento de alto risco e os desempenhos anteriores não são necessariamente indicativos de resultados futuros e nenhuma declaração ou garantia, de forma expressa ou implícita, é feita neste material em relação a desempenhos. As condições de mercado, o cenário macroeconômico, os eventos específicos da empresa e do setor podem afetar o desempenho do investimento, podendo resultar até mesmo em significativas perdas patrimoniais. A duração recomendada para o investimento é de médio-longo prazo. Não há quaisquer garantias sobre o patrimônio do cliente neste tipo de produto.</a:t>
            </a:r>
          </a:p>
          <a:p>
            <a:pPr lvl="0" algn="just">
              <a:lnSpc>
                <a:spcPct val="100000"/>
              </a:lnSpc>
              <a:spcBef>
                <a:spcPts val="400"/>
              </a:spcBef>
              <a:tabLst>
                <a:tab pos="270510" algn="l"/>
              </a:tabLst>
            </a:pPr>
            <a:r>
              <a:rPr lang="pt-BR" sz="700" dirty="0">
                <a:solidFill>
                  <a:schemeClr val="tx2"/>
                </a:solidFill>
                <a:effectLst/>
                <a:latin typeface="+mj-lt"/>
                <a:ea typeface="Calibri" panose="020F0502020204030204" pitchFamily="34" charset="0"/>
                <a:cs typeface="Times New Roman" panose="02020603050405020304" pitchFamily="18" charset="0"/>
              </a:rPr>
              <a:t>15) O investimento em opções é preferencialmente indicado para investidores de perfil agressivo, de acordo com a política de </a:t>
            </a:r>
            <a:r>
              <a:rPr lang="pt-BR" sz="700" dirty="0" err="1">
                <a:solidFill>
                  <a:schemeClr val="tx2"/>
                </a:solidFill>
                <a:effectLst/>
                <a:latin typeface="+mj-lt"/>
                <a:ea typeface="Calibri" panose="020F0502020204030204" pitchFamily="34" charset="0"/>
                <a:cs typeface="Times New Roman" panose="02020603050405020304" pitchFamily="18" charset="0"/>
              </a:rPr>
              <a:t>suitability</a:t>
            </a:r>
            <a:r>
              <a:rPr lang="pt-BR" sz="700" dirty="0">
                <a:solidFill>
                  <a:schemeClr val="tx2"/>
                </a:solidFill>
                <a:effectLst/>
                <a:latin typeface="+mj-lt"/>
                <a:ea typeface="Calibri" panose="020F0502020204030204" pitchFamily="34" charset="0"/>
                <a:cs typeface="Times New Roman" panose="02020603050405020304" pitchFamily="18" charset="0"/>
              </a:rPr>
              <a:t> praticada pela XP Investimentos. No mercado de opções, são negociados direitos de compra ou venda de um bem por preço fixado em data futura, devendo o adquirente do direito negociado pagar um prêmio ao vendedor tal como num acordo seguro. As operações com esses derivativos são consideradas de risco muito alto por apresentarem altas relações de risco e retorno e algumas posições apresentarem a possibilidade de perdas superiores ao capital investido. A duração recomendada para o investimento é de curto prazo e o patrimônio do cliente não está garantido neste tipo de produto.  </a:t>
            </a:r>
          </a:p>
          <a:p>
            <a:pPr lvl="0" algn="just">
              <a:lnSpc>
                <a:spcPct val="100000"/>
              </a:lnSpc>
              <a:spcBef>
                <a:spcPts val="400"/>
              </a:spcBef>
              <a:tabLst>
                <a:tab pos="270510" algn="l"/>
              </a:tabLst>
            </a:pPr>
            <a:r>
              <a:rPr lang="pt-BR" sz="700" dirty="0">
                <a:solidFill>
                  <a:schemeClr val="tx2"/>
                </a:solidFill>
                <a:effectLst/>
                <a:latin typeface="+mj-lt"/>
                <a:ea typeface="Calibri" panose="020F0502020204030204" pitchFamily="34" charset="0"/>
                <a:cs typeface="Times New Roman" panose="02020603050405020304" pitchFamily="18" charset="0"/>
              </a:rPr>
              <a:t>16) O investimento em termos são contratos para compra ou a venda de uma determinada quantidade de ações, a um preço fixado, para liquidação em prazo determinado. O prazo do contrato a Termo é livremente escolhido pelos investidores, obedecendo o prazo mínimo de 16 dias e máximo de 999 dias corridos. O preço será o valor da ação adicionado de uma parcela correspondente aos juros – que são fixados livremente em mercado, em função do prazo do contrato. Toda transação a termo requer um depósito de garantia. Essas garantias são prestadas em duas formas: cobertura ou margem. </a:t>
            </a:r>
          </a:p>
          <a:p>
            <a:pPr lvl="0" algn="just">
              <a:lnSpc>
                <a:spcPct val="100000"/>
              </a:lnSpc>
              <a:spcBef>
                <a:spcPts val="400"/>
              </a:spcBef>
              <a:tabLst>
                <a:tab pos="270510" algn="l"/>
              </a:tabLst>
            </a:pPr>
            <a:r>
              <a:rPr lang="pt-BR" sz="700" dirty="0">
                <a:solidFill>
                  <a:schemeClr val="tx2"/>
                </a:solidFill>
                <a:effectLst/>
                <a:latin typeface="+mj-lt"/>
                <a:ea typeface="Calibri" panose="020F0502020204030204" pitchFamily="34" charset="0"/>
                <a:cs typeface="Times New Roman" panose="02020603050405020304" pitchFamily="18" charset="0"/>
              </a:rPr>
              <a:t>17) O investimento em Mercados Futuros embute riscos de perdas patrimoniais significativos. Commodity é um objeto ou determinante de preço de um contrato futuro ou outro instrumento derivativo, podendo consubstanciar um índice, uma taxa, um valor mobiliário ou produto físico. É um investimento de risco muito alto, que contempla a possibilidade de oscilação de preço devido à utilização de alavancagem financeira. A duração recomendada para o investimento é de curto prazo e o patrimônio do cliente não está garantido neste tipo de produto. As condições de mercado, mudanças climáticas e o cenário macroeconômico podem afetar o desempenho do investimento. </a:t>
            </a:r>
          </a:p>
          <a:p>
            <a:pPr lvl="0" algn="just">
              <a:lnSpc>
                <a:spcPct val="100000"/>
              </a:lnSpc>
              <a:spcBef>
                <a:spcPts val="400"/>
              </a:spcBef>
              <a:tabLst>
                <a:tab pos="270510" algn="l"/>
              </a:tabLst>
            </a:pPr>
            <a:r>
              <a:rPr lang="pt-BR" sz="700" dirty="0">
                <a:solidFill>
                  <a:schemeClr val="tx2"/>
                </a:solidFill>
                <a:effectLst/>
                <a:latin typeface="+mj-lt"/>
                <a:ea typeface="Calibri" panose="020F0502020204030204" pitchFamily="34" charset="0"/>
                <a:cs typeface="Times New Roman" panose="02020603050405020304" pitchFamily="18" charset="0"/>
              </a:rPr>
              <a:t>18) ESTA INSTITUIÇÃO É ADERENTE AO CÓDIGO ANBIMA DE REGULAÇÃO E MELHORES PRÁTICAS PARA ATIVIDADE DE DISTRIBUIÇÃO DE PRODUTOS DE INVESTIMENTO NO VAREJO. </a:t>
            </a:r>
          </a:p>
          <a:p>
            <a:pPr marL="180340" indent="-457200" algn="just">
              <a:lnSpc>
                <a:spcPct val="100000"/>
              </a:lnSpc>
              <a:spcBef>
                <a:spcPts val="400"/>
              </a:spcBef>
              <a:tabLst>
                <a:tab pos="270510" algn="l"/>
              </a:tabLst>
            </a:pPr>
            <a:r>
              <a:rPr lang="pt-BR" sz="700" dirty="0">
                <a:solidFill>
                  <a:schemeClr val="tx2"/>
                </a:solidFill>
                <a:effectLst/>
                <a:latin typeface="+mj-lt"/>
                <a:ea typeface="Calibri" panose="020F0502020204030204" pitchFamily="34" charset="0"/>
                <a:cs typeface="Times New Roman" panose="02020603050405020304" pitchFamily="18" charset="0"/>
              </a:rPr>
              <a:t> </a:t>
            </a:r>
          </a:p>
          <a:p>
            <a:pPr>
              <a:lnSpc>
                <a:spcPct val="100000"/>
              </a:lnSpc>
              <a:spcBef>
                <a:spcPts val="400"/>
              </a:spcBef>
            </a:pPr>
            <a:endParaRPr lang="pt-BR" sz="700" dirty="0">
              <a:solidFill>
                <a:schemeClr val="tx2"/>
              </a:solidFill>
              <a:latin typeface="+mj-lt"/>
            </a:endParaRPr>
          </a:p>
        </p:txBody>
      </p:sp>
      <p:sp>
        <p:nvSpPr>
          <p:cNvPr id="8" name="Text Placeholder 7">
            <a:extLst>
              <a:ext uri="{FF2B5EF4-FFF2-40B4-BE49-F238E27FC236}">
                <a16:creationId xmlns:a16="http://schemas.microsoft.com/office/drawing/2014/main" id="{9CAFF29E-4FBB-9DEE-55A9-7477DF81D287}"/>
              </a:ext>
            </a:extLst>
          </p:cNvPr>
          <p:cNvSpPr>
            <a:spLocks noGrp="1"/>
          </p:cNvSpPr>
          <p:nvPr>
            <p:ph type="body" sz="quarter" idx="16"/>
          </p:nvPr>
        </p:nvSpPr>
        <p:spPr/>
        <p:txBody>
          <a:bodyPr/>
          <a:lstStyle/>
          <a:p>
            <a:r>
              <a:rPr lang="pt-BR" dirty="0" err="1"/>
              <a:t>Disclaimer</a:t>
            </a:r>
            <a:endParaRPr lang="pt-BR" dirty="0"/>
          </a:p>
        </p:txBody>
      </p:sp>
      <p:sp>
        <p:nvSpPr>
          <p:cNvPr id="10" name="Date Placeholder 9">
            <a:extLst>
              <a:ext uri="{FF2B5EF4-FFF2-40B4-BE49-F238E27FC236}">
                <a16:creationId xmlns:a16="http://schemas.microsoft.com/office/drawing/2014/main" id="{4AC1D66F-0BA3-5117-C669-4427A142A817}"/>
              </a:ext>
            </a:extLst>
          </p:cNvPr>
          <p:cNvSpPr>
            <a:spLocks noGrp="1"/>
          </p:cNvSpPr>
          <p:nvPr>
            <p:ph type="dt" sz="half" idx="2"/>
          </p:nvPr>
        </p:nvSpPr>
        <p:spPr/>
        <p:txBody>
          <a:bodyPr/>
          <a:lstStyle/>
          <a:p>
            <a:fld id="{A6844A8F-C80F-444C-AD01-359786A22A4E}" type="datetime4">
              <a:rPr lang="pt-BR" smtClean="0"/>
              <a:pPr/>
              <a:t>5 de agosto de 2026</a:t>
            </a:fld>
            <a:endParaRPr lang="en-US" dirty="0"/>
          </a:p>
        </p:txBody>
      </p:sp>
    </p:spTree>
    <p:extLst>
      <p:ext uri="{BB962C8B-B14F-4D97-AF65-F5344CB8AC3E}">
        <p14:creationId xmlns:p14="http://schemas.microsoft.com/office/powerpoint/2010/main" val="30390040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10691858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DH_FLYSHEET_STYLE" val="1"/>
</p:tagLst>
</file>

<file path=ppt/tags/tag2.xml><?xml version="1.0" encoding="utf-8"?>
<p:tagLst xmlns:a="http://schemas.openxmlformats.org/drawingml/2006/main" xmlns:r="http://schemas.openxmlformats.org/officeDocument/2006/relationships" xmlns:p="http://schemas.openxmlformats.org/presentationml/2006/main">
  <p:tag name="MM_SLIDE_TYPE" val="6"/>
</p:tagLst>
</file>

<file path=ppt/tags/tag3.xml><?xml version="1.0" encoding="utf-8"?>
<p:tagLst xmlns:a="http://schemas.openxmlformats.org/drawingml/2006/main" xmlns:r="http://schemas.openxmlformats.org/officeDocument/2006/relationships" xmlns:p="http://schemas.openxmlformats.org/presentationml/2006/main">
  <p:tag name="MM_SLIDE_TYPE" val="6"/>
</p:tagLst>
</file>

<file path=ppt/tags/tag4.xml><?xml version="1.0" encoding="utf-8"?>
<p:tagLst xmlns:a="http://schemas.openxmlformats.org/drawingml/2006/main" xmlns:r="http://schemas.openxmlformats.org/officeDocument/2006/relationships" xmlns:p="http://schemas.openxmlformats.org/presentationml/2006/main">
  <p:tag name="MM_SLIDE_TYPE" val="6"/>
</p:tagLst>
</file>

<file path=ppt/tags/tag5.xml><?xml version="1.0" encoding="utf-8"?>
<p:tagLst xmlns:a="http://schemas.openxmlformats.org/drawingml/2006/main" xmlns:r="http://schemas.openxmlformats.org/officeDocument/2006/relationships" xmlns:p="http://schemas.openxmlformats.org/presentationml/2006/main">
  <p:tag name="MM_SLIDE_TYPE" val="6"/>
</p:tagLst>
</file>

<file path=ppt/tags/tag6.xml><?xml version="1.0" encoding="utf-8"?>
<p:tagLst xmlns:a="http://schemas.openxmlformats.org/drawingml/2006/main" xmlns:r="http://schemas.openxmlformats.org/officeDocument/2006/relationships" xmlns:p="http://schemas.openxmlformats.org/presentationml/2006/main">
  <p:tag name="MM_SLIDE_TYPE" val="6"/>
</p:tagLst>
</file>

<file path=ppt/tags/tag7.xml><?xml version="1.0" encoding="utf-8"?>
<p:tagLst xmlns:a="http://schemas.openxmlformats.org/drawingml/2006/main" xmlns:r="http://schemas.openxmlformats.org/officeDocument/2006/relationships" xmlns:p="http://schemas.openxmlformats.org/presentationml/2006/main">
  <p:tag name="MM_SLIDE_TYPE" val="6"/>
</p:tagLst>
</file>

<file path=ppt/tags/tag8.xml><?xml version="1.0" encoding="utf-8"?>
<p:tagLst xmlns:a="http://schemas.openxmlformats.org/drawingml/2006/main" xmlns:r="http://schemas.openxmlformats.org/officeDocument/2006/relationships" xmlns:p="http://schemas.openxmlformats.org/presentationml/2006/main">
  <p:tag name="MM_SLIDE_TYPE" val="6"/>
</p:tagLst>
</file>

<file path=ppt/tags/tag9.xml><?xml version="1.0" encoding="utf-8"?>
<p:tagLst xmlns:a="http://schemas.openxmlformats.org/drawingml/2006/main" xmlns:r="http://schemas.openxmlformats.org/officeDocument/2006/relationships" xmlns:p="http://schemas.openxmlformats.org/presentationml/2006/main">
  <p:tag name="MM_SLIDE_TYPE" val="6"/>
</p:tagLst>
</file>

<file path=ppt/tags/tag10.xml><?xml version="1.0" encoding="utf-8"?>
<p:tagLst xmlns:a="http://schemas.openxmlformats.org/drawingml/2006/main" xmlns:r="http://schemas.openxmlformats.org/officeDocument/2006/relationships" xmlns:p="http://schemas.openxmlformats.org/presentationml/2006/main">
  <p:tag name="MM_SLIDE_TYPE" val="6"/>
</p:tagLst>
</file>

<file path=ppt/tags/tag11.xml><?xml version="1.0" encoding="utf-8"?>
<p:tagLst xmlns:a="http://schemas.openxmlformats.org/drawingml/2006/main" xmlns:r="http://schemas.openxmlformats.org/officeDocument/2006/relationships" xmlns:p="http://schemas.openxmlformats.org/presentationml/2006/main">
  <p:tag name="MM_SLIDE_TYPE" val="6"/>
</p:tagLst>
</file>

<file path=ppt/tags/tag12.xml><?xml version="1.0" encoding="utf-8"?>
<p:tagLst xmlns:a="http://schemas.openxmlformats.org/drawingml/2006/main" xmlns:r="http://schemas.openxmlformats.org/officeDocument/2006/relationships" xmlns:p="http://schemas.openxmlformats.org/presentationml/2006/main">
  <p:tag name="MM_SLIDE_TYPE" val="6"/>
</p:tagLst>
</file>

<file path=ppt/tags/tag13.xml><?xml version="1.0" encoding="utf-8"?>
<p:tagLst xmlns:a="http://schemas.openxmlformats.org/drawingml/2006/main" xmlns:r="http://schemas.openxmlformats.org/officeDocument/2006/relationships" xmlns:p="http://schemas.openxmlformats.org/presentationml/2006/main">
  <p:tag name="MM_SLIDE_TYPE" val="6"/>
</p:tagLst>
</file>

<file path=ppt/tags/tag14.xml><?xml version="1.0" encoding="utf-8"?>
<p:tagLst xmlns:a="http://schemas.openxmlformats.org/drawingml/2006/main" xmlns:r="http://schemas.openxmlformats.org/officeDocument/2006/relationships" xmlns:p="http://schemas.openxmlformats.org/presentationml/2006/main">
  <p:tag name="MM_SLIDE_TYPE" val="6"/>
</p:tagLst>
</file>

<file path=ppt/tags/tag15.xml><?xml version="1.0" encoding="utf-8"?>
<p:tagLst xmlns:a="http://schemas.openxmlformats.org/drawingml/2006/main" xmlns:r="http://schemas.openxmlformats.org/officeDocument/2006/relationships" xmlns:p="http://schemas.openxmlformats.org/presentationml/2006/main">
  <p:tag name="MM_SLIDE_TYPE" val="6"/>
</p:tagLst>
</file>

<file path=ppt/tags/tag16.xml><?xml version="1.0" encoding="utf-8"?>
<p:tagLst xmlns:a="http://schemas.openxmlformats.org/drawingml/2006/main" xmlns:r="http://schemas.openxmlformats.org/officeDocument/2006/relationships" xmlns:p="http://schemas.openxmlformats.org/presentationml/2006/main">
  <p:tag name="MM_SLIDE_TYPE" val="6"/>
</p:tagLst>
</file>

<file path=ppt/tags/tag17.xml><?xml version="1.0" encoding="utf-8"?>
<p:tagLst xmlns:a="http://schemas.openxmlformats.org/drawingml/2006/main" xmlns:r="http://schemas.openxmlformats.org/officeDocument/2006/relationships" xmlns:p="http://schemas.openxmlformats.org/presentationml/2006/main">
  <p:tag name="MM_SLIDE_TYPE" val="6"/>
</p:tagLst>
</file>

<file path=ppt/tags/tag18.xml><?xml version="1.0" encoding="utf-8"?>
<p:tagLst xmlns:a="http://schemas.openxmlformats.org/drawingml/2006/main" xmlns:r="http://schemas.openxmlformats.org/officeDocument/2006/relationships" xmlns:p="http://schemas.openxmlformats.org/presentationml/2006/main">
  <p:tag name="MM_SLIDE_TYPE" val="6"/>
</p:tagLst>
</file>

<file path=ppt/tags/tag19.xml><?xml version="1.0" encoding="utf-8"?>
<p:tagLst xmlns:a="http://schemas.openxmlformats.org/drawingml/2006/main" xmlns:r="http://schemas.openxmlformats.org/officeDocument/2006/relationships" xmlns:p="http://schemas.openxmlformats.org/presentationml/2006/main">
  <p:tag name="MM_SLIDE_TYPE" val="6"/>
</p:tagLst>
</file>

<file path=ppt/tags/tag20.xml><?xml version="1.0" encoding="utf-8"?>
<p:tagLst xmlns:a="http://schemas.openxmlformats.org/drawingml/2006/main" xmlns:r="http://schemas.openxmlformats.org/officeDocument/2006/relationships" xmlns:p="http://schemas.openxmlformats.org/presentationml/2006/main">
  <p:tag name="MM_SLIDE_TYPE" val="6"/>
</p:tagLst>
</file>

<file path=ppt/tags/tag21.xml><?xml version="1.0" encoding="utf-8"?>
<p:tagLst xmlns:a="http://schemas.openxmlformats.org/drawingml/2006/main" xmlns:r="http://schemas.openxmlformats.org/officeDocument/2006/relationships" xmlns:p="http://schemas.openxmlformats.org/presentationml/2006/main">
  <p:tag name="MM_SLIDE_TYPE" val="6"/>
</p:tagLst>
</file>

<file path=ppt/tags/tag22.xml><?xml version="1.0" encoding="utf-8"?>
<p:tagLst xmlns:a="http://schemas.openxmlformats.org/drawingml/2006/main" xmlns:r="http://schemas.openxmlformats.org/officeDocument/2006/relationships" xmlns:p="http://schemas.openxmlformats.org/presentationml/2006/main">
  <p:tag name="MM_SLIDE_TYPE" val="6"/>
</p:tagLst>
</file>

<file path=ppt/tags/tag23.xml><?xml version="1.0" encoding="utf-8"?>
<p:tagLst xmlns:a="http://schemas.openxmlformats.org/drawingml/2006/main" xmlns:r="http://schemas.openxmlformats.org/officeDocument/2006/relationships" xmlns:p="http://schemas.openxmlformats.org/presentationml/2006/main">
  <p:tag name="MM_SLIDE_TYPE" val="6"/>
</p:tagLst>
</file>

<file path=ppt/tags/tag24.xml><?xml version="1.0" encoding="utf-8"?>
<p:tagLst xmlns:a="http://schemas.openxmlformats.org/drawingml/2006/main" xmlns:r="http://schemas.openxmlformats.org/officeDocument/2006/relationships" xmlns:p="http://schemas.openxmlformats.org/presentationml/2006/main">
  <p:tag name="MM_SLIDE_TYPE" val="6"/>
</p:tagLst>
</file>

<file path=ppt/tags/tag25.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3_Template DGA 16-9">
  <a:themeElements>
    <a:clrScheme name="XP Expert">
      <a:dk1>
        <a:srgbClr val="18191A"/>
      </a:dk1>
      <a:lt1>
        <a:srgbClr val="FFFFFF"/>
      </a:lt1>
      <a:dk2>
        <a:srgbClr val="74797C"/>
      </a:dk2>
      <a:lt2>
        <a:srgbClr val="3F3F3F"/>
      </a:lt2>
      <a:accent1>
        <a:srgbClr val="000000"/>
      </a:accent1>
      <a:accent2>
        <a:srgbClr val="323436"/>
      </a:accent2>
      <a:accent3>
        <a:srgbClr val="FFBC00"/>
      </a:accent3>
      <a:accent4>
        <a:srgbClr val="00D2C5"/>
      </a:accent4>
      <a:accent5>
        <a:srgbClr val="404040"/>
      </a:accent5>
      <a:accent6>
        <a:srgbClr val="7E7E7E"/>
      </a:accent6>
      <a:hlink>
        <a:srgbClr val="ABAAA8"/>
      </a:hlink>
      <a:folHlink>
        <a:srgbClr val="D8D7D6"/>
      </a:folHlink>
    </a:clrScheme>
    <a:fontScheme name="Custom 7">
      <a:majorFont>
        <a:latin typeface="Roboto Light"/>
        <a:ea typeface=""/>
        <a:cs typeface=""/>
      </a:majorFont>
      <a:minorFont>
        <a:latin typeface="Roboto Light"/>
        <a:ea typeface=""/>
        <a:cs typeface=""/>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noFill/>
        </a:ln>
      </a:spPr>
      <a:bodyPr rtlCol="0" anchor="ctr"/>
      <a:lstStyle>
        <a:defPPr algn="ctr">
          <a:defRPr sz="1000" dirty="0">
            <a:solidFill>
              <a:schemeClr val="tx1"/>
            </a:solidFill>
            <a:latin typeface="Roboto" panose="02000000000000000000" pitchFamily="2" charset="0"/>
            <a:ea typeface="Roboto" panose="02000000000000000000" pitchFamily="2" charset="0"/>
            <a:cs typeface="Roboto" panose="02000000000000000000" pitchFamily="2" charset="0"/>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dirty="0" err="1" smtClean="0">
            <a:latin typeface="Roboto" panose="02000000000000000000" pitchFamily="2" charset="0"/>
            <a:ea typeface="Roboto" panose="02000000000000000000" pitchFamily="2" charset="0"/>
            <a:cs typeface="Roboto" panose="02000000000000000000" pitchFamily="2" charset="0"/>
          </a:defRPr>
        </a:defPPr>
      </a:lstStyle>
    </a:txDef>
  </a:objectDefaults>
  <a:extraClrSchemeLst/>
  <a:extLst>
    <a:ext uri="{05A4C25C-085E-4340-85A3-A5531E510DB2}">
      <thm15:themeFamily xmlns:thm15="http://schemas.microsoft.com/office/thememl/2012/main" name="Template DGA 16-9" id="{20AC8966-54B3-4AEB-9F15-2FAC00677CE9}" vid="{A89D11F2-817A-467C-A0C0-7C8864D65902}"/>
    </a:ext>
  </a:extLst>
</a:theme>
</file>

<file path=ppt/theme/theme2.xml><?xml version="1.0" encoding="utf-8"?>
<a:theme xmlns:a="http://schemas.openxmlformats.org/drawingml/2006/main" name="Tema do Office">
  <a:themeElements>
    <a:clrScheme name="Escritório">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Escritório">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o Office">
  <a:themeElements>
    <a:clrScheme name="Escritório">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Escritório">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8">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8B0B99CD-C880-4F27-BFB1-85A4DFB94125}">
  <we:reference id="wa200003052" version="1.0.0.0" store="pt-BR" storeType="OMEX"/>
  <we:alternateReferences>
    <we:reference id="wa200003052" version="1.0.0.0" store="WA200003052"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o" ma:contentTypeID="0x0101007A14A92C739A9B409ACF3DE01F946714" ma:contentTypeVersion="0" ma:contentTypeDescription="Crie um novo documento." ma:contentTypeScope="" ma:versionID="d6970213fcc3b4899587e607469b7075">
  <xsd:schema xmlns:xsd="http://www.w3.org/2001/XMLSchema" xmlns:xs="http://www.w3.org/2001/XMLSchema" xmlns:p="http://schemas.microsoft.com/office/2006/metadata/properties" targetNamespace="http://schemas.microsoft.com/office/2006/metadata/properties" ma:root="true" ma:fieldsID="f5caa2381842e2c7ed36c9a781c7f9f9">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91DFE75-644F-4655-9AAB-1BA51DEA2D18}">
  <ds:schemaRefs>
    <ds:schemaRef ds:uri="http://purl.org/dc/elements/1.1/"/>
    <ds:schemaRef ds:uri="http://schemas.microsoft.com/office/2006/documentManagement/types"/>
    <ds:schemaRef ds:uri="http://schemas.openxmlformats.org/package/2006/metadata/core-properties"/>
    <ds:schemaRef ds:uri="http://purl.org/dc/terms/"/>
    <ds:schemaRef ds:uri="http://purl.org/dc/dcmitype/"/>
    <ds:schemaRef ds:uri="http://schemas.microsoft.com/office/infopath/2007/PartnerControls"/>
    <ds:schemaRef ds:uri="http://schemas.microsoft.com/office/2006/metadata/properties"/>
    <ds:schemaRef ds:uri="http://www.w3.org/XML/1998/namespace"/>
  </ds:schemaRefs>
</ds:datastoreItem>
</file>

<file path=customXml/itemProps2.xml><?xml version="1.0" encoding="utf-8"?>
<ds:datastoreItem xmlns:ds="http://schemas.openxmlformats.org/officeDocument/2006/customXml" ds:itemID="{98E4DE29-FCA5-441A-A5C0-116A6978817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F3C14C19-827A-43CC-840A-25F83CDFFAAA}">
  <ds:schemaRefs>
    <ds:schemaRef ds:uri="http://schemas.microsoft.com/sharepoint/v3/contenttype/forms"/>
  </ds:schemaRefs>
</ds:datastoreItem>
</file>

<file path=docMetadata/LabelInfo.xml><?xml version="1.0" encoding="utf-8"?>
<clbl:labelList xmlns:clbl="http://schemas.microsoft.com/office/2020/mipLabelMetadata">
  <clbl:label id="{e6a9157b-bcf3-4eac-b03e-7cf007ba9fdf}" enabled="1" method="Privileged" siteId="{cf56e405-d2b0-4266-b210-aa04636b6161}" removed="0"/>
</clbl:labelList>
</file>

<file path=docProps/app.xml><?xml version="1.0" encoding="utf-8"?>
<Properties xmlns="http://schemas.openxmlformats.org/officeDocument/2006/extended-properties" xmlns:vt="http://schemas.openxmlformats.org/officeDocument/2006/docPropsVTypes">
  <Template/>
  <TotalTime>95778</TotalTime>
  <Words>3753</Words>
  <Application>Microsoft Office PowerPoint</Application>
  <PresentationFormat>Widescreen</PresentationFormat>
  <Paragraphs>472</Paragraphs>
  <Slides>6</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Roboto</vt:lpstr>
      <vt:lpstr>Roboto Light</vt:lpstr>
      <vt:lpstr>Roboto Medium</vt:lpstr>
      <vt:lpstr>3_Template DGA 16-9</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Top Ações XP</dc:title>
  <dc:creator>Pedro Urbinati</dc:creator>
  <cp:lastModifiedBy>Caio Souza</cp:lastModifiedBy>
  <cp:revision>4632</cp:revision>
  <cp:lastPrinted>2019-11-05T18:41:12Z</cp:lastPrinted>
  <dcterms:created xsi:type="dcterms:W3CDTF">2016-08-23T12:44:29Z</dcterms:created>
  <dcterms:modified xsi:type="dcterms:W3CDTF">2026-07-02T12:02:44Z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0x0101007A14A92C739A9B409ACF3DE01F946714</vt:lpwstr>
  </property>
  <property fmtid="{D5CDD505-2E9C-101B-9397-08002B2CF9AE}" pid="3" name="ClassificationContentMarkingFooterLocations">
    <vt:lpwstr>3_Template DGA 16-9:4</vt:lpwstr>
  </property>
  <property fmtid="{D5CDD505-2E9C-101B-9397-08002B2CF9AE}" pid="4" name="ClassificationContentMarkingFooterText">
    <vt:lpwstr>[ CLASSIFICAÇÃO: PÚBLICA ]</vt:lpwstr>
  </property>
  <property fmtid="{D5CDD505-2E9C-101B-9397-08002B2CF9AE}" pid="5" name="MSIP_Label_e6a9157b-bcf3-4eac-b03e-7cf007ba9fdf_Enabled">
    <vt:lpwstr>true</vt:lpwstr>
  </property>
  <property fmtid="{D5CDD505-2E9C-101B-9397-08002B2CF9AE}" pid="6" name="MSIP_Label_e6a9157b-bcf3-4eac-b03e-7cf007ba9fdf_SetDate">
    <vt:lpwstr>2024-04-09T17:53:06Z</vt:lpwstr>
  </property>
  <property fmtid="{D5CDD505-2E9C-101B-9397-08002B2CF9AE}" pid="7" name="MSIP_Label_e6a9157b-bcf3-4eac-b03e-7cf007ba9fdf_Method">
    <vt:lpwstr>Standard</vt:lpwstr>
  </property>
  <property fmtid="{D5CDD505-2E9C-101B-9397-08002B2CF9AE}" pid="8" name="MSIP_Label_e6a9157b-bcf3-4eac-b03e-7cf007ba9fdf_Name">
    <vt:lpwstr>Publica</vt:lpwstr>
  </property>
  <property fmtid="{D5CDD505-2E9C-101B-9397-08002B2CF9AE}" pid="9" name="MSIP_Label_e6a9157b-bcf3-4eac-b03e-7cf007ba9fdf_SiteId">
    <vt:lpwstr>cf56e405-d2b0-4266-b210-aa04636b6161</vt:lpwstr>
  </property>
  <property fmtid="{D5CDD505-2E9C-101B-9397-08002B2CF9AE}" pid="10" name="MSIP_Label_e6a9157b-bcf3-4eac-b03e-7cf007ba9fdf_ActionId">
    <vt:lpwstr>f9c0e384-4780-4eab-8453-f58cd64d25e4</vt:lpwstr>
  </property>
  <property fmtid="{D5CDD505-2E9C-101B-9397-08002B2CF9AE}" pid="11" name="MSIP_Label_e6a9157b-bcf3-4eac-b03e-7cf007ba9fdf_ContentBits">
    <vt:lpwstr>2</vt:lpwstr>
  </property>
</Properties>
</file>