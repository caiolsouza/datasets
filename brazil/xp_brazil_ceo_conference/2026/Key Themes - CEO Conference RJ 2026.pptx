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711" r:id="rId2"/>
  </p:sldMasterIdLst>
  <p:notesMasterIdLst>
    <p:notesMasterId r:id="rId29"/>
  </p:notesMasterIdLst>
  <p:sldIdLst>
    <p:sldId id="375" r:id="rId3"/>
    <p:sldId id="394" r:id="rId4"/>
    <p:sldId id="256" r:id="rId5"/>
    <p:sldId id="262" r:id="rId6"/>
    <p:sldId id="299" r:id="rId7"/>
    <p:sldId id="377" r:id="rId8"/>
    <p:sldId id="379" r:id="rId9"/>
    <p:sldId id="380" r:id="rId10"/>
    <p:sldId id="381" r:id="rId11"/>
    <p:sldId id="378" r:id="rId12"/>
    <p:sldId id="384" r:id="rId13"/>
    <p:sldId id="385" r:id="rId14"/>
    <p:sldId id="397" r:id="rId34"/>
    <p:sldId id="389" r:id="rId15"/>
    <p:sldId id="387" r:id="rId16"/>
    <p:sldId id="386" r:id="rId17"/>
    <p:sldId id="390" r:id="rId18"/>
    <p:sldId id="398" r:id="rId35"/>
    <p:sldId id="298" r:id="rId19"/>
    <p:sldId id="391" r:id="rId20"/>
    <p:sldId id="392" r:id="rId21"/>
    <p:sldId id="382" r:id="rId22"/>
    <p:sldId id="383" r:id="rId23"/>
    <p:sldId id="395" r:id="rId24"/>
    <p:sldId id="396" r:id="rId25"/>
    <p:sldId id="399" r:id="rId36"/>
    <p:sldId id="388" r:id="rId26"/>
    <p:sldId id="400" r:id="rId37"/>
    <p:sldId id="271" r:id="rId27"/>
    <p:sldId id="272" r:id="rId28"/>
  </p:sldIdLst>
  <p:sldSz cx="6858000" cy="9906000" type="A4"/>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5E25373-AEA3-4792-A3B0-8F828C4D1242}">
          <p14:sldIdLst>
            <p14:sldId id="375"/>
            <p14:sldId id="394"/>
            <p14:sldId id="256"/>
            <p14:sldId id="262"/>
            <p14:sldId id="299"/>
            <p14:sldId id="377"/>
            <p14:sldId id="379"/>
            <p14:sldId id="380"/>
            <p14:sldId id="381"/>
            <p14:sldId id="378"/>
            <p14:sldId id="384"/>
            <p14:sldId id="385"/>
            <p14:sldId id="389"/>
            <p14:sldId id="387"/>
            <p14:sldId id="386"/>
            <p14:sldId id="390"/>
            <p14:sldId id="298"/>
            <p14:sldId id="391"/>
            <p14:sldId id="392"/>
            <p14:sldId id="382"/>
            <p14:sldId id="383"/>
            <p14:sldId id="395"/>
            <p14:sldId id="396"/>
            <p14:sldId id="388"/>
            <p14:sldId id="271"/>
            <p14:sldId id="27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EB3DF"/>
    <a:srgbClr val="000000"/>
    <a:srgbClr val="F9C113"/>
    <a:srgbClr val="707971"/>
    <a:srgbClr val="FFFFFF"/>
    <a:srgbClr val="1F2F44"/>
    <a:srgbClr val="141515"/>
    <a:srgbClr val="151616"/>
    <a:srgbClr val="1819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196" autoAdjust="0"/>
    <p:restoredTop sz="96247" autoAdjust="0"/>
  </p:normalViewPr>
  <p:slideViewPr>
    <p:cSldViewPr snapToGrid="0">
      <p:cViewPr>
        <p:scale>
          <a:sx n="90" d="100"/>
          <a:sy n="90" d="100"/>
        </p:scale>
        <p:origin x="3228" y="-312"/>
      </p:cViewPr>
      <p:guideLst/>
    </p:cSldViewPr>
  </p:slideViewPr>
  <p:notesTextViewPr>
    <p:cViewPr>
      <p:scale>
        <a:sx n="3" d="2"/>
        <a:sy n="3" d="2"/>
      </p:scale>
      <p:origin x="0" y="0"/>
    </p:cViewPr>
  </p:notesTextViewPr>
  <p:notesViewPr>
    <p:cSldViewPr snapToGrid="0">
      <p:cViewPr varScale="1">
        <p:scale>
          <a:sx n="64" d="100"/>
          <a:sy n="64" d="100"/>
        </p:scale>
        <p:origin x="3192" y="77"/>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7.xml"/><Relationship Id="rId27" Type="http://schemas.openxmlformats.org/officeDocument/2006/relationships/slide" Target="slides/slide29.xml"/><Relationship Id="rId28" Type="http://schemas.openxmlformats.org/officeDocument/2006/relationships/slide" Target="slides/slide30.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slide" Target="slides/slide13.xml"/><Relationship Id="rId35" Type="http://schemas.openxmlformats.org/officeDocument/2006/relationships/slide" Target="slides/slide18.xml"/><Relationship Id="rId36" Type="http://schemas.openxmlformats.org/officeDocument/2006/relationships/slide" Target="slides/slide26.xml"/><Relationship Id="rId37"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904919-855E-41AB-8A84-30C374ADE181}" type="datetimeFigureOut">
              <a:rPr lang="en-US" smtClean="0"/>
              <a:t>8/11/2026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984EC9-51C0-4BB7-A48B-D32011637DBD}" type="slidenum">
              <a:rPr lang="en-US" smtClean="0"/>
              <a:t>‹#›</a:t>
            </a:fld>
            <a:endParaRPr lang="en-US"/>
          </a:p>
        </p:txBody>
      </p:sp>
    </p:spTree>
    <p:extLst>
      <p:ext uri="{BB962C8B-B14F-4D97-AF65-F5344CB8AC3E}">
        <p14:creationId xmlns:p14="http://schemas.microsoft.com/office/powerpoint/2010/main" val="584803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2026 attendance detail:</a:t>
            </a:r>
          </a:p>
          <a:p>
            <a:r>
              <a:t>3Tentos: August 18th</a:t>
            </a:r>
          </a:p>
          <a:p>
            <a:r>
              <a:t>Ambev: August 17th</a:t>
            </a:r>
          </a:p>
          <a:p>
            <a:r>
              <a:t>Boa Safra: August 17th</a:t>
            </a:r>
          </a:p>
          <a:p>
            <a:r>
              <a:t>Brasil Agro: August 18th</a:t>
            </a:r>
          </a:p>
          <a:p>
            <a:r>
              <a:t>Camil: August 17th</a:t>
            </a:r>
          </a:p>
          <a:p>
            <a:r>
              <a:t>Jalles: August 18th</a:t>
            </a:r>
          </a:p>
          <a:p>
            <a:r>
              <a:t>JBS: August 18th</a:t>
            </a:r>
          </a:p>
          <a:p>
            <a:r>
              <a:t>M. Dias Branco: August 18th</a:t>
            </a:r>
          </a:p>
          <a:p>
            <a:r>
              <a:t>MBRF: August 18th</a:t>
            </a:r>
          </a:p>
          <a:p>
            <a:r>
              <a:t>Minerva: August 17th</a:t>
            </a:r>
          </a:p>
          <a:p>
            <a:r>
              <a:t>SLC: August 17th</a:t>
            </a:r>
          </a:p>
          <a:p>
            <a:r>
              <a:t>WEG: August 17th</a:t>
            </a:r>
          </a:p>
          <a:p>
            <a:r>
              <a:t>Ânima: August 17th</a:t>
            </a:r>
          </a:p>
          <a:p>
            <a:r>
              <a:t>Cogna Educação: August 17th</a:t>
            </a:r>
          </a:p>
          <a:p>
            <a:r>
              <a:t>Cruzeiro do Sul Educacional: August 17th</a:t>
            </a:r>
          </a:p>
          <a:p>
            <a:r>
              <a:t>Salta: August 17th</a:t>
            </a:r>
          </a:p>
          <a:p>
            <a:r>
              <a:t>Vitru Educação: August 17th</a:t>
            </a:r>
          </a:p>
          <a:p>
            <a:r>
              <a:t>Yduqs: August 17th</a:t>
            </a:r>
          </a:p>
          <a:p>
            <a:r>
              <a:t>Aegea: August 17th, August 18th</a:t>
            </a:r>
          </a:p>
          <a:p>
            <a:r>
              <a:t>Auren: August 18th</a:t>
            </a:r>
          </a:p>
          <a:p>
            <a:r>
              <a:t>AXIA: August 18th</a:t>
            </a:r>
          </a:p>
          <a:p>
            <a:r>
              <a:t>Cemig: August 18th</a:t>
            </a:r>
          </a:p>
          <a:p>
            <a:r>
              <a:t>Copasa: August 17th</a:t>
            </a:r>
          </a:p>
          <a:p>
            <a:r>
              <a:t>Copel: August 17th</a:t>
            </a:r>
          </a:p>
          <a:p>
            <a:r>
              <a:t>Energisa: August 17th</a:t>
            </a:r>
          </a:p>
          <a:p>
            <a:r>
              <a:t>Engie: August 17th</a:t>
            </a:r>
          </a:p>
          <a:p>
            <a:r>
              <a:t>Equatorial: August 17th</a:t>
            </a:r>
          </a:p>
          <a:p>
            <a:r>
              <a:t>Light: August 18th</a:t>
            </a:r>
          </a:p>
          <a:p>
            <a:r>
              <a:t>Orizon: August 18th</a:t>
            </a:r>
          </a:p>
          <a:p>
            <a:r>
              <a:t>Taesa: August 18th</a:t>
            </a:r>
          </a:p>
          <a:p>
            <a:r>
              <a:t>Agibank: August 17th</a:t>
            </a:r>
          </a:p>
          <a:p>
            <a:r>
              <a:t>B3: August 17th</a:t>
            </a:r>
          </a:p>
          <a:p>
            <a:r>
              <a:t>Banco do Brasil: August 17th</a:t>
            </a:r>
          </a:p>
          <a:p>
            <a:r>
              <a:t>BB Seguridade: August 17th</a:t>
            </a:r>
          </a:p>
          <a:p>
            <a:r>
              <a:t>BR Partners: August 18th</a:t>
            </a:r>
          </a:p>
          <a:p>
            <a:r>
              <a:t>Bradesco: August 17th</a:t>
            </a:r>
          </a:p>
          <a:p>
            <a:r>
              <a:t>Caixa Seguridade: August 17th</a:t>
            </a:r>
          </a:p>
          <a:p>
            <a:r>
              <a:t>IRB(Re): August 18th</a:t>
            </a:r>
          </a:p>
          <a:p>
            <a:r>
              <a:t>Itaú: August 18th</a:t>
            </a:r>
          </a:p>
          <a:p>
            <a:r>
              <a:t>Mercantil: August 17th</a:t>
            </a:r>
          </a:p>
          <a:p>
            <a:r>
              <a:t>Pine: August 18th</a:t>
            </a:r>
          </a:p>
          <a:p>
            <a:r>
              <a:t>Stone: August 17th</a:t>
            </a:r>
          </a:p>
          <a:p>
            <a:r>
              <a:t>XP Inc.: August 18th</a:t>
            </a:r>
          </a:p>
          <a:p>
            <a:r>
              <a:t>XP Research | Macro &amp; Politics: August 17th, August 18th</a:t>
            </a:r>
          </a:p>
          <a:p>
            <a:r>
              <a:t>XP Research | Strategy: August 17th, August 18th</a:t>
            </a:r>
          </a:p>
          <a:p>
            <a:r>
              <a:t>BradSaúde: August 18th</a:t>
            </a:r>
          </a:p>
          <a:p>
            <a:r>
              <a:t>Dasa: August 17th</a:t>
            </a:r>
          </a:p>
          <a:p>
            <a:r>
              <a:t>Fleury: August 18th</a:t>
            </a:r>
          </a:p>
          <a:p>
            <a:r>
              <a:t>Hapvida: August 17th</a:t>
            </a:r>
          </a:p>
          <a:p>
            <a:r>
              <a:t>Hypera: August 17th</a:t>
            </a:r>
          </a:p>
          <a:p>
            <a:r>
              <a:t>Mater Dei: August 17th</a:t>
            </a:r>
          </a:p>
          <a:p>
            <a:r>
              <a:t>Rede D'Or: August 17th</a:t>
            </a:r>
          </a:p>
          <a:p>
            <a:r>
              <a:t>União Química: August 18th</a:t>
            </a:r>
          </a:p>
          <a:p>
            <a:r>
              <a:t>CSN: August 17th</a:t>
            </a:r>
          </a:p>
          <a:p>
            <a:r>
              <a:t>Vale: August 18th</a:t>
            </a:r>
          </a:p>
          <a:p>
            <a:r>
              <a:t>Brava: August 17th</a:t>
            </a:r>
          </a:p>
          <a:p>
            <a:r>
              <a:t>Compass: August 17th</a:t>
            </a:r>
          </a:p>
          <a:p>
            <a:r>
              <a:t>Origem: August 18th</a:t>
            </a:r>
          </a:p>
          <a:p>
            <a:r>
              <a:t>Petrobras: August 18th</a:t>
            </a:r>
          </a:p>
          <a:p>
            <a:r>
              <a:t>PetroRecôncavo: August 17th</a:t>
            </a:r>
          </a:p>
          <a:p>
            <a:r>
              <a:t>PRIO: August 17th</a:t>
            </a:r>
          </a:p>
          <a:p>
            <a:r>
              <a:t>Ultra: August 17th</a:t>
            </a:r>
          </a:p>
          <a:p>
            <a:r>
              <a:t>Vibra: August 18th</a:t>
            </a:r>
          </a:p>
          <a:p>
            <a:r>
              <a:t>Klabin: August 18th</a:t>
            </a:r>
          </a:p>
          <a:p>
            <a:r>
              <a:t>Suzano: August 17th</a:t>
            </a:r>
          </a:p>
          <a:p>
            <a:r>
              <a:t>Allos: August 17th</a:t>
            </a:r>
          </a:p>
          <a:p>
            <a:r>
              <a:t>Cury: August 18th</a:t>
            </a:r>
          </a:p>
          <a:p>
            <a:r>
              <a:t>Cyrela: August 18th</a:t>
            </a:r>
          </a:p>
          <a:p>
            <a:r>
              <a:t>Direcional: August 18th</a:t>
            </a:r>
          </a:p>
          <a:p>
            <a:r>
              <a:t>Even: August 17th</a:t>
            </a:r>
          </a:p>
          <a:p>
            <a:r>
              <a:t>Iguatemi: August 17th</a:t>
            </a:r>
          </a:p>
          <a:p>
            <a:r>
              <a:t>JHSF: August 17th</a:t>
            </a:r>
          </a:p>
          <a:p>
            <a:r>
              <a:t>Lavvi: August 17th</a:t>
            </a:r>
          </a:p>
          <a:p>
            <a:r>
              <a:t>Moura Dubeux: August 18th</a:t>
            </a:r>
          </a:p>
          <a:p>
            <a:r>
              <a:t>MRV: August 18th</a:t>
            </a:r>
          </a:p>
          <a:p>
            <a:r>
              <a:t>Multiplan: August 17th</a:t>
            </a:r>
          </a:p>
          <a:p>
            <a:r>
              <a:t>Plano&amp;Plano: August 17th</a:t>
            </a:r>
          </a:p>
          <a:p>
            <a:r>
              <a:t>Alpargatas: August 17th</a:t>
            </a:r>
          </a:p>
          <a:p>
            <a:r>
              <a:t>Assaí: August 18th</a:t>
            </a:r>
          </a:p>
          <a:p>
            <a:r>
              <a:t>Azzas 2154: August 17th</a:t>
            </a:r>
          </a:p>
          <a:p>
            <a:r>
              <a:t>C&amp;A: August 18th</a:t>
            </a:r>
          </a:p>
          <a:p>
            <a:r>
              <a:t>Grupo SBF: August 17th</a:t>
            </a:r>
          </a:p>
          <a:p>
            <a:r>
              <a:t>Live!: August 17th</a:t>
            </a:r>
          </a:p>
          <a:p>
            <a:r>
              <a:t>Magalu: August 18th</a:t>
            </a:r>
          </a:p>
          <a:p>
            <a:r>
              <a:t>Mercado Libre: August 17th</a:t>
            </a:r>
          </a:p>
          <a:p>
            <a:r>
              <a:t>Natura: August 17th</a:t>
            </a:r>
          </a:p>
          <a:p>
            <a:r>
              <a:t>Pague Menos: August 18th</a:t>
            </a:r>
          </a:p>
          <a:p>
            <a:r>
              <a:t>Panvel: August 18th</a:t>
            </a:r>
          </a:p>
          <a:p>
            <a:r>
              <a:t>Petlove: August 18th</a:t>
            </a:r>
          </a:p>
          <a:p>
            <a:r>
              <a:t>Petz Cobasi: August 17th</a:t>
            </a:r>
          </a:p>
          <a:p>
            <a:r>
              <a:t>Profarma: August 18th</a:t>
            </a:r>
          </a:p>
          <a:p>
            <a:r>
              <a:t>RD Saúde: August 17th</a:t>
            </a:r>
          </a:p>
          <a:p>
            <a:r>
              <a:t>Renner: August 17th</a:t>
            </a:r>
          </a:p>
          <a:p>
            <a:r>
              <a:t>Riachuelo: August 17th</a:t>
            </a:r>
          </a:p>
          <a:p>
            <a:r>
              <a:t>Smartfit: August 18th</a:t>
            </a:r>
          </a:p>
          <a:p>
            <a:r>
              <a:t>Vivara: August 17th</a:t>
            </a:r>
          </a:p>
          <a:p>
            <a:r>
              <a:t>Vulcabras: August 18th</a:t>
            </a:r>
          </a:p>
          <a:p>
            <a:r>
              <a:t>Bemobi: August 18th</a:t>
            </a:r>
          </a:p>
          <a:p>
            <a:r>
              <a:t>Intelbras: August 17th</a:t>
            </a:r>
          </a:p>
          <a:p>
            <a:r>
              <a:t>Livemode: August 18th</a:t>
            </a:r>
          </a:p>
          <a:p>
            <a:r>
              <a:t>LWSA: August 18th</a:t>
            </a:r>
          </a:p>
          <a:p>
            <a:r>
              <a:t>Senior Sistemas: August 17th</a:t>
            </a:r>
          </a:p>
          <a:p>
            <a:r>
              <a:t>Telefônica Vivo: August 17th</a:t>
            </a:r>
          </a:p>
          <a:p>
            <a:r>
              <a:t>TIM: August 18th</a:t>
            </a:r>
          </a:p>
          <a:p>
            <a:r>
              <a:t>TOTVS: August 18th</a:t>
            </a:r>
          </a:p>
          <a:p>
            <a:r>
              <a:t>Armac: August 17th</a:t>
            </a:r>
          </a:p>
          <a:p>
            <a:r>
              <a:t>Automob: August 18th</a:t>
            </a:r>
          </a:p>
          <a:p>
            <a:r>
              <a:t>Ecorodovias: August 18th</a:t>
            </a:r>
          </a:p>
          <a:p>
            <a:r>
              <a:t>GPS: August 18th</a:t>
            </a:r>
          </a:p>
          <a:p>
            <a:r>
              <a:t>Motiva: August 18th</a:t>
            </a:r>
          </a:p>
          <a:p>
            <a:r>
              <a:t>Movida: August 17th</a:t>
            </a:r>
          </a:p>
          <a:p>
            <a:r>
              <a:t>Priner: August 18th</a:t>
            </a:r>
          </a:p>
          <a:p>
            <a:r>
              <a:t>Rumo: August 17th</a:t>
            </a:r>
          </a:p>
          <a:p>
            <a:r>
              <a:t>Simpar: August 17th</a:t>
            </a:r>
          </a:p>
          <a:p>
            <a:r>
              <a:t>Vamos: August 18th</a:t>
            </a:r>
          </a:p>
          <a:p>
            <a:endParaRPr/>
          </a:p>
          <a:p>
            <a:r>
              <a:t>[Sources]</a:t>
            </a:r>
          </a:p>
          <a:p>
            <a:r>
              <a:t>- 2026 participant list supplied by the user (pasted-text.txt).</a:t>
            </a:r>
          </a:p>
          <a:p>
            <a:r>
              <a:t>- Source visual template: https://researchxp1.s3.sa-east-1.amazonaws.com/Company+list.pptx</a:t>
            </a:r>
          </a:p>
          <a:p>
            <a:r>
              <a:t>- XP Research sector taxonomy reference: https://conteudos.xpi.com.br/acoes/relatorios/enquadrando-o-varejo-para-2026/</a:t>
            </a:r>
          </a:p>
          <a:p>
            <a:r>
              <a:t>- XP Research sector taxonomy reference: https://conteudos.xpi.com.br/acoes/relatorios/utilities-previa-de-resultados-1t26/</a:t>
            </a:r>
          </a:p>
          <a:p>
            <a:r>
              <a:t>- XP Research sector taxonomy reference: https://conteudos.xpi.com.br/acoes/relatorios/transportes-previa-de-resultados-do-2t26/</a:t>
            </a:r>
          </a:p>
          <a:p>
            <a:r>
              <a:t>- XP Research sector taxonomy reference: https://conteudos.xpi.com.br/acoes/relatorios/tmt-previa-do-2t26-lwsa3-e-bmob3/</a:t>
            </a:r>
          </a:p>
          <a:p>
            <a:r>
              <a:t>- XP Research sector taxonomy reference: https://conteudos.xpi.com.br/acoes/relatorios/o-setor-de-saude-em-alta-momentum-favoravel-pela-frente/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b="1" dirty="0" err="1"/>
              <a:t>Suggested</a:t>
            </a:r>
            <a:r>
              <a:rPr lang="pt-BR" b="1" dirty="0"/>
              <a:t> </a:t>
            </a:r>
            <a:r>
              <a:rPr lang="pt-BR" b="1" dirty="0" err="1"/>
              <a:t>Themes</a:t>
            </a:r>
            <a:endParaRPr lang="pt-BR" b="1" dirty="0"/>
          </a:p>
          <a:p>
            <a:pPr marL="171450" indent="-171450">
              <a:buFontTx/>
              <a:buChar char="-"/>
            </a:pPr>
            <a:endParaRPr lang="pt-BR" dirty="0"/>
          </a:p>
          <a:p>
            <a:pPr marL="171450" indent="-171450">
              <a:buFontTx/>
              <a:buChar char="-"/>
            </a:pPr>
            <a:r>
              <a:rPr lang="pt-BR" dirty="0" err="1"/>
              <a:t>Slowing</a:t>
            </a:r>
            <a:r>
              <a:rPr lang="pt-BR" dirty="0"/>
              <a:t> </a:t>
            </a:r>
            <a:r>
              <a:rPr lang="pt-BR" dirty="0" err="1"/>
              <a:t>economy</a:t>
            </a:r>
            <a:endParaRPr lang="pt-BR" dirty="0"/>
          </a:p>
          <a:p>
            <a:pPr marL="171450" indent="-171450">
              <a:buFontTx/>
              <a:buChar char="-"/>
            </a:pPr>
            <a:r>
              <a:rPr lang="pt-BR" dirty="0"/>
              <a:t>Higher for </a:t>
            </a:r>
            <a:r>
              <a:rPr lang="pt-BR" dirty="0" err="1"/>
              <a:t>longer</a:t>
            </a:r>
            <a:r>
              <a:rPr lang="pt-BR" dirty="0"/>
              <a:t> rates? </a:t>
            </a:r>
            <a:r>
              <a:rPr lang="pt-BR" dirty="0" err="1"/>
              <a:t>Leverage</a:t>
            </a:r>
            <a:r>
              <a:rPr lang="pt-BR" dirty="0"/>
              <a:t> </a:t>
            </a:r>
            <a:r>
              <a:rPr lang="pt-BR" dirty="0" err="1"/>
              <a:t>concerns</a:t>
            </a:r>
            <a:endParaRPr lang="pt-BR" dirty="0"/>
          </a:p>
          <a:p>
            <a:pPr marL="171450" indent="-171450">
              <a:buFontTx/>
              <a:buChar char="-"/>
            </a:pPr>
            <a:r>
              <a:rPr lang="pt-BR" dirty="0" err="1"/>
              <a:t>Elections</a:t>
            </a:r>
            <a:endParaRPr lang="pt-BR" dirty="0"/>
          </a:p>
          <a:p>
            <a:pPr marL="171450" indent="-171450">
              <a:buFontTx/>
              <a:buChar char="-"/>
            </a:pPr>
            <a:r>
              <a:rPr lang="pt-BR" dirty="0"/>
              <a:t>Investor sentimento </a:t>
            </a:r>
            <a:r>
              <a:rPr lang="pt-BR" dirty="0" err="1"/>
              <a:t>and</a:t>
            </a:r>
            <a:r>
              <a:rPr lang="pt-BR" dirty="0"/>
              <a:t> </a:t>
            </a:r>
            <a:r>
              <a:rPr lang="pt-BR" dirty="0" err="1"/>
              <a:t>flows</a:t>
            </a:r>
            <a:endParaRPr lang="pt-BR" dirty="0"/>
          </a:p>
          <a:p>
            <a:pPr marL="171450" indent="-171450">
              <a:buFontTx/>
              <a:buChar char="-"/>
            </a:pPr>
            <a:endParaRPr lang="pt-BR" dirty="0"/>
          </a:p>
          <a:p>
            <a:pPr marL="171450" indent="-171450">
              <a:buFontTx/>
              <a:buChar char="-"/>
            </a:pPr>
            <a:endParaRPr lang="pt-BR" dirty="0"/>
          </a:p>
        </p:txBody>
      </p:sp>
      <p:sp>
        <p:nvSpPr>
          <p:cNvPr id="4" name="Slide Number Placeholder 3"/>
          <p:cNvSpPr>
            <a:spLocks noGrp="1"/>
          </p:cNvSpPr>
          <p:nvPr>
            <p:ph type="sldNum" sz="quarter" idx="5"/>
          </p:nvPr>
        </p:nvSpPr>
        <p:spPr/>
        <p:txBody>
          <a:bodyPr/>
          <a:lstStyle/>
          <a:p>
            <a:fld id="{31984EC9-51C0-4BB7-A48B-D32011637DBD}" type="slidenum">
              <a:rPr lang="en-US" smtClean="0"/>
              <a:t>5</a:t>
            </a:fld>
            <a:endParaRPr lang="en-US"/>
          </a:p>
        </p:txBody>
      </p:sp>
    </p:spTree>
    <p:extLst>
      <p:ext uri="{BB962C8B-B14F-4D97-AF65-F5344CB8AC3E}">
        <p14:creationId xmlns:p14="http://schemas.microsoft.com/office/powerpoint/2010/main" val="2857153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31984EC9-51C0-4BB7-A48B-D32011637DBD}" type="slidenum">
              <a:rPr lang="en-US" smtClean="0"/>
              <a:t>6</a:t>
            </a:fld>
            <a:endParaRPr lang="en-US"/>
          </a:p>
        </p:txBody>
      </p:sp>
    </p:spTree>
    <p:extLst>
      <p:ext uri="{BB962C8B-B14F-4D97-AF65-F5344CB8AC3E}">
        <p14:creationId xmlns:p14="http://schemas.microsoft.com/office/powerpoint/2010/main" val="2226319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image" Target="../media/image4.jpe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image" Target="../media/image5.jpe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image" Target="../media/image6.jpe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image" Target="../media/image7.png"/><Relationship Id="rId4" Type="http://schemas.openxmlformats.org/officeDocument/2006/relationships/image" Target="../media/image8.svg"/></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image" Target="../media/image8.svg"/><Relationship Id="rId4" Type="http://schemas.openxmlformats.org/officeDocument/2006/relationships/image" Target="../media/image6.jpeg"/></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2.xml"/><Relationship Id="rId3"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2.xml"/><Relationship Id="rId3"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2.xml"/><Relationship Id="rId3"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2.xml"/><Relationship Id="rId3"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2.xml"/><Relationship Id="rId3"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2.xml"/><Relationship Id="rId3"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2.xml"/><Relationship Id="rId3" Type="http://schemas.openxmlformats.org/officeDocument/2006/relationships/image" Target="../media/image7.pn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2.xml"/><Relationship Id="rId3" Type="http://schemas.openxmlformats.org/officeDocument/2006/relationships/image" Target="../media/image7.pn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2.xml"/><Relationship Id="rId3" Type="http://schemas.openxmlformats.org/officeDocument/2006/relationships/slide" Target="../slides/slide4.xml"/><Relationship Id="rId4" Type="http://schemas.openxmlformats.org/officeDocument/2006/relationships/image" Target="../media/image9.svg"/></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tags" Target="../tags/tag37.xml"/><Relationship Id="rId2" Type="http://schemas.openxmlformats.org/officeDocument/2006/relationships/slideMaster" Target="../slideMasters/slideMaster2.xml"/><Relationship Id="rId3" Type="http://schemas.openxmlformats.org/officeDocument/2006/relationships/image" Target="../media/image7.png"/><Relationship Id="rId4" Type="http://schemas.openxmlformats.org/officeDocument/2006/relationships/image" Target="../media/image8.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pic>
        <p:nvPicPr>
          <p:cNvPr id="24" name="Picture 23" descr="A silhouette of a statue on a mountain&#10;&#10;AI-generated content may be incorrect.">
            <a:extLst>
              <a:ext uri="{FF2B5EF4-FFF2-40B4-BE49-F238E27FC236}">
                <a16:creationId xmlns:a16="http://schemas.microsoft.com/office/drawing/2014/main" id="{8E534F04-A922-0FE2-9001-8A227684C9EA}"/>
              </a:ext>
            </a:extLst>
          </p:cNvPr>
          <p:cNvPicPr>
            <a:picLocks noChangeAspect="1"/>
          </p:cNvPicPr>
          <p:nvPr userDrawn="1"/>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rcRect l="19001" t="750" r="16689" b="34875"/>
          <a:stretch>
            <a:fillRect/>
          </a:stretch>
        </p:blipFill>
        <p:spPr>
          <a:xfrm>
            <a:off x="1" y="0"/>
            <a:ext cx="6858000" cy="4576743"/>
          </a:xfrm>
          <a:prstGeom prst="rect">
            <a:avLst/>
          </a:prstGeom>
        </p:spPr>
      </p:pic>
      <p:sp>
        <p:nvSpPr>
          <p:cNvPr id="22" name="Rectangle 21">
            <a:extLst>
              <a:ext uri="{FF2B5EF4-FFF2-40B4-BE49-F238E27FC236}">
                <a16:creationId xmlns:a16="http://schemas.microsoft.com/office/drawing/2014/main" id="{CA577A9A-73DF-FD67-D2B9-9DF2479FCA6E}"/>
              </a:ext>
            </a:extLst>
          </p:cNvPr>
          <p:cNvSpPr/>
          <p:nvPr userDrawn="1"/>
        </p:nvSpPr>
        <p:spPr>
          <a:xfrm>
            <a:off x="0" y="0"/>
            <a:ext cx="6858000" cy="1248534"/>
          </a:xfrm>
          <a:prstGeom prst="rect">
            <a:avLst/>
          </a:prstGeom>
          <a:gradFill>
            <a:gsLst>
              <a:gs pos="100000">
                <a:srgbClr val="000000">
                  <a:alpha val="0"/>
                </a:srgbClr>
              </a:gs>
              <a:gs pos="0">
                <a:srgbClr val="000000">
                  <a:alpha val="5399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8" name="Rectangle 57">
            <a:extLst>
              <a:ext uri="{FF2B5EF4-FFF2-40B4-BE49-F238E27FC236}">
                <a16:creationId xmlns:a16="http://schemas.microsoft.com/office/drawing/2014/main" id="{97701684-EC87-CCCE-A58F-03CD7688915C}"/>
              </a:ext>
            </a:extLst>
          </p:cNvPr>
          <p:cNvSpPr/>
          <p:nvPr userDrawn="1"/>
        </p:nvSpPr>
        <p:spPr>
          <a:xfrm>
            <a:off x="0" y="4499429"/>
            <a:ext cx="6858000" cy="540657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1" name="Rectangle 60">
            <a:extLst>
              <a:ext uri="{FF2B5EF4-FFF2-40B4-BE49-F238E27FC236}">
                <a16:creationId xmlns:a16="http://schemas.microsoft.com/office/drawing/2014/main" id="{7DD95F5B-5C0F-87F2-49B8-A0B717061D47}"/>
              </a:ext>
            </a:extLst>
          </p:cNvPr>
          <p:cNvSpPr/>
          <p:nvPr userDrawn="1"/>
        </p:nvSpPr>
        <p:spPr>
          <a:xfrm>
            <a:off x="0" y="3334782"/>
            <a:ext cx="6858000" cy="3811729"/>
          </a:xfrm>
          <a:prstGeom prst="rect">
            <a:avLst/>
          </a:prstGeom>
          <a:gradFill flip="none" rotWithShape="1">
            <a:gsLst>
              <a:gs pos="100000">
                <a:srgbClr val="000000"/>
              </a:gs>
              <a:gs pos="23000">
                <a:schemeClr val="accent1">
                  <a:lumMod val="90000"/>
                  <a:lumOff val="10000"/>
                  <a:alpha val="44583"/>
                </a:schemeClr>
              </a:gs>
              <a:gs pos="0">
                <a:schemeClr val="accent3">
                  <a:lumMod val="75000"/>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6" name="Group 5">
            <a:extLst>
              <a:ext uri="{FF2B5EF4-FFF2-40B4-BE49-F238E27FC236}">
                <a16:creationId xmlns:a16="http://schemas.microsoft.com/office/drawing/2014/main" id="{ED0430D0-67C1-2F04-0F14-B6B38BDC0A40}"/>
              </a:ext>
            </a:extLst>
          </p:cNvPr>
          <p:cNvGrpSpPr/>
          <p:nvPr userDrawn="1"/>
        </p:nvGrpSpPr>
        <p:grpSpPr>
          <a:xfrm>
            <a:off x="690334" y="718812"/>
            <a:ext cx="1167339" cy="321801"/>
            <a:chOff x="2700591" y="2522601"/>
            <a:chExt cx="6428993" cy="1772284"/>
          </a:xfrm>
        </p:grpSpPr>
        <p:sp>
          <p:nvSpPr>
            <p:cNvPr id="7" name="Freeform: Shape 9">
              <a:extLst>
                <a:ext uri="{FF2B5EF4-FFF2-40B4-BE49-F238E27FC236}">
                  <a16:creationId xmlns:a16="http://schemas.microsoft.com/office/drawing/2014/main" id="{041EE4E5-B6D8-179D-0CA8-CDA554E89DA7}"/>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8" name="Graphic 20">
              <a:extLst>
                <a:ext uri="{FF2B5EF4-FFF2-40B4-BE49-F238E27FC236}">
                  <a16:creationId xmlns:a16="http://schemas.microsoft.com/office/drawing/2014/main" id="{CC543C02-0B22-D7A8-4873-EDE8A2195A2D}"/>
                </a:ext>
              </a:extLst>
            </p:cNvPr>
            <p:cNvGrpSpPr/>
            <p:nvPr/>
          </p:nvGrpSpPr>
          <p:grpSpPr>
            <a:xfrm>
              <a:off x="5034660" y="3339528"/>
              <a:ext cx="4094924" cy="747077"/>
              <a:chOff x="5034660" y="3339528"/>
              <a:chExt cx="4094924" cy="747077"/>
            </a:xfrm>
            <a:solidFill>
              <a:srgbClr val="FFFFFF"/>
            </a:solidFill>
          </p:grpSpPr>
          <p:sp>
            <p:nvSpPr>
              <p:cNvPr id="9" name="Freeform: Shape 11">
                <a:extLst>
                  <a:ext uri="{FF2B5EF4-FFF2-40B4-BE49-F238E27FC236}">
                    <a16:creationId xmlns:a16="http://schemas.microsoft.com/office/drawing/2014/main" id="{F7C61DE1-0F58-3F22-F861-4AFD0D939602}"/>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0" name="Freeform: Shape 12">
                <a:extLst>
                  <a:ext uri="{FF2B5EF4-FFF2-40B4-BE49-F238E27FC236}">
                    <a16:creationId xmlns:a16="http://schemas.microsoft.com/office/drawing/2014/main" id="{5C1DA710-E26C-8C6B-D5FF-9BF5DEAF5F7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1" name="Freeform: Shape 13">
                <a:extLst>
                  <a:ext uri="{FF2B5EF4-FFF2-40B4-BE49-F238E27FC236}">
                    <a16:creationId xmlns:a16="http://schemas.microsoft.com/office/drawing/2014/main" id="{7BC4F770-36F7-516C-7165-5AF290BF1086}"/>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2" name="Freeform: Shape 14">
                <a:extLst>
                  <a:ext uri="{FF2B5EF4-FFF2-40B4-BE49-F238E27FC236}">
                    <a16:creationId xmlns:a16="http://schemas.microsoft.com/office/drawing/2014/main" id="{DE18921F-D057-A295-F00E-1A26CB22F72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3" name="Freeform: Shape 15">
                <a:extLst>
                  <a:ext uri="{FF2B5EF4-FFF2-40B4-BE49-F238E27FC236}">
                    <a16:creationId xmlns:a16="http://schemas.microsoft.com/office/drawing/2014/main" id="{922CB073-CEC2-551F-1274-3884163A69CB}"/>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4" name="Freeform: Shape 16">
                <a:extLst>
                  <a:ext uri="{FF2B5EF4-FFF2-40B4-BE49-F238E27FC236}">
                    <a16:creationId xmlns:a16="http://schemas.microsoft.com/office/drawing/2014/main" id="{FE9E9391-BB10-42D2-9EC7-22BEC0C9F8CF}"/>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5" name="Freeform: Shape 17">
                <a:extLst>
                  <a:ext uri="{FF2B5EF4-FFF2-40B4-BE49-F238E27FC236}">
                    <a16:creationId xmlns:a16="http://schemas.microsoft.com/office/drawing/2014/main" id="{2FE5AC17-9269-4F78-4E88-01D4C1AC3834}"/>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6" name="Freeform: Shape 18">
                <a:extLst>
                  <a:ext uri="{FF2B5EF4-FFF2-40B4-BE49-F238E27FC236}">
                    <a16:creationId xmlns:a16="http://schemas.microsoft.com/office/drawing/2014/main" id="{FA4A64A4-1E0E-DACA-B2EC-46C03BFBD9B8}"/>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17" name="Date Placeholder 1">
            <a:extLst>
              <a:ext uri="{FF2B5EF4-FFF2-40B4-BE49-F238E27FC236}">
                <a16:creationId xmlns:a16="http://schemas.microsoft.com/office/drawing/2014/main" id="{60BBDE91-241D-4EB4-5421-E0090E889D3A}"/>
              </a:ext>
            </a:extLst>
          </p:cNvPr>
          <p:cNvSpPr txBox="1">
            <a:spLocks/>
          </p:cNvSpPr>
          <p:nvPr userDrawn="1"/>
        </p:nvSpPr>
        <p:spPr>
          <a:xfrm>
            <a:off x="4746852" y="698500"/>
            <a:ext cx="1382486" cy="184666"/>
          </a:xfrm>
          <a:prstGeom prst="rect">
            <a:avLst/>
          </a:prstGeom>
        </p:spPr>
        <p:txBody>
          <a:bodyPr vert="horz" wrap="square" lIns="0" tIns="0" rIns="0" bIns="0" rtlCol="0" anchor="ctr" anchorCtr="0">
            <a:spAutoFit/>
          </a:bodyPr>
          <a:lstStyle>
            <a:defPPr>
              <a:defRPr lang="pt-BR"/>
            </a:defPPr>
            <a:lvl1pPr marL="0" algn="l" defTabSz="914400" rtl="0" eaLnBrk="1" latinLnBrk="0" hangingPunct="1">
              <a:defRPr sz="1200" kern="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t>August 2026 </a:t>
            </a:r>
          </a:p>
        </p:txBody>
      </p:sp>
      <p:sp>
        <p:nvSpPr>
          <p:cNvPr id="3" name="Text Placeholder 1">
            <a:extLst>
              <a:ext uri="{FF2B5EF4-FFF2-40B4-BE49-F238E27FC236}">
                <a16:creationId xmlns:a16="http://schemas.microsoft.com/office/drawing/2014/main" id="{1FB0AE2D-CE39-5BD5-279E-49AA87D66937}"/>
              </a:ext>
            </a:extLst>
          </p:cNvPr>
          <p:cNvSpPr>
            <a:spLocks noGrp="1"/>
          </p:cNvSpPr>
          <p:nvPr>
            <p:ph type="body" sz="quarter" idx="12"/>
          </p:nvPr>
        </p:nvSpPr>
        <p:spPr>
          <a:xfrm>
            <a:off x="571489" y="5116934"/>
            <a:ext cx="5337375" cy="458908"/>
          </a:xfrm>
          <a:prstGeom prst="rect">
            <a:avLst/>
          </a:prstGeom>
        </p:spPr>
        <p:txBody>
          <a:bodyPr/>
          <a:lstStyle>
            <a:lvl1pPr marL="0" indent="0" algn="l" defTabSz="385767" rtl="0" eaLnBrk="1" latinLnBrk="0" hangingPunct="1">
              <a:lnSpc>
                <a:spcPct val="90000"/>
              </a:lnSpc>
              <a:spcBef>
                <a:spcPts val="422"/>
              </a:spcBef>
              <a:buFont typeface="Arial" panose="020B0604020202020204" pitchFamily="34" charset="0"/>
              <a:buNone/>
              <a:defRPr lang="pt-BR" sz="3200" b="1" i="0" kern="1200" dirty="0">
                <a:solidFill>
                  <a:schemeClr val="bg1"/>
                </a:solidFill>
                <a:latin typeface="+mj-lt"/>
                <a:ea typeface="XP Light" pitchFamily="50" charset="0"/>
                <a:cs typeface="Roboto" panose="02000000000000000000" pitchFamily="2" charset="0"/>
              </a:defRPr>
            </a:lvl1pPr>
          </a:lstStyle>
          <a:p>
            <a:r>
              <a:rPr lang="pt-BR" sz="3600" b="1" dirty="0"/>
              <a:t>Key </a:t>
            </a:r>
            <a:r>
              <a:rPr lang="pt-BR" sz="3600" b="1" dirty="0" err="1"/>
              <a:t>Themes</a:t>
            </a:r>
            <a:endParaRPr lang="pt-BR" sz="3600" b="1" dirty="0"/>
          </a:p>
        </p:txBody>
      </p:sp>
      <p:grpSp>
        <p:nvGrpSpPr>
          <p:cNvPr id="25" name="Group 24">
            <a:extLst>
              <a:ext uri="{FF2B5EF4-FFF2-40B4-BE49-F238E27FC236}">
                <a16:creationId xmlns:a16="http://schemas.microsoft.com/office/drawing/2014/main" id="{6F51BE77-0A09-7FE2-FAC9-380AD5189FE9}"/>
              </a:ext>
            </a:extLst>
          </p:cNvPr>
          <p:cNvGrpSpPr/>
          <p:nvPr userDrawn="1"/>
        </p:nvGrpSpPr>
        <p:grpSpPr>
          <a:xfrm>
            <a:off x="690334" y="6118162"/>
            <a:ext cx="5562175" cy="2812007"/>
            <a:chOff x="690334" y="6167857"/>
            <a:chExt cx="5562175" cy="2812007"/>
          </a:xfrm>
        </p:grpSpPr>
        <p:grpSp>
          <p:nvGrpSpPr>
            <p:cNvPr id="26" name="Group 25">
              <a:extLst>
                <a:ext uri="{FF2B5EF4-FFF2-40B4-BE49-F238E27FC236}">
                  <a16:creationId xmlns:a16="http://schemas.microsoft.com/office/drawing/2014/main" id="{B33DCB39-9D1E-4001-61E0-E4900C3CC87E}"/>
                </a:ext>
              </a:extLst>
            </p:cNvPr>
            <p:cNvGrpSpPr/>
            <p:nvPr userDrawn="1"/>
          </p:nvGrpSpPr>
          <p:grpSpPr>
            <a:xfrm>
              <a:off x="2700103" y="6170730"/>
              <a:ext cx="3552406" cy="2805906"/>
              <a:chOff x="2655857" y="6170730"/>
              <a:chExt cx="3552406" cy="2805906"/>
            </a:xfrm>
          </p:grpSpPr>
          <p:sp>
            <p:nvSpPr>
              <p:cNvPr id="53" name="Text Placeholder 40">
                <a:extLst>
                  <a:ext uri="{FF2B5EF4-FFF2-40B4-BE49-F238E27FC236}">
                    <a16:creationId xmlns:a16="http://schemas.microsoft.com/office/drawing/2014/main" id="{918CA56A-5BD1-C7D8-CB5B-F6E29AE02585}"/>
                  </a:ext>
                </a:extLst>
              </p:cNvPr>
              <p:cNvSpPr txBox="1">
                <a:spLocks/>
              </p:cNvSpPr>
              <p:nvPr/>
            </p:nvSpPr>
            <p:spPr>
              <a:xfrm>
                <a:off x="4624263" y="6466813"/>
                <a:ext cx="140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danniela.eiger@xpi.com.br</a:t>
                </a:r>
              </a:p>
            </p:txBody>
          </p:sp>
          <p:sp>
            <p:nvSpPr>
              <p:cNvPr id="54" name="Text Placeholder 40">
                <a:extLst>
                  <a:ext uri="{FF2B5EF4-FFF2-40B4-BE49-F238E27FC236}">
                    <a16:creationId xmlns:a16="http://schemas.microsoft.com/office/drawing/2014/main" id="{A5344DC4-85AF-F65A-7821-128EC76FD927}"/>
                  </a:ext>
                </a:extLst>
              </p:cNvPr>
              <p:cNvSpPr txBox="1">
                <a:spLocks/>
              </p:cNvSpPr>
              <p:nvPr/>
            </p:nvSpPr>
            <p:spPr>
              <a:xfrm>
                <a:off x="4624263" y="6170730"/>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Danniela Eiger, CFA</a:t>
                </a:r>
              </a:p>
            </p:txBody>
          </p:sp>
          <p:sp>
            <p:nvSpPr>
              <p:cNvPr id="55" name="Text Placeholder 40">
                <a:extLst>
                  <a:ext uri="{FF2B5EF4-FFF2-40B4-BE49-F238E27FC236}">
                    <a16:creationId xmlns:a16="http://schemas.microsoft.com/office/drawing/2014/main" id="{43A320B6-EB71-DAE8-53CA-209E149D9624}"/>
                  </a:ext>
                </a:extLst>
              </p:cNvPr>
              <p:cNvSpPr txBox="1">
                <a:spLocks/>
              </p:cNvSpPr>
              <p:nvPr/>
            </p:nvSpPr>
            <p:spPr>
              <a:xfrm>
                <a:off x="4624263" y="6328221"/>
                <a:ext cx="158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marL="0" marR="0" lvl="0" indent="0" algn="l" defTabSz="914400" rtl="0" eaLnBrk="1" fontAlgn="auto" latinLnBrk="0" hangingPunct="1">
                  <a:lnSpc>
                    <a:spcPct val="80000"/>
                  </a:lnSpc>
                  <a:spcBef>
                    <a:spcPts val="1200"/>
                  </a:spcBef>
                  <a:spcAft>
                    <a:spcPts val="0"/>
                  </a:spcAft>
                  <a:buClrTx/>
                  <a:buSzTx/>
                  <a:buFont typeface="Arial" panose="020B0604020202020204" pitchFamily="34" charset="0"/>
                  <a:buNone/>
                  <a:tabLst/>
                  <a:defRPr/>
                </a:pPr>
                <a:r>
                  <a:rPr lang="en-029" sz="800" i="1" dirty="0">
                    <a:solidFill>
                      <a:schemeClr val="bg1">
                        <a:lumMod val="85000"/>
                      </a:schemeClr>
                    </a:solidFill>
                  </a:rPr>
                  <a:t>Retail </a:t>
                </a:r>
              </a:p>
            </p:txBody>
          </p:sp>
          <p:sp>
            <p:nvSpPr>
              <p:cNvPr id="56" name="Text Placeholder 40">
                <a:extLst>
                  <a:ext uri="{FF2B5EF4-FFF2-40B4-BE49-F238E27FC236}">
                    <a16:creationId xmlns:a16="http://schemas.microsoft.com/office/drawing/2014/main" id="{8996F726-748F-935F-C29C-6DE6ECB73232}"/>
                  </a:ext>
                </a:extLst>
              </p:cNvPr>
              <p:cNvSpPr txBox="1">
                <a:spLocks/>
              </p:cNvSpPr>
              <p:nvPr userDrawn="1"/>
            </p:nvSpPr>
            <p:spPr>
              <a:xfrm>
                <a:off x="4624263" y="7268951"/>
                <a:ext cx="140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lucas.laghi@xpi.com.br</a:t>
                </a:r>
              </a:p>
            </p:txBody>
          </p:sp>
          <p:sp>
            <p:nvSpPr>
              <p:cNvPr id="57" name="Text Placeholder 40">
                <a:extLst>
                  <a:ext uri="{FF2B5EF4-FFF2-40B4-BE49-F238E27FC236}">
                    <a16:creationId xmlns:a16="http://schemas.microsoft.com/office/drawing/2014/main" id="{C8D615F2-BE66-A028-7D4B-AFD0B70633DD}"/>
                  </a:ext>
                </a:extLst>
              </p:cNvPr>
              <p:cNvSpPr txBox="1">
                <a:spLocks/>
              </p:cNvSpPr>
              <p:nvPr userDrawn="1"/>
            </p:nvSpPr>
            <p:spPr>
              <a:xfrm>
                <a:off x="4624263" y="6966708"/>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Lucas Laghi</a:t>
                </a:r>
              </a:p>
            </p:txBody>
          </p:sp>
          <p:sp>
            <p:nvSpPr>
              <p:cNvPr id="100" name="Text Placeholder 40">
                <a:extLst>
                  <a:ext uri="{FF2B5EF4-FFF2-40B4-BE49-F238E27FC236}">
                    <a16:creationId xmlns:a16="http://schemas.microsoft.com/office/drawing/2014/main" id="{84EBE237-557B-36DF-1D51-2763CFE9AD6E}"/>
                  </a:ext>
                </a:extLst>
              </p:cNvPr>
              <p:cNvSpPr txBox="1">
                <a:spLocks/>
              </p:cNvSpPr>
              <p:nvPr userDrawn="1"/>
            </p:nvSpPr>
            <p:spPr>
              <a:xfrm>
                <a:off x="4624263" y="7130359"/>
                <a:ext cx="158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i="1" dirty="0">
                    <a:solidFill>
                      <a:schemeClr val="bg1">
                        <a:lumMod val="85000"/>
                      </a:schemeClr>
                    </a:solidFill>
                  </a:rPr>
                  <a:t>M&amp;M, P&amp;P and Capital Goods</a:t>
                </a:r>
              </a:p>
            </p:txBody>
          </p:sp>
          <p:sp>
            <p:nvSpPr>
              <p:cNvPr id="101" name="Text Placeholder 40">
                <a:extLst>
                  <a:ext uri="{FF2B5EF4-FFF2-40B4-BE49-F238E27FC236}">
                    <a16:creationId xmlns:a16="http://schemas.microsoft.com/office/drawing/2014/main" id="{3DA42E84-0A44-9963-8D53-A44FECA3A150}"/>
                  </a:ext>
                </a:extLst>
              </p:cNvPr>
              <p:cNvSpPr txBox="1">
                <a:spLocks/>
              </p:cNvSpPr>
              <p:nvPr/>
            </p:nvSpPr>
            <p:spPr>
              <a:xfrm>
                <a:off x="2655857" y="8854451"/>
                <a:ext cx="140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ygor.altero@xpi.com.br</a:t>
                </a:r>
              </a:p>
            </p:txBody>
          </p:sp>
          <p:sp>
            <p:nvSpPr>
              <p:cNvPr id="102" name="Text Placeholder 40">
                <a:extLst>
                  <a:ext uri="{FF2B5EF4-FFF2-40B4-BE49-F238E27FC236}">
                    <a16:creationId xmlns:a16="http://schemas.microsoft.com/office/drawing/2014/main" id="{0D6151C3-43C0-8734-54A3-EA863B11FC46}"/>
                  </a:ext>
                </a:extLst>
              </p:cNvPr>
              <p:cNvSpPr txBox="1">
                <a:spLocks/>
              </p:cNvSpPr>
              <p:nvPr/>
            </p:nvSpPr>
            <p:spPr>
              <a:xfrm>
                <a:off x="2655857" y="8561596"/>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Ygor Altero</a:t>
                </a:r>
              </a:p>
            </p:txBody>
          </p:sp>
          <p:sp>
            <p:nvSpPr>
              <p:cNvPr id="103" name="Text Placeholder 40">
                <a:extLst>
                  <a:ext uri="{FF2B5EF4-FFF2-40B4-BE49-F238E27FC236}">
                    <a16:creationId xmlns:a16="http://schemas.microsoft.com/office/drawing/2014/main" id="{FADD56D8-9C9B-A458-02E5-7BC6132052A1}"/>
                  </a:ext>
                </a:extLst>
              </p:cNvPr>
              <p:cNvSpPr txBox="1">
                <a:spLocks/>
              </p:cNvSpPr>
              <p:nvPr/>
            </p:nvSpPr>
            <p:spPr>
              <a:xfrm>
                <a:off x="2655857" y="8715859"/>
                <a:ext cx="158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i="1" dirty="0">
                    <a:solidFill>
                      <a:schemeClr val="bg1">
                        <a:lumMod val="85000"/>
                      </a:schemeClr>
                    </a:solidFill>
                  </a:rPr>
                  <a:t>Real Estate</a:t>
                </a:r>
              </a:p>
            </p:txBody>
          </p:sp>
        </p:grpSp>
        <p:grpSp>
          <p:nvGrpSpPr>
            <p:cNvPr id="27" name="Group 26">
              <a:extLst>
                <a:ext uri="{FF2B5EF4-FFF2-40B4-BE49-F238E27FC236}">
                  <a16:creationId xmlns:a16="http://schemas.microsoft.com/office/drawing/2014/main" id="{D2238E10-857D-EDC1-60B8-D418C01B9341}"/>
                </a:ext>
              </a:extLst>
            </p:cNvPr>
            <p:cNvGrpSpPr/>
            <p:nvPr userDrawn="1"/>
          </p:nvGrpSpPr>
          <p:grpSpPr>
            <a:xfrm>
              <a:off x="690334" y="6170730"/>
              <a:ext cx="5562175" cy="2809134"/>
              <a:chOff x="640420" y="6170730"/>
              <a:chExt cx="5562175" cy="2809134"/>
            </a:xfrm>
          </p:grpSpPr>
          <p:sp>
            <p:nvSpPr>
              <p:cNvPr id="41" name="Text Placeholder 40">
                <a:extLst>
                  <a:ext uri="{FF2B5EF4-FFF2-40B4-BE49-F238E27FC236}">
                    <a16:creationId xmlns:a16="http://schemas.microsoft.com/office/drawing/2014/main" id="{3BC83110-87AA-7F3F-730D-FEA9E60AF2CA}"/>
                  </a:ext>
                </a:extLst>
              </p:cNvPr>
              <p:cNvSpPr txBox="1">
                <a:spLocks/>
              </p:cNvSpPr>
              <p:nvPr/>
            </p:nvSpPr>
            <p:spPr>
              <a:xfrm>
                <a:off x="2654374" y="6466813"/>
                <a:ext cx="1579815"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bernardo.guttmann@xpi.com.br</a:t>
                </a:r>
              </a:p>
            </p:txBody>
          </p:sp>
          <p:sp>
            <p:nvSpPr>
              <p:cNvPr id="42" name="Text Placeholder 40">
                <a:extLst>
                  <a:ext uri="{FF2B5EF4-FFF2-40B4-BE49-F238E27FC236}">
                    <a16:creationId xmlns:a16="http://schemas.microsoft.com/office/drawing/2014/main" id="{21CEC107-28C8-CA36-EBA3-34BEEB817BD2}"/>
                  </a:ext>
                </a:extLst>
              </p:cNvPr>
              <p:cNvSpPr txBox="1">
                <a:spLocks/>
              </p:cNvSpPr>
              <p:nvPr/>
            </p:nvSpPr>
            <p:spPr>
              <a:xfrm>
                <a:off x="2654374" y="6170730"/>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Bernardo Guttmann</a:t>
                </a:r>
              </a:p>
            </p:txBody>
          </p:sp>
          <p:sp>
            <p:nvSpPr>
              <p:cNvPr id="43" name="Text Placeholder 40">
                <a:extLst>
                  <a:ext uri="{FF2B5EF4-FFF2-40B4-BE49-F238E27FC236}">
                    <a16:creationId xmlns:a16="http://schemas.microsoft.com/office/drawing/2014/main" id="{6994CD9B-4B6C-0ACB-32BA-AE31889C9D51}"/>
                  </a:ext>
                </a:extLst>
              </p:cNvPr>
              <p:cNvSpPr txBox="1">
                <a:spLocks/>
              </p:cNvSpPr>
              <p:nvPr/>
            </p:nvSpPr>
            <p:spPr>
              <a:xfrm>
                <a:off x="2654374" y="6328221"/>
                <a:ext cx="1734615" cy="122400"/>
              </a:xfrm>
              <a:prstGeom prst="rect">
                <a:avLst/>
              </a:prstGeom>
              <a:noFill/>
              <a:effectLst/>
            </p:spPr>
            <p:txBody>
              <a:bodyPr wrap="square" lIns="0" tIns="0" rIns="0" bIns="0" rtlCol="0" anchor="b" anchorCtr="0">
                <a:noAutofit/>
              </a:bodyPr>
              <a:lstStyle>
                <a:defPPr>
                  <a:defRPr lang="pt-BR"/>
                </a:defPPr>
                <a:lvl1pPr indent="0">
                  <a:lnSpc>
                    <a:spcPct val="80000"/>
                  </a:lnSpc>
                  <a:spcBef>
                    <a:spcPts val="1200"/>
                  </a:spcBef>
                  <a:buFont typeface="Arial" panose="020B0604020202020204" pitchFamily="34" charset="0"/>
                  <a:buNone/>
                  <a:defRPr sz="800" b="0" i="1">
                    <a:solidFill>
                      <a:schemeClr val="bg2">
                        <a:lumMod val="60000"/>
                        <a:lumOff val="40000"/>
                      </a:schemeClr>
                    </a:solidFill>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r>
                  <a:rPr lang="en-029" dirty="0">
                    <a:solidFill>
                      <a:schemeClr val="bg1">
                        <a:lumMod val="85000"/>
                      </a:schemeClr>
                    </a:solidFill>
                  </a:rPr>
                  <a:t>TMT, Banks &amp; Non-Bank Financials</a:t>
                </a:r>
              </a:p>
            </p:txBody>
          </p:sp>
          <p:sp>
            <p:nvSpPr>
              <p:cNvPr id="44" name="Text Placeholder 40">
                <a:extLst>
                  <a:ext uri="{FF2B5EF4-FFF2-40B4-BE49-F238E27FC236}">
                    <a16:creationId xmlns:a16="http://schemas.microsoft.com/office/drawing/2014/main" id="{20F88056-B7AF-EE5D-A306-C0F5D3963BEC}"/>
                  </a:ext>
                </a:extLst>
              </p:cNvPr>
              <p:cNvSpPr txBox="1">
                <a:spLocks/>
              </p:cNvSpPr>
              <p:nvPr userDrawn="1"/>
            </p:nvSpPr>
            <p:spPr>
              <a:xfrm>
                <a:off x="2654374" y="7268951"/>
                <a:ext cx="140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leonardo.alencar@xpi.com.br</a:t>
                </a:r>
              </a:p>
            </p:txBody>
          </p:sp>
          <p:sp>
            <p:nvSpPr>
              <p:cNvPr id="45" name="Text Placeholder 40">
                <a:extLst>
                  <a:ext uri="{FF2B5EF4-FFF2-40B4-BE49-F238E27FC236}">
                    <a16:creationId xmlns:a16="http://schemas.microsoft.com/office/drawing/2014/main" id="{7F252F53-A591-EE51-2C6E-FE9C72953E66}"/>
                  </a:ext>
                </a:extLst>
              </p:cNvPr>
              <p:cNvSpPr txBox="1">
                <a:spLocks/>
              </p:cNvSpPr>
              <p:nvPr userDrawn="1"/>
            </p:nvSpPr>
            <p:spPr>
              <a:xfrm>
                <a:off x="2654374" y="6966708"/>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Leonardo Alencar</a:t>
                </a:r>
              </a:p>
            </p:txBody>
          </p:sp>
          <p:sp>
            <p:nvSpPr>
              <p:cNvPr id="46" name="Text Placeholder 40">
                <a:extLst>
                  <a:ext uri="{FF2B5EF4-FFF2-40B4-BE49-F238E27FC236}">
                    <a16:creationId xmlns:a16="http://schemas.microsoft.com/office/drawing/2014/main" id="{0A2BAA50-D512-6BF9-21A6-BD745DF1AC47}"/>
                  </a:ext>
                </a:extLst>
              </p:cNvPr>
              <p:cNvSpPr txBox="1">
                <a:spLocks/>
              </p:cNvSpPr>
              <p:nvPr userDrawn="1"/>
            </p:nvSpPr>
            <p:spPr>
              <a:xfrm>
                <a:off x="2654374" y="7130359"/>
                <a:ext cx="158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i="1" dirty="0">
                    <a:solidFill>
                      <a:schemeClr val="bg1">
                        <a:lumMod val="85000"/>
                      </a:schemeClr>
                    </a:solidFill>
                  </a:rPr>
                  <a:t>Agri, Food and Beverages</a:t>
                </a:r>
              </a:p>
            </p:txBody>
          </p:sp>
          <p:sp>
            <p:nvSpPr>
              <p:cNvPr id="47" name="Text Placeholder 40">
                <a:extLst>
                  <a:ext uri="{FF2B5EF4-FFF2-40B4-BE49-F238E27FC236}">
                    <a16:creationId xmlns:a16="http://schemas.microsoft.com/office/drawing/2014/main" id="{512DE68A-FDFE-7D87-805D-74CD2C2C5CA5}"/>
                  </a:ext>
                </a:extLst>
              </p:cNvPr>
              <p:cNvSpPr txBox="1">
                <a:spLocks/>
              </p:cNvSpPr>
              <p:nvPr/>
            </p:nvSpPr>
            <p:spPr>
              <a:xfrm>
                <a:off x="2654374" y="8061701"/>
                <a:ext cx="140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pedro.bruno@xpi.com.br</a:t>
                </a:r>
              </a:p>
            </p:txBody>
          </p:sp>
          <p:sp>
            <p:nvSpPr>
              <p:cNvPr id="48" name="Text Placeholder 40">
                <a:extLst>
                  <a:ext uri="{FF2B5EF4-FFF2-40B4-BE49-F238E27FC236}">
                    <a16:creationId xmlns:a16="http://schemas.microsoft.com/office/drawing/2014/main" id="{7678BDCB-4457-63A3-857C-C81637AA836D}"/>
                  </a:ext>
                </a:extLst>
              </p:cNvPr>
              <p:cNvSpPr txBox="1">
                <a:spLocks/>
              </p:cNvSpPr>
              <p:nvPr/>
            </p:nvSpPr>
            <p:spPr>
              <a:xfrm>
                <a:off x="2654374" y="7768846"/>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Pedro Bruno</a:t>
                </a:r>
              </a:p>
            </p:txBody>
          </p:sp>
          <p:sp>
            <p:nvSpPr>
              <p:cNvPr id="49" name="Text Placeholder 40">
                <a:extLst>
                  <a:ext uri="{FF2B5EF4-FFF2-40B4-BE49-F238E27FC236}">
                    <a16:creationId xmlns:a16="http://schemas.microsoft.com/office/drawing/2014/main" id="{967C79C3-AD5B-4EA5-4C37-B0B84D1658F9}"/>
                  </a:ext>
                </a:extLst>
              </p:cNvPr>
              <p:cNvSpPr txBox="1">
                <a:spLocks/>
              </p:cNvSpPr>
              <p:nvPr/>
            </p:nvSpPr>
            <p:spPr>
              <a:xfrm>
                <a:off x="2654374" y="7923109"/>
                <a:ext cx="158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i="1" dirty="0">
                    <a:solidFill>
                      <a:schemeClr val="bg1">
                        <a:lumMod val="85000"/>
                      </a:schemeClr>
                    </a:solidFill>
                  </a:rPr>
                  <a:t>Transportation</a:t>
                </a:r>
              </a:p>
            </p:txBody>
          </p:sp>
          <p:sp>
            <p:nvSpPr>
              <p:cNvPr id="50" name="Text Placeholder 40">
                <a:extLst>
                  <a:ext uri="{FF2B5EF4-FFF2-40B4-BE49-F238E27FC236}">
                    <a16:creationId xmlns:a16="http://schemas.microsoft.com/office/drawing/2014/main" id="{5DEC57DD-D426-8AD4-B531-4263A27E06C4}"/>
                  </a:ext>
                </a:extLst>
              </p:cNvPr>
              <p:cNvSpPr txBox="1">
                <a:spLocks/>
              </p:cNvSpPr>
              <p:nvPr/>
            </p:nvSpPr>
            <p:spPr>
              <a:xfrm>
                <a:off x="640420" y="8857679"/>
                <a:ext cx="140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regis.cardoso@xpi.com.br</a:t>
                </a:r>
              </a:p>
            </p:txBody>
          </p:sp>
          <p:sp>
            <p:nvSpPr>
              <p:cNvPr id="51" name="Text Placeholder 40">
                <a:extLst>
                  <a:ext uri="{FF2B5EF4-FFF2-40B4-BE49-F238E27FC236}">
                    <a16:creationId xmlns:a16="http://schemas.microsoft.com/office/drawing/2014/main" id="{49C7A915-39A6-DEDB-772E-85472EC1063D}"/>
                  </a:ext>
                </a:extLst>
              </p:cNvPr>
              <p:cNvSpPr txBox="1">
                <a:spLocks/>
              </p:cNvSpPr>
              <p:nvPr/>
            </p:nvSpPr>
            <p:spPr>
              <a:xfrm>
                <a:off x="640420" y="8561596"/>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Regis Cardoso, CFA</a:t>
                </a:r>
              </a:p>
            </p:txBody>
          </p:sp>
          <p:sp>
            <p:nvSpPr>
              <p:cNvPr id="52" name="Text Placeholder 40">
                <a:extLst>
                  <a:ext uri="{FF2B5EF4-FFF2-40B4-BE49-F238E27FC236}">
                    <a16:creationId xmlns:a16="http://schemas.microsoft.com/office/drawing/2014/main" id="{4833A01E-4ED1-62B4-0181-A3A2F7856B55}"/>
                  </a:ext>
                </a:extLst>
              </p:cNvPr>
              <p:cNvSpPr txBox="1">
                <a:spLocks/>
              </p:cNvSpPr>
              <p:nvPr/>
            </p:nvSpPr>
            <p:spPr>
              <a:xfrm>
                <a:off x="640420" y="8719087"/>
                <a:ext cx="158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i="1" dirty="0">
                    <a:solidFill>
                      <a:schemeClr val="bg1">
                        <a:lumMod val="85000"/>
                      </a:schemeClr>
                    </a:solidFill>
                  </a:rPr>
                  <a:t>Oil, Gas &amp; Petrochemicals</a:t>
                </a:r>
              </a:p>
            </p:txBody>
          </p:sp>
          <p:sp>
            <p:nvSpPr>
              <p:cNvPr id="84" name="Text Placeholder 40">
                <a:extLst>
                  <a:ext uri="{FF2B5EF4-FFF2-40B4-BE49-F238E27FC236}">
                    <a16:creationId xmlns:a16="http://schemas.microsoft.com/office/drawing/2014/main" id="{259F3F8B-8C62-84D3-58AF-A8983C8F3F6C}"/>
                  </a:ext>
                </a:extLst>
              </p:cNvPr>
              <p:cNvSpPr txBox="1">
                <a:spLocks/>
              </p:cNvSpPr>
              <p:nvPr userDrawn="1"/>
            </p:nvSpPr>
            <p:spPr>
              <a:xfrm>
                <a:off x="4618595" y="8060365"/>
                <a:ext cx="140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raul.cavendish@xpi.com.br</a:t>
                </a:r>
              </a:p>
            </p:txBody>
          </p:sp>
          <p:sp>
            <p:nvSpPr>
              <p:cNvPr id="85" name="Text Placeholder 40">
                <a:extLst>
                  <a:ext uri="{FF2B5EF4-FFF2-40B4-BE49-F238E27FC236}">
                    <a16:creationId xmlns:a16="http://schemas.microsoft.com/office/drawing/2014/main" id="{7FC81C72-4AD9-902F-10AF-491D9E0E7F2C}"/>
                  </a:ext>
                </a:extLst>
              </p:cNvPr>
              <p:cNvSpPr txBox="1">
                <a:spLocks/>
              </p:cNvSpPr>
              <p:nvPr userDrawn="1"/>
            </p:nvSpPr>
            <p:spPr>
              <a:xfrm>
                <a:off x="4618595" y="7767510"/>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US" sz="900" dirty="0"/>
                  <a:t>Raul Cavendish</a:t>
                </a:r>
                <a:endParaRPr lang="en-029" sz="900" dirty="0"/>
              </a:p>
            </p:txBody>
          </p:sp>
          <p:sp>
            <p:nvSpPr>
              <p:cNvPr id="86" name="Text Placeholder 40">
                <a:extLst>
                  <a:ext uri="{FF2B5EF4-FFF2-40B4-BE49-F238E27FC236}">
                    <a16:creationId xmlns:a16="http://schemas.microsoft.com/office/drawing/2014/main" id="{A1D1DD3D-4DFD-FB52-4592-4D67EE714005}"/>
                  </a:ext>
                </a:extLst>
              </p:cNvPr>
              <p:cNvSpPr txBox="1">
                <a:spLocks/>
              </p:cNvSpPr>
              <p:nvPr userDrawn="1"/>
            </p:nvSpPr>
            <p:spPr>
              <a:xfrm>
                <a:off x="4618595" y="7921773"/>
                <a:ext cx="158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i="1" dirty="0">
                    <a:solidFill>
                      <a:schemeClr val="bg1">
                        <a:lumMod val="85000"/>
                      </a:schemeClr>
                    </a:solidFill>
                  </a:rPr>
                  <a:t>Utilities</a:t>
                </a:r>
              </a:p>
            </p:txBody>
          </p:sp>
        </p:grpSp>
        <p:grpSp>
          <p:nvGrpSpPr>
            <p:cNvPr id="28" name="Group 27">
              <a:extLst>
                <a:ext uri="{FF2B5EF4-FFF2-40B4-BE49-F238E27FC236}">
                  <a16:creationId xmlns:a16="http://schemas.microsoft.com/office/drawing/2014/main" id="{032BEEFD-9B2B-4692-E7D6-EE1ADFB1B217}"/>
                </a:ext>
              </a:extLst>
            </p:cNvPr>
            <p:cNvGrpSpPr/>
            <p:nvPr userDrawn="1"/>
          </p:nvGrpSpPr>
          <p:grpSpPr>
            <a:xfrm>
              <a:off x="690334" y="6167857"/>
              <a:ext cx="1728765" cy="2019257"/>
              <a:chOff x="690334" y="6167857"/>
              <a:chExt cx="1728765" cy="2019257"/>
            </a:xfrm>
          </p:grpSpPr>
          <p:sp>
            <p:nvSpPr>
              <p:cNvPr id="29" name="Text Placeholder 40">
                <a:extLst>
                  <a:ext uri="{FF2B5EF4-FFF2-40B4-BE49-F238E27FC236}">
                    <a16:creationId xmlns:a16="http://schemas.microsoft.com/office/drawing/2014/main" id="{260E895C-EBBB-B756-5925-BEEFF92980DC}"/>
                  </a:ext>
                </a:extLst>
              </p:cNvPr>
              <p:cNvSpPr txBox="1">
                <a:spLocks/>
              </p:cNvSpPr>
              <p:nvPr userDrawn="1"/>
            </p:nvSpPr>
            <p:spPr>
              <a:xfrm>
                <a:off x="690334" y="7268951"/>
                <a:ext cx="140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gustavo.tiseo@xpi.com.br</a:t>
                </a:r>
              </a:p>
            </p:txBody>
          </p:sp>
          <p:sp>
            <p:nvSpPr>
              <p:cNvPr id="30" name="Text Placeholder 40">
                <a:extLst>
                  <a:ext uri="{FF2B5EF4-FFF2-40B4-BE49-F238E27FC236}">
                    <a16:creationId xmlns:a16="http://schemas.microsoft.com/office/drawing/2014/main" id="{4A878EED-745E-69E1-F1DE-E754500B70B1}"/>
                  </a:ext>
                </a:extLst>
              </p:cNvPr>
              <p:cNvSpPr txBox="1">
                <a:spLocks/>
              </p:cNvSpPr>
              <p:nvPr userDrawn="1"/>
            </p:nvSpPr>
            <p:spPr>
              <a:xfrm>
                <a:off x="690334" y="6966708"/>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Gustavo Tiseo</a:t>
                </a:r>
              </a:p>
            </p:txBody>
          </p:sp>
          <p:sp>
            <p:nvSpPr>
              <p:cNvPr id="31" name="Text Placeholder 40">
                <a:extLst>
                  <a:ext uri="{FF2B5EF4-FFF2-40B4-BE49-F238E27FC236}">
                    <a16:creationId xmlns:a16="http://schemas.microsoft.com/office/drawing/2014/main" id="{64732D96-34DE-134A-9337-9BEF99519F8D}"/>
                  </a:ext>
                </a:extLst>
              </p:cNvPr>
              <p:cNvSpPr txBox="1">
                <a:spLocks/>
              </p:cNvSpPr>
              <p:nvPr userDrawn="1"/>
            </p:nvSpPr>
            <p:spPr>
              <a:xfrm>
                <a:off x="690334" y="7130359"/>
                <a:ext cx="158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marL="0" marR="0" lvl="0" indent="0" algn="l" defTabSz="914400" rtl="0" eaLnBrk="1" fontAlgn="auto" latinLnBrk="0" hangingPunct="1">
                  <a:lnSpc>
                    <a:spcPct val="80000"/>
                  </a:lnSpc>
                  <a:spcBef>
                    <a:spcPts val="1200"/>
                  </a:spcBef>
                  <a:spcAft>
                    <a:spcPts val="0"/>
                  </a:spcAft>
                  <a:buClrTx/>
                  <a:buSzTx/>
                  <a:buFont typeface="Arial" panose="020B0604020202020204" pitchFamily="34" charset="0"/>
                  <a:buNone/>
                  <a:tabLst/>
                  <a:defRPr/>
                </a:pPr>
                <a:r>
                  <a:rPr lang="en-029" sz="800" i="1" dirty="0">
                    <a:solidFill>
                      <a:schemeClr val="bg1">
                        <a:lumMod val="85000"/>
                      </a:schemeClr>
                    </a:solidFill>
                  </a:rPr>
                  <a:t>Healthcare &amp; Education </a:t>
                </a:r>
              </a:p>
            </p:txBody>
          </p:sp>
          <p:sp>
            <p:nvSpPr>
              <p:cNvPr id="35" name="Text Placeholder 40">
                <a:extLst>
                  <a:ext uri="{FF2B5EF4-FFF2-40B4-BE49-F238E27FC236}">
                    <a16:creationId xmlns:a16="http://schemas.microsoft.com/office/drawing/2014/main" id="{CCC4812A-9CF2-1EA4-EE1A-A99EDBDA6042}"/>
                  </a:ext>
                </a:extLst>
              </p:cNvPr>
              <p:cNvSpPr txBox="1">
                <a:spLocks/>
              </p:cNvSpPr>
              <p:nvPr/>
            </p:nvSpPr>
            <p:spPr>
              <a:xfrm>
                <a:off x="690334" y="8064929"/>
                <a:ext cx="140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marcella.ungaretti@xpi.com.br</a:t>
                </a:r>
              </a:p>
            </p:txBody>
          </p:sp>
          <p:sp>
            <p:nvSpPr>
              <p:cNvPr id="36" name="Text Placeholder 40">
                <a:extLst>
                  <a:ext uri="{FF2B5EF4-FFF2-40B4-BE49-F238E27FC236}">
                    <a16:creationId xmlns:a16="http://schemas.microsoft.com/office/drawing/2014/main" id="{9E5B5D5D-401B-44B6-97E4-FEA442A8F0C9}"/>
                  </a:ext>
                </a:extLst>
              </p:cNvPr>
              <p:cNvSpPr txBox="1">
                <a:spLocks/>
              </p:cNvSpPr>
              <p:nvPr/>
            </p:nvSpPr>
            <p:spPr>
              <a:xfrm>
                <a:off x="690334" y="7768846"/>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Marcella Ungaretti</a:t>
                </a:r>
              </a:p>
            </p:txBody>
          </p:sp>
          <p:sp>
            <p:nvSpPr>
              <p:cNvPr id="37" name="Text Placeholder 40">
                <a:extLst>
                  <a:ext uri="{FF2B5EF4-FFF2-40B4-BE49-F238E27FC236}">
                    <a16:creationId xmlns:a16="http://schemas.microsoft.com/office/drawing/2014/main" id="{DC51C26E-A699-E20E-0BB2-94C6F9F8A429}"/>
                  </a:ext>
                </a:extLst>
              </p:cNvPr>
              <p:cNvSpPr txBox="1">
                <a:spLocks/>
              </p:cNvSpPr>
              <p:nvPr/>
            </p:nvSpPr>
            <p:spPr>
              <a:xfrm>
                <a:off x="690334" y="7926337"/>
                <a:ext cx="1584000"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i="1" dirty="0">
                    <a:solidFill>
                      <a:schemeClr val="bg1">
                        <a:lumMod val="85000"/>
                      </a:schemeClr>
                    </a:solidFill>
                  </a:rPr>
                  <a:t>Research ESG</a:t>
                </a:r>
              </a:p>
            </p:txBody>
          </p:sp>
          <p:sp>
            <p:nvSpPr>
              <p:cNvPr id="38" name="Text Placeholder 40">
                <a:extLst>
                  <a:ext uri="{FF2B5EF4-FFF2-40B4-BE49-F238E27FC236}">
                    <a16:creationId xmlns:a16="http://schemas.microsoft.com/office/drawing/2014/main" id="{FEA26133-48DE-003C-16C1-B4428290A68A}"/>
                  </a:ext>
                </a:extLst>
              </p:cNvPr>
              <p:cNvSpPr txBox="1">
                <a:spLocks/>
              </p:cNvSpPr>
              <p:nvPr userDrawn="1"/>
            </p:nvSpPr>
            <p:spPr>
              <a:xfrm>
                <a:off x="690334" y="6460712"/>
                <a:ext cx="1499159" cy="122185"/>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dirty="0"/>
                  <a:t>fernando.f.ferreira@xpi.com.br</a:t>
                </a:r>
              </a:p>
            </p:txBody>
          </p:sp>
          <p:sp>
            <p:nvSpPr>
              <p:cNvPr id="39" name="Text Placeholder 40">
                <a:extLst>
                  <a:ext uri="{FF2B5EF4-FFF2-40B4-BE49-F238E27FC236}">
                    <a16:creationId xmlns:a16="http://schemas.microsoft.com/office/drawing/2014/main" id="{5AD26275-292E-79F1-55A8-4E51983E0654}"/>
                  </a:ext>
                </a:extLst>
              </p:cNvPr>
              <p:cNvSpPr txBox="1">
                <a:spLocks/>
              </p:cNvSpPr>
              <p:nvPr userDrawn="1"/>
            </p:nvSpPr>
            <p:spPr>
              <a:xfrm>
                <a:off x="690334" y="6167857"/>
                <a:ext cx="1404000" cy="141083"/>
              </a:xfrm>
              <a:prstGeom prst="rect">
                <a:avLst/>
              </a:prstGeom>
              <a:noFill/>
              <a:effectLst/>
            </p:spPr>
            <p:txBody>
              <a:bodyPr wrap="non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900" dirty="0"/>
                  <a:t>Fernando Ferreira, CFA</a:t>
                </a:r>
              </a:p>
            </p:txBody>
          </p:sp>
          <p:sp>
            <p:nvSpPr>
              <p:cNvPr id="40" name="Text Placeholder 40">
                <a:extLst>
                  <a:ext uri="{FF2B5EF4-FFF2-40B4-BE49-F238E27FC236}">
                    <a16:creationId xmlns:a16="http://schemas.microsoft.com/office/drawing/2014/main" id="{9414E8DD-22F5-650D-8CF5-D202751A6147}"/>
                  </a:ext>
                </a:extLst>
              </p:cNvPr>
              <p:cNvSpPr txBox="1">
                <a:spLocks/>
              </p:cNvSpPr>
              <p:nvPr userDrawn="1"/>
            </p:nvSpPr>
            <p:spPr>
              <a:xfrm>
                <a:off x="690334" y="6322120"/>
                <a:ext cx="1728765" cy="122400"/>
              </a:xfrm>
              <a:prstGeom prst="rect">
                <a:avLst/>
              </a:prstGeom>
              <a:noFill/>
              <a:effectLst/>
            </p:spPr>
            <p:txBody>
              <a:bodyPr wrap="square" lIns="0" tIns="0" rIns="0" bIns="0" rtlCol="0" anchor="b" anchorCtr="0">
                <a:noAutofit/>
              </a:bodyPr>
              <a:lstStyle>
                <a:lvl1pPr marL="0" indent="0" algn="l" defTabSz="385767" rtl="0" eaLnBrk="1" latinLnBrk="0" hangingPunct="1">
                  <a:lnSpc>
                    <a:spcPct val="90000"/>
                  </a:lnSpc>
                  <a:spcBef>
                    <a:spcPts val="422"/>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defTabSz="914400">
                  <a:lnSpc>
                    <a:spcPct val="80000"/>
                  </a:lnSpc>
                  <a:spcBef>
                    <a:spcPts val="1200"/>
                  </a:spcBef>
                </a:pPr>
                <a:r>
                  <a:rPr lang="en-029" sz="800" i="1" dirty="0">
                    <a:solidFill>
                      <a:schemeClr val="bg1">
                        <a:lumMod val="85000"/>
                      </a:schemeClr>
                    </a:solidFill>
                  </a:rPr>
                  <a:t>Chief Strategist &amp; Head of Research</a:t>
                </a:r>
              </a:p>
            </p:txBody>
          </p:sp>
        </p:grpSp>
      </p:grpSp>
      <p:pic>
        <p:nvPicPr>
          <p:cNvPr id="19" name="Graphic 18">
            <a:extLst>
              <a:ext uri="{FF2B5EF4-FFF2-40B4-BE49-F238E27FC236}">
                <a16:creationId xmlns:a16="http://schemas.microsoft.com/office/drawing/2014/main" id="{A5AE8D2B-C1EF-9E23-E643-103EF20FCC6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90334" y="4036782"/>
            <a:ext cx="3720831" cy="844531"/>
          </a:xfrm>
          <a:prstGeom prst="rect">
            <a:avLst/>
          </a:prstGeom>
        </p:spPr>
      </p:pic>
    </p:spTree>
    <p:extLst>
      <p:ext uri="{BB962C8B-B14F-4D97-AF65-F5344CB8AC3E}">
        <p14:creationId xmlns:p14="http://schemas.microsoft.com/office/powerpoint/2010/main" val="1936898019"/>
      </p:ext>
    </p:extLst>
  </p:cSld>
  <p:clrMapOvr>
    <a:masterClrMapping/>
  </p:clrMapOvr>
  <p:extLst>
    <p:ext uri="{DCECCB84-F9BA-43D5-87BE-67443E8EF086}">
      <p15:sldGuideLst xmlns:p15="http://schemas.microsoft.com/office/powerpoint/2012/main">
        <p15:guide id="1" pos="436" userDrawn="1">
          <p15:clr>
            <a:srgbClr val="FBAE40"/>
          </p15:clr>
        </p15:guide>
        <p15:guide id="2" pos="3861" userDrawn="1">
          <p15:clr>
            <a:srgbClr val="FBAE40"/>
          </p15:clr>
        </p15:guide>
        <p15:guide id="3" orient="horz" pos="563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2"/>
            <a:ext cx="4490940" cy="1772766"/>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3" y="4060055"/>
            <a:ext cx="6112353" cy="3349806"/>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72" name="Espaço Reservado para Conteúdo 14">
            <a:extLst>
              <a:ext uri="{FF2B5EF4-FFF2-40B4-BE49-F238E27FC236}">
                <a16:creationId xmlns:a16="http://schemas.microsoft.com/office/drawing/2014/main" id="{7F6E3DBC-5BBD-4436-85AB-82E653F9C656}"/>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3" name="Espaço Reservado para Conteúdo 14">
            <a:extLst>
              <a:ext uri="{FF2B5EF4-FFF2-40B4-BE49-F238E27FC236}">
                <a16:creationId xmlns:a16="http://schemas.microsoft.com/office/drawing/2014/main" id="{3405AF30-6481-4177-8C12-0BD1B0028E72}"/>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4" name="Espaço Reservado para Conteúdo 14">
            <a:extLst>
              <a:ext uri="{FF2B5EF4-FFF2-40B4-BE49-F238E27FC236}">
                <a16:creationId xmlns:a16="http://schemas.microsoft.com/office/drawing/2014/main" id="{14ECC719-6B01-4AF5-92A8-682707D600B0}"/>
              </a:ext>
            </a:extLst>
          </p:cNvPr>
          <p:cNvSpPr>
            <a:spLocks noGrp="1"/>
          </p:cNvSpPr>
          <p:nvPr>
            <p:ph sz="quarter" idx="24"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75" name="Espaço Reservado para Conteúdo 14">
            <a:extLst>
              <a:ext uri="{FF2B5EF4-FFF2-40B4-BE49-F238E27FC236}">
                <a16:creationId xmlns:a16="http://schemas.microsoft.com/office/drawing/2014/main" id="{519BA8D8-2D27-44DB-8406-D6D20B529EED}"/>
              </a:ext>
            </a:extLst>
          </p:cNvPr>
          <p:cNvSpPr>
            <a:spLocks noGrp="1"/>
          </p:cNvSpPr>
          <p:nvPr>
            <p:ph sz="quarter" idx="25"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August 11,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5022853" y="2150953"/>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5022853" y="2312750"/>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5022853" y="2439622"/>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5022853" y="281500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5022853" y="297680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5022853" y="310367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5022853" y="346732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5022853" y="362912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5022853" y="375599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p:nvPr userDrawn="1"/>
        </p:nvCxnSpPr>
        <p:spPr>
          <a:xfrm>
            <a:off x="4951973" y="2150952"/>
            <a:ext cx="0" cy="17727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Texto 6">
            <a:extLst>
              <a:ext uri="{FF2B5EF4-FFF2-40B4-BE49-F238E27FC236}">
                <a16:creationId xmlns:a16="http://schemas.microsoft.com/office/drawing/2014/main" id="{984F9560-6699-43C8-BEE0-490CDFCBCF21}"/>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209024188"/>
      </p:ext>
    </p:extLst>
  </p:cSld>
  <p:clrMapOvr>
    <a:masterClrMapping/>
  </p:clrMapOvr>
  <p:extLst>
    <p:ext uri="{DCECCB84-F9BA-43D5-87BE-67443E8EF086}">
      <p15:sldGuideLst xmlns:p15="http://schemas.microsoft.com/office/powerpoint/2012/main">
        <p15:guide id="0" pos="2228" userDrawn="1">
          <p15:clr>
            <a:srgbClr val="FBAE40"/>
          </p15:clr>
        </p15:guide>
        <p15:guide id="1" pos="20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11,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6" name="Espaço Reservado para Conteúdo 14">
            <a:extLst>
              <a:ext uri="{FF2B5EF4-FFF2-40B4-BE49-F238E27FC236}">
                <a16:creationId xmlns:a16="http://schemas.microsoft.com/office/drawing/2014/main" id="{FC793E5F-9C0C-468E-8CC6-E5FF5C28A615}"/>
              </a:ext>
            </a:extLst>
          </p:cNvPr>
          <p:cNvSpPr>
            <a:spLocks noGrp="1"/>
          </p:cNvSpPr>
          <p:nvPr>
            <p:ph sz="quarter" idx="25" hasCustomPrompt="1"/>
          </p:nvPr>
        </p:nvSpPr>
        <p:spPr>
          <a:xfrm>
            <a:off x="4330594" y="5349815"/>
            <a:ext cx="2159107" cy="96674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445B0B9-ADF4-4441-B72F-3BFD45AB8EE6}"/>
              </a:ext>
            </a:extLst>
          </p:cNvPr>
          <p:cNvSpPr>
            <a:spLocks noGrp="1"/>
          </p:cNvSpPr>
          <p:nvPr>
            <p:ph sz="quarter" idx="36" hasCustomPrompt="1"/>
          </p:nvPr>
        </p:nvSpPr>
        <p:spPr>
          <a:xfrm>
            <a:off x="4330594" y="5061196"/>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5B35F13F-8F40-465F-949A-882361D6B7D8}"/>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8" name="Espaço Reservado para Texto 6">
            <a:extLst>
              <a:ext uri="{FF2B5EF4-FFF2-40B4-BE49-F238E27FC236}">
                <a16:creationId xmlns:a16="http://schemas.microsoft.com/office/drawing/2014/main" id="{891AEF2F-E5F3-40A5-A6BD-124D7FF714E4}"/>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30300284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11,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Espaço Reservado para Texto 6">
            <a:extLst>
              <a:ext uri="{FF2B5EF4-FFF2-40B4-BE49-F238E27FC236}">
                <a16:creationId xmlns:a16="http://schemas.microsoft.com/office/drawing/2014/main" id="{B935674C-A1AD-4842-93A9-83EA6491755B}"/>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5E39DE0F-32BC-41A9-847E-3FD62BFA409F}"/>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376475646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11,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Espaço Reservado para Conteúdo 14">
            <a:extLst>
              <a:ext uri="{FF2B5EF4-FFF2-40B4-BE49-F238E27FC236}">
                <a16:creationId xmlns:a16="http://schemas.microsoft.com/office/drawing/2014/main" id="{91EAA875-CDD1-40CF-93C6-C46C988D6819}"/>
              </a:ext>
            </a:extLst>
          </p:cNvPr>
          <p:cNvSpPr>
            <a:spLocks noGrp="1"/>
          </p:cNvSpPr>
          <p:nvPr>
            <p:ph sz="quarter" idx="21" hasCustomPrompt="1"/>
          </p:nvPr>
        </p:nvSpPr>
        <p:spPr>
          <a:xfrm>
            <a:off x="382829" y="8150455"/>
            <a:ext cx="293822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5F8828C5-9B1E-49A4-9578-F6E2F3FA1C7A}"/>
              </a:ext>
            </a:extLst>
          </p:cNvPr>
          <p:cNvSpPr>
            <a:spLocks noGrp="1"/>
          </p:cNvSpPr>
          <p:nvPr>
            <p:ph sz="quarter" idx="36" hasCustomPrompt="1"/>
          </p:nvPr>
        </p:nvSpPr>
        <p:spPr>
          <a:xfrm>
            <a:off x="3536951" y="8150455"/>
            <a:ext cx="296555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C8043A8B-C6A0-451F-BCE0-CF376EA84CE7}"/>
              </a:ext>
            </a:extLst>
          </p:cNvPr>
          <p:cNvSpPr>
            <a:spLocks noGrp="1"/>
          </p:cNvSpPr>
          <p:nvPr>
            <p:ph sz="quarter" idx="37" hasCustomPrompt="1"/>
          </p:nvPr>
        </p:nvSpPr>
        <p:spPr>
          <a:xfrm>
            <a:off x="382829" y="7861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8" name="Espaço Reservado para Conteúdo 14">
            <a:extLst>
              <a:ext uri="{FF2B5EF4-FFF2-40B4-BE49-F238E27FC236}">
                <a16:creationId xmlns:a16="http://schemas.microsoft.com/office/drawing/2014/main" id="{313F160D-109A-48C3-A366-CA46AF2EF492}"/>
              </a:ext>
            </a:extLst>
          </p:cNvPr>
          <p:cNvSpPr>
            <a:spLocks noGrp="1"/>
          </p:cNvSpPr>
          <p:nvPr>
            <p:ph sz="quarter" idx="25" hasCustomPrompt="1"/>
          </p:nvPr>
        </p:nvSpPr>
        <p:spPr>
          <a:xfrm>
            <a:off x="3552750" y="7861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Texto 6">
            <a:extLst>
              <a:ext uri="{FF2B5EF4-FFF2-40B4-BE49-F238E27FC236}">
                <a16:creationId xmlns:a16="http://schemas.microsoft.com/office/drawing/2014/main" id="{46934314-6D62-4693-8E75-BA871E290EE7}"/>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4" name="Espaço Reservado para Texto 6">
            <a:extLst>
              <a:ext uri="{FF2B5EF4-FFF2-40B4-BE49-F238E27FC236}">
                <a16:creationId xmlns:a16="http://schemas.microsoft.com/office/drawing/2014/main" id="{84AAEFD1-E87A-45B0-AAA9-B3FEC57B9D27}"/>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85697767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7"/>
            <a:ext cx="3734170" cy="5848235"/>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11,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584823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Texto 6">
            <a:extLst>
              <a:ext uri="{FF2B5EF4-FFF2-40B4-BE49-F238E27FC236}">
                <a16:creationId xmlns:a16="http://schemas.microsoft.com/office/drawing/2014/main" id="{3C2377C1-5302-4095-B1EF-BCFAB3F7EA2C}"/>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5" name="Espaço Reservado para Texto 6">
            <a:extLst>
              <a:ext uri="{FF2B5EF4-FFF2-40B4-BE49-F238E27FC236}">
                <a16:creationId xmlns:a16="http://schemas.microsoft.com/office/drawing/2014/main" id="{EE3879DA-CAD4-4DDD-A957-A5A9C7A21942}"/>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 name="Espaço Reservado para Conteúdo 14">
            <a:extLst>
              <a:ext uri="{FF2B5EF4-FFF2-40B4-BE49-F238E27FC236}">
                <a16:creationId xmlns:a16="http://schemas.microsoft.com/office/drawing/2014/main" id="{0C3B0BBF-0180-E669-01B6-1ED0D3247D9F}"/>
              </a:ext>
            </a:extLst>
          </p:cNvPr>
          <p:cNvSpPr>
            <a:spLocks noGrp="1"/>
          </p:cNvSpPr>
          <p:nvPr>
            <p:ph sz="quarter" idx="38" hasCustomPrompt="1"/>
          </p:nvPr>
        </p:nvSpPr>
        <p:spPr>
          <a:xfrm>
            <a:off x="4330594" y="6928943"/>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 name="Espaço Reservado para Conteúdo 14">
            <a:extLst>
              <a:ext uri="{FF2B5EF4-FFF2-40B4-BE49-F238E27FC236}">
                <a16:creationId xmlns:a16="http://schemas.microsoft.com/office/drawing/2014/main" id="{73418C2F-AF1B-6403-E505-EE107BB19802}"/>
              </a:ext>
            </a:extLst>
          </p:cNvPr>
          <p:cNvSpPr>
            <a:spLocks noGrp="1"/>
          </p:cNvSpPr>
          <p:nvPr>
            <p:ph sz="quarter" idx="39" hasCustomPrompt="1"/>
          </p:nvPr>
        </p:nvSpPr>
        <p:spPr>
          <a:xfrm>
            <a:off x="4330594" y="6640324"/>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271603771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11,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Texto 6">
            <a:extLst>
              <a:ext uri="{FF2B5EF4-FFF2-40B4-BE49-F238E27FC236}">
                <a16:creationId xmlns:a16="http://schemas.microsoft.com/office/drawing/2014/main" id="{ACB57286-315D-4256-A485-D81372E0374A}"/>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5" name="Espaço Reservado para Texto 6">
            <a:extLst>
              <a:ext uri="{FF2B5EF4-FFF2-40B4-BE49-F238E27FC236}">
                <a16:creationId xmlns:a16="http://schemas.microsoft.com/office/drawing/2014/main" id="{25C0A81E-C51A-4118-9E4E-C1BE395DDC0C}"/>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91587939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Sumário">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5ABAB3-1FBB-57E6-0929-966611730DAE}"/>
              </a:ext>
            </a:extLst>
          </p:cNvPr>
          <p:cNvSpPr/>
          <p:nvPr userDrawn="1"/>
        </p:nvSpPr>
        <p:spPr>
          <a:xfrm>
            <a:off x="-2" y="0"/>
            <a:ext cx="6877283" cy="990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mj-lt"/>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2551077" y="368602"/>
            <a:ext cx="3733609" cy="430887"/>
          </a:xfrm>
          <a:prstGeom prst="rect">
            <a:avLst/>
          </a:prstGeom>
        </p:spPr>
        <p:txBody>
          <a:bodyPr wrap="square" lIns="0" tIns="0" rIns="0" bIns="0" rtlCol="0">
            <a:spAutoFit/>
          </a:bodyPr>
          <a:lstStyle/>
          <a:p>
            <a:r>
              <a:rPr lang="pt-BR" sz="2800" dirty="0" err="1">
                <a:solidFill>
                  <a:schemeClr val="accent3"/>
                </a:solidFill>
                <a:latin typeface="+mj-lt"/>
                <a:ea typeface="Roboto" panose="02000000000000000000" pitchFamily="2" charset="0"/>
              </a:rPr>
              <a:t>Summary</a:t>
            </a:r>
            <a:endParaRPr lang="pt-BR" sz="2800" dirty="0">
              <a:solidFill>
                <a:schemeClr val="accent3"/>
              </a:solidFill>
              <a:latin typeface="+mj-lt"/>
              <a:ea typeface="Roboto" panose="02000000000000000000" pitchFamily="2" charset="0"/>
            </a:endParaRP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2551077" y="1155618"/>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2551077" y="1782876"/>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2551077" y="2410134"/>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2551077" y="3664650"/>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2551077" y="4919166"/>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2551077" y="6173682"/>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3">
                    <a:lumMod val="20000"/>
                    <a:lumOff val="80000"/>
                  </a:schemeClr>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3">
                  <a:lumMod val="20000"/>
                  <a:lumOff val="80000"/>
                </a:schemeClr>
              </a:solidFill>
              <a:latin typeface="Roboto" panose="02000000000000000000" pitchFamily="2" charset="0"/>
              <a:ea typeface="Roboto" panose="02000000000000000000" pitchFamily="2" charset="0"/>
              <a:cs typeface="Roboto" panose="02000000000000000000" pitchFamily="2" charset="0"/>
            </a:endParaRPr>
          </a:p>
        </p:txBody>
      </p:sp>
      <p:pic>
        <p:nvPicPr>
          <p:cNvPr id="4" name="Picture 3">
            <a:extLst>
              <a:ext uri="{FF2B5EF4-FFF2-40B4-BE49-F238E27FC236}">
                <a16:creationId xmlns:a16="http://schemas.microsoft.com/office/drawing/2014/main" id="{76446BBC-C317-A70C-461A-C58CADEAFB72}"/>
              </a:ext>
            </a:extLst>
          </p:cNvPr>
          <p:cNvPicPr>
            <a:picLocks noChangeAspect="1"/>
          </p:cNvPicPr>
          <p:nvPr userDrawn="1"/>
        </p:nvPicPr>
        <p:blipFill>
          <a:blip r:embed="rId3">
            <a:extLst>
              <a:ext uri="{28A0092B-C50C-407E-A947-70E740481C1C}">
                <a14:useLocalDpi xmlns:a14="http://schemas.microsoft.com/office/drawing/2010/main" val="0"/>
              </a:ext>
            </a:extLst>
          </a:blip>
          <a:srcRect l="21588" t="857" r="51562"/>
          <a:stretch>
            <a:fillRect/>
          </a:stretch>
        </p:blipFill>
        <p:spPr>
          <a:xfrm>
            <a:off x="368301" y="0"/>
            <a:ext cx="1795196" cy="9906000"/>
          </a:xfrm>
          <a:custGeom>
            <a:avLst/>
            <a:gdLst>
              <a:gd name="connsiteX0" fmla="*/ 0 w 5176904"/>
              <a:gd name="connsiteY0" fmla="*/ 0 h 6845526"/>
              <a:gd name="connsiteX1" fmla="*/ 5176904 w 5176904"/>
              <a:gd name="connsiteY1" fmla="*/ 0 h 6845526"/>
              <a:gd name="connsiteX2" fmla="*/ 5176904 w 5176904"/>
              <a:gd name="connsiteY2" fmla="*/ 6845526 h 6845526"/>
              <a:gd name="connsiteX3" fmla="*/ 0 w 5176904"/>
              <a:gd name="connsiteY3" fmla="*/ 6845526 h 6845526"/>
            </a:gdLst>
            <a:ahLst/>
            <a:cxnLst>
              <a:cxn ang="0">
                <a:pos x="connsiteX0" y="connsiteY0"/>
              </a:cxn>
              <a:cxn ang="0">
                <a:pos x="connsiteX1" y="connsiteY1"/>
              </a:cxn>
              <a:cxn ang="0">
                <a:pos x="connsiteX2" y="connsiteY2"/>
              </a:cxn>
              <a:cxn ang="0">
                <a:pos x="connsiteX3" y="connsiteY3"/>
              </a:cxn>
            </a:cxnLst>
            <a:rect l="l" t="t" r="r" b="b"/>
            <a:pathLst>
              <a:path w="5176904" h="6845526">
                <a:moveTo>
                  <a:pt x="0" y="0"/>
                </a:moveTo>
                <a:lnTo>
                  <a:pt x="5176904" y="0"/>
                </a:lnTo>
                <a:lnTo>
                  <a:pt x="5176904" y="6845526"/>
                </a:lnTo>
                <a:lnTo>
                  <a:pt x="0" y="6845526"/>
                </a:lnTo>
                <a:close/>
              </a:path>
            </a:pathLst>
          </a:custGeom>
        </p:spPr>
      </p:pic>
      <p:sp>
        <p:nvSpPr>
          <p:cNvPr id="7" name="Espaço Reservado para Texto 6">
            <a:extLst>
              <a:ext uri="{FF2B5EF4-FFF2-40B4-BE49-F238E27FC236}">
                <a16:creationId xmlns:a16="http://schemas.microsoft.com/office/drawing/2014/main" id="{CFE9CEAD-420B-5563-57CB-B4D7B7C51F88}"/>
              </a:ext>
            </a:extLst>
          </p:cNvPr>
          <p:cNvSpPr>
            <a:spLocks noGrp="1"/>
          </p:cNvSpPr>
          <p:nvPr>
            <p:ph type="body" sz="quarter" idx="28" hasCustomPrompt="1"/>
          </p:nvPr>
        </p:nvSpPr>
        <p:spPr>
          <a:xfrm>
            <a:off x="2551077" y="3037392"/>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 name="Espaço Reservado para Texto 6">
            <a:extLst>
              <a:ext uri="{FF2B5EF4-FFF2-40B4-BE49-F238E27FC236}">
                <a16:creationId xmlns:a16="http://schemas.microsoft.com/office/drawing/2014/main" id="{645A7C54-0B59-5D9B-B09A-62731B982251}"/>
              </a:ext>
            </a:extLst>
          </p:cNvPr>
          <p:cNvSpPr>
            <a:spLocks noGrp="1"/>
          </p:cNvSpPr>
          <p:nvPr>
            <p:ph type="body" sz="quarter" idx="29" hasCustomPrompt="1"/>
          </p:nvPr>
        </p:nvSpPr>
        <p:spPr>
          <a:xfrm>
            <a:off x="2551077" y="4291908"/>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9" name="Espaço Reservado para Texto 6">
            <a:extLst>
              <a:ext uri="{FF2B5EF4-FFF2-40B4-BE49-F238E27FC236}">
                <a16:creationId xmlns:a16="http://schemas.microsoft.com/office/drawing/2014/main" id="{37A1B30C-630D-8100-D0C9-9E9B408CBC96}"/>
              </a:ext>
            </a:extLst>
          </p:cNvPr>
          <p:cNvSpPr>
            <a:spLocks noGrp="1"/>
          </p:cNvSpPr>
          <p:nvPr>
            <p:ph type="body" sz="quarter" idx="30" hasCustomPrompt="1"/>
          </p:nvPr>
        </p:nvSpPr>
        <p:spPr>
          <a:xfrm>
            <a:off x="2551077" y="5546424"/>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0" name="Espaço Reservado para Texto 6">
            <a:extLst>
              <a:ext uri="{FF2B5EF4-FFF2-40B4-BE49-F238E27FC236}">
                <a16:creationId xmlns:a16="http://schemas.microsoft.com/office/drawing/2014/main" id="{F723D90D-8A43-92DE-5129-C456EC542509}"/>
              </a:ext>
            </a:extLst>
          </p:cNvPr>
          <p:cNvSpPr>
            <a:spLocks noGrp="1"/>
          </p:cNvSpPr>
          <p:nvPr>
            <p:ph type="body" sz="quarter" idx="31" hasCustomPrompt="1"/>
          </p:nvPr>
        </p:nvSpPr>
        <p:spPr>
          <a:xfrm>
            <a:off x="2551077" y="6800940"/>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2" name="Espaço Reservado para Texto 6">
            <a:extLst>
              <a:ext uri="{FF2B5EF4-FFF2-40B4-BE49-F238E27FC236}">
                <a16:creationId xmlns:a16="http://schemas.microsoft.com/office/drawing/2014/main" id="{01DC6775-BC08-63E6-440D-8591AFAF77A2}"/>
              </a:ext>
            </a:extLst>
          </p:cNvPr>
          <p:cNvSpPr>
            <a:spLocks noGrp="1"/>
          </p:cNvSpPr>
          <p:nvPr>
            <p:ph type="body" sz="quarter" idx="32" hasCustomPrompt="1"/>
          </p:nvPr>
        </p:nvSpPr>
        <p:spPr>
          <a:xfrm>
            <a:off x="2551077" y="7428198"/>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3" name="Espaço Reservado para Texto 6">
            <a:extLst>
              <a:ext uri="{FF2B5EF4-FFF2-40B4-BE49-F238E27FC236}">
                <a16:creationId xmlns:a16="http://schemas.microsoft.com/office/drawing/2014/main" id="{668237A1-2B6F-F911-F1DF-17F0486A74F5}"/>
              </a:ext>
            </a:extLst>
          </p:cNvPr>
          <p:cNvSpPr>
            <a:spLocks noGrp="1"/>
          </p:cNvSpPr>
          <p:nvPr>
            <p:ph type="body" sz="quarter" idx="33" hasCustomPrompt="1"/>
          </p:nvPr>
        </p:nvSpPr>
        <p:spPr>
          <a:xfrm>
            <a:off x="2551077" y="8055456"/>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4" name="Espaço Reservado para Texto 6">
            <a:extLst>
              <a:ext uri="{FF2B5EF4-FFF2-40B4-BE49-F238E27FC236}">
                <a16:creationId xmlns:a16="http://schemas.microsoft.com/office/drawing/2014/main" id="{6B97FB10-D036-3D81-1643-EDAA0BE12ECC}"/>
              </a:ext>
            </a:extLst>
          </p:cNvPr>
          <p:cNvSpPr>
            <a:spLocks noGrp="1"/>
          </p:cNvSpPr>
          <p:nvPr>
            <p:ph type="body" sz="quarter" idx="34" hasCustomPrompt="1"/>
          </p:nvPr>
        </p:nvSpPr>
        <p:spPr>
          <a:xfrm>
            <a:off x="2551077" y="8682716"/>
            <a:ext cx="3938623" cy="338554"/>
          </a:xfrm>
          <a:prstGeom prst="rect">
            <a:avLst/>
          </a:prstGeom>
        </p:spPr>
        <p:txBody>
          <a:bodyPr vert="horz" lIns="0" tIns="45720" rIns="91440" bIns="45720" rtlCol="0" anchor="t">
            <a:noAutofit/>
          </a:bodyPr>
          <a:lstStyle>
            <a:lvl1pPr algn="l">
              <a:defRPr lang="pt-BR" sz="1800" b="0" dirty="0">
                <a:solidFill>
                  <a:schemeClr val="accent3">
                    <a:lumMod val="20000"/>
                    <a:lumOff val="80000"/>
                  </a:schemeClr>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Tree>
    <p:extLst>
      <p:ext uri="{BB962C8B-B14F-4D97-AF65-F5344CB8AC3E}">
        <p14:creationId xmlns:p14="http://schemas.microsoft.com/office/powerpoint/2010/main" val="408308523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Divisória">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BE99EC5-C1F7-8DBE-7E0C-10982BC6E1DC}"/>
              </a:ext>
            </a:extLst>
          </p:cNvPr>
          <p:cNvSpPr/>
          <p:nvPr userDrawn="1"/>
        </p:nvSpPr>
        <p:spPr>
          <a:xfrm>
            <a:off x="-2" y="0"/>
            <a:ext cx="6877283" cy="990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68300" y="244970"/>
            <a:ext cx="1240285" cy="341910"/>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83279807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Divisória">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BE99EC5-C1F7-8DBE-7E0C-10982BC6E1DC}"/>
              </a:ext>
            </a:extLst>
          </p:cNvPr>
          <p:cNvSpPr/>
          <p:nvPr userDrawn="1"/>
        </p:nvSpPr>
        <p:spPr>
          <a:xfrm>
            <a:off x="-2" y="0"/>
            <a:ext cx="6877283" cy="990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68300" y="739775"/>
            <a:ext cx="1240285" cy="341910"/>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3" name="Picture 2">
            <a:extLst>
              <a:ext uri="{FF2B5EF4-FFF2-40B4-BE49-F238E27FC236}">
                <a16:creationId xmlns:a16="http://schemas.microsoft.com/office/drawing/2014/main" id="{43C83B0A-4B84-6774-DC8C-FA5D1880B220}"/>
              </a:ext>
            </a:extLst>
          </p:cNvPr>
          <p:cNvPicPr>
            <a:picLocks noChangeAspect="1"/>
          </p:cNvPicPr>
          <p:nvPr userDrawn="1"/>
        </p:nvPicPr>
        <p:blipFill>
          <a:blip r:embed="rId3">
            <a:extLst>
              <a:ext uri="{28A0092B-C50C-407E-A947-70E740481C1C}">
                <a14:useLocalDpi xmlns:a14="http://schemas.microsoft.com/office/drawing/2010/main" val="0"/>
              </a:ext>
            </a:extLst>
          </a:blip>
          <a:srcRect l="31805" r="31805"/>
          <a:stretch/>
        </p:blipFill>
        <p:spPr>
          <a:xfrm>
            <a:off x="3858863" y="0"/>
            <a:ext cx="2398777" cy="9906000"/>
          </a:xfrm>
          <a:custGeom>
            <a:avLst/>
            <a:gdLst>
              <a:gd name="connsiteX0" fmla="*/ 0 w 5176904"/>
              <a:gd name="connsiteY0" fmla="*/ 0 h 6845526"/>
              <a:gd name="connsiteX1" fmla="*/ 5176904 w 5176904"/>
              <a:gd name="connsiteY1" fmla="*/ 0 h 6845526"/>
              <a:gd name="connsiteX2" fmla="*/ 5176904 w 5176904"/>
              <a:gd name="connsiteY2" fmla="*/ 6845526 h 6845526"/>
              <a:gd name="connsiteX3" fmla="*/ 0 w 5176904"/>
              <a:gd name="connsiteY3" fmla="*/ 6845526 h 6845526"/>
            </a:gdLst>
            <a:ahLst/>
            <a:cxnLst>
              <a:cxn ang="0">
                <a:pos x="connsiteX0" y="connsiteY0"/>
              </a:cxn>
              <a:cxn ang="0">
                <a:pos x="connsiteX1" y="connsiteY1"/>
              </a:cxn>
              <a:cxn ang="0">
                <a:pos x="connsiteX2" y="connsiteY2"/>
              </a:cxn>
              <a:cxn ang="0">
                <a:pos x="connsiteX3" y="connsiteY3"/>
              </a:cxn>
            </a:cxnLst>
            <a:rect l="l" t="t" r="r" b="b"/>
            <a:pathLst>
              <a:path w="5176904" h="6845526">
                <a:moveTo>
                  <a:pt x="0" y="0"/>
                </a:moveTo>
                <a:lnTo>
                  <a:pt x="5176904" y="0"/>
                </a:lnTo>
                <a:lnTo>
                  <a:pt x="5176904" y="6845526"/>
                </a:lnTo>
                <a:lnTo>
                  <a:pt x="0" y="6845526"/>
                </a:lnTo>
                <a:close/>
              </a:path>
            </a:pathLst>
          </a:custGeom>
        </p:spPr>
      </p:pic>
      <p:sp>
        <p:nvSpPr>
          <p:cNvPr id="6" name="Text Placeholder 40">
            <a:extLst>
              <a:ext uri="{FF2B5EF4-FFF2-40B4-BE49-F238E27FC236}">
                <a16:creationId xmlns:a16="http://schemas.microsoft.com/office/drawing/2014/main" id="{F792CDF5-AC91-158F-8621-CA915E9C733E}"/>
              </a:ext>
            </a:extLst>
          </p:cNvPr>
          <p:cNvSpPr>
            <a:spLocks noGrp="1"/>
          </p:cNvSpPr>
          <p:nvPr>
            <p:ph type="body" sz="quarter" idx="11" hasCustomPrompt="1"/>
          </p:nvPr>
        </p:nvSpPr>
        <p:spPr>
          <a:xfrm>
            <a:off x="368299" y="1928155"/>
            <a:ext cx="3168651" cy="1041926"/>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7" name="Text Placeholder 40">
            <a:extLst>
              <a:ext uri="{FF2B5EF4-FFF2-40B4-BE49-F238E27FC236}">
                <a16:creationId xmlns:a16="http://schemas.microsoft.com/office/drawing/2014/main" id="{E5CAFCEF-14C8-ABEA-674A-21690E34FFB8}"/>
              </a:ext>
            </a:extLst>
          </p:cNvPr>
          <p:cNvSpPr>
            <a:spLocks noGrp="1"/>
          </p:cNvSpPr>
          <p:nvPr>
            <p:ph type="body" sz="quarter" idx="12" hasCustomPrompt="1"/>
          </p:nvPr>
        </p:nvSpPr>
        <p:spPr>
          <a:xfrm>
            <a:off x="368300" y="1509004"/>
            <a:ext cx="3168650"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Tree>
    <p:extLst>
      <p:ext uri="{BB962C8B-B14F-4D97-AF65-F5344CB8AC3E}">
        <p14:creationId xmlns:p14="http://schemas.microsoft.com/office/powerpoint/2010/main" val="282183376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Divisória">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BE99EC5-C1F7-8DBE-7E0C-10982BC6E1DC}"/>
              </a:ext>
            </a:extLst>
          </p:cNvPr>
          <p:cNvSpPr/>
          <p:nvPr userDrawn="1"/>
        </p:nvSpPr>
        <p:spPr>
          <a:xfrm>
            <a:off x="-2" y="0"/>
            <a:ext cx="6877283" cy="990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68300" y="739775"/>
            <a:ext cx="1240285" cy="341910"/>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3" name="Picture 2">
            <a:extLst>
              <a:ext uri="{FF2B5EF4-FFF2-40B4-BE49-F238E27FC236}">
                <a16:creationId xmlns:a16="http://schemas.microsoft.com/office/drawing/2014/main" id="{43C83B0A-4B84-6774-DC8C-FA5D1880B220}"/>
              </a:ext>
            </a:extLst>
          </p:cNvPr>
          <p:cNvPicPr>
            <a:picLocks noChangeAspect="1"/>
          </p:cNvPicPr>
          <p:nvPr userDrawn="1"/>
        </p:nvPicPr>
        <p:blipFill>
          <a:blip r:embed="rId3">
            <a:extLst>
              <a:ext uri="{28A0092B-C50C-407E-A947-70E740481C1C}">
                <a14:useLocalDpi xmlns:a14="http://schemas.microsoft.com/office/drawing/2010/main" val="0"/>
              </a:ext>
            </a:extLst>
          </a:blip>
          <a:srcRect l="47384" t="10910" r="23161" b="8146"/>
          <a:stretch>
            <a:fillRect/>
          </a:stretch>
        </p:blipFill>
        <p:spPr>
          <a:xfrm>
            <a:off x="3858863" y="0"/>
            <a:ext cx="2398777" cy="9906000"/>
          </a:xfrm>
          <a:custGeom>
            <a:avLst/>
            <a:gdLst>
              <a:gd name="connsiteX0" fmla="*/ 0 w 5176904"/>
              <a:gd name="connsiteY0" fmla="*/ 0 h 6845526"/>
              <a:gd name="connsiteX1" fmla="*/ 5176904 w 5176904"/>
              <a:gd name="connsiteY1" fmla="*/ 0 h 6845526"/>
              <a:gd name="connsiteX2" fmla="*/ 5176904 w 5176904"/>
              <a:gd name="connsiteY2" fmla="*/ 6845526 h 6845526"/>
              <a:gd name="connsiteX3" fmla="*/ 0 w 5176904"/>
              <a:gd name="connsiteY3" fmla="*/ 6845526 h 6845526"/>
            </a:gdLst>
            <a:ahLst/>
            <a:cxnLst>
              <a:cxn ang="0">
                <a:pos x="connsiteX0" y="connsiteY0"/>
              </a:cxn>
              <a:cxn ang="0">
                <a:pos x="connsiteX1" y="connsiteY1"/>
              </a:cxn>
              <a:cxn ang="0">
                <a:pos x="connsiteX2" y="connsiteY2"/>
              </a:cxn>
              <a:cxn ang="0">
                <a:pos x="connsiteX3" y="connsiteY3"/>
              </a:cxn>
            </a:cxnLst>
            <a:rect l="l" t="t" r="r" b="b"/>
            <a:pathLst>
              <a:path w="5176904" h="6845526">
                <a:moveTo>
                  <a:pt x="0" y="0"/>
                </a:moveTo>
                <a:lnTo>
                  <a:pt x="5176904" y="0"/>
                </a:lnTo>
                <a:lnTo>
                  <a:pt x="5176904" y="6845526"/>
                </a:lnTo>
                <a:lnTo>
                  <a:pt x="0" y="6845526"/>
                </a:lnTo>
                <a:close/>
              </a:path>
            </a:pathLst>
          </a:custGeom>
        </p:spPr>
      </p:pic>
      <p:sp>
        <p:nvSpPr>
          <p:cNvPr id="5" name="Text Placeholder 40">
            <a:extLst>
              <a:ext uri="{FF2B5EF4-FFF2-40B4-BE49-F238E27FC236}">
                <a16:creationId xmlns:a16="http://schemas.microsoft.com/office/drawing/2014/main" id="{142D597C-9C1B-94A8-002B-ACBDBA177029}"/>
              </a:ext>
            </a:extLst>
          </p:cNvPr>
          <p:cNvSpPr>
            <a:spLocks noGrp="1"/>
          </p:cNvSpPr>
          <p:nvPr>
            <p:ph type="body" sz="quarter" idx="11" hasCustomPrompt="1"/>
          </p:nvPr>
        </p:nvSpPr>
        <p:spPr>
          <a:xfrm>
            <a:off x="368299" y="1928155"/>
            <a:ext cx="3168651" cy="1041926"/>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6" name="Text Placeholder 40">
            <a:extLst>
              <a:ext uri="{FF2B5EF4-FFF2-40B4-BE49-F238E27FC236}">
                <a16:creationId xmlns:a16="http://schemas.microsoft.com/office/drawing/2014/main" id="{A622348D-9413-9272-F39E-C281BE11418D}"/>
              </a:ext>
            </a:extLst>
          </p:cNvPr>
          <p:cNvSpPr>
            <a:spLocks noGrp="1"/>
          </p:cNvSpPr>
          <p:nvPr>
            <p:ph type="body" sz="quarter" idx="12" hasCustomPrompt="1"/>
          </p:nvPr>
        </p:nvSpPr>
        <p:spPr>
          <a:xfrm>
            <a:off x="368300" y="1509004"/>
            <a:ext cx="3168650"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Tree>
    <p:extLst>
      <p:ext uri="{BB962C8B-B14F-4D97-AF65-F5344CB8AC3E}">
        <p14:creationId xmlns:p14="http://schemas.microsoft.com/office/powerpoint/2010/main" val="75132220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8335"/>
            <a:ext cx="6105737" cy="766890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971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57639" y="438763"/>
            <a:ext cx="2532062"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98D2F29-33FD-47A7-AB10-B1FA6BDB1599}" type="datetime4">
              <a:rPr lang="en-US" smtClean="0"/>
              <a:pPr/>
              <a:t>August 11, 2026</a:t>
            </a:fld>
            <a:endParaRPr lang="en-US" dirty="0"/>
          </a:p>
        </p:txBody>
      </p:sp>
    </p:spTree>
    <p:extLst>
      <p:ext uri="{BB962C8B-B14F-4D97-AF65-F5344CB8AC3E}">
        <p14:creationId xmlns:p14="http://schemas.microsoft.com/office/powerpoint/2010/main" val="330531609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7905309A-7F3E-4A7B-816E-100D4419AC95}"/>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F553351A-90B3-4CE5-942E-AE4248858838}"/>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AD01827-9A36-4138-95B8-B0189D2D0C96}" type="datetime4">
              <a:rPr lang="en-US" smtClean="0"/>
              <a:pPr/>
              <a:t>August 11, 2026</a:t>
            </a:fld>
            <a:endParaRPr lang="en-US"/>
          </a:p>
        </p:txBody>
      </p:sp>
    </p:spTree>
    <p:extLst>
      <p:ext uri="{BB962C8B-B14F-4D97-AF65-F5344CB8AC3E}">
        <p14:creationId xmlns:p14="http://schemas.microsoft.com/office/powerpoint/2010/main" val="396976356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9" name="Espaço Reservado para Texto 6">
            <a:extLst>
              <a:ext uri="{FF2B5EF4-FFF2-40B4-BE49-F238E27FC236}">
                <a16:creationId xmlns:a16="http://schemas.microsoft.com/office/drawing/2014/main" id="{D8173AC5-D6F2-4007-9E85-9CC5D5ECAF90}"/>
              </a:ext>
            </a:extLst>
          </p:cNvPr>
          <p:cNvSpPr>
            <a:spLocks noGrp="1"/>
          </p:cNvSpPr>
          <p:nvPr>
            <p:ph type="body" sz="quarter" idx="32"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907C5A98-0307-4E77-A8F5-55605CF6F9F6}"/>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5EBDDC5B-631B-4336-9543-98257A1F05F5}" type="datetime4">
              <a:rPr lang="en-US" smtClean="0"/>
              <a:pPr/>
              <a:t>August 11, 2026</a:t>
            </a:fld>
            <a:endParaRPr lang="en-US"/>
          </a:p>
        </p:txBody>
      </p:sp>
    </p:spTree>
    <p:extLst>
      <p:ext uri="{BB962C8B-B14F-4D97-AF65-F5344CB8AC3E}">
        <p14:creationId xmlns:p14="http://schemas.microsoft.com/office/powerpoint/2010/main" val="39675735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36951" y="1831799"/>
            <a:ext cx="2965558" cy="374475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7" name="Espaço Reservado para Texto 6">
            <a:extLst>
              <a:ext uri="{FF2B5EF4-FFF2-40B4-BE49-F238E27FC236}">
                <a16:creationId xmlns:a16="http://schemas.microsoft.com/office/drawing/2014/main" id="{522774F4-0A02-4D7F-A169-A0935028BEB7}"/>
              </a:ext>
            </a:extLst>
          </p:cNvPr>
          <p:cNvSpPr>
            <a:spLocks noGrp="1"/>
          </p:cNvSpPr>
          <p:nvPr>
            <p:ph type="body" sz="quarter" idx="29"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41D27BDA-0B7B-4B7B-98DE-F04BF5B380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A406CDC-6C73-4F07-BA2F-100422012497}" type="datetime4">
              <a:rPr lang="en-US" smtClean="0"/>
              <a:pPr/>
              <a:t>August 11, 2026</a:t>
            </a:fld>
            <a:endParaRPr lang="en-US" dirty="0"/>
          </a:p>
        </p:txBody>
      </p:sp>
    </p:spTree>
    <p:extLst>
      <p:ext uri="{BB962C8B-B14F-4D97-AF65-F5344CB8AC3E}">
        <p14:creationId xmlns:p14="http://schemas.microsoft.com/office/powerpoint/2010/main" val="371719741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2" name="Espaço Reservado para Texto 6">
            <a:extLst>
              <a:ext uri="{FF2B5EF4-FFF2-40B4-BE49-F238E27FC236}">
                <a16:creationId xmlns:a16="http://schemas.microsoft.com/office/drawing/2014/main" id="{74EB01E9-4823-42ED-A528-F9EFE6F730DC}"/>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3" name="Date Placeholder 1">
            <a:extLst>
              <a:ext uri="{FF2B5EF4-FFF2-40B4-BE49-F238E27FC236}">
                <a16:creationId xmlns:a16="http://schemas.microsoft.com/office/drawing/2014/main" id="{8D52D738-8B55-415F-BAF5-54C848910AF7}"/>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44B1522-D64F-491F-B357-196ED417A415}" type="datetime4">
              <a:rPr lang="en-US" smtClean="0"/>
              <a:pPr/>
              <a:t>August 11, 2026</a:t>
            </a:fld>
            <a:endParaRPr lang="en-US" dirty="0"/>
          </a:p>
        </p:txBody>
      </p:sp>
    </p:spTree>
    <p:extLst>
      <p:ext uri="{BB962C8B-B14F-4D97-AF65-F5344CB8AC3E}">
        <p14:creationId xmlns:p14="http://schemas.microsoft.com/office/powerpoint/2010/main" val="173597992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47746"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August 11, 2026</a:t>
            </a:fld>
            <a:endParaRPr lang="en-US"/>
          </a:p>
        </p:txBody>
      </p:sp>
    </p:spTree>
    <p:extLst>
      <p:ext uri="{BB962C8B-B14F-4D97-AF65-F5344CB8AC3E}">
        <p14:creationId xmlns:p14="http://schemas.microsoft.com/office/powerpoint/2010/main" val="18672606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August 11, 2026</a:t>
            </a:fld>
            <a:endParaRPr lang="en-US"/>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8843214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spAutoFit/>
          </a:bodyPr>
          <a:lstStyle>
            <a:lvl1pPr lvl="0" indent="0" defTabSz="385767">
              <a:lnSpc>
                <a:spcPct val="90000"/>
              </a:lnSpc>
              <a:spcBef>
                <a:spcPts val="422"/>
              </a:spcBef>
              <a:buFont typeface="Arial" panose="020B0604020202020204" pitchFamily="34" charset="0"/>
              <a:buNone/>
              <a:defRPr sz="1900" b="1" spc="0">
                <a:solidFill>
                  <a:schemeClr val="tx2"/>
                </a:solidFill>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dirty="0"/>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4D03E599-AFA5-4A08-AC9F-588B0C61A5AB}" type="datetime4">
              <a:rPr lang="en-US" smtClean="0"/>
              <a:pPr/>
              <a:t>August 11, 2026</a:t>
            </a:fld>
            <a:endParaRPr lang="en-US" dirty="0"/>
          </a:p>
        </p:txBody>
      </p:sp>
      <p:sp>
        <p:nvSpPr>
          <p:cNvPr id="2" name="TextBox 1">
            <a:extLst>
              <a:ext uri="{FF2B5EF4-FFF2-40B4-BE49-F238E27FC236}">
                <a16:creationId xmlns:a16="http://schemas.microsoft.com/office/drawing/2014/main" id="{52F95B42-1FBA-401A-8214-0A1239E090A4}"/>
              </a:ext>
            </a:extLst>
          </p:cNvPr>
          <p:cNvSpPr txBox="1"/>
          <p:nvPr userDrawn="1"/>
        </p:nvSpPr>
        <p:spPr>
          <a:xfrm>
            <a:off x="390153" y="1318100"/>
            <a:ext cx="6099546" cy="8099974"/>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marL="228600" lvl="0" indent="-228600" algn="just">
              <a:lnSpc>
                <a:spcPts val="800"/>
              </a:lnSpc>
              <a:buFont typeface="+mj-lt"/>
              <a:buAutoNum type="arabicPeriod"/>
            </a:pPr>
            <a:r>
              <a:rPr lang="en-US" sz="650" i="0" dirty="0"/>
              <a:t>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marL="228600" lvl="0" indent="-228600" algn="just">
              <a:lnSpc>
                <a:spcPts val="800"/>
              </a:lnSpc>
              <a:buFont typeface="+mj-lt"/>
              <a:buAutoNum type="arabicPeriod"/>
            </a:pPr>
            <a:r>
              <a:rPr lang="en-US" sz="650" i="0" dirty="0"/>
              <a:t>This report was prepared considering the product risk classification in order to generate allocation results for each investor profile.  		</a:t>
            </a:r>
          </a:p>
          <a:p>
            <a:pPr marL="228600" lvl="0" indent="-228600" algn="just">
              <a:lnSpc>
                <a:spcPts val="800"/>
              </a:lnSpc>
              <a:buFont typeface="+mj-lt"/>
              <a:buAutoNum type="arabicPeriod"/>
            </a:pPr>
            <a:r>
              <a:rPr lang="en-US" sz="650" i="0" dirty="0"/>
              <a:t>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p>
          <a:p>
            <a:pPr marL="228600" lvl="0" indent="-228600" algn="just">
              <a:lnSpc>
                <a:spcPts val="800"/>
              </a:lnSpc>
              <a:buFont typeface="+mj-lt"/>
              <a:buAutoNum type="arabicPeriod"/>
            </a:pPr>
            <a:r>
              <a:rPr lang="en-US" sz="650" i="0" dirty="0"/>
              <a:t>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p>
          <a:p>
            <a:pPr marL="228600" lvl="0" indent="-228600" algn="just">
              <a:lnSpc>
                <a:spcPts val="800"/>
              </a:lnSpc>
              <a:buFont typeface="+mj-lt"/>
              <a:buAutoNum type="arabicPeriod"/>
            </a:pPr>
            <a:r>
              <a:rPr lang="en-US" sz="650" i="0" dirty="0"/>
              <a:t>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a:pPr marL="228600" lvl="0" indent="-228600" algn="just">
              <a:lnSpc>
                <a:spcPts val="800"/>
              </a:lnSpc>
              <a:buFont typeface="+mj-lt"/>
              <a:buAutoNum type="arabicPeriod"/>
            </a:pPr>
            <a:r>
              <a:rPr lang="en-US" sz="650" i="0" dirty="0"/>
              <a:t>XP Investimentos’ analysts are obligated to comply with all the rules laid down in the APIMEC’s conduct code for the securities analyst and XP Investimentos’ analyst of securities conduct policy.  		</a:t>
            </a:r>
          </a:p>
          <a:p>
            <a:pPr marL="228600" lvl="0" indent="-228600" algn="just">
              <a:lnSpc>
                <a:spcPts val="800"/>
              </a:lnSpc>
              <a:buFont typeface="+mj-lt"/>
              <a:buAutoNum type="arabicPeriod"/>
            </a:pPr>
            <a:r>
              <a:rPr lang="en-US" sz="650" i="0" dirty="0"/>
              <a:t>Customer service is carried out by XP Investimentos employees or by autonomous investment agents who perform their activities through XP, in accordance with CVM Resolution 16/2021,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marL="228600" lvl="0" indent="-228600" algn="just">
              <a:lnSpc>
                <a:spcPts val="800"/>
              </a:lnSpc>
              <a:buFont typeface="+mj-lt"/>
              <a:buAutoNum type="arabicPeriod"/>
            </a:pPr>
            <a:r>
              <a:rPr lang="en-US" sz="650" i="0" dirty="0"/>
              <a:t>For the purpose of verifying the adequacy of the investor's profile to the investment services and products offered by XP Investimentos, we use the methodology of adequacy of products by portfolio, in accordance with the ANBIMA Rules and Procedures of Suitability No. 01 and the ANBIMA Code of Regulation and Best Practices for Distribution of Investment Products. This methodology consists of assigning a maximum risk score for each investor profile (conservative, moderate and aggressive), as well as a risk score for each of the products offered by XP Investimentos, so that all customers can have access to all products, provided that within the amounts and limits of the risk score defined for their profile. Before applying to the products and/or contracting the services subject to this material, it is important that you verify that your current risk score includes the application in the products and/or the contracting of the services in question, as well as whether there are limitations of volume, concentration and/or quantity for the desired application. You can consult this information directly at the time of transmission of your order or by consulting the overall risk of your wallet on the portfolio screen (Risk View).f your current risk score does not support the desired application/contract, or if there are limitations in relation to the amount and/or financial volume for said application/contracting, this means that, based on the current composition of your portfolio, this application/contract is not appropriate to your profile. If you have questions about the process of suiting the products offered by XP Investimentos to your investor profile, please refer to the FAQ. Market conditions, climate change and the macroeconomic scenario can affect investment performance.</a:t>
            </a:r>
          </a:p>
          <a:p>
            <a:pPr marL="228600" lvl="0" indent="-228600" algn="just">
              <a:lnSpc>
                <a:spcPts val="800"/>
              </a:lnSpc>
              <a:buFont typeface="+mj-lt"/>
              <a:buAutoNum type="arabicPeriod"/>
            </a:pPr>
            <a:r>
              <a:rPr lang="en-US" sz="650" i="0" dirty="0"/>
              <a:t>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a:pPr marL="228600" lvl="0" indent="-228600" algn="just">
              <a:lnSpc>
                <a:spcPts val="800"/>
              </a:lnSpc>
              <a:buFont typeface="+mj-lt"/>
              <a:buAutoNum type="arabicPeriod"/>
            </a:pPr>
            <a:r>
              <a:rPr lang="en-US" sz="650" i="0" dirty="0"/>
              <a:t>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p>
          <a:p>
            <a:pPr marL="228600" lvl="0" indent="-228600" algn="just">
              <a:lnSpc>
                <a:spcPts val="800"/>
              </a:lnSpc>
              <a:buFont typeface="+mj-lt"/>
              <a:buAutoNum type="arabicPeriod"/>
            </a:pPr>
            <a:r>
              <a:rPr lang="en-US" sz="650" i="0" dirty="0"/>
              <a:t>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ttps://institucional.xpi.com.br/ouvidoria.aspx/.  				</a:t>
            </a:r>
          </a:p>
          <a:p>
            <a:pPr marL="228600" lvl="0" indent="-228600" algn="just">
              <a:lnSpc>
                <a:spcPts val="800"/>
              </a:lnSpc>
              <a:buFont typeface="+mj-lt"/>
              <a:buAutoNum type="arabicPeriod"/>
            </a:pPr>
            <a:r>
              <a:rPr lang="en-US" sz="650" i="0" dirty="0"/>
              <a:t>The cost of the transactions billing policies are defined in the operational cost tables which are made available on XP Investimentos website: www.xpi.com.br.</a:t>
            </a:r>
          </a:p>
          <a:p>
            <a:pPr marL="228600" lvl="0" indent="-228600" algn="just">
              <a:lnSpc>
                <a:spcPts val="800"/>
              </a:lnSpc>
              <a:buFont typeface="+mj-lt"/>
              <a:buAutoNum type="arabicPeriod"/>
            </a:pPr>
            <a:r>
              <a:rPr lang="en-US" sz="650" i="0" dirty="0"/>
              <a:t>XP Investimentos is exempt from any liability for any damages, direct or indirect, that come from the use of this report or its contents.  	</a:t>
            </a:r>
          </a:p>
          <a:p>
            <a:pPr marL="228600" lvl="0" indent="-228600" algn="just">
              <a:lnSpc>
                <a:spcPts val="800"/>
              </a:lnSpc>
              <a:buFont typeface="+mj-lt"/>
              <a:buAutoNum type="arabicPeriod"/>
            </a:pPr>
            <a:r>
              <a:rPr lang="en-US" sz="650" i="0" dirty="0"/>
              <a:t>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a:pPr marL="228600" lvl="0" indent="-228600" algn="just">
              <a:lnSpc>
                <a:spcPts val="800"/>
              </a:lnSpc>
              <a:buFont typeface="+mj-lt"/>
              <a:buAutoNum type="arabicPeriod"/>
            </a:pPr>
            <a:r>
              <a:rPr lang="en-US" sz="650" i="0" dirty="0"/>
              <a:t>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p>
          <a:p>
            <a:pPr marL="228600" lvl="0" indent="-228600" algn="just">
              <a:lnSpc>
                <a:spcPts val="800"/>
              </a:lnSpc>
              <a:buFont typeface="+mj-lt"/>
              <a:buAutoNum type="arabicPeriod"/>
            </a:pPr>
            <a:r>
              <a:rPr lang="en-US" sz="650" i="0" dirty="0"/>
              <a:t>Investment in options is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p>
          <a:p>
            <a:pPr marL="228600" lvl="0" indent="-228600" algn="just">
              <a:lnSpc>
                <a:spcPts val="800"/>
              </a:lnSpc>
              <a:buFont typeface="+mj-lt"/>
              <a:buAutoNum type="arabicPeriod"/>
            </a:pPr>
            <a:r>
              <a:rPr lang="en-US" sz="650" i="0" dirty="0"/>
              <a:t>Investment in terms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  			</a:t>
            </a:r>
          </a:p>
          <a:p>
            <a:pPr marL="228600" lvl="0" indent="-228600" algn="just">
              <a:lnSpc>
                <a:spcPts val="800"/>
              </a:lnSpc>
              <a:buFont typeface="+mj-lt"/>
              <a:buAutoNum type="arabicPeriod"/>
            </a:pPr>
            <a:r>
              <a:rPr lang="en-US" sz="650" i="0" dirty="0"/>
              <a:t>Investments in futures markets are subject to significant loss of principal.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p>
          <a:p>
            <a:pPr marL="228600" lvl="0" indent="-228600" algn="just">
              <a:lnSpc>
                <a:spcPts val="800"/>
              </a:lnSpc>
              <a:buFont typeface="+mj-lt"/>
              <a:buAutoNum type="arabicPeriod"/>
            </a:pPr>
            <a:r>
              <a:rPr lang="en-US" sz="650" i="0" dirty="0"/>
              <a:t>This institution is adhering ANBIMA Code of Regulation and best practices for the distribution activity of retail investment products.		</a:t>
            </a:r>
          </a:p>
          <a:p>
            <a:pPr marL="228600" lvl="0" indent="-228600" algn="just">
              <a:lnSpc>
                <a:spcPts val="800"/>
              </a:lnSpc>
              <a:buFont typeface="+mj-lt"/>
              <a:buAutoNum type="arabicPeriod"/>
            </a:pPr>
            <a:r>
              <a:rPr lang="en-US" sz="650" i="0" dirty="0"/>
              <a:t>XP Investments US, LLC, a broker-dealer registered with the U.S. Securities and Exchange Commission, has assumed responsibility for this research for purposes of U.S. law.  All transactions arising from this research should be directed to XP Investments US, LLC, at +1 646-664-0525.		</a:t>
            </a:r>
          </a:p>
          <a:p>
            <a:pPr marL="228600" lvl="0" indent="-228600" algn="just">
              <a:lnSpc>
                <a:spcPts val="800"/>
              </a:lnSpc>
              <a:buFont typeface="+mj-lt"/>
              <a:buAutoNum type="arabicPeriod"/>
            </a:pPr>
            <a:r>
              <a:rPr lang="en-US" sz="650" i="0" dirty="0"/>
              <a:t>XP Investimentos (a) managed or co-managed a public offering of securities for the subject company in the past 12 months, or (b) received compensation for investment banking services from the subject company in the past 12 months; or (c) expects to receive or intends to seek compensation for investment banking services from the subject company in the next 3 months. 				</a:t>
            </a:r>
          </a:p>
        </p:txBody>
      </p:sp>
    </p:spTree>
    <p:extLst>
      <p:ext uri="{BB962C8B-B14F-4D97-AF65-F5344CB8AC3E}">
        <p14:creationId xmlns:p14="http://schemas.microsoft.com/office/powerpoint/2010/main" val="51886037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5" name="Rectangle 24">
            <a:extLst>
              <a:ext uri="{FF2B5EF4-FFF2-40B4-BE49-F238E27FC236}">
                <a16:creationId xmlns:a16="http://schemas.microsoft.com/office/drawing/2014/main" id="{09CD1B14-21A0-4905-A3FF-6A46EBDF6BCD}"/>
              </a:ext>
            </a:extLst>
          </p:cNvPr>
          <p:cNvSpPr/>
          <p:nvPr userDrawn="1"/>
        </p:nvSpPr>
        <p:spPr>
          <a:xfrm>
            <a:off x="0" y="0"/>
            <a:ext cx="6858000" cy="9906000"/>
          </a:xfrm>
          <a:prstGeom prst="rect">
            <a:avLst/>
          </a:prstGeom>
          <a:solidFill>
            <a:srgbClr val="18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6" name="Picture 25" descr="A picture containing dark, night sky&#10;&#10;Description automatically generated">
            <a:extLst>
              <a:ext uri="{FF2B5EF4-FFF2-40B4-BE49-F238E27FC236}">
                <a16:creationId xmlns:a16="http://schemas.microsoft.com/office/drawing/2014/main" id="{A879A646-97B6-4998-8A89-2BAA11919B9D}"/>
              </a:ext>
            </a:extLst>
          </p:cNvPr>
          <p:cNvPicPr>
            <a:picLocks noChangeAspect="1"/>
          </p:cNvPicPr>
          <p:nvPr userDrawn="1"/>
        </p:nvPicPr>
        <p:blipFill rotWithShape="1">
          <a:blip r:embed="rId3">
            <a:alphaModFix amt="81000"/>
          </a:blip>
          <a:srcRect l="1783" t="114" r="50667" b="1655"/>
          <a:stretch/>
        </p:blipFill>
        <p:spPr>
          <a:xfrm>
            <a:off x="0" y="0"/>
            <a:ext cx="6858000" cy="9906000"/>
          </a:xfrm>
          <a:prstGeom prst="rect">
            <a:avLst/>
          </a:prstGeom>
        </p:spPr>
      </p:pic>
      <p:grpSp>
        <p:nvGrpSpPr>
          <p:cNvPr id="37" name="Group 36">
            <a:extLst>
              <a:ext uri="{FF2B5EF4-FFF2-40B4-BE49-F238E27FC236}">
                <a16:creationId xmlns:a16="http://schemas.microsoft.com/office/drawing/2014/main" id="{B7CE084B-3CD6-493B-AA0A-FC3B928DD6B4}"/>
              </a:ext>
            </a:extLst>
          </p:cNvPr>
          <p:cNvGrpSpPr/>
          <p:nvPr userDrawn="1"/>
        </p:nvGrpSpPr>
        <p:grpSpPr>
          <a:xfrm>
            <a:off x="-438" y="6168571"/>
            <a:ext cx="6858438" cy="3737429"/>
            <a:chOff x="0" y="-3773484"/>
            <a:chExt cx="18085267" cy="9855364"/>
          </a:xfrm>
        </p:grpSpPr>
        <p:cxnSp>
          <p:nvCxnSpPr>
            <p:cNvPr id="38" name="Straight Connector 37">
              <a:extLst>
                <a:ext uri="{FF2B5EF4-FFF2-40B4-BE49-F238E27FC236}">
                  <a16:creationId xmlns:a16="http://schemas.microsoft.com/office/drawing/2014/main" id="{31AB2E40-F9FD-42C3-9517-2D4CAEFC6A49}"/>
                </a:ext>
              </a:extLst>
            </p:cNvPr>
            <p:cNvCxnSpPr>
              <a:cxnSpLocks/>
            </p:cNvCxnSpPr>
            <p:nvPr userDrawn="1"/>
          </p:nvCxnSpPr>
          <p:spPr>
            <a:xfrm flipV="1">
              <a:off x="0" y="2914763"/>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194F34E-5B13-40DE-A8F8-15955077D952}"/>
                </a:ext>
              </a:extLst>
            </p:cNvPr>
            <p:cNvCxnSpPr>
              <a:cxnSpLocks/>
            </p:cNvCxnSpPr>
            <p:nvPr userDrawn="1"/>
          </p:nvCxnSpPr>
          <p:spPr>
            <a:xfrm flipV="1">
              <a:off x="9327868" y="-3773484"/>
              <a:ext cx="8717924" cy="9855364"/>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pic>
        <p:nvPicPr>
          <p:cNvPr id="40" name="Graphic 39">
            <a:extLst>
              <a:ext uri="{FF2B5EF4-FFF2-40B4-BE49-F238E27FC236}">
                <a16:creationId xmlns:a16="http://schemas.microsoft.com/office/drawing/2014/main" id="{DCB009AC-E0A4-48A2-8D2A-AE84DA4D0C9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565203" y="9198690"/>
            <a:ext cx="924497" cy="213562"/>
          </a:xfrm>
          <a:prstGeom prst="rect">
            <a:avLst/>
          </a:prstGeom>
        </p:spPr>
      </p:pic>
      <p:grpSp>
        <p:nvGrpSpPr>
          <p:cNvPr id="50" name="Group 49">
            <a:extLst>
              <a:ext uri="{FF2B5EF4-FFF2-40B4-BE49-F238E27FC236}">
                <a16:creationId xmlns:a16="http://schemas.microsoft.com/office/drawing/2014/main" id="{AE2F80D2-D401-47D5-BDE2-DC6D12066D2C}"/>
              </a:ext>
            </a:extLst>
          </p:cNvPr>
          <p:cNvGrpSpPr/>
          <p:nvPr userDrawn="1"/>
        </p:nvGrpSpPr>
        <p:grpSpPr>
          <a:xfrm>
            <a:off x="2684238" y="4747691"/>
            <a:ext cx="1489524" cy="410618"/>
            <a:chOff x="2700591" y="2522601"/>
            <a:chExt cx="6428993" cy="1772284"/>
          </a:xfrm>
          <a:solidFill>
            <a:schemeClr val="bg1"/>
          </a:solidFill>
        </p:grpSpPr>
        <p:sp>
          <p:nvSpPr>
            <p:cNvPr id="51" name="Freeform: Shape 50">
              <a:extLst>
                <a:ext uri="{FF2B5EF4-FFF2-40B4-BE49-F238E27FC236}">
                  <a16:creationId xmlns:a16="http://schemas.microsoft.com/office/drawing/2014/main" id="{4B5EB41B-6E79-481E-A6C7-0CE249B9C220}"/>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2" name="Graphic 20">
              <a:extLst>
                <a:ext uri="{FF2B5EF4-FFF2-40B4-BE49-F238E27FC236}">
                  <a16:creationId xmlns:a16="http://schemas.microsoft.com/office/drawing/2014/main" id="{A6F5F2BF-1CBD-48DA-83E4-900C9F654F42}"/>
                </a:ext>
              </a:extLst>
            </p:cNvPr>
            <p:cNvGrpSpPr/>
            <p:nvPr/>
          </p:nvGrpSpPr>
          <p:grpSpPr>
            <a:xfrm>
              <a:off x="5034660" y="3339528"/>
              <a:ext cx="4094924" cy="747077"/>
              <a:chOff x="5034660" y="3339528"/>
              <a:chExt cx="4094924" cy="747077"/>
            </a:xfrm>
            <a:grpFill/>
          </p:grpSpPr>
          <p:sp>
            <p:nvSpPr>
              <p:cNvPr id="54" name="Freeform: Shape 53">
                <a:extLst>
                  <a:ext uri="{FF2B5EF4-FFF2-40B4-BE49-F238E27FC236}">
                    <a16:creationId xmlns:a16="http://schemas.microsoft.com/office/drawing/2014/main" id="{F920B4FD-CF67-4AC3-ACC8-8AE9EED3B08A}"/>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9E5C3886-4D19-464F-B7AC-950F1E46F85F}"/>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3BFBC377-5A48-41C6-B03C-9149828E8A7C}"/>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88D6791-E280-4A9B-B6F6-189BF7C4BF98}"/>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D846E24C-F514-42EF-8579-AF8CE6A376A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767EAC76-4221-4D48-A548-1D3F7EF8A4E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28455B7D-9D95-4D0E-8503-2F81C768037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DF480758-BB1D-4122-964B-6CD9563D3404}"/>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99952736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Fechamento">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00DA538-3971-A01C-CA17-02FB47DEC529}"/>
              </a:ext>
            </a:extLst>
          </p:cNvPr>
          <p:cNvSpPr/>
          <p:nvPr userDrawn="1"/>
        </p:nvSpPr>
        <p:spPr>
          <a:xfrm>
            <a:off x="-2" y="0"/>
            <a:ext cx="6877283" cy="990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40" name="Graphic 39">
            <a:extLst>
              <a:ext uri="{FF2B5EF4-FFF2-40B4-BE49-F238E27FC236}">
                <a16:creationId xmlns:a16="http://schemas.microsoft.com/office/drawing/2014/main" id="{DCB009AC-E0A4-48A2-8D2A-AE84DA4D0C9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65203" y="9198690"/>
            <a:ext cx="924497" cy="213562"/>
          </a:xfrm>
          <a:prstGeom prst="rect">
            <a:avLst/>
          </a:prstGeom>
        </p:spPr>
      </p:pic>
      <p:grpSp>
        <p:nvGrpSpPr>
          <p:cNvPr id="50" name="Group 49">
            <a:extLst>
              <a:ext uri="{FF2B5EF4-FFF2-40B4-BE49-F238E27FC236}">
                <a16:creationId xmlns:a16="http://schemas.microsoft.com/office/drawing/2014/main" id="{AE2F80D2-D401-47D5-BDE2-DC6D12066D2C}"/>
              </a:ext>
            </a:extLst>
          </p:cNvPr>
          <p:cNvGrpSpPr/>
          <p:nvPr userDrawn="1"/>
        </p:nvGrpSpPr>
        <p:grpSpPr>
          <a:xfrm>
            <a:off x="2684238" y="3317118"/>
            <a:ext cx="1489524" cy="410618"/>
            <a:chOff x="2700591" y="2522601"/>
            <a:chExt cx="6428993" cy="1772284"/>
          </a:xfrm>
          <a:solidFill>
            <a:schemeClr val="bg1"/>
          </a:solidFill>
        </p:grpSpPr>
        <p:sp>
          <p:nvSpPr>
            <p:cNvPr id="51" name="Freeform: Shape 50">
              <a:extLst>
                <a:ext uri="{FF2B5EF4-FFF2-40B4-BE49-F238E27FC236}">
                  <a16:creationId xmlns:a16="http://schemas.microsoft.com/office/drawing/2014/main" id="{4B5EB41B-6E79-481E-A6C7-0CE249B9C220}"/>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2" name="Graphic 20">
              <a:extLst>
                <a:ext uri="{FF2B5EF4-FFF2-40B4-BE49-F238E27FC236}">
                  <a16:creationId xmlns:a16="http://schemas.microsoft.com/office/drawing/2014/main" id="{A6F5F2BF-1CBD-48DA-83E4-900C9F654F42}"/>
                </a:ext>
              </a:extLst>
            </p:cNvPr>
            <p:cNvGrpSpPr/>
            <p:nvPr/>
          </p:nvGrpSpPr>
          <p:grpSpPr>
            <a:xfrm>
              <a:off x="5034660" y="3339528"/>
              <a:ext cx="4094924" cy="747077"/>
              <a:chOff x="5034660" y="3339528"/>
              <a:chExt cx="4094924" cy="747077"/>
            </a:xfrm>
            <a:grpFill/>
          </p:grpSpPr>
          <p:sp>
            <p:nvSpPr>
              <p:cNvPr id="54" name="Freeform: Shape 53">
                <a:extLst>
                  <a:ext uri="{FF2B5EF4-FFF2-40B4-BE49-F238E27FC236}">
                    <a16:creationId xmlns:a16="http://schemas.microsoft.com/office/drawing/2014/main" id="{F920B4FD-CF67-4AC3-ACC8-8AE9EED3B08A}"/>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9E5C3886-4D19-464F-B7AC-950F1E46F85F}"/>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3BFBC377-5A48-41C6-B03C-9149828E8A7C}"/>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88D6791-E280-4A9B-B6F6-189BF7C4BF98}"/>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D846E24C-F514-42EF-8579-AF8CE6A376A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767EAC76-4221-4D48-A548-1D3F7EF8A4E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28455B7D-9D95-4D0E-8503-2F81C768037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DF480758-BB1D-4122-964B-6CD9563D3404}"/>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pic>
        <p:nvPicPr>
          <p:cNvPr id="3" name="Picture 2">
            <a:extLst>
              <a:ext uri="{FF2B5EF4-FFF2-40B4-BE49-F238E27FC236}">
                <a16:creationId xmlns:a16="http://schemas.microsoft.com/office/drawing/2014/main" id="{22208115-B910-C784-F0DC-274311342AC1}"/>
              </a:ext>
            </a:extLst>
          </p:cNvPr>
          <p:cNvPicPr>
            <a:picLocks noChangeAspect="1"/>
          </p:cNvPicPr>
          <p:nvPr userDrawn="1"/>
        </p:nvPicPr>
        <p:blipFill>
          <a:blip r:embed="rId4">
            <a:extLst>
              <a:ext uri="{28A0092B-C50C-407E-A947-70E740481C1C}">
                <a14:useLocalDpi xmlns:a14="http://schemas.microsoft.com/office/drawing/2010/main" val="0"/>
              </a:ext>
            </a:extLst>
          </a:blip>
          <a:srcRect t="44533" r="177" b="29666"/>
          <a:stretch>
            <a:fillRect/>
          </a:stretch>
        </p:blipFill>
        <p:spPr>
          <a:xfrm>
            <a:off x="-1" y="6200328"/>
            <a:ext cx="6858002" cy="2663653"/>
          </a:xfrm>
          <a:custGeom>
            <a:avLst/>
            <a:gdLst>
              <a:gd name="connsiteX0" fmla="*/ 0 w 5176904"/>
              <a:gd name="connsiteY0" fmla="*/ 0 h 6845526"/>
              <a:gd name="connsiteX1" fmla="*/ 5176904 w 5176904"/>
              <a:gd name="connsiteY1" fmla="*/ 0 h 6845526"/>
              <a:gd name="connsiteX2" fmla="*/ 5176904 w 5176904"/>
              <a:gd name="connsiteY2" fmla="*/ 6845526 h 6845526"/>
              <a:gd name="connsiteX3" fmla="*/ 0 w 5176904"/>
              <a:gd name="connsiteY3" fmla="*/ 6845526 h 6845526"/>
            </a:gdLst>
            <a:ahLst/>
            <a:cxnLst>
              <a:cxn ang="0">
                <a:pos x="connsiteX0" y="connsiteY0"/>
              </a:cxn>
              <a:cxn ang="0">
                <a:pos x="connsiteX1" y="connsiteY1"/>
              </a:cxn>
              <a:cxn ang="0">
                <a:pos x="connsiteX2" y="connsiteY2"/>
              </a:cxn>
              <a:cxn ang="0">
                <a:pos x="connsiteX3" y="connsiteY3"/>
              </a:cxn>
            </a:cxnLst>
            <a:rect l="l" t="t" r="r" b="b"/>
            <a:pathLst>
              <a:path w="5176904" h="6845526">
                <a:moveTo>
                  <a:pt x="0" y="0"/>
                </a:moveTo>
                <a:lnTo>
                  <a:pt x="5176904" y="0"/>
                </a:lnTo>
                <a:lnTo>
                  <a:pt x="5176904" y="6845526"/>
                </a:lnTo>
                <a:lnTo>
                  <a:pt x="0" y="6845526"/>
                </a:lnTo>
                <a:close/>
              </a:path>
            </a:pathLst>
          </a:custGeom>
        </p:spPr>
      </p:pic>
    </p:spTree>
    <p:extLst>
      <p:ext uri="{BB962C8B-B14F-4D97-AF65-F5344CB8AC3E}">
        <p14:creationId xmlns:p14="http://schemas.microsoft.com/office/powerpoint/2010/main" val="413652254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2"/>
            <a:ext cx="4490940" cy="1772766"/>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3" y="4060055"/>
            <a:ext cx="6112353" cy="3349806"/>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72" name="Espaço Reservado para Conteúdo 14">
            <a:extLst>
              <a:ext uri="{FF2B5EF4-FFF2-40B4-BE49-F238E27FC236}">
                <a16:creationId xmlns:a16="http://schemas.microsoft.com/office/drawing/2014/main" id="{7F6E3DBC-5BBD-4436-85AB-82E653F9C656}"/>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3" name="Espaço Reservado para Conteúdo 14">
            <a:extLst>
              <a:ext uri="{FF2B5EF4-FFF2-40B4-BE49-F238E27FC236}">
                <a16:creationId xmlns:a16="http://schemas.microsoft.com/office/drawing/2014/main" id="{3405AF30-6481-4177-8C12-0BD1B0028E72}"/>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4" name="Espaço Reservado para Conteúdo 14">
            <a:extLst>
              <a:ext uri="{FF2B5EF4-FFF2-40B4-BE49-F238E27FC236}">
                <a16:creationId xmlns:a16="http://schemas.microsoft.com/office/drawing/2014/main" id="{14ECC719-6B01-4AF5-92A8-682707D600B0}"/>
              </a:ext>
            </a:extLst>
          </p:cNvPr>
          <p:cNvSpPr>
            <a:spLocks noGrp="1"/>
          </p:cNvSpPr>
          <p:nvPr>
            <p:ph sz="quarter" idx="24"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75" name="Espaço Reservado para Conteúdo 14">
            <a:extLst>
              <a:ext uri="{FF2B5EF4-FFF2-40B4-BE49-F238E27FC236}">
                <a16:creationId xmlns:a16="http://schemas.microsoft.com/office/drawing/2014/main" id="{519BA8D8-2D27-44DB-8406-D6D20B529EED}"/>
              </a:ext>
            </a:extLst>
          </p:cNvPr>
          <p:cNvSpPr>
            <a:spLocks noGrp="1"/>
          </p:cNvSpPr>
          <p:nvPr>
            <p:ph sz="quarter" idx="25"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August 11,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5022853" y="2150953"/>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5022853" y="2312750"/>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5022853" y="2439622"/>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5022853" y="281500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5022853" y="297680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5022853" y="310367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5022853" y="346732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5022853" y="362912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5022853" y="375599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p:nvPr userDrawn="1"/>
        </p:nvCxnSpPr>
        <p:spPr>
          <a:xfrm>
            <a:off x="4951973" y="2150952"/>
            <a:ext cx="0" cy="17727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Texto 6">
            <a:extLst>
              <a:ext uri="{FF2B5EF4-FFF2-40B4-BE49-F238E27FC236}">
                <a16:creationId xmlns:a16="http://schemas.microsoft.com/office/drawing/2014/main" id="{984F9560-6699-43C8-BEE0-490CDFCBCF21}"/>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41528588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11,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6" name="Espaço Reservado para Conteúdo 14">
            <a:extLst>
              <a:ext uri="{FF2B5EF4-FFF2-40B4-BE49-F238E27FC236}">
                <a16:creationId xmlns:a16="http://schemas.microsoft.com/office/drawing/2014/main" id="{FC793E5F-9C0C-468E-8CC6-E5FF5C28A615}"/>
              </a:ext>
            </a:extLst>
          </p:cNvPr>
          <p:cNvSpPr>
            <a:spLocks noGrp="1"/>
          </p:cNvSpPr>
          <p:nvPr>
            <p:ph sz="quarter" idx="25" hasCustomPrompt="1"/>
          </p:nvPr>
        </p:nvSpPr>
        <p:spPr>
          <a:xfrm>
            <a:off x="4330594" y="5349815"/>
            <a:ext cx="2159107" cy="96674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445B0B9-ADF4-4441-B72F-3BFD45AB8EE6}"/>
              </a:ext>
            </a:extLst>
          </p:cNvPr>
          <p:cNvSpPr>
            <a:spLocks noGrp="1"/>
          </p:cNvSpPr>
          <p:nvPr>
            <p:ph sz="quarter" idx="36" hasCustomPrompt="1"/>
          </p:nvPr>
        </p:nvSpPr>
        <p:spPr>
          <a:xfrm>
            <a:off x="4330594" y="5061196"/>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5B35F13F-8F40-465F-949A-882361D6B7D8}"/>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8" name="Espaço Reservado para Texto 6">
            <a:extLst>
              <a:ext uri="{FF2B5EF4-FFF2-40B4-BE49-F238E27FC236}">
                <a16:creationId xmlns:a16="http://schemas.microsoft.com/office/drawing/2014/main" id="{891AEF2F-E5F3-40A5-A6BD-124D7FF714E4}"/>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45114612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11,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Espaço Reservado para Texto 6">
            <a:extLst>
              <a:ext uri="{FF2B5EF4-FFF2-40B4-BE49-F238E27FC236}">
                <a16:creationId xmlns:a16="http://schemas.microsoft.com/office/drawing/2014/main" id="{B935674C-A1AD-4842-93A9-83EA6491755B}"/>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5E39DE0F-32BC-41A9-847E-3FD62BFA409F}"/>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48967565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11,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Espaço Reservado para Conteúdo 14">
            <a:extLst>
              <a:ext uri="{FF2B5EF4-FFF2-40B4-BE49-F238E27FC236}">
                <a16:creationId xmlns:a16="http://schemas.microsoft.com/office/drawing/2014/main" id="{91EAA875-CDD1-40CF-93C6-C46C988D6819}"/>
              </a:ext>
            </a:extLst>
          </p:cNvPr>
          <p:cNvSpPr>
            <a:spLocks noGrp="1"/>
          </p:cNvSpPr>
          <p:nvPr>
            <p:ph sz="quarter" idx="21" hasCustomPrompt="1"/>
          </p:nvPr>
        </p:nvSpPr>
        <p:spPr>
          <a:xfrm>
            <a:off x="382829" y="8150455"/>
            <a:ext cx="293822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5F8828C5-9B1E-49A4-9578-F6E2F3FA1C7A}"/>
              </a:ext>
            </a:extLst>
          </p:cNvPr>
          <p:cNvSpPr>
            <a:spLocks noGrp="1"/>
          </p:cNvSpPr>
          <p:nvPr>
            <p:ph sz="quarter" idx="36" hasCustomPrompt="1"/>
          </p:nvPr>
        </p:nvSpPr>
        <p:spPr>
          <a:xfrm>
            <a:off x="3536951" y="8150455"/>
            <a:ext cx="296555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C8043A8B-C6A0-451F-BCE0-CF376EA84CE7}"/>
              </a:ext>
            </a:extLst>
          </p:cNvPr>
          <p:cNvSpPr>
            <a:spLocks noGrp="1"/>
          </p:cNvSpPr>
          <p:nvPr>
            <p:ph sz="quarter" idx="37" hasCustomPrompt="1"/>
          </p:nvPr>
        </p:nvSpPr>
        <p:spPr>
          <a:xfrm>
            <a:off x="382829" y="7861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8" name="Espaço Reservado para Conteúdo 14">
            <a:extLst>
              <a:ext uri="{FF2B5EF4-FFF2-40B4-BE49-F238E27FC236}">
                <a16:creationId xmlns:a16="http://schemas.microsoft.com/office/drawing/2014/main" id="{313F160D-109A-48C3-A366-CA46AF2EF492}"/>
              </a:ext>
            </a:extLst>
          </p:cNvPr>
          <p:cNvSpPr>
            <a:spLocks noGrp="1"/>
          </p:cNvSpPr>
          <p:nvPr>
            <p:ph sz="quarter" idx="25" hasCustomPrompt="1"/>
          </p:nvPr>
        </p:nvSpPr>
        <p:spPr>
          <a:xfrm>
            <a:off x="3552750" y="7861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Texto 6">
            <a:extLst>
              <a:ext uri="{FF2B5EF4-FFF2-40B4-BE49-F238E27FC236}">
                <a16:creationId xmlns:a16="http://schemas.microsoft.com/office/drawing/2014/main" id="{46934314-6D62-4693-8E75-BA871E290EE7}"/>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4" name="Espaço Reservado para Texto 6">
            <a:extLst>
              <a:ext uri="{FF2B5EF4-FFF2-40B4-BE49-F238E27FC236}">
                <a16:creationId xmlns:a16="http://schemas.microsoft.com/office/drawing/2014/main" id="{84AAEFD1-E87A-45B0-AAA9-B3FEC57B9D27}"/>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364505369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7"/>
            <a:ext cx="3734170" cy="5848235"/>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11,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584823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Texto 6">
            <a:extLst>
              <a:ext uri="{FF2B5EF4-FFF2-40B4-BE49-F238E27FC236}">
                <a16:creationId xmlns:a16="http://schemas.microsoft.com/office/drawing/2014/main" id="{3C2377C1-5302-4095-B1EF-BCFAB3F7EA2C}"/>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5" name="Espaço Reservado para Texto 6">
            <a:extLst>
              <a:ext uri="{FF2B5EF4-FFF2-40B4-BE49-F238E27FC236}">
                <a16:creationId xmlns:a16="http://schemas.microsoft.com/office/drawing/2014/main" id="{EE3879DA-CAD4-4DDD-A957-A5A9C7A21942}"/>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 name="Espaço Reservado para Conteúdo 14">
            <a:extLst>
              <a:ext uri="{FF2B5EF4-FFF2-40B4-BE49-F238E27FC236}">
                <a16:creationId xmlns:a16="http://schemas.microsoft.com/office/drawing/2014/main" id="{0C3B0BBF-0180-E669-01B6-1ED0D3247D9F}"/>
              </a:ext>
            </a:extLst>
          </p:cNvPr>
          <p:cNvSpPr>
            <a:spLocks noGrp="1"/>
          </p:cNvSpPr>
          <p:nvPr>
            <p:ph sz="quarter" idx="38" hasCustomPrompt="1"/>
          </p:nvPr>
        </p:nvSpPr>
        <p:spPr>
          <a:xfrm>
            <a:off x="4330594" y="6928943"/>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 name="Espaço Reservado para Conteúdo 14">
            <a:extLst>
              <a:ext uri="{FF2B5EF4-FFF2-40B4-BE49-F238E27FC236}">
                <a16:creationId xmlns:a16="http://schemas.microsoft.com/office/drawing/2014/main" id="{73418C2F-AF1B-6403-E505-EE107BB19802}"/>
              </a:ext>
            </a:extLst>
          </p:cNvPr>
          <p:cNvSpPr>
            <a:spLocks noGrp="1"/>
          </p:cNvSpPr>
          <p:nvPr>
            <p:ph sz="quarter" idx="39" hasCustomPrompt="1"/>
          </p:nvPr>
        </p:nvSpPr>
        <p:spPr>
          <a:xfrm>
            <a:off x="4330594" y="6640324"/>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148209156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August 11,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Texto 6">
            <a:extLst>
              <a:ext uri="{FF2B5EF4-FFF2-40B4-BE49-F238E27FC236}">
                <a16:creationId xmlns:a16="http://schemas.microsoft.com/office/drawing/2014/main" id="{ACB57286-315D-4256-A485-D81372E0374A}"/>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5" name="Espaço Reservado para Texto 6">
            <a:extLst>
              <a:ext uri="{FF2B5EF4-FFF2-40B4-BE49-F238E27FC236}">
                <a16:creationId xmlns:a16="http://schemas.microsoft.com/office/drawing/2014/main" id="{25C0A81E-C51A-4118-9E4E-C1BE395DDC0C}"/>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312110653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umário">
    <p:bg>
      <p:bgPr>
        <a:solidFill>
          <a:schemeClr val="bg1"/>
        </a:solidFill>
        <a:effectLst/>
      </p:bgPr>
    </p:bg>
    <p:spTree>
      <p:nvGrpSpPr>
        <p:cNvPr id="1" name=""/>
        <p:cNvGrpSpPr/>
        <p:nvPr/>
      </p:nvGrpSpPr>
      <p:grpSpPr>
        <a:xfrm>
          <a:off x="0" y="0"/>
          <a:ext cx="0" cy="0"/>
          <a:chOff x="0" y="0"/>
          <a:chExt cx="0" cy="0"/>
        </a:xfrm>
      </p:grpSpPr>
      <p:sp>
        <p:nvSpPr>
          <p:cNvPr id="126" name="Freeform: Shape 125">
            <a:extLst>
              <a:ext uri="{FF2B5EF4-FFF2-40B4-BE49-F238E27FC236}">
                <a16:creationId xmlns:a16="http://schemas.microsoft.com/office/drawing/2014/main" id="{3FC77C66-38F9-4F02-B9BC-6AEE180B4F4B}"/>
              </a:ext>
            </a:extLst>
          </p:cNvPr>
          <p:cNvSpPr/>
          <p:nvPr userDrawn="1"/>
        </p:nvSpPr>
        <p:spPr>
          <a:xfrm>
            <a:off x="4738916" y="4"/>
            <a:ext cx="2119084" cy="9905999"/>
          </a:xfrm>
          <a:custGeom>
            <a:avLst/>
            <a:gdLst>
              <a:gd name="connsiteX0" fmla="*/ 0 w 2119084"/>
              <a:gd name="connsiteY0" fmla="*/ 0 h 9905999"/>
              <a:gd name="connsiteX1" fmla="*/ 2119084 w 2119084"/>
              <a:gd name="connsiteY1" fmla="*/ 0 h 9905999"/>
              <a:gd name="connsiteX2" fmla="*/ 2119084 w 2119084"/>
              <a:gd name="connsiteY2" fmla="*/ 9905999 h 9905999"/>
              <a:gd name="connsiteX3" fmla="*/ 0 w 2119084"/>
              <a:gd name="connsiteY3" fmla="*/ 9905999 h 9905999"/>
            </a:gdLst>
            <a:ahLst/>
            <a:cxnLst>
              <a:cxn ang="0">
                <a:pos x="connsiteX0" y="connsiteY0"/>
              </a:cxn>
              <a:cxn ang="0">
                <a:pos x="connsiteX1" y="connsiteY1"/>
              </a:cxn>
              <a:cxn ang="0">
                <a:pos x="connsiteX2" y="connsiteY2"/>
              </a:cxn>
              <a:cxn ang="0">
                <a:pos x="connsiteX3" y="connsiteY3"/>
              </a:cxn>
            </a:cxnLst>
            <a:rect l="l" t="t" r="r" b="b"/>
            <a:pathLst>
              <a:path w="2119084" h="9905999">
                <a:moveTo>
                  <a:pt x="0" y="0"/>
                </a:moveTo>
                <a:lnTo>
                  <a:pt x="2119084" y="0"/>
                </a:lnTo>
                <a:lnTo>
                  <a:pt x="2119084" y="9905999"/>
                </a:lnTo>
                <a:lnTo>
                  <a:pt x="0" y="9905999"/>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125" name="Picture 124" descr="A picture containing dark, night sky&#10;&#10;Description automatically generated">
            <a:extLst>
              <a:ext uri="{FF2B5EF4-FFF2-40B4-BE49-F238E27FC236}">
                <a16:creationId xmlns:a16="http://schemas.microsoft.com/office/drawing/2014/main" id="{C3A5B707-C3CA-48F1-A65F-A0F1B5E937CC}"/>
              </a:ext>
            </a:extLst>
          </p:cNvPr>
          <p:cNvPicPr>
            <a:picLocks noChangeAspect="1"/>
          </p:cNvPicPr>
          <p:nvPr userDrawn="1"/>
        </p:nvPicPr>
        <p:blipFill rotWithShape="1">
          <a:blip r:embed="rId3">
            <a:alphaModFix amt="60000"/>
          </a:blip>
          <a:srcRect l="1608" t="46598" b="23299"/>
          <a:stretch/>
        </p:blipFill>
        <p:spPr>
          <a:xfrm rot="5400000" flipH="1" flipV="1">
            <a:off x="845461" y="3893458"/>
            <a:ext cx="9905993" cy="2119084"/>
          </a:xfrm>
          <a:prstGeom prst="rect">
            <a:avLst/>
          </a:prstGeom>
          <a:noFill/>
        </p:spPr>
      </p:pic>
      <p:sp>
        <p:nvSpPr>
          <p:cNvPr id="6" name="Rectangle 5">
            <a:extLst>
              <a:ext uri="{FF2B5EF4-FFF2-40B4-BE49-F238E27FC236}">
                <a16:creationId xmlns:a16="http://schemas.microsoft.com/office/drawing/2014/main" id="{1D58E3DF-22F8-4C37-9B26-E76DF3BA1D45}"/>
              </a:ext>
            </a:extLst>
          </p:cNvPr>
          <p:cNvSpPr/>
          <p:nvPr userDrawn="1"/>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375638" y="368602"/>
            <a:ext cx="3733609" cy="430887"/>
          </a:xfrm>
          <a:prstGeom prst="rect">
            <a:avLst/>
          </a:prstGeom>
        </p:spPr>
        <p:txBody>
          <a:bodyPr wrap="square" lIns="0" tIns="0" rIns="0" bIns="0" rtlCol="0">
            <a:spAutoFit/>
          </a:bodyPr>
          <a:lstStyle/>
          <a:p>
            <a:r>
              <a:rPr lang="pt-BR" sz="2800" dirty="0" err="1">
                <a:solidFill>
                  <a:srgbClr val="242424"/>
                </a:solidFill>
                <a:latin typeface="+mj-lt"/>
                <a:ea typeface="XP Light Lighthouse" pitchFamily="50" charset="0"/>
              </a:rPr>
              <a:t>Summary</a:t>
            </a:r>
            <a:endParaRPr lang="pt-BR" sz="2800" dirty="0">
              <a:solidFill>
                <a:srgbClr val="242424"/>
              </a:solidFill>
              <a:latin typeface="+mj-lt"/>
              <a:ea typeface="XP Light Lighthouse" pitchFamily="50" charset="0"/>
            </a:endParaRP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375638" y="115561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sz="quarter" idx="18" hasCustomPrompt="1"/>
          </p:nvPr>
        </p:nvSpPr>
        <p:spPr>
          <a:xfrm>
            <a:off x="375638" y="148583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375638" y="213999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sz="quarter" idx="20" hasCustomPrompt="1"/>
          </p:nvPr>
        </p:nvSpPr>
        <p:spPr>
          <a:xfrm>
            <a:off x="375638" y="247021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375638" y="31347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sz="quarter" idx="22" hasCustomPrompt="1"/>
          </p:nvPr>
        </p:nvSpPr>
        <p:spPr>
          <a:xfrm>
            <a:off x="375638" y="34650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375638" y="411834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sz="quarter" idx="24" hasCustomPrompt="1"/>
          </p:nvPr>
        </p:nvSpPr>
        <p:spPr>
          <a:xfrm>
            <a:off x="375638" y="444856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375638" y="51018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sz="quarter" idx="26" hasCustomPrompt="1"/>
          </p:nvPr>
        </p:nvSpPr>
        <p:spPr>
          <a:xfrm>
            <a:off x="375638" y="54321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375638" y="610088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sz="quarter" idx="28" hasCustomPrompt="1"/>
          </p:nvPr>
        </p:nvSpPr>
        <p:spPr>
          <a:xfrm>
            <a:off x="375638" y="643110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sz="quarter" idx="29" hasCustomPrompt="1"/>
          </p:nvPr>
        </p:nvSpPr>
        <p:spPr>
          <a:xfrm>
            <a:off x="375638" y="708443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sz="quarter" idx="30" hasCustomPrompt="1"/>
          </p:nvPr>
        </p:nvSpPr>
        <p:spPr>
          <a:xfrm>
            <a:off x="375638" y="741465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sz="quarter" idx="31" hasCustomPrompt="1"/>
          </p:nvPr>
        </p:nvSpPr>
        <p:spPr>
          <a:xfrm>
            <a:off x="375638" y="8063396"/>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sz="quarter" idx="32" hasCustomPrompt="1"/>
          </p:nvPr>
        </p:nvSpPr>
        <p:spPr>
          <a:xfrm>
            <a:off x="375638" y="8393614"/>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grpSp>
        <p:nvGrpSpPr>
          <p:cNvPr id="58" name="Group 57">
            <a:extLst>
              <a:ext uri="{FF2B5EF4-FFF2-40B4-BE49-F238E27FC236}">
                <a16:creationId xmlns:a16="http://schemas.microsoft.com/office/drawing/2014/main" id="{21EC4E3C-94FF-4DEE-BCA5-6C69C79BF726}"/>
              </a:ext>
            </a:extLst>
          </p:cNvPr>
          <p:cNvGrpSpPr/>
          <p:nvPr userDrawn="1"/>
        </p:nvGrpSpPr>
        <p:grpSpPr>
          <a:xfrm>
            <a:off x="0" y="8408987"/>
            <a:ext cx="6858000" cy="1497013"/>
            <a:chOff x="-2701533" y="4131759"/>
            <a:chExt cx="8821930" cy="2757656"/>
          </a:xfrm>
        </p:grpSpPr>
        <p:cxnSp>
          <p:nvCxnSpPr>
            <p:cNvPr id="59" name="Conector reto 7">
              <a:extLst>
                <a:ext uri="{FF2B5EF4-FFF2-40B4-BE49-F238E27FC236}">
                  <a16:creationId xmlns:a16="http://schemas.microsoft.com/office/drawing/2014/main" id="{36127AE7-5949-4D77-9612-72EB21196D4A}"/>
                </a:ext>
              </a:extLst>
            </p:cNvPr>
            <p:cNvCxnSpPr>
              <a:cxnSpLocks/>
            </p:cNvCxnSpPr>
            <p:nvPr userDrawn="1"/>
          </p:nvCxnSpPr>
          <p:spPr>
            <a:xfrm>
              <a:off x="-2701533" y="5750250"/>
              <a:ext cx="88219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0" name="Conector reto 2">
              <a:extLst>
                <a:ext uri="{FF2B5EF4-FFF2-40B4-BE49-F238E27FC236}">
                  <a16:creationId xmlns:a16="http://schemas.microsoft.com/office/drawing/2014/main" id="{4CE8B0B8-0AF5-462B-9CCC-6E9CFFF38D98}"/>
                </a:ext>
              </a:extLst>
            </p:cNvPr>
            <p:cNvCxnSpPr>
              <a:cxnSpLocks/>
            </p:cNvCxnSpPr>
            <p:nvPr userDrawn="1"/>
          </p:nvCxnSpPr>
          <p:spPr>
            <a:xfrm flipH="1">
              <a:off x="4033407" y="4131759"/>
              <a:ext cx="2086990" cy="27576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8" name="Freeform: Shape 37">
            <a:extLst>
              <a:ext uri="{FF2B5EF4-FFF2-40B4-BE49-F238E27FC236}">
                <a16:creationId xmlns:a16="http://schemas.microsoft.com/office/drawing/2014/main" id="{B095B632-657C-4580-8D60-6742FAE9328E}"/>
              </a:ext>
            </a:extLst>
          </p:cNvPr>
          <p:cNvSpPr/>
          <p:nvPr userDrawn="1"/>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317496185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sória">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004B1B-6C67-4C40-BA3A-400177C1EF88}"/>
              </a:ext>
            </a:extLst>
          </p:cNvPr>
          <p:cNvSpPr/>
          <p:nvPr userDrawn="1"/>
        </p:nvSpPr>
        <p:spPr>
          <a:xfrm>
            <a:off x="-1" y="0"/>
            <a:ext cx="6858001" cy="20034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F8C7BC6E-B42D-4416-8608-21682D8920A8}"/>
              </a:ext>
            </a:extLst>
          </p:cNvPr>
          <p:cNvGrpSpPr/>
          <p:nvPr userDrawn="1"/>
        </p:nvGrpSpPr>
        <p:grpSpPr>
          <a:xfrm>
            <a:off x="0" y="1188728"/>
            <a:ext cx="6858000" cy="8726315"/>
            <a:chOff x="0" y="-1859272"/>
            <a:chExt cx="6858000" cy="8726315"/>
          </a:xfrm>
        </p:grpSpPr>
        <p:sp>
          <p:nvSpPr>
            <p:cNvPr id="40" name="Rectangle 39">
              <a:extLst>
                <a:ext uri="{FF2B5EF4-FFF2-40B4-BE49-F238E27FC236}">
                  <a16:creationId xmlns:a16="http://schemas.microsoft.com/office/drawing/2014/main" id="{8213840C-2C06-4CAA-815E-6052211F6CA0}"/>
                </a:ext>
              </a:extLst>
            </p:cNvPr>
            <p:cNvSpPr/>
            <p:nvPr userDrawn="1"/>
          </p:nvSpPr>
          <p:spPr>
            <a:xfrm flipH="1" flipV="1">
              <a:off x="0" y="-1859272"/>
              <a:ext cx="6858000" cy="871727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pic>
          <p:nvPicPr>
            <p:cNvPr id="41" name="Picture 40" descr="A picture containing dark, night sky&#10;&#10;Description automatically generated">
              <a:extLst>
                <a:ext uri="{FF2B5EF4-FFF2-40B4-BE49-F238E27FC236}">
                  <a16:creationId xmlns:a16="http://schemas.microsoft.com/office/drawing/2014/main" id="{AACBCC8B-613D-4802-AE5F-7D7D5FE3F250}"/>
                </a:ext>
              </a:extLst>
            </p:cNvPr>
            <p:cNvPicPr>
              <a:picLocks noChangeAspect="1"/>
            </p:cNvPicPr>
            <p:nvPr userDrawn="1"/>
          </p:nvPicPr>
          <p:blipFill rotWithShape="1">
            <a:blip r:embed="rId3">
              <a:alphaModFix amt="49000"/>
            </a:blip>
            <a:srcRect l="11124"/>
            <a:stretch/>
          </p:blipFill>
          <p:spPr>
            <a:xfrm rot="16200000" flipV="1">
              <a:off x="-929638" y="-920592"/>
              <a:ext cx="8717273" cy="6857998"/>
            </a:xfrm>
            <a:prstGeom prst="rect">
              <a:avLst/>
            </a:prstGeom>
          </p:spPr>
        </p:pic>
      </p:gr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90154" y="406178"/>
            <a:ext cx="1240285" cy="341910"/>
            <a:chOff x="2700591" y="2522601"/>
            <a:chExt cx="6428993" cy="1772284"/>
          </a:xfrm>
          <a:solidFill>
            <a:schemeClr val="accent6"/>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87" name="Rectangle 86">
            <a:extLst>
              <a:ext uri="{FF2B5EF4-FFF2-40B4-BE49-F238E27FC236}">
                <a16:creationId xmlns:a16="http://schemas.microsoft.com/office/drawing/2014/main" id="{07C5F37B-60FC-4C36-9DD3-0AB5A17A75AB}"/>
              </a:ext>
            </a:extLst>
          </p:cNvPr>
          <p:cNvSpPr/>
          <p:nvPr userDrawn="1"/>
        </p:nvSpPr>
        <p:spPr>
          <a:xfrm>
            <a:off x="4086054" y="0"/>
            <a:ext cx="2771946" cy="1188728"/>
          </a:xfrm>
          <a:custGeom>
            <a:avLst/>
            <a:gdLst>
              <a:gd name="connsiteX0" fmla="*/ 0 w 2771946"/>
              <a:gd name="connsiteY0" fmla="*/ 0 h 1188728"/>
              <a:gd name="connsiteX1" fmla="*/ 2771946 w 2771946"/>
              <a:gd name="connsiteY1" fmla="*/ 0 h 1188728"/>
              <a:gd name="connsiteX2" fmla="*/ 2771946 w 2771946"/>
              <a:gd name="connsiteY2" fmla="*/ 1188728 h 1188728"/>
              <a:gd name="connsiteX3" fmla="*/ 0 w 2771946"/>
              <a:gd name="connsiteY3" fmla="*/ 1188728 h 1188728"/>
              <a:gd name="connsiteX4" fmla="*/ 0 w 2771946"/>
              <a:gd name="connsiteY4" fmla="*/ 0 h 1188728"/>
              <a:gd name="connsiteX0" fmla="*/ 0 w 2771946"/>
              <a:gd name="connsiteY0" fmla="*/ 0 h 1188728"/>
              <a:gd name="connsiteX1" fmla="*/ 2771946 w 2771946"/>
              <a:gd name="connsiteY1" fmla="*/ 0 h 1188728"/>
              <a:gd name="connsiteX2" fmla="*/ 2771946 w 2771946"/>
              <a:gd name="connsiteY2" fmla="*/ 1188728 h 1188728"/>
              <a:gd name="connsiteX3" fmla="*/ 1104900 w 2771946"/>
              <a:gd name="connsiteY3" fmla="*/ 909328 h 1188728"/>
              <a:gd name="connsiteX4" fmla="*/ 0 w 2771946"/>
              <a:gd name="connsiteY4" fmla="*/ 0 h 1188728"/>
              <a:gd name="connsiteX0" fmla="*/ 0 w 2771946"/>
              <a:gd name="connsiteY0" fmla="*/ 0 h 1188728"/>
              <a:gd name="connsiteX1" fmla="*/ 2771946 w 2771946"/>
              <a:gd name="connsiteY1" fmla="*/ 0 h 1188728"/>
              <a:gd name="connsiteX2" fmla="*/ 2771946 w 2771946"/>
              <a:gd name="connsiteY2" fmla="*/ 1188728 h 1188728"/>
              <a:gd name="connsiteX3" fmla="*/ 971550 w 2771946"/>
              <a:gd name="connsiteY3" fmla="*/ 1188728 h 1188728"/>
              <a:gd name="connsiteX4" fmla="*/ 0 w 2771946"/>
              <a:gd name="connsiteY4" fmla="*/ 0 h 1188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946" h="1188728">
                <a:moveTo>
                  <a:pt x="0" y="0"/>
                </a:moveTo>
                <a:lnTo>
                  <a:pt x="2771946" y="0"/>
                </a:lnTo>
                <a:lnTo>
                  <a:pt x="2771946" y="1188728"/>
                </a:lnTo>
                <a:lnTo>
                  <a:pt x="971550" y="1188728"/>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68" name="Group 67">
            <a:extLst>
              <a:ext uri="{FF2B5EF4-FFF2-40B4-BE49-F238E27FC236}">
                <a16:creationId xmlns:a16="http://schemas.microsoft.com/office/drawing/2014/main" id="{17DB0CED-EB9B-40B9-950A-5942CEE89D15}"/>
              </a:ext>
            </a:extLst>
          </p:cNvPr>
          <p:cNvGrpSpPr/>
          <p:nvPr userDrawn="1"/>
        </p:nvGrpSpPr>
        <p:grpSpPr>
          <a:xfrm>
            <a:off x="0" y="0"/>
            <a:ext cx="6858000" cy="3415894"/>
            <a:chOff x="-2701533" y="4114034"/>
            <a:chExt cx="8821930" cy="4701783"/>
          </a:xfrm>
        </p:grpSpPr>
        <p:cxnSp>
          <p:nvCxnSpPr>
            <p:cNvPr id="69" name="Conector reto 7">
              <a:extLst>
                <a:ext uri="{FF2B5EF4-FFF2-40B4-BE49-F238E27FC236}">
                  <a16:creationId xmlns:a16="http://schemas.microsoft.com/office/drawing/2014/main" id="{7C215890-47CA-4535-A28E-F0D8639CAF52}"/>
                </a:ext>
              </a:extLst>
            </p:cNvPr>
            <p:cNvCxnSpPr>
              <a:cxnSpLocks/>
            </p:cNvCxnSpPr>
            <p:nvPr userDrawn="1"/>
          </p:nvCxnSpPr>
          <p:spPr>
            <a:xfrm>
              <a:off x="-2701533" y="5741510"/>
              <a:ext cx="882193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1" name="Conector reto 2">
              <a:extLst>
                <a:ext uri="{FF2B5EF4-FFF2-40B4-BE49-F238E27FC236}">
                  <a16:creationId xmlns:a16="http://schemas.microsoft.com/office/drawing/2014/main" id="{C9C6FAA6-86BF-4151-9C12-9A001DB12D56}"/>
                </a:ext>
              </a:extLst>
            </p:cNvPr>
            <p:cNvCxnSpPr>
              <a:cxnSpLocks/>
            </p:cNvCxnSpPr>
            <p:nvPr userDrawn="1"/>
          </p:nvCxnSpPr>
          <p:spPr>
            <a:xfrm flipH="1" flipV="1">
              <a:off x="2562094" y="4114034"/>
              <a:ext cx="3558302" cy="470178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9" name="Text Placeholder 40">
            <a:extLst>
              <a:ext uri="{FF2B5EF4-FFF2-40B4-BE49-F238E27FC236}">
                <a16:creationId xmlns:a16="http://schemas.microsoft.com/office/drawing/2014/main" id="{91D72DC1-72BB-4D90-888F-230C2490908D}"/>
              </a:ext>
            </a:extLst>
          </p:cNvPr>
          <p:cNvSpPr>
            <a:spLocks noGrp="1"/>
          </p:cNvSpPr>
          <p:nvPr>
            <p:ph type="body" sz="quarter" idx="11" hasCustomPrompt="1"/>
          </p:nvPr>
        </p:nvSpPr>
        <p:spPr>
          <a:xfrm>
            <a:off x="368299" y="1928155"/>
            <a:ext cx="5337375" cy="458908"/>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90" name="Text Placeholder 40">
            <a:extLst>
              <a:ext uri="{FF2B5EF4-FFF2-40B4-BE49-F238E27FC236}">
                <a16:creationId xmlns:a16="http://schemas.microsoft.com/office/drawing/2014/main" id="{B7833D10-130C-44AA-A9F0-0C48CBA6D02C}"/>
              </a:ext>
            </a:extLst>
          </p:cNvPr>
          <p:cNvSpPr>
            <a:spLocks noGrp="1"/>
          </p:cNvSpPr>
          <p:nvPr>
            <p:ph type="body" sz="quarter" idx="12" hasCustomPrompt="1"/>
          </p:nvPr>
        </p:nvSpPr>
        <p:spPr>
          <a:xfrm>
            <a:off x="368300" y="1509004"/>
            <a:ext cx="3006272"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Tree>
    <p:extLst>
      <p:ext uri="{BB962C8B-B14F-4D97-AF65-F5344CB8AC3E}">
        <p14:creationId xmlns:p14="http://schemas.microsoft.com/office/powerpoint/2010/main" val="173293050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8335"/>
            <a:ext cx="6105737" cy="766890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971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 name="Date Placeholder 6">
            <a:extLst>
              <a:ext uri="{FF2B5EF4-FFF2-40B4-BE49-F238E27FC236}">
                <a16:creationId xmlns:a16="http://schemas.microsoft.com/office/drawing/2014/main" id="{ABC290B6-06C0-D618-F1C8-136467B3F1EB}"/>
              </a:ext>
            </a:extLst>
          </p:cNvPr>
          <p:cNvSpPr>
            <a:spLocks noGrp="1"/>
          </p:cNvSpPr>
          <p:nvPr>
            <p:ph type="dt" sz="half" idx="2"/>
          </p:nvPr>
        </p:nvSpPr>
        <p:spPr>
          <a:xfrm>
            <a:off x="3957639" y="438763"/>
            <a:ext cx="2532062" cy="184666"/>
          </a:xfrm>
          <a:prstGeom prst="rect">
            <a:avLst/>
          </a:prstGeom>
        </p:spPr>
        <p:txBody>
          <a:bodyPr/>
          <a:lstStyle/>
          <a:p>
            <a:r>
              <a:rPr lang="en-US" dirty="0"/>
              <a:t>August 2024</a:t>
            </a:r>
          </a:p>
        </p:txBody>
      </p:sp>
      <p:pic>
        <p:nvPicPr>
          <p:cNvPr id="3" name="Graphic 2" descr="Home outline">
            <a:hlinkClick r:id="rId3" action="ppaction://hlinksldjump"/>
            <a:extLst>
              <a:ext uri="{FF2B5EF4-FFF2-40B4-BE49-F238E27FC236}">
                <a16:creationId xmlns:a16="http://schemas.microsoft.com/office/drawing/2014/main" id="{3D7A87B0-F938-BF24-5559-949B1AB3E97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21399" y="9569081"/>
            <a:ext cx="152400" cy="152400"/>
          </a:xfrm>
          <a:prstGeom prst="rect">
            <a:avLst/>
          </a:prstGeom>
        </p:spPr>
      </p:pic>
    </p:spTree>
    <p:extLst>
      <p:ext uri="{BB962C8B-B14F-4D97-AF65-F5344CB8AC3E}">
        <p14:creationId xmlns:p14="http://schemas.microsoft.com/office/powerpoint/2010/main" val="104734437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7905309A-7F3E-4A7B-816E-100D4419AC95}"/>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F553351A-90B3-4CE5-942E-AE4248858838}"/>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AD01827-9A36-4138-95B8-B0189D2D0C96}" type="datetime4">
              <a:rPr lang="en-US" smtClean="0"/>
              <a:pPr/>
              <a:t>August 11, 2026</a:t>
            </a:fld>
            <a:endParaRPr lang="en-US"/>
          </a:p>
        </p:txBody>
      </p:sp>
    </p:spTree>
    <p:extLst>
      <p:ext uri="{BB962C8B-B14F-4D97-AF65-F5344CB8AC3E}">
        <p14:creationId xmlns:p14="http://schemas.microsoft.com/office/powerpoint/2010/main" val="209844822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9" name="Espaço Reservado para Texto 6">
            <a:extLst>
              <a:ext uri="{FF2B5EF4-FFF2-40B4-BE49-F238E27FC236}">
                <a16:creationId xmlns:a16="http://schemas.microsoft.com/office/drawing/2014/main" id="{D8173AC5-D6F2-4007-9E85-9CC5D5ECAF90}"/>
              </a:ext>
            </a:extLst>
          </p:cNvPr>
          <p:cNvSpPr>
            <a:spLocks noGrp="1"/>
          </p:cNvSpPr>
          <p:nvPr>
            <p:ph type="body" sz="quarter" idx="32"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907C5A98-0307-4E77-A8F5-55605CF6F9F6}"/>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5EBDDC5B-631B-4336-9543-98257A1F05F5}" type="datetime4">
              <a:rPr lang="en-US" smtClean="0"/>
              <a:pPr/>
              <a:t>August 11, 2026</a:t>
            </a:fld>
            <a:endParaRPr lang="en-US"/>
          </a:p>
        </p:txBody>
      </p:sp>
    </p:spTree>
    <p:extLst>
      <p:ext uri="{BB962C8B-B14F-4D97-AF65-F5344CB8AC3E}">
        <p14:creationId xmlns:p14="http://schemas.microsoft.com/office/powerpoint/2010/main" val="146196615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36951" y="1831799"/>
            <a:ext cx="2965558" cy="374475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7" name="Espaço Reservado para Texto 6">
            <a:extLst>
              <a:ext uri="{FF2B5EF4-FFF2-40B4-BE49-F238E27FC236}">
                <a16:creationId xmlns:a16="http://schemas.microsoft.com/office/drawing/2014/main" id="{522774F4-0A02-4D7F-A169-A0935028BEB7}"/>
              </a:ext>
            </a:extLst>
          </p:cNvPr>
          <p:cNvSpPr>
            <a:spLocks noGrp="1"/>
          </p:cNvSpPr>
          <p:nvPr>
            <p:ph type="body" sz="quarter" idx="29"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41D27BDA-0B7B-4B7B-98DE-F04BF5B380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A406CDC-6C73-4F07-BA2F-100422012497}" type="datetime4">
              <a:rPr lang="en-US" smtClean="0"/>
              <a:pPr/>
              <a:t>August 11, 2026</a:t>
            </a:fld>
            <a:endParaRPr lang="en-US" dirty="0"/>
          </a:p>
        </p:txBody>
      </p:sp>
    </p:spTree>
    <p:extLst>
      <p:ext uri="{BB962C8B-B14F-4D97-AF65-F5344CB8AC3E}">
        <p14:creationId xmlns:p14="http://schemas.microsoft.com/office/powerpoint/2010/main" val="272749095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2" name="Espaço Reservado para Texto 6">
            <a:extLst>
              <a:ext uri="{FF2B5EF4-FFF2-40B4-BE49-F238E27FC236}">
                <a16:creationId xmlns:a16="http://schemas.microsoft.com/office/drawing/2014/main" id="{74EB01E9-4823-42ED-A528-F9EFE6F730DC}"/>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3" name="Date Placeholder 1">
            <a:extLst>
              <a:ext uri="{FF2B5EF4-FFF2-40B4-BE49-F238E27FC236}">
                <a16:creationId xmlns:a16="http://schemas.microsoft.com/office/drawing/2014/main" id="{8D52D738-8B55-415F-BAF5-54C848910AF7}"/>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44B1522-D64F-491F-B357-196ED417A415}" type="datetime4">
              <a:rPr lang="en-US" smtClean="0"/>
              <a:pPr/>
              <a:t>August 11, 2026</a:t>
            </a:fld>
            <a:endParaRPr lang="en-US" dirty="0"/>
          </a:p>
        </p:txBody>
      </p:sp>
    </p:spTree>
    <p:extLst>
      <p:ext uri="{BB962C8B-B14F-4D97-AF65-F5344CB8AC3E}">
        <p14:creationId xmlns:p14="http://schemas.microsoft.com/office/powerpoint/2010/main" val="147951420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47746"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August 11, 2026</a:t>
            </a:fld>
            <a:endParaRPr lang="en-US"/>
          </a:p>
        </p:txBody>
      </p:sp>
    </p:spTree>
    <p:extLst>
      <p:ext uri="{BB962C8B-B14F-4D97-AF65-F5344CB8AC3E}">
        <p14:creationId xmlns:p14="http://schemas.microsoft.com/office/powerpoint/2010/main" val="201869700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August 11, 2026</a:t>
            </a:fld>
            <a:endParaRPr lang="en-US"/>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222990777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spAutoFit/>
          </a:bodyPr>
          <a:lstStyle>
            <a:lvl1pPr lvl="0" indent="0" defTabSz="385767">
              <a:lnSpc>
                <a:spcPct val="90000"/>
              </a:lnSpc>
              <a:spcBef>
                <a:spcPts val="422"/>
              </a:spcBef>
              <a:buFont typeface="Arial" panose="020B0604020202020204" pitchFamily="34" charset="0"/>
              <a:buNone/>
              <a:defRPr sz="1900" b="1" spc="0">
                <a:solidFill>
                  <a:schemeClr val="tx2"/>
                </a:solidFill>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dirty="0"/>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4D03E599-AFA5-4A08-AC9F-588B0C61A5AB}" type="datetime4">
              <a:rPr lang="en-US" smtClean="0"/>
              <a:pPr/>
              <a:t>August 11, 2026</a:t>
            </a:fld>
            <a:endParaRPr lang="en-US" dirty="0"/>
          </a:p>
        </p:txBody>
      </p:sp>
      <p:sp>
        <p:nvSpPr>
          <p:cNvPr id="2" name="TextBox 1">
            <a:extLst>
              <a:ext uri="{FF2B5EF4-FFF2-40B4-BE49-F238E27FC236}">
                <a16:creationId xmlns:a16="http://schemas.microsoft.com/office/drawing/2014/main" id="{52F95B42-1FBA-401A-8214-0A1239E090A4}"/>
              </a:ext>
            </a:extLst>
          </p:cNvPr>
          <p:cNvSpPr txBox="1"/>
          <p:nvPr userDrawn="1"/>
        </p:nvSpPr>
        <p:spPr>
          <a:xfrm>
            <a:off x="390153" y="1318100"/>
            <a:ext cx="6099546" cy="8099974"/>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marL="228600" lvl="0" indent="-228600" algn="just">
              <a:lnSpc>
                <a:spcPts val="800"/>
              </a:lnSpc>
              <a:buFont typeface="+mj-lt"/>
              <a:buAutoNum type="arabicPeriod"/>
            </a:pPr>
            <a:r>
              <a:rPr lang="en-US" sz="650" i="0" dirty="0"/>
              <a:t>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marL="228600" lvl="0" indent="-228600" algn="just">
              <a:lnSpc>
                <a:spcPts val="800"/>
              </a:lnSpc>
              <a:buFont typeface="+mj-lt"/>
              <a:buAutoNum type="arabicPeriod"/>
            </a:pPr>
            <a:r>
              <a:rPr lang="en-US" sz="650" i="0" dirty="0"/>
              <a:t>This report was prepared considering the product risk classification in order to generate allocation results for each investor profile.  		</a:t>
            </a:r>
          </a:p>
          <a:p>
            <a:pPr marL="228600" lvl="0" indent="-228600" algn="just">
              <a:lnSpc>
                <a:spcPts val="800"/>
              </a:lnSpc>
              <a:buFont typeface="+mj-lt"/>
              <a:buAutoNum type="arabicPeriod"/>
            </a:pPr>
            <a:r>
              <a:rPr lang="en-US" sz="650" i="0" dirty="0"/>
              <a:t>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p>
          <a:p>
            <a:pPr marL="228600" lvl="0" indent="-228600" algn="just">
              <a:lnSpc>
                <a:spcPts val="800"/>
              </a:lnSpc>
              <a:buFont typeface="+mj-lt"/>
              <a:buAutoNum type="arabicPeriod"/>
            </a:pPr>
            <a:r>
              <a:rPr lang="en-US" sz="650" i="0" dirty="0"/>
              <a:t>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p>
          <a:p>
            <a:pPr marL="228600" lvl="0" indent="-228600" algn="just">
              <a:lnSpc>
                <a:spcPts val="800"/>
              </a:lnSpc>
              <a:buFont typeface="+mj-lt"/>
              <a:buAutoNum type="arabicPeriod"/>
            </a:pPr>
            <a:r>
              <a:rPr lang="en-US" sz="650" i="0" dirty="0"/>
              <a:t>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a:pPr marL="228600" lvl="0" indent="-228600" algn="just">
              <a:lnSpc>
                <a:spcPts val="800"/>
              </a:lnSpc>
              <a:buFont typeface="+mj-lt"/>
              <a:buAutoNum type="arabicPeriod"/>
            </a:pPr>
            <a:r>
              <a:rPr lang="en-US" sz="650" i="0" dirty="0"/>
              <a:t>XP Investimentos’ analysts are obligated to comply with all the rules laid down in the APIMEC’s conduct code for the securities analyst and XP Investimentos’ analyst of securities conduct policy.  		</a:t>
            </a:r>
          </a:p>
          <a:p>
            <a:pPr marL="228600" lvl="0" indent="-228600" algn="just">
              <a:lnSpc>
                <a:spcPts val="800"/>
              </a:lnSpc>
              <a:buFont typeface="+mj-lt"/>
              <a:buAutoNum type="arabicPeriod"/>
            </a:pPr>
            <a:r>
              <a:rPr lang="en-US" sz="650" i="0" dirty="0"/>
              <a:t>Customer service is carried out by XP Investimentos employees or by autonomous investment agents who perform their activities through XP, in accordance with CVM Resolution 16/2021,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marL="228600" lvl="0" indent="-228600" algn="just">
              <a:lnSpc>
                <a:spcPts val="800"/>
              </a:lnSpc>
              <a:buFont typeface="+mj-lt"/>
              <a:buAutoNum type="arabicPeriod"/>
            </a:pPr>
            <a:r>
              <a:rPr lang="en-US" sz="650" i="0" dirty="0"/>
              <a:t>For the purpose of verifying the adequacy of the investor's profile to the investment services and products offered by XP Investimentos, we use the methodology of adequacy of products by portfolio, in accordance with the ANBIMA Rules and Procedures of Suitability No. 01 and the ANBIMA Code of Regulation and Best Practices for Distribution of Investment Products. This methodology consists of assigning a maximum risk score for each investor profile (conservative, moderate and aggressive), as well as a risk score for each of the products offered by XP Investimentos, so that all customers can have access to all products, provided that within the amounts and limits of the risk score defined for their profile. Before applying to the products and/or contracting the services subject to this material, it is important that you verify that your current risk score includes the application in the products and/or the contracting of the services in question, as well as whether there are limitations of volume, concentration and/or quantity for the desired application. You can consult this information directly at the time of transmission of your order or by consulting the overall risk of your wallet on the portfolio screen (Risk View).f your current risk score does not support the desired application/contract, or if there are limitations in relation to the amount and/or financial volume for said application/contracting, this means that, based on the current composition of your portfolio, this application/contract is not appropriate to your profile. If you have questions about the process of suiting the products offered by XP Investimentos to your investor profile, please refer to the FAQ. Market conditions, climate change and the macroeconomic scenario can affect investment performance.</a:t>
            </a:r>
          </a:p>
          <a:p>
            <a:pPr marL="228600" lvl="0" indent="-228600" algn="just">
              <a:lnSpc>
                <a:spcPts val="800"/>
              </a:lnSpc>
              <a:buFont typeface="+mj-lt"/>
              <a:buAutoNum type="arabicPeriod"/>
            </a:pPr>
            <a:r>
              <a:rPr lang="en-US" sz="650" i="0" dirty="0"/>
              <a:t>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a:pPr marL="228600" lvl="0" indent="-228600" algn="just">
              <a:lnSpc>
                <a:spcPts val="800"/>
              </a:lnSpc>
              <a:buFont typeface="+mj-lt"/>
              <a:buAutoNum type="arabicPeriod"/>
            </a:pPr>
            <a:r>
              <a:rPr lang="en-US" sz="650" i="0" dirty="0"/>
              <a:t>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p>
          <a:p>
            <a:pPr marL="228600" lvl="0" indent="-228600" algn="just">
              <a:lnSpc>
                <a:spcPts val="800"/>
              </a:lnSpc>
              <a:buFont typeface="+mj-lt"/>
              <a:buAutoNum type="arabicPeriod"/>
            </a:pPr>
            <a:r>
              <a:rPr lang="en-US" sz="650" i="0" dirty="0"/>
              <a:t>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ttps://institucional.xpi.com.br/ouvidoria.aspx/.  				</a:t>
            </a:r>
          </a:p>
          <a:p>
            <a:pPr marL="228600" lvl="0" indent="-228600" algn="just">
              <a:lnSpc>
                <a:spcPts val="800"/>
              </a:lnSpc>
              <a:buFont typeface="+mj-lt"/>
              <a:buAutoNum type="arabicPeriod"/>
            </a:pPr>
            <a:r>
              <a:rPr lang="en-US" sz="650" i="0" dirty="0"/>
              <a:t>The cost of the transactions billing policies are defined in the operational cost tables which are made available on XP Investimentos website: www.xpi.com.br.</a:t>
            </a:r>
          </a:p>
          <a:p>
            <a:pPr marL="228600" lvl="0" indent="-228600" algn="just">
              <a:lnSpc>
                <a:spcPts val="800"/>
              </a:lnSpc>
              <a:buFont typeface="+mj-lt"/>
              <a:buAutoNum type="arabicPeriod"/>
            </a:pPr>
            <a:r>
              <a:rPr lang="en-US" sz="650" i="0" dirty="0"/>
              <a:t>XP Investimentos is exempt from any liability for any damages, direct or indirect, that come from the use of this report or its contents.  	</a:t>
            </a:r>
          </a:p>
          <a:p>
            <a:pPr marL="228600" lvl="0" indent="-228600" algn="just">
              <a:lnSpc>
                <a:spcPts val="800"/>
              </a:lnSpc>
              <a:buFont typeface="+mj-lt"/>
              <a:buAutoNum type="arabicPeriod"/>
            </a:pPr>
            <a:r>
              <a:rPr lang="en-US" sz="650" i="0" dirty="0"/>
              <a:t>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a:pPr marL="228600" lvl="0" indent="-228600" algn="just">
              <a:lnSpc>
                <a:spcPts val="800"/>
              </a:lnSpc>
              <a:buFont typeface="+mj-lt"/>
              <a:buAutoNum type="arabicPeriod"/>
            </a:pPr>
            <a:r>
              <a:rPr lang="en-US" sz="650" i="0" dirty="0"/>
              <a:t>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p>
          <a:p>
            <a:pPr marL="228600" lvl="0" indent="-228600" algn="just">
              <a:lnSpc>
                <a:spcPts val="800"/>
              </a:lnSpc>
              <a:buFont typeface="+mj-lt"/>
              <a:buAutoNum type="arabicPeriod"/>
            </a:pPr>
            <a:r>
              <a:rPr lang="en-US" sz="650" i="0" dirty="0"/>
              <a:t>Investment in options is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p>
          <a:p>
            <a:pPr marL="228600" lvl="0" indent="-228600" algn="just">
              <a:lnSpc>
                <a:spcPts val="800"/>
              </a:lnSpc>
              <a:buFont typeface="+mj-lt"/>
              <a:buAutoNum type="arabicPeriod"/>
            </a:pPr>
            <a:r>
              <a:rPr lang="en-US" sz="650" i="0" dirty="0"/>
              <a:t>Investment in terms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  			</a:t>
            </a:r>
          </a:p>
          <a:p>
            <a:pPr marL="228600" lvl="0" indent="-228600" algn="just">
              <a:lnSpc>
                <a:spcPts val="800"/>
              </a:lnSpc>
              <a:buFont typeface="+mj-lt"/>
              <a:buAutoNum type="arabicPeriod"/>
            </a:pPr>
            <a:r>
              <a:rPr lang="en-US" sz="650" i="0" dirty="0"/>
              <a:t>Investments in futures markets are subject to significant loss of principal.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p>
          <a:p>
            <a:pPr marL="228600" lvl="0" indent="-228600" algn="just">
              <a:lnSpc>
                <a:spcPts val="800"/>
              </a:lnSpc>
              <a:buFont typeface="+mj-lt"/>
              <a:buAutoNum type="arabicPeriod"/>
            </a:pPr>
            <a:r>
              <a:rPr lang="en-US" sz="650" i="0" dirty="0"/>
              <a:t>This institution is adhering ANBIMA Code of Regulation and best practices for the distribution activity of retail investment products.		</a:t>
            </a:r>
          </a:p>
          <a:p>
            <a:pPr marL="228600" lvl="0" indent="-228600" algn="just">
              <a:lnSpc>
                <a:spcPts val="800"/>
              </a:lnSpc>
              <a:buFont typeface="+mj-lt"/>
              <a:buAutoNum type="arabicPeriod"/>
            </a:pPr>
            <a:r>
              <a:rPr lang="en-US" sz="650" i="0" dirty="0"/>
              <a:t>XP Investments US, LLC, a broker-dealer registered with the U.S. Securities and Exchange Commission, has assumed responsibility for this research for purposes of U.S. law.  All transactions arising from this research should be directed to XP Investments US, LLC, at +1 646-664-0525.		</a:t>
            </a:r>
          </a:p>
          <a:p>
            <a:pPr marL="228600" lvl="0" indent="-228600" algn="just">
              <a:lnSpc>
                <a:spcPts val="800"/>
              </a:lnSpc>
              <a:buFont typeface="+mj-lt"/>
              <a:buAutoNum type="arabicPeriod"/>
            </a:pPr>
            <a:r>
              <a:rPr lang="en-US" sz="650" i="0" dirty="0"/>
              <a:t>XP Investimentos (a) managed or co-managed a public offering of securities for the subject company in the past 12 months, or (b) received compensation for investment banking services from the subject company in the past 12 months; or (c) expects to receive or intends to seek compensation for investment banking services from the subject company in the next 3 months. 				</a:t>
            </a:r>
          </a:p>
        </p:txBody>
      </p:sp>
    </p:spTree>
    <p:extLst>
      <p:ext uri="{BB962C8B-B14F-4D97-AF65-F5344CB8AC3E}">
        <p14:creationId xmlns:p14="http://schemas.microsoft.com/office/powerpoint/2010/main" val="164985699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5" name="Rectangle 24">
            <a:extLst>
              <a:ext uri="{FF2B5EF4-FFF2-40B4-BE49-F238E27FC236}">
                <a16:creationId xmlns:a16="http://schemas.microsoft.com/office/drawing/2014/main" id="{09CD1B14-21A0-4905-A3FF-6A46EBDF6BCD}"/>
              </a:ext>
            </a:extLst>
          </p:cNvPr>
          <p:cNvSpPr/>
          <p:nvPr userDrawn="1"/>
        </p:nvSpPr>
        <p:spPr>
          <a:xfrm>
            <a:off x="0" y="0"/>
            <a:ext cx="6858000" cy="9906000"/>
          </a:xfrm>
          <a:prstGeom prst="rect">
            <a:avLst/>
          </a:prstGeom>
          <a:solidFill>
            <a:srgbClr val="18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6" name="Picture 25" descr="A picture containing dark, night sky&#10;&#10;Description automatically generated">
            <a:extLst>
              <a:ext uri="{FF2B5EF4-FFF2-40B4-BE49-F238E27FC236}">
                <a16:creationId xmlns:a16="http://schemas.microsoft.com/office/drawing/2014/main" id="{A879A646-97B6-4998-8A89-2BAA11919B9D}"/>
              </a:ext>
            </a:extLst>
          </p:cNvPr>
          <p:cNvPicPr>
            <a:picLocks noChangeAspect="1"/>
          </p:cNvPicPr>
          <p:nvPr userDrawn="1"/>
        </p:nvPicPr>
        <p:blipFill rotWithShape="1">
          <a:blip r:embed="rId3">
            <a:alphaModFix amt="81000"/>
          </a:blip>
          <a:srcRect l="1783" t="114" r="50667" b="1655"/>
          <a:stretch/>
        </p:blipFill>
        <p:spPr>
          <a:xfrm>
            <a:off x="0" y="0"/>
            <a:ext cx="6858000" cy="9906000"/>
          </a:xfrm>
          <a:prstGeom prst="rect">
            <a:avLst/>
          </a:prstGeom>
        </p:spPr>
      </p:pic>
      <p:grpSp>
        <p:nvGrpSpPr>
          <p:cNvPr id="37" name="Group 36">
            <a:extLst>
              <a:ext uri="{FF2B5EF4-FFF2-40B4-BE49-F238E27FC236}">
                <a16:creationId xmlns:a16="http://schemas.microsoft.com/office/drawing/2014/main" id="{B7CE084B-3CD6-493B-AA0A-FC3B928DD6B4}"/>
              </a:ext>
            </a:extLst>
          </p:cNvPr>
          <p:cNvGrpSpPr/>
          <p:nvPr userDrawn="1"/>
        </p:nvGrpSpPr>
        <p:grpSpPr>
          <a:xfrm>
            <a:off x="-438" y="6168571"/>
            <a:ext cx="6858438" cy="3737429"/>
            <a:chOff x="0" y="-3773484"/>
            <a:chExt cx="18085267" cy="9855364"/>
          </a:xfrm>
        </p:grpSpPr>
        <p:cxnSp>
          <p:nvCxnSpPr>
            <p:cNvPr id="38" name="Straight Connector 37">
              <a:extLst>
                <a:ext uri="{FF2B5EF4-FFF2-40B4-BE49-F238E27FC236}">
                  <a16:creationId xmlns:a16="http://schemas.microsoft.com/office/drawing/2014/main" id="{31AB2E40-F9FD-42C3-9517-2D4CAEFC6A49}"/>
                </a:ext>
              </a:extLst>
            </p:cNvPr>
            <p:cNvCxnSpPr>
              <a:cxnSpLocks/>
            </p:cNvCxnSpPr>
            <p:nvPr userDrawn="1"/>
          </p:nvCxnSpPr>
          <p:spPr>
            <a:xfrm flipV="1">
              <a:off x="0" y="2914763"/>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194F34E-5B13-40DE-A8F8-15955077D952}"/>
                </a:ext>
              </a:extLst>
            </p:cNvPr>
            <p:cNvCxnSpPr>
              <a:cxnSpLocks/>
            </p:cNvCxnSpPr>
            <p:nvPr userDrawn="1"/>
          </p:nvCxnSpPr>
          <p:spPr>
            <a:xfrm flipV="1">
              <a:off x="9327868" y="-3773484"/>
              <a:ext cx="8717924" cy="9855364"/>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pic>
        <p:nvPicPr>
          <p:cNvPr id="40" name="Graphic 39">
            <a:extLst>
              <a:ext uri="{FF2B5EF4-FFF2-40B4-BE49-F238E27FC236}">
                <a16:creationId xmlns:a16="http://schemas.microsoft.com/office/drawing/2014/main" id="{DCB009AC-E0A4-48A2-8D2A-AE84DA4D0C9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565203" y="9198690"/>
            <a:ext cx="924497" cy="213562"/>
          </a:xfrm>
          <a:prstGeom prst="rect">
            <a:avLst/>
          </a:prstGeom>
        </p:spPr>
      </p:pic>
      <p:grpSp>
        <p:nvGrpSpPr>
          <p:cNvPr id="50" name="Group 49">
            <a:extLst>
              <a:ext uri="{FF2B5EF4-FFF2-40B4-BE49-F238E27FC236}">
                <a16:creationId xmlns:a16="http://schemas.microsoft.com/office/drawing/2014/main" id="{AE2F80D2-D401-47D5-BDE2-DC6D12066D2C}"/>
              </a:ext>
            </a:extLst>
          </p:cNvPr>
          <p:cNvGrpSpPr/>
          <p:nvPr userDrawn="1"/>
        </p:nvGrpSpPr>
        <p:grpSpPr>
          <a:xfrm>
            <a:off x="2684238" y="4747691"/>
            <a:ext cx="1489524" cy="410618"/>
            <a:chOff x="2700591" y="2522601"/>
            <a:chExt cx="6428993" cy="1772284"/>
          </a:xfrm>
          <a:solidFill>
            <a:schemeClr val="bg1"/>
          </a:solidFill>
        </p:grpSpPr>
        <p:sp>
          <p:nvSpPr>
            <p:cNvPr id="51" name="Freeform: Shape 50">
              <a:extLst>
                <a:ext uri="{FF2B5EF4-FFF2-40B4-BE49-F238E27FC236}">
                  <a16:creationId xmlns:a16="http://schemas.microsoft.com/office/drawing/2014/main" id="{4B5EB41B-6E79-481E-A6C7-0CE249B9C220}"/>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2" name="Graphic 20">
              <a:extLst>
                <a:ext uri="{FF2B5EF4-FFF2-40B4-BE49-F238E27FC236}">
                  <a16:creationId xmlns:a16="http://schemas.microsoft.com/office/drawing/2014/main" id="{A6F5F2BF-1CBD-48DA-83E4-900C9F654F42}"/>
                </a:ext>
              </a:extLst>
            </p:cNvPr>
            <p:cNvGrpSpPr/>
            <p:nvPr/>
          </p:nvGrpSpPr>
          <p:grpSpPr>
            <a:xfrm>
              <a:off x="5034660" y="3339528"/>
              <a:ext cx="4094924" cy="747077"/>
              <a:chOff x="5034660" y="3339528"/>
              <a:chExt cx="4094924" cy="747077"/>
            </a:xfrm>
            <a:grpFill/>
          </p:grpSpPr>
          <p:sp>
            <p:nvSpPr>
              <p:cNvPr id="54" name="Freeform: Shape 53">
                <a:extLst>
                  <a:ext uri="{FF2B5EF4-FFF2-40B4-BE49-F238E27FC236}">
                    <a16:creationId xmlns:a16="http://schemas.microsoft.com/office/drawing/2014/main" id="{F920B4FD-CF67-4AC3-ACC8-8AE9EED3B08A}"/>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9E5C3886-4D19-464F-B7AC-950F1E46F85F}"/>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3BFBC377-5A48-41C6-B03C-9149828E8A7C}"/>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88D6791-E280-4A9B-B6F6-189BF7C4BF98}"/>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D846E24C-F514-42EF-8579-AF8CE6A376A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767EAC76-4221-4D48-A548-1D3F7EF8A4E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28455B7D-9D95-4D0E-8503-2F81C768037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DF480758-BB1D-4122-964B-6CD9563D3404}"/>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94903445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slideLayout" Target="../slideLayouts/slideLayout34.xml"/><Relationship Id="rId14" Type="http://schemas.openxmlformats.org/officeDocument/2006/relationships/slideLayout" Target="../slideLayouts/slideLayout35.xml"/><Relationship Id="rId15" Type="http://schemas.openxmlformats.org/officeDocument/2006/relationships/slideLayout" Target="../slideLayouts/slideLayout36.xml"/><Relationship Id="rId16" Type="http://schemas.openxmlformats.org/officeDocument/2006/relationships/slideLayout" Target="../slideLayouts/slideLayout37.xml"/><Relationship Id="rId17" Type="http://schemas.openxmlformats.org/officeDocument/2006/relationships/slideLayout" Target="../slideLayouts/slideLayout38.xml"/><Relationship Id="rId1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8" name="CaixaDeTexto 9">
            <a:extLst>
              <a:ext uri="{FF2B5EF4-FFF2-40B4-BE49-F238E27FC236}">
                <a16:creationId xmlns:a16="http://schemas.microsoft.com/office/drawing/2014/main" id="{18A5BD12-2FE7-4134-9F20-C06CEFC520B9}"/>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29" name="Conector Reto 170">
            <a:extLst>
              <a:ext uri="{FF2B5EF4-FFF2-40B4-BE49-F238E27FC236}">
                <a16:creationId xmlns:a16="http://schemas.microsoft.com/office/drawing/2014/main" id="{13EB86D2-DA6B-4C90-A239-E798C20F79BB}"/>
              </a:ext>
            </a:extLst>
          </p:cNvPr>
          <p:cNvCxnSpPr>
            <a:cxnSpLocks/>
          </p:cNvCxnSpPr>
          <p:nvPr userDrawn="1"/>
        </p:nvCxnSpPr>
        <p:spPr>
          <a:xfrm flipV="1">
            <a:off x="969232" y="9547232"/>
            <a:ext cx="0" cy="2020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BCC28C3B-7362-43B7-A421-CE293A4A6219}"/>
              </a:ext>
            </a:extLst>
          </p:cNvPr>
          <p:cNvGrpSpPr/>
          <p:nvPr userDrawn="1"/>
        </p:nvGrpSpPr>
        <p:grpSpPr>
          <a:xfrm>
            <a:off x="368299" y="9572683"/>
            <a:ext cx="548254" cy="151137"/>
            <a:chOff x="2700591" y="2522601"/>
            <a:chExt cx="6428993" cy="1772284"/>
          </a:xfrm>
          <a:solidFill>
            <a:schemeClr val="accent6"/>
          </a:solidFill>
        </p:grpSpPr>
        <p:sp>
          <p:nvSpPr>
            <p:cNvPr id="31" name="Freeform: Shape 30">
              <a:extLst>
                <a:ext uri="{FF2B5EF4-FFF2-40B4-BE49-F238E27FC236}">
                  <a16:creationId xmlns:a16="http://schemas.microsoft.com/office/drawing/2014/main" id="{389CC8BC-1F00-4BDC-A289-8142D2D947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32" name="Graphic 20">
              <a:extLst>
                <a:ext uri="{FF2B5EF4-FFF2-40B4-BE49-F238E27FC236}">
                  <a16:creationId xmlns:a16="http://schemas.microsoft.com/office/drawing/2014/main" id="{508F0147-3843-468C-B598-6A74C455F73B}"/>
                </a:ext>
              </a:extLst>
            </p:cNvPr>
            <p:cNvGrpSpPr/>
            <p:nvPr/>
          </p:nvGrpSpPr>
          <p:grpSpPr>
            <a:xfrm>
              <a:off x="5034660" y="3339528"/>
              <a:ext cx="4094924" cy="747077"/>
              <a:chOff x="5034660" y="3339528"/>
              <a:chExt cx="4094924" cy="747077"/>
            </a:xfrm>
            <a:grpFill/>
          </p:grpSpPr>
          <p:sp>
            <p:nvSpPr>
              <p:cNvPr id="33" name="Freeform: Shape 32">
                <a:extLst>
                  <a:ext uri="{FF2B5EF4-FFF2-40B4-BE49-F238E27FC236}">
                    <a16:creationId xmlns:a16="http://schemas.microsoft.com/office/drawing/2014/main" id="{D59EF09C-1E4A-4CE4-8368-67623148D05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6604BEF-52FB-4611-B5BC-2E4C7A1B4DCE}"/>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48F6015-ACDE-4252-9209-5B93E242751A}"/>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BE555BE-D9A2-44BD-A617-B521D61BBAB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4F2E831-B08D-4D1E-A156-528654CD99C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F483E7C-8FFD-4291-ACD5-5C68DEB74825}"/>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993F408-ED5F-4840-B119-130BB9018551}"/>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511F965-E58A-4FB1-902B-6A64436A7F3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grpSp>
        <p:nvGrpSpPr>
          <p:cNvPr id="3" name="Group 2">
            <a:extLst>
              <a:ext uri="{FF2B5EF4-FFF2-40B4-BE49-F238E27FC236}">
                <a16:creationId xmlns:a16="http://schemas.microsoft.com/office/drawing/2014/main" id="{B20580D1-0CE3-4279-A937-2D00BB298C37}"/>
              </a:ext>
            </a:extLst>
          </p:cNvPr>
          <p:cNvGrpSpPr/>
          <p:nvPr userDrawn="1"/>
        </p:nvGrpSpPr>
        <p:grpSpPr>
          <a:xfrm>
            <a:off x="-954966" y="0"/>
            <a:ext cx="850185" cy="1861222"/>
            <a:chOff x="-954966" y="304355"/>
            <a:chExt cx="850185" cy="1861222"/>
          </a:xfrm>
        </p:grpSpPr>
        <p:sp>
          <p:nvSpPr>
            <p:cNvPr id="16" name="Retângulo 13">
              <a:extLst>
                <a:ext uri="{FF2B5EF4-FFF2-40B4-BE49-F238E27FC236}">
                  <a16:creationId xmlns:a16="http://schemas.microsoft.com/office/drawing/2014/main" id="{C692A16D-2AAD-47A9-B615-EDBFCACA6C08}"/>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 </a:t>
              </a:r>
            </a:p>
          </p:txBody>
        </p:sp>
        <p:sp>
          <p:nvSpPr>
            <p:cNvPr id="17" name="Retângulo 14">
              <a:extLst>
                <a:ext uri="{FF2B5EF4-FFF2-40B4-BE49-F238E27FC236}">
                  <a16:creationId xmlns:a16="http://schemas.microsoft.com/office/drawing/2014/main" id="{49E9D0E6-FB77-489C-A3FC-111D665AA2C8}"/>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142 179 223</a:t>
              </a:r>
            </a:p>
          </p:txBody>
        </p:sp>
        <p:sp>
          <p:nvSpPr>
            <p:cNvPr id="18" name="Retângulo 16">
              <a:extLst>
                <a:ext uri="{FF2B5EF4-FFF2-40B4-BE49-F238E27FC236}">
                  <a16:creationId xmlns:a16="http://schemas.microsoft.com/office/drawing/2014/main" id="{B7EB5F79-8CC5-4BFC-85F8-8563F8529CEA}"/>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7F299EE3-683B-4854-B420-0E3181CD77C3}"/>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1CB3CBF4-519F-4A89-A6BC-0F096BF55948}"/>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249 193 19</a:t>
              </a:r>
            </a:p>
          </p:txBody>
        </p:sp>
        <p:sp>
          <p:nvSpPr>
            <p:cNvPr id="21" name="Retângulo 25">
              <a:extLst>
                <a:ext uri="{FF2B5EF4-FFF2-40B4-BE49-F238E27FC236}">
                  <a16:creationId xmlns:a16="http://schemas.microsoft.com/office/drawing/2014/main" id="{AE442D1B-B28F-4A51-B152-6F302C37914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73 72 73</a:t>
              </a:r>
            </a:p>
          </p:txBody>
        </p:sp>
      </p:grpSp>
      <p:sp>
        <p:nvSpPr>
          <p:cNvPr id="2" name="Espaço Reservado para Texto 6">
            <a:extLst>
              <a:ext uri="{FF2B5EF4-FFF2-40B4-BE49-F238E27FC236}">
                <a16:creationId xmlns:a16="http://schemas.microsoft.com/office/drawing/2014/main" id="{4407AB14-DDCD-B105-603F-62319F2DB885}"/>
              </a:ext>
            </a:extLst>
          </p:cNvPr>
          <p:cNvSpPr txBox="1">
            <a:spLocks/>
          </p:cNvSpPr>
          <p:nvPr userDrawn="1"/>
        </p:nvSpPr>
        <p:spPr>
          <a:xfrm>
            <a:off x="390154" y="438763"/>
            <a:ext cx="3146796"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XP CEO Conference 2026</a:t>
            </a:r>
          </a:p>
        </p:txBody>
      </p:sp>
    </p:spTree>
    <p:extLst>
      <p:ext uri="{BB962C8B-B14F-4D97-AF65-F5344CB8AC3E}">
        <p14:creationId xmlns:p14="http://schemas.microsoft.com/office/powerpoint/2010/main" val="3552666448"/>
      </p:ext>
    </p:extLst>
  </p:cSld>
  <p:clrMap bg1="lt1" tx1="dk1" bg2="lt2" tx2="dk2" accent1="accent1" accent2="accent2" accent3="accent3" accent4="accent4" accent5="accent5" accent6="accent6" hlink="hlink" folHlink="folHlink"/>
  <p:sldLayoutIdLst>
    <p:sldLayoutId id="2147483743" r:id="rId1"/>
    <p:sldLayoutId id="2147483676" r:id="rId2"/>
    <p:sldLayoutId id="2147483700" r:id="rId3"/>
    <p:sldLayoutId id="2147483706" r:id="rId4"/>
    <p:sldLayoutId id="2147483707" r:id="rId5"/>
    <p:sldLayoutId id="2147483708" r:id="rId6"/>
    <p:sldLayoutId id="2147483709" r:id="rId7"/>
    <p:sldLayoutId id="2147483744" r:id="rId8"/>
    <p:sldLayoutId id="2147483745" r:id="rId9"/>
    <p:sldLayoutId id="2147483746" r:id="rId10"/>
    <p:sldLayoutId id="2147483747" r:id="rId11"/>
    <p:sldLayoutId id="2147483699" r:id="rId12"/>
    <p:sldLayoutId id="2147483697" r:id="rId13"/>
    <p:sldLayoutId id="2147483695" r:id="rId14"/>
    <p:sldLayoutId id="2147483696" r:id="rId15"/>
    <p:sldLayoutId id="2147483694" r:id="rId16"/>
    <p:sldLayoutId id="2147483698" r:id="rId17"/>
    <p:sldLayoutId id="2147483710" r:id="rId18"/>
    <p:sldLayoutId id="2147483702" r:id="rId19"/>
    <p:sldLayoutId id="2147483701" r:id="rId20"/>
    <p:sldLayoutId id="2147483748" r:id="rId21"/>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32" userDrawn="1">
          <p15:clr>
            <a:srgbClr val="F26B43"/>
          </p15:clr>
        </p15:guide>
        <p15:guide id="3" pos="4088" userDrawn="1">
          <p15:clr>
            <a:srgbClr val="F26B43"/>
          </p15:clr>
        </p15:guide>
        <p15:guide id="4" orient="horz" pos="262" userDrawn="1">
          <p15:clr>
            <a:srgbClr val="F26B43"/>
          </p15:clr>
        </p15:guide>
        <p15:guide id="5" orient="horz" pos="5955" userDrawn="1">
          <p15:clr>
            <a:srgbClr val="F26B43"/>
          </p15:clr>
        </p15:guide>
        <p15:guide id="6" pos="2160" userDrawn="1">
          <p15:clr>
            <a:srgbClr val="F26B43"/>
          </p15:clr>
        </p15:guide>
        <p15:guide id="7" orient="horz" pos="466" userDrawn="1">
          <p15:clr>
            <a:srgbClr val="F26B43"/>
          </p15:clr>
        </p15:guide>
        <p15:guide id="8" orient="horz" pos="94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8" name="CaixaDeTexto 9">
            <a:extLst>
              <a:ext uri="{FF2B5EF4-FFF2-40B4-BE49-F238E27FC236}">
                <a16:creationId xmlns:a16="http://schemas.microsoft.com/office/drawing/2014/main" id="{18A5BD12-2FE7-4134-9F20-C06CEFC520B9}"/>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29" name="Conector Reto 170">
            <a:extLst>
              <a:ext uri="{FF2B5EF4-FFF2-40B4-BE49-F238E27FC236}">
                <a16:creationId xmlns:a16="http://schemas.microsoft.com/office/drawing/2014/main" id="{13EB86D2-DA6B-4C90-A239-E798C20F79BB}"/>
              </a:ext>
            </a:extLst>
          </p:cNvPr>
          <p:cNvCxnSpPr>
            <a:cxnSpLocks/>
          </p:cNvCxnSpPr>
          <p:nvPr userDrawn="1"/>
        </p:nvCxnSpPr>
        <p:spPr>
          <a:xfrm flipV="1">
            <a:off x="969232" y="9547232"/>
            <a:ext cx="0" cy="2020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BCC28C3B-7362-43B7-A421-CE293A4A6219}"/>
              </a:ext>
            </a:extLst>
          </p:cNvPr>
          <p:cNvGrpSpPr/>
          <p:nvPr userDrawn="1"/>
        </p:nvGrpSpPr>
        <p:grpSpPr>
          <a:xfrm>
            <a:off x="368299" y="9572683"/>
            <a:ext cx="548254" cy="151137"/>
            <a:chOff x="2700591" y="2522601"/>
            <a:chExt cx="6428993" cy="1772284"/>
          </a:xfrm>
          <a:solidFill>
            <a:schemeClr val="accent6"/>
          </a:solidFill>
        </p:grpSpPr>
        <p:sp>
          <p:nvSpPr>
            <p:cNvPr id="31" name="Freeform: Shape 30">
              <a:extLst>
                <a:ext uri="{FF2B5EF4-FFF2-40B4-BE49-F238E27FC236}">
                  <a16:creationId xmlns:a16="http://schemas.microsoft.com/office/drawing/2014/main" id="{389CC8BC-1F00-4BDC-A289-8142D2D947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32" name="Graphic 20">
              <a:extLst>
                <a:ext uri="{FF2B5EF4-FFF2-40B4-BE49-F238E27FC236}">
                  <a16:creationId xmlns:a16="http://schemas.microsoft.com/office/drawing/2014/main" id="{508F0147-3843-468C-B598-6A74C455F73B}"/>
                </a:ext>
              </a:extLst>
            </p:cNvPr>
            <p:cNvGrpSpPr/>
            <p:nvPr/>
          </p:nvGrpSpPr>
          <p:grpSpPr>
            <a:xfrm>
              <a:off x="5034660" y="3339528"/>
              <a:ext cx="4094924" cy="747077"/>
              <a:chOff x="5034660" y="3339528"/>
              <a:chExt cx="4094924" cy="747077"/>
            </a:xfrm>
            <a:grpFill/>
          </p:grpSpPr>
          <p:sp>
            <p:nvSpPr>
              <p:cNvPr id="33" name="Freeform: Shape 32">
                <a:extLst>
                  <a:ext uri="{FF2B5EF4-FFF2-40B4-BE49-F238E27FC236}">
                    <a16:creationId xmlns:a16="http://schemas.microsoft.com/office/drawing/2014/main" id="{D59EF09C-1E4A-4CE4-8368-67623148D05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6604BEF-52FB-4611-B5BC-2E4C7A1B4DCE}"/>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48F6015-ACDE-4252-9209-5B93E242751A}"/>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BE555BE-D9A2-44BD-A617-B521D61BBAB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4F2E831-B08D-4D1E-A156-528654CD99C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F483E7C-8FFD-4291-ACD5-5C68DEB74825}"/>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993F408-ED5F-4840-B119-130BB9018551}"/>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511F965-E58A-4FB1-902B-6A64436A7F3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 name="Date Placeholder 1">
            <a:extLst>
              <a:ext uri="{FF2B5EF4-FFF2-40B4-BE49-F238E27FC236}">
                <a16:creationId xmlns:a16="http://schemas.microsoft.com/office/drawing/2014/main" id="{7161E563-1BF6-4EB7-B7A2-FD52458467FC}"/>
              </a:ext>
            </a:extLst>
          </p:cNvPr>
          <p:cNvSpPr>
            <a:spLocks noGrp="1"/>
          </p:cNvSpPr>
          <p:nvPr>
            <p:ph type="dt" sz="half" idx="2"/>
          </p:nvPr>
        </p:nvSpPr>
        <p:spPr>
          <a:xfrm>
            <a:off x="4946650" y="438763"/>
            <a:ext cx="1543050" cy="184666"/>
          </a:xfrm>
          <a:prstGeom prst="rect">
            <a:avLst/>
          </a:prstGeom>
        </p:spPr>
        <p:txBody>
          <a:bodyPr vert="horz"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r>
              <a:rPr lang="en-US" dirty="0"/>
              <a:t>August 2024</a:t>
            </a:r>
          </a:p>
        </p:txBody>
      </p:sp>
      <p:grpSp>
        <p:nvGrpSpPr>
          <p:cNvPr id="3" name="Group 2">
            <a:extLst>
              <a:ext uri="{FF2B5EF4-FFF2-40B4-BE49-F238E27FC236}">
                <a16:creationId xmlns:a16="http://schemas.microsoft.com/office/drawing/2014/main" id="{B20580D1-0CE3-4279-A937-2D00BB298C37}"/>
              </a:ext>
            </a:extLst>
          </p:cNvPr>
          <p:cNvGrpSpPr/>
          <p:nvPr userDrawn="1"/>
        </p:nvGrpSpPr>
        <p:grpSpPr>
          <a:xfrm>
            <a:off x="-954966" y="0"/>
            <a:ext cx="850185" cy="1861222"/>
            <a:chOff x="-954966" y="304355"/>
            <a:chExt cx="850185" cy="1861222"/>
          </a:xfrm>
        </p:grpSpPr>
        <p:sp>
          <p:nvSpPr>
            <p:cNvPr id="16" name="Retângulo 13">
              <a:extLst>
                <a:ext uri="{FF2B5EF4-FFF2-40B4-BE49-F238E27FC236}">
                  <a16:creationId xmlns:a16="http://schemas.microsoft.com/office/drawing/2014/main" id="{C692A16D-2AAD-47A9-B615-EDBFCACA6C08}"/>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 </a:t>
              </a:r>
            </a:p>
          </p:txBody>
        </p:sp>
        <p:sp>
          <p:nvSpPr>
            <p:cNvPr id="17" name="Retângulo 14">
              <a:extLst>
                <a:ext uri="{FF2B5EF4-FFF2-40B4-BE49-F238E27FC236}">
                  <a16:creationId xmlns:a16="http://schemas.microsoft.com/office/drawing/2014/main" id="{49E9D0E6-FB77-489C-A3FC-111D665AA2C8}"/>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142 179 223</a:t>
              </a:r>
            </a:p>
          </p:txBody>
        </p:sp>
        <p:sp>
          <p:nvSpPr>
            <p:cNvPr id="18" name="Retângulo 16">
              <a:extLst>
                <a:ext uri="{FF2B5EF4-FFF2-40B4-BE49-F238E27FC236}">
                  <a16:creationId xmlns:a16="http://schemas.microsoft.com/office/drawing/2014/main" id="{B7EB5F79-8CC5-4BFC-85F8-8563F8529CEA}"/>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7F299EE3-683B-4854-B420-0E3181CD77C3}"/>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1CB3CBF4-519F-4A89-A6BC-0F096BF55948}"/>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249 193 19</a:t>
              </a:r>
            </a:p>
          </p:txBody>
        </p:sp>
        <p:sp>
          <p:nvSpPr>
            <p:cNvPr id="21" name="Retângulo 25">
              <a:extLst>
                <a:ext uri="{FF2B5EF4-FFF2-40B4-BE49-F238E27FC236}">
                  <a16:creationId xmlns:a16="http://schemas.microsoft.com/office/drawing/2014/main" id="{AE442D1B-B28F-4A51-B152-6F302C37914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73 72 73</a:t>
              </a:r>
            </a:p>
          </p:txBody>
        </p:sp>
      </p:grpSp>
      <p:sp>
        <p:nvSpPr>
          <p:cNvPr id="23" name="Espaço Reservado para Texto 6">
            <a:extLst>
              <a:ext uri="{FF2B5EF4-FFF2-40B4-BE49-F238E27FC236}">
                <a16:creationId xmlns:a16="http://schemas.microsoft.com/office/drawing/2014/main" id="{6CF3791F-62F2-4029-A8F8-4CB526805BC9}"/>
              </a:ext>
            </a:extLst>
          </p:cNvPr>
          <p:cNvSpPr txBox="1">
            <a:spLocks/>
          </p:cNvSpPr>
          <p:nvPr userDrawn="1"/>
        </p:nvSpPr>
        <p:spPr>
          <a:xfrm>
            <a:off x="390154" y="438763"/>
            <a:ext cx="3146796"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XP CEO Conference 2025</a:t>
            </a:r>
          </a:p>
        </p:txBody>
      </p:sp>
    </p:spTree>
    <p:extLst>
      <p:ext uri="{BB962C8B-B14F-4D97-AF65-F5344CB8AC3E}">
        <p14:creationId xmlns:p14="http://schemas.microsoft.com/office/powerpoint/2010/main" val="4207476649"/>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p15:clr>
            <a:srgbClr val="F26B43"/>
          </p15:clr>
        </p15:guide>
        <p15:guide id="2" pos="232">
          <p15:clr>
            <a:srgbClr val="F26B43"/>
          </p15:clr>
        </p15:guide>
        <p15:guide id="3" pos="4088">
          <p15:clr>
            <a:srgbClr val="F26B43"/>
          </p15:clr>
        </p15:guide>
        <p15:guide id="4" orient="horz" pos="262">
          <p15:clr>
            <a:srgbClr val="F26B43"/>
          </p15:clr>
        </p15:guide>
        <p15:guide id="5" orient="horz" pos="5955">
          <p15:clr>
            <a:srgbClr val="F26B43"/>
          </p15:clr>
        </p15:guide>
        <p15:guide id="6" pos="2160">
          <p15:clr>
            <a:srgbClr val="F26B43"/>
          </p15:clr>
        </p15:guide>
        <p15:guide id="7" orient="horz" pos="466">
          <p15:clr>
            <a:srgbClr val="F26B43"/>
          </p15:clr>
        </p15:guide>
        <p15:guide id="8" orient="horz" pos="94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 Target="slide9.xml"/><Relationship Id="rId3" Type="http://schemas.openxmlformats.org/officeDocument/2006/relationships/slide" Target="slide5.xml"/><Relationship Id="rId4" Type="http://schemas.openxmlformats.org/officeDocument/2006/relationships/slide" Target="slide11.xml"/><Relationship Id="rId5" Type="http://schemas.openxmlformats.org/officeDocument/2006/relationships/slide" Target="slide15.xml"/><Relationship Id="rId6" Type="http://schemas.openxmlformats.org/officeDocument/2006/relationships/slide" Target="slide14.xml"/><Relationship Id="rId7" Type="http://schemas.openxmlformats.org/officeDocument/2006/relationships/slide" Target="slide16.xml"/><Relationship Id="rId8" Type="http://schemas.openxmlformats.org/officeDocument/2006/relationships/slide" Target="slide19.xml"/><Relationship Id="rId9" Type="http://schemas.openxmlformats.org/officeDocument/2006/relationships/slide" Target="slide21.xml"/><Relationship Id="rId10" Type="http://schemas.openxmlformats.org/officeDocument/2006/relationships/slide" Target="slide17.xml"/><Relationship Id="rId11" Type="http://schemas.openxmlformats.org/officeDocument/2006/relationships/slide" Target="slide20.xml"/><Relationship Id="rId12" Type="http://schemas.openxmlformats.org/officeDocument/2006/relationships/slide" Target="slide22.xml"/><Relationship Id="rId13" Type="http://schemas.openxmlformats.org/officeDocument/2006/relationships/slide" Target="slide23.xml"/><Relationship Id="rId14" Type="http://schemas.openxmlformats.org/officeDocument/2006/relationships/slide" Target="slide24.xml"/><Relationship Id="rId15" Type="http://schemas.openxmlformats.org/officeDocument/2006/relationships/slide" Target="slide27.xml"/><Relationship Id="rId16" Type="http://schemas.openxmlformats.org/officeDocument/2006/relationships/slide" Target="slide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 Id="rId3" Type="http://schemas.openxmlformats.org/officeDocument/2006/relationships/hyperlink" Target="https://researchxp1.s3.sa-east-1.amazonaws.com/Financial+Leverage+in+Brazil.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hyperlink" Target="https://researchxp1.s3.sa-east-1.amazonaws.com/Brazilian+AI+playbook.pdf"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hyperlink" Target="https://conteudos.xpi.com.br/wp-content/uploads/2026/08/XP-Macro-Monthly-Aug26.pdf"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hyperlink" Target="https://researchxp1.s3.sa-east-1.amazonaws.com/2025+07+11+Government+Announces+Changes+to+IPI+Tax+For+Vehicles.pdf" TargetMode="External"/><Relationship Id="rId3" Type="http://schemas.openxmlformats.org/officeDocument/2006/relationships/hyperlink" Target="https://researchxp1.s3.sa-east-1.amazonaws.com/2025+07+30+Government+Announces+Changes+to+Tax+For+Electrified+Vehicles.pdf" TargetMode="External"/><Relationship Id="rId4" Type="http://schemas.openxmlformats.org/officeDocument/2006/relationships/hyperlink" Target="https://researchxp1.s3.sa-east-1.amazonaws.com/2025+08+06+Worse+Than+a+Horrible+End+Is+an+Endless+Horror.pdf" TargetMode="External"/><Relationship Id="rId5" Type="http://schemas.openxmlformats.org/officeDocument/2006/relationships/hyperlink" Target="https://researchxp1.s3.sa-east-1.amazonaws.com/2025+05+19+BZ+Toll+Roads+-+Competition+Remains+Healthy+Despite+New-Players%E2%80%99+Surge.pdf" TargetMode="External"/><Relationship Id="rId6" Type="http://schemas.openxmlformats.org/officeDocument/2006/relationships/hyperlink" Target="https://researchxp1.s3.sa-east-1.amazonaws.com/2026+08+06+Localiza+2Q26+Results.pdf" TargetMode="External"/><Relationship Id="rId7" Type="http://schemas.openxmlformats.org/officeDocument/2006/relationships/hyperlink" Target="https://researchxp1.s3.sa-east-1.amazonaws.com/2026+08+10+Movida+2Q26+Results.pdf" TargetMode="External"/><Relationship Id="rId8" Type="http://schemas.openxmlformats.org/officeDocument/2006/relationships/hyperlink" Target="https://researchxp1.s3.sa-east-1.amazonaws.com/2026+06+15+ViaQuatro+Contract+Amendment.pdf" TargetMode="External"/><Relationship Id="rId9" Type="http://schemas.openxmlformats.org/officeDocument/2006/relationships/hyperlink" Target="https://researchxp1.s3.sa-east-1.amazonaws.com/2026+07+22+Ecovias+Imigrantes+Contract+Amendment.pdf" TargetMode="External"/><Relationship Id="rId10" Type="http://schemas.openxmlformats.org/officeDocument/2006/relationships/hyperlink" Target="https://researchxp1.s3.sa-east-1.amazonaws.com/2025+11+30+-+BZ+Toll+Roads+-+Rebalances+%26+Amendments.pdf" TargetMode="External"/><Relationship Id="rId11" Type="http://schemas.openxmlformats.org/officeDocument/2006/relationships/hyperlink" Target="https://researchxp1.s3.sa-east-1.amazonaws.com/2026+03+25+Gauging+Capex+Risk+Amid+Higher+Input+Prices.pdf"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hyperlink" Target="https://researchxp1.s3.sa-east-1.amazonaws.com/Thematic+-+El+Ni%C3%B1o.pdf" TargetMode="External"/><Relationship Id="rId3" Type="http://schemas.openxmlformats.org/officeDocument/2006/relationships/hyperlink" Target="https://researchxp1.s3.sa-east-1.amazonaws.com/2026+03+06+-+Balancing+Growth+and+Returns+Amid+Tight+Competition+-+Updating+MILS+and+ARML.pdf" TargetMode="External"/><Relationship Id="rId4" Type="http://schemas.openxmlformats.org/officeDocument/2006/relationships/hyperlink" Target="https://researchxp1.s3.sa-east-1.amazonaws.com/2026+07+17+Vamos+2Q26+Operational+Preview.pdf"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hyperlink" Target="https://researchxp1.s3.sa-east-1.amazonaws.com/2026+05+21+GPS+IoC.pdf" TargetMode="External"/><Relationship Id="rId3" Type="http://schemas.openxmlformats.org/officeDocument/2006/relationships/hyperlink" Target="https://researchxp1.s3.sa-east-1.amazonaws.com/2026+07+06+Breaking+New+Ground+in+Mining.pdf"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1F11C30-02BA-8F3F-FF3D-F4C01C54F8AE}"/>
              </a:ext>
            </a:extLst>
          </p:cNvPr>
          <p:cNvSpPr>
            <a:spLocks noGrp="1"/>
          </p:cNvSpPr>
          <p:nvPr>
            <p:ph type="body" sz="quarter" idx="12"/>
          </p:nvPr>
        </p:nvSpPr>
        <p:spPr>
          <a:xfrm>
            <a:off x="571489" y="5116934"/>
            <a:ext cx="5337375" cy="458908"/>
          </a:xfrm>
        </p:spPr>
        <p:txBody>
          <a:bodyPr/>
          <a:lstStyle/>
          <a:p>
            <a:r>
              <a:rPr lang="pt-BR" dirty="0"/>
              <a:t>Key </a:t>
            </a:r>
            <a:r>
              <a:rPr lang="pt-BR" dirty="0" err="1"/>
              <a:t>Themes</a:t>
            </a:r>
            <a:endParaRPr lang="pt-BR" dirty="0"/>
          </a:p>
        </p:txBody>
      </p:sp>
    </p:spTree>
    <p:extLst>
      <p:ext uri="{BB962C8B-B14F-4D97-AF65-F5344CB8AC3E}">
        <p14:creationId xmlns:p14="http://schemas.microsoft.com/office/powerpoint/2010/main" val="2192346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E57075A-5F78-192F-F635-1045DA05F921}"/>
              </a:ext>
            </a:extLst>
          </p:cNvPr>
          <p:cNvSpPr txBox="1"/>
          <p:nvPr/>
        </p:nvSpPr>
        <p:spPr>
          <a:xfrm>
            <a:off x="368300" y="1497013"/>
            <a:ext cx="6121400" cy="5000728"/>
          </a:xfrm>
          <a:prstGeom prst="rect">
            <a:avLst/>
          </a:prstGeom>
          <a:noFill/>
        </p:spPr>
        <p:txBody>
          <a:bodyPr wrap="square" rtlCol="0">
            <a:spAutoFit/>
          </a:bodyPr>
          <a:lstStyle/>
          <a:p>
            <a:pPr algn="just">
              <a:lnSpc>
                <a:spcPct val="125000"/>
              </a:lnSpc>
              <a:spcBef>
                <a:spcPts val="600"/>
              </a:spcBef>
            </a:pPr>
            <a:r>
              <a:rPr lang="en-US" sz="1200" dirty="0">
                <a:solidFill>
                  <a:schemeClr val="bg1"/>
                </a:solidFill>
              </a:rPr>
              <a:t>Dear Investors,</a:t>
            </a:r>
            <a:endParaRPr lang="pt-BR" sz="1200" dirty="0">
              <a:solidFill>
                <a:schemeClr val="bg1"/>
              </a:solidFill>
            </a:endParaRPr>
          </a:p>
          <a:p>
            <a:pPr algn="just">
              <a:lnSpc>
                <a:spcPct val="125000"/>
              </a:lnSpc>
              <a:spcBef>
                <a:spcPts val="600"/>
              </a:spcBef>
            </a:pPr>
            <a:r>
              <a:rPr lang="en-US" sz="1000" dirty="0">
                <a:solidFill>
                  <a:schemeClr val="bg1"/>
                </a:solidFill>
              </a:rPr>
              <a:t>It is with great pleasure that XP welcomes you to the 3</a:t>
            </a:r>
            <a:r>
              <a:rPr lang="en-US" sz="1000" baseline="30000" dirty="0">
                <a:solidFill>
                  <a:schemeClr val="bg1"/>
                </a:solidFill>
              </a:rPr>
              <a:t>rd</a:t>
            </a:r>
            <a:r>
              <a:rPr lang="en-US" sz="1000" dirty="0">
                <a:solidFill>
                  <a:schemeClr val="bg1"/>
                </a:solidFill>
              </a:rPr>
              <a:t> edition of our CEO Conference in Rio de Janeiro — an exclusive conference that brings together the leadership of Brazil’s leading corporates and the institutional investment community.</a:t>
            </a:r>
            <a:endParaRPr lang="pt-BR" sz="1000" dirty="0">
              <a:solidFill>
                <a:schemeClr val="bg1"/>
              </a:solidFill>
            </a:endParaRPr>
          </a:p>
          <a:p>
            <a:pPr algn="just">
              <a:lnSpc>
                <a:spcPct val="125000"/>
              </a:lnSpc>
              <a:spcBef>
                <a:spcPts val="600"/>
              </a:spcBef>
            </a:pPr>
            <a:r>
              <a:rPr lang="en-US" sz="1000" dirty="0">
                <a:solidFill>
                  <a:schemeClr val="bg1"/>
                </a:solidFill>
              </a:rPr>
              <a:t>This year, we are proud to host over </a:t>
            </a:r>
            <a:r>
              <a:rPr lang="en-US" sz="1000" b="1" dirty="0">
                <a:solidFill>
                  <a:schemeClr val="bg1"/>
                </a:solidFill>
                <a:highlight>
                  <a:srgbClr val="FFFF00"/>
                </a:highlight>
              </a:rPr>
              <a:t>XX</a:t>
            </a:r>
            <a:r>
              <a:rPr lang="en-US" sz="1000" b="1" dirty="0">
                <a:solidFill>
                  <a:schemeClr val="bg1"/>
                </a:solidFill>
              </a:rPr>
              <a:t> C-level executives</a:t>
            </a:r>
            <a:r>
              <a:rPr lang="en-US" sz="1000" dirty="0">
                <a:solidFill>
                  <a:schemeClr val="bg1"/>
                </a:solidFill>
              </a:rPr>
              <a:t> from Brazil’s leading corporations. Over the course of the conference, more than </a:t>
            </a:r>
            <a:r>
              <a:rPr lang="en-US" sz="1000" b="1" dirty="0">
                <a:solidFill>
                  <a:schemeClr val="bg1"/>
                </a:solidFill>
                <a:highlight>
                  <a:srgbClr val="FFFF00"/>
                </a:highlight>
              </a:rPr>
              <a:t>XXX</a:t>
            </a:r>
            <a:r>
              <a:rPr lang="en-US" sz="1000" b="1" dirty="0">
                <a:solidFill>
                  <a:schemeClr val="bg1"/>
                </a:solidFill>
              </a:rPr>
              <a:t> one-on-one and group meetings</a:t>
            </a:r>
            <a:r>
              <a:rPr lang="en-US" sz="1000" dirty="0">
                <a:solidFill>
                  <a:schemeClr val="bg1"/>
                </a:solidFill>
              </a:rPr>
              <a:t> have been scheduled, fostering meaningful dialogue, strategic insights, and long-term partnerships.</a:t>
            </a:r>
            <a:endParaRPr lang="pt-BR" sz="1000" dirty="0">
              <a:solidFill>
                <a:schemeClr val="bg1"/>
              </a:solidFill>
            </a:endParaRPr>
          </a:p>
          <a:p>
            <a:pPr algn="just">
              <a:lnSpc>
                <a:spcPct val="125000"/>
              </a:lnSpc>
              <a:spcBef>
                <a:spcPts val="600"/>
              </a:spcBef>
            </a:pPr>
            <a:r>
              <a:rPr lang="en-US" sz="1000" dirty="0">
                <a:solidFill>
                  <a:schemeClr val="bg1"/>
                </a:solidFill>
              </a:rPr>
              <a:t>We are also honored to welcome </a:t>
            </a:r>
            <a:r>
              <a:rPr lang="en-US" sz="1000" b="1" dirty="0">
                <a:solidFill>
                  <a:schemeClr val="bg1"/>
                </a:solidFill>
              </a:rPr>
              <a:t>over </a:t>
            </a:r>
            <a:r>
              <a:rPr lang="en-US" sz="1000" b="1" dirty="0">
                <a:solidFill>
                  <a:schemeClr val="bg1"/>
                </a:solidFill>
                <a:highlight>
                  <a:srgbClr val="FFFF00"/>
                </a:highlight>
              </a:rPr>
              <a:t>XXX</a:t>
            </a:r>
            <a:r>
              <a:rPr lang="en-US" sz="1000" b="1" dirty="0">
                <a:solidFill>
                  <a:schemeClr val="bg1"/>
                </a:solidFill>
              </a:rPr>
              <a:t> institutional investors from Brazil and abroad</a:t>
            </a:r>
            <a:r>
              <a:rPr lang="en-US" sz="1000" dirty="0">
                <a:solidFill>
                  <a:schemeClr val="bg1"/>
                </a:solidFill>
              </a:rPr>
              <a:t>, whose presence underscores the growing interest in Brazil’s equity market. XP strives to remain not only the largest brokerage firm in Brazil, but also a complete ecosystem, with a solid full- service model for the investor community.</a:t>
            </a:r>
            <a:endParaRPr lang="pt-BR" sz="1000" dirty="0">
              <a:solidFill>
                <a:schemeClr val="bg1"/>
              </a:solidFill>
            </a:endParaRPr>
          </a:p>
          <a:p>
            <a:pPr algn="just">
              <a:lnSpc>
                <a:spcPct val="125000"/>
              </a:lnSpc>
              <a:spcBef>
                <a:spcPts val="600"/>
              </a:spcBef>
            </a:pPr>
            <a:r>
              <a:rPr lang="en-US" sz="1000" dirty="0">
                <a:solidFill>
                  <a:schemeClr val="bg1"/>
                </a:solidFill>
              </a:rPr>
              <a:t>As you navigate the conference, we invite you to explore the key themes shared in this research report. It has been prepared to complement your meetings and provide context on the companies and sectors present at the conference, helping you make the most of your time in Rio.</a:t>
            </a:r>
            <a:endParaRPr lang="pt-BR" sz="1000" dirty="0">
              <a:solidFill>
                <a:schemeClr val="bg1"/>
              </a:solidFill>
            </a:endParaRPr>
          </a:p>
          <a:p>
            <a:pPr algn="just">
              <a:lnSpc>
                <a:spcPct val="125000"/>
              </a:lnSpc>
              <a:spcBef>
                <a:spcPts val="600"/>
              </a:spcBef>
            </a:pPr>
            <a:endParaRPr lang="en-US" sz="1000" dirty="0">
              <a:solidFill>
                <a:schemeClr val="bg1"/>
              </a:solidFill>
            </a:endParaRPr>
          </a:p>
          <a:p>
            <a:pPr algn="just">
              <a:lnSpc>
                <a:spcPct val="125000"/>
              </a:lnSpc>
              <a:spcBef>
                <a:spcPts val="600"/>
              </a:spcBef>
            </a:pPr>
            <a:r>
              <a:rPr lang="en-US" sz="1000" dirty="0">
                <a:solidFill>
                  <a:schemeClr val="bg1"/>
                </a:solidFill>
              </a:rPr>
              <a:t>Thank you for joining us. We look forward to a conference filled with valuable connections. </a:t>
            </a:r>
            <a:endParaRPr lang="pt-BR" sz="1000" dirty="0">
              <a:solidFill>
                <a:schemeClr val="bg1"/>
              </a:solidFill>
            </a:endParaRPr>
          </a:p>
          <a:p>
            <a:pPr algn="just">
              <a:lnSpc>
                <a:spcPct val="125000"/>
              </a:lnSpc>
              <a:spcBef>
                <a:spcPts val="600"/>
              </a:spcBef>
            </a:pPr>
            <a:r>
              <a:rPr lang="en-US" sz="1000" dirty="0">
                <a:solidFill>
                  <a:schemeClr val="bg1"/>
                </a:solidFill>
              </a:rPr>
              <a:t>In the next page, you can find the full list of corporates attending.</a:t>
            </a:r>
            <a:endParaRPr lang="pt-BR" sz="1000" dirty="0">
              <a:solidFill>
                <a:schemeClr val="bg1"/>
              </a:solidFill>
            </a:endParaRPr>
          </a:p>
          <a:p>
            <a:pPr algn="just">
              <a:lnSpc>
                <a:spcPct val="125000"/>
              </a:lnSpc>
              <a:spcBef>
                <a:spcPts val="600"/>
              </a:spcBef>
            </a:pPr>
            <a:r>
              <a:rPr lang="pt-BR" sz="1000" dirty="0" err="1">
                <a:solidFill>
                  <a:schemeClr val="bg1"/>
                </a:solidFill>
              </a:rPr>
              <a:t>See</a:t>
            </a:r>
            <a:r>
              <a:rPr lang="pt-BR" sz="1000" dirty="0">
                <a:solidFill>
                  <a:schemeClr val="bg1"/>
                </a:solidFill>
              </a:rPr>
              <a:t> </a:t>
            </a:r>
            <a:r>
              <a:rPr lang="pt-BR" sz="1000" dirty="0" err="1">
                <a:solidFill>
                  <a:schemeClr val="bg1"/>
                </a:solidFill>
              </a:rPr>
              <a:t>you</a:t>
            </a:r>
            <a:r>
              <a:rPr lang="pt-BR" sz="1000" dirty="0">
                <a:solidFill>
                  <a:schemeClr val="bg1"/>
                </a:solidFill>
              </a:rPr>
              <a:t> in Rio!</a:t>
            </a:r>
          </a:p>
          <a:p>
            <a:pPr algn="just">
              <a:lnSpc>
                <a:spcPct val="125000"/>
              </a:lnSpc>
              <a:spcBef>
                <a:spcPts val="600"/>
              </a:spcBef>
            </a:pPr>
            <a:endParaRPr lang="pt-BR" sz="1000" dirty="0">
              <a:solidFill>
                <a:schemeClr val="bg1"/>
              </a:solidFill>
            </a:endParaRPr>
          </a:p>
          <a:p>
            <a:pPr algn="just">
              <a:lnSpc>
                <a:spcPct val="125000"/>
              </a:lnSpc>
              <a:spcBef>
                <a:spcPts val="600"/>
              </a:spcBef>
            </a:pPr>
            <a:r>
              <a:rPr lang="pt-BR" sz="1000" b="1" dirty="0">
                <a:solidFill>
                  <a:schemeClr val="bg1"/>
                </a:solidFill>
              </a:rPr>
              <a:t>Fernando Ferreira </a:t>
            </a:r>
            <a:r>
              <a:rPr lang="pt-BR" sz="1000" b="1" dirty="0" err="1">
                <a:solidFill>
                  <a:schemeClr val="bg1"/>
                </a:solidFill>
              </a:rPr>
              <a:t>and</a:t>
            </a:r>
            <a:r>
              <a:rPr lang="pt-BR" sz="1000" b="1" dirty="0">
                <a:solidFill>
                  <a:schemeClr val="bg1"/>
                </a:solidFill>
              </a:rPr>
              <a:t> XP Research Team</a:t>
            </a:r>
          </a:p>
          <a:p>
            <a:pPr algn="just">
              <a:lnSpc>
                <a:spcPct val="125000"/>
              </a:lnSpc>
              <a:spcBef>
                <a:spcPts val="600"/>
              </a:spcBef>
            </a:pPr>
            <a:endParaRPr lang="pt-BR" sz="1000" dirty="0" err="1">
              <a:solidFill>
                <a:schemeClr val="bg1"/>
              </a:solidFill>
              <a:latin typeface="+mj-lt"/>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79725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9C5E58A-DD28-2AE4-F475-E9BF93E18C65}"/>
              </a:ext>
            </a:extLst>
          </p:cNvPr>
          <p:cNvSpPr>
            <a:spLocks noGrp="1"/>
          </p:cNvSpPr>
          <p:nvPr>
            <p:ph type="body" idx="4294967295"/>
          </p:nvPr>
        </p:nvSpPr>
        <p:spPr>
          <a:xfrm>
            <a:off x="368300" y="745804"/>
            <a:ext cx="6121400" cy="336050"/>
          </a:xfrm>
          <a:prstGeom prst="rect">
            <a:avLst/>
          </a:prstGeom>
        </p:spPr>
        <p:txBody>
          <a:bodyPr/>
          <a:lstStyle/>
          <a:p>
            <a:pPr algn="ctr">
              <a:lnSpc>
                <a:spcPct val="100000"/>
              </a:lnSpc>
              <a:spcBef>
                <a:spcPts val="600"/>
              </a:spcBef>
              <a:buNone/>
            </a:pPr>
            <a:r>
              <a:rPr sz="1600" b="1">
                <a:solidFill>
                  <a:schemeClr val="bg1"/>
                </a:solidFill>
              </a:rPr>
              <a:t>CONFIRMED COMPANIES </a:t>
            </a:r>
          </a:p>
        </p:txBody>
      </p:sp>
      <p:sp>
        <p:nvSpPr>
          <p:cNvPr id="5" name="TextBox 4">
            <a:extLst>
              <a:ext uri="{FF2B5EF4-FFF2-40B4-BE49-F238E27FC236}">
                <a16:creationId xmlns:a16="http://schemas.microsoft.com/office/drawing/2014/main" id="{9894061F-ECC4-0743-1A90-68B7C52ABE46}"/>
              </a:ext>
            </a:extLst>
          </p:cNvPr>
          <p:cNvSpPr>
            <a:spLocks noGrp="1"/>
          </p:cNvSpPr>
          <p:nvPr/>
        </p:nvSpPr>
        <p:spPr>
          <a:xfrm>
            <a:off x="365760" y="1188720"/>
            <a:ext cx="2658679" cy="338554"/>
          </a:xfrm>
          <a:prstGeom prst="rect">
            <a:avLst/>
          </a:prstGeom>
          <a:noFill/>
        </p:spPr>
        <p:txBody>
          <a:bodyPr wrap="square">
            <a:spAutoFit/>
          </a:bodyPr>
          <a:lstStyle/>
          <a:p>
            <a:r>
              <a:rPr sz="1600" b="1" dirty="0">
                <a:solidFill>
                  <a:srgbClr val="8EB3DF"/>
                </a:solidFill>
                <a:latin typeface="+mj-lt"/>
                <a:ea typeface="+mj-lt"/>
                <a:cs typeface="+mj-lt"/>
              </a:rPr>
              <a:t>Agri, Food &amp; Beverage</a:t>
            </a:r>
          </a:p>
        </p:txBody>
      </p:sp>
      <p:sp>
        <p:nvSpPr>
          <p:cNvPr id="6" name="TextBox 5">
            <a:extLst>
              <a:ext uri="{FF2B5EF4-FFF2-40B4-BE49-F238E27FC236}">
                <a16:creationId xmlns:a16="http://schemas.microsoft.com/office/drawing/2014/main" id="{C07BF4F6-D250-28DC-1280-0653CD83F1C3}"/>
              </a:ext>
            </a:extLst>
          </p:cNvPr>
          <p:cNvSpPr>
            <a:spLocks noGrp="1"/>
          </p:cNvSpPr>
          <p:nvPr/>
        </p:nvSpPr>
        <p:spPr>
          <a:xfrm>
            <a:off x="365760" y="3920490"/>
            <a:ext cx="2008717" cy="338554"/>
          </a:xfrm>
          <a:prstGeom prst="rect">
            <a:avLst/>
          </a:prstGeom>
          <a:noFill/>
        </p:spPr>
        <p:txBody>
          <a:bodyPr wrap="square">
            <a:spAutoFit/>
          </a:bodyPr>
          <a:lstStyle/>
          <a:p>
            <a:r>
              <a:rPr sz="1600" b="1" dirty="0">
                <a:solidFill>
                  <a:srgbClr val="8EB3DF"/>
                </a:solidFill>
                <a:latin typeface="+mj-lt"/>
                <a:ea typeface="+mj-lt"/>
                <a:cs typeface="+mj-lt"/>
              </a:rPr>
              <a:t>Education</a:t>
            </a:r>
          </a:p>
        </p:txBody>
      </p:sp>
      <p:sp>
        <p:nvSpPr>
          <p:cNvPr id="9" name="TextBox 8">
            <a:extLst>
              <a:ext uri="{FF2B5EF4-FFF2-40B4-BE49-F238E27FC236}">
                <a16:creationId xmlns:a16="http://schemas.microsoft.com/office/drawing/2014/main" id="{01DBFD07-AD00-29F7-2A45-10A5FA686A3B}"/>
              </a:ext>
            </a:extLst>
          </p:cNvPr>
          <p:cNvSpPr>
            <a:spLocks noGrp="1"/>
          </p:cNvSpPr>
          <p:nvPr/>
        </p:nvSpPr>
        <p:spPr>
          <a:xfrm>
            <a:off x="365760" y="1495044"/>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3Tentos</a:t>
            </a:r>
          </a:p>
        </p:txBody>
      </p:sp>
      <p:sp>
        <p:nvSpPr>
          <p:cNvPr id="10" name="TextBox 9">
            <a:extLst>
              <a:ext uri="{FF2B5EF4-FFF2-40B4-BE49-F238E27FC236}">
                <a16:creationId xmlns:a16="http://schemas.microsoft.com/office/drawing/2014/main" id="{3AD47163-42BA-A3C0-2C82-4A26912C6B04}"/>
              </a:ext>
            </a:extLst>
          </p:cNvPr>
          <p:cNvSpPr>
            <a:spLocks noGrp="1"/>
          </p:cNvSpPr>
          <p:nvPr/>
        </p:nvSpPr>
        <p:spPr>
          <a:xfrm>
            <a:off x="365760" y="164134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Ambev</a:t>
            </a:r>
          </a:p>
        </p:txBody>
      </p:sp>
      <p:sp>
        <p:nvSpPr>
          <p:cNvPr id="11" name="TextBox 10">
            <a:extLst>
              <a:ext uri="{FF2B5EF4-FFF2-40B4-BE49-F238E27FC236}">
                <a16:creationId xmlns:a16="http://schemas.microsoft.com/office/drawing/2014/main" id="{C1194A34-D787-1DA9-4305-C8D9D271D9DE}"/>
              </a:ext>
            </a:extLst>
          </p:cNvPr>
          <p:cNvSpPr>
            <a:spLocks noGrp="1"/>
          </p:cNvSpPr>
          <p:nvPr/>
        </p:nvSpPr>
        <p:spPr>
          <a:xfrm>
            <a:off x="365760" y="1787651"/>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Boa Safra</a:t>
            </a:r>
          </a:p>
        </p:txBody>
      </p:sp>
      <p:sp>
        <p:nvSpPr>
          <p:cNvPr id="12" name="TextBox 11">
            <a:extLst>
              <a:ext uri="{FF2B5EF4-FFF2-40B4-BE49-F238E27FC236}">
                <a16:creationId xmlns:a16="http://schemas.microsoft.com/office/drawing/2014/main" id="{0371286B-8D12-1AAE-03AE-79A704CD6E71}"/>
              </a:ext>
            </a:extLst>
          </p:cNvPr>
          <p:cNvSpPr>
            <a:spLocks noGrp="1"/>
          </p:cNvSpPr>
          <p:nvPr/>
        </p:nvSpPr>
        <p:spPr>
          <a:xfrm>
            <a:off x="365760" y="1933955"/>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Brasil Agro</a:t>
            </a:r>
          </a:p>
        </p:txBody>
      </p:sp>
      <p:sp>
        <p:nvSpPr>
          <p:cNvPr id="13" name="TextBox 12">
            <a:extLst>
              <a:ext uri="{FF2B5EF4-FFF2-40B4-BE49-F238E27FC236}">
                <a16:creationId xmlns:a16="http://schemas.microsoft.com/office/drawing/2014/main" id="{96C8B3AB-9289-0D64-ED6A-41DC5763ED58}"/>
              </a:ext>
            </a:extLst>
          </p:cNvPr>
          <p:cNvSpPr>
            <a:spLocks noGrp="1"/>
          </p:cNvSpPr>
          <p:nvPr/>
        </p:nvSpPr>
        <p:spPr>
          <a:xfrm>
            <a:off x="365760" y="208026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Camil</a:t>
            </a:r>
          </a:p>
        </p:txBody>
      </p:sp>
      <p:sp>
        <p:nvSpPr>
          <p:cNvPr id="14" name="TextBox 13">
            <a:extLst>
              <a:ext uri="{FF2B5EF4-FFF2-40B4-BE49-F238E27FC236}">
                <a16:creationId xmlns:a16="http://schemas.microsoft.com/office/drawing/2014/main" id="{1773C050-0CEF-BB6F-D597-6DCFC4CC5F02}"/>
              </a:ext>
            </a:extLst>
          </p:cNvPr>
          <p:cNvSpPr>
            <a:spLocks noGrp="1"/>
          </p:cNvSpPr>
          <p:nvPr/>
        </p:nvSpPr>
        <p:spPr>
          <a:xfrm>
            <a:off x="365760" y="222656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Jalles</a:t>
            </a:r>
          </a:p>
        </p:txBody>
      </p:sp>
      <p:sp>
        <p:nvSpPr>
          <p:cNvPr id="15" name="TextBox 14">
            <a:extLst>
              <a:ext uri="{FF2B5EF4-FFF2-40B4-BE49-F238E27FC236}">
                <a16:creationId xmlns:a16="http://schemas.microsoft.com/office/drawing/2014/main" id="{3B65C74C-969E-74A7-59E8-B0C48013CE36}"/>
              </a:ext>
            </a:extLst>
          </p:cNvPr>
          <p:cNvSpPr>
            <a:spLocks noGrp="1"/>
          </p:cNvSpPr>
          <p:nvPr/>
        </p:nvSpPr>
        <p:spPr>
          <a:xfrm>
            <a:off x="365760" y="237286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JBS</a:t>
            </a:r>
          </a:p>
        </p:txBody>
      </p:sp>
      <p:sp>
        <p:nvSpPr>
          <p:cNvPr id="16" name="TextBox 15">
            <a:extLst>
              <a:ext uri="{FF2B5EF4-FFF2-40B4-BE49-F238E27FC236}">
                <a16:creationId xmlns:a16="http://schemas.microsoft.com/office/drawing/2014/main" id="{B7A69670-3ACB-4A7D-8AA4-D5FDB5C444D9}"/>
              </a:ext>
            </a:extLst>
          </p:cNvPr>
          <p:cNvSpPr>
            <a:spLocks noGrp="1"/>
          </p:cNvSpPr>
          <p:nvPr/>
        </p:nvSpPr>
        <p:spPr>
          <a:xfrm>
            <a:off x="365760" y="251917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 Dias Branco</a:t>
            </a:r>
          </a:p>
        </p:txBody>
      </p:sp>
      <p:sp>
        <p:nvSpPr>
          <p:cNvPr id="17" name="TextBox 16">
            <a:extLst>
              <a:ext uri="{FF2B5EF4-FFF2-40B4-BE49-F238E27FC236}">
                <a16:creationId xmlns:a16="http://schemas.microsoft.com/office/drawing/2014/main" id="{BBDFF9F5-9B58-C9BD-9C3C-ED94081EDD2F}"/>
              </a:ext>
            </a:extLst>
          </p:cNvPr>
          <p:cNvSpPr>
            <a:spLocks noGrp="1"/>
          </p:cNvSpPr>
          <p:nvPr/>
        </p:nvSpPr>
        <p:spPr>
          <a:xfrm>
            <a:off x="365760" y="266547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MBRF</a:t>
            </a:r>
          </a:p>
        </p:txBody>
      </p:sp>
      <p:sp>
        <p:nvSpPr>
          <p:cNvPr id="18" name="TextBox 17">
            <a:extLst>
              <a:ext uri="{FF2B5EF4-FFF2-40B4-BE49-F238E27FC236}">
                <a16:creationId xmlns:a16="http://schemas.microsoft.com/office/drawing/2014/main" id="{720A33CD-2B85-2E8B-557F-928FBED8D1D1}"/>
              </a:ext>
            </a:extLst>
          </p:cNvPr>
          <p:cNvSpPr>
            <a:spLocks noGrp="1"/>
          </p:cNvSpPr>
          <p:nvPr/>
        </p:nvSpPr>
        <p:spPr>
          <a:xfrm>
            <a:off x="365760" y="5286375"/>
            <a:ext cx="2008717" cy="338554"/>
          </a:xfrm>
          <a:prstGeom prst="rect">
            <a:avLst/>
          </a:prstGeom>
          <a:noFill/>
        </p:spPr>
        <p:txBody>
          <a:bodyPr wrap="square">
            <a:spAutoFit/>
          </a:bodyPr>
          <a:lstStyle/>
          <a:p>
            <a:r>
              <a:rPr sz="1600" b="1">
                <a:solidFill>
                  <a:srgbClr val="8EB3DF"/>
                </a:solidFill>
                <a:latin typeface="+mj-lt"/>
                <a:ea typeface="+mj-lt"/>
                <a:cs typeface="+mj-lt"/>
              </a:rPr>
              <a:t>Financials</a:t>
            </a:r>
          </a:p>
        </p:txBody>
      </p:sp>
      <p:sp>
        <p:nvSpPr>
          <p:cNvPr id="19" name="TextBox 18">
            <a:extLst>
              <a:ext uri="{FF2B5EF4-FFF2-40B4-BE49-F238E27FC236}">
                <a16:creationId xmlns:a16="http://schemas.microsoft.com/office/drawing/2014/main" id="{EA2010E7-F1AA-9420-CAED-9AB11E018642}"/>
              </a:ext>
            </a:extLst>
          </p:cNvPr>
          <p:cNvSpPr>
            <a:spLocks noGrp="1"/>
          </p:cNvSpPr>
          <p:nvPr/>
        </p:nvSpPr>
        <p:spPr>
          <a:xfrm>
            <a:off x="365760" y="281178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Minerva</a:t>
            </a:r>
          </a:p>
        </p:txBody>
      </p:sp>
      <p:sp>
        <p:nvSpPr>
          <p:cNvPr id="20" name="TextBox 19">
            <a:extLst>
              <a:ext uri="{FF2B5EF4-FFF2-40B4-BE49-F238E27FC236}">
                <a16:creationId xmlns:a16="http://schemas.microsoft.com/office/drawing/2014/main" id="{A956658B-2C0D-35E6-4E7B-CF83E902C754}"/>
              </a:ext>
            </a:extLst>
          </p:cNvPr>
          <p:cNvSpPr>
            <a:spLocks noGrp="1"/>
          </p:cNvSpPr>
          <p:nvPr/>
        </p:nvSpPr>
        <p:spPr>
          <a:xfrm>
            <a:off x="365760" y="2958084"/>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SLC</a:t>
            </a:r>
          </a:p>
        </p:txBody>
      </p:sp>
      <p:sp>
        <p:nvSpPr>
          <p:cNvPr id="21" name="TextBox 20">
            <a:extLst>
              <a:ext uri="{FF2B5EF4-FFF2-40B4-BE49-F238E27FC236}">
                <a16:creationId xmlns:a16="http://schemas.microsoft.com/office/drawing/2014/main" id="{35F937FD-0E9B-70C2-55BB-8CC141206B17}"/>
              </a:ext>
            </a:extLst>
          </p:cNvPr>
          <p:cNvSpPr>
            <a:spLocks noGrp="1"/>
          </p:cNvSpPr>
          <p:nvPr/>
        </p:nvSpPr>
        <p:spPr>
          <a:xfrm>
            <a:off x="365760" y="7676388"/>
            <a:ext cx="2008717" cy="338554"/>
          </a:xfrm>
          <a:prstGeom prst="rect">
            <a:avLst/>
          </a:prstGeom>
          <a:noFill/>
        </p:spPr>
        <p:txBody>
          <a:bodyPr wrap="square">
            <a:spAutoFit/>
          </a:bodyPr>
          <a:lstStyle/>
          <a:p>
            <a:r>
              <a:rPr sz="1600" b="1">
                <a:solidFill>
                  <a:srgbClr val="8EB3DF"/>
                </a:solidFill>
                <a:latin typeface="+mj-lt"/>
                <a:ea typeface="+mj-lt"/>
                <a:cs typeface="+mj-lt"/>
              </a:rPr>
              <a:t>Healthcare</a:t>
            </a:r>
          </a:p>
        </p:txBody>
      </p:sp>
      <p:sp>
        <p:nvSpPr>
          <p:cNvPr id="22" name="TextBox 21">
            <a:extLst>
              <a:ext uri="{FF2B5EF4-FFF2-40B4-BE49-F238E27FC236}">
                <a16:creationId xmlns:a16="http://schemas.microsoft.com/office/drawing/2014/main" id="{3B8C69D6-B594-525E-CECD-298311DF1D54}"/>
              </a:ext>
            </a:extLst>
          </p:cNvPr>
          <p:cNvSpPr>
            <a:spLocks noGrp="1"/>
          </p:cNvSpPr>
          <p:nvPr/>
        </p:nvSpPr>
        <p:spPr>
          <a:xfrm>
            <a:off x="365760" y="4226814"/>
            <a:ext cx="2008717" cy="230832"/>
          </a:xfrm>
          <a:prstGeom prst="rect">
            <a:avLst/>
          </a:prstGeom>
          <a:noFill/>
        </p:spPr>
        <p:txBody>
          <a:bodyPr wrap="square">
            <a:spAutoFit/>
          </a:bodyPr>
          <a:lstStyle/>
          <a:p>
            <a:pPr algn="l">
              <a:buNone/>
            </a:pPr>
            <a:r>
              <a:rPr sz="900" b="1" dirty="0" err="1">
                <a:solidFill>
                  <a:schemeClr val="bg1"/>
                </a:solidFill>
                <a:latin typeface="+mj-lt"/>
                <a:ea typeface="+mj-lt"/>
                <a:cs typeface="+mj-lt"/>
              </a:rPr>
              <a:t>Ânima</a:t>
            </a:r>
            <a:endParaRPr sz="900" b="1" dirty="0">
              <a:solidFill>
                <a:schemeClr val="bg1"/>
              </a:solidFill>
              <a:latin typeface="+mj-lt"/>
              <a:ea typeface="+mj-lt"/>
              <a:cs typeface="+mj-lt"/>
            </a:endParaRPr>
          </a:p>
        </p:txBody>
      </p:sp>
      <p:sp>
        <p:nvSpPr>
          <p:cNvPr id="23" name="TextBox 22">
            <a:extLst>
              <a:ext uri="{FF2B5EF4-FFF2-40B4-BE49-F238E27FC236}">
                <a16:creationId xmlns:a16="http://schemas.microsoft.com/office/drawing/2014/main" id="{1C155C5E-2EF1-FF18-6697-DCAD2BE2653A}"/>
              </a:ext>
            </a:extLst>
          </p:cNvPr>
          <p:cNvSpPr>
            <a:spLocks noGrp="1"/>
          </p:cNvSpPr>
          <p:nvPr/>
        </p:nvSpPr>
        <p:spPr>
          <a:xfrm>
            <a:off x="365760" y="4373118"/>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Cogna </a:t>
            </a:r>
            <a:r>
              <a:rPr sz="900" b="1" dirty="0" err="1">
                <a:solidFill>
                  <a:schemeClr val="bg1"/>
                </a:solidFill>
                <a:latin typeface="+mj-lt"/>
                <a:ea typeface="+mj-lt"/>
                <a:cs typeface="+mj-lt"/>
              </a:rPr>
              <a:t>Educação</a:t>
            </a:r>
            <a:endParaRPr sz="900" b="1" dirty="0">
              <a:solidFill>
                <a:schemeClr val="bg1"/>
              </a:solidFill>
              <a:latin typeface="+mj-lt"/>
              <a:ea typeface="+mj-lt"/>
              <a:cs typeface="+mj-lt"/>
            </a:endParaRPr>
          </a:p>
        </p:txBody>
      </p:sp>
      <p:sp>
        <p:nvSpPr>
          <p:cNvPr id="24" name="TextBox 23">
            <a:extLst>
              <a:ext uri="{FF2B5EF4-FFF2-40B4-BE49-F238E27FC236}">
                <a16:creationId xmlns:a16="http://schemas.microsoft.com/office/drawing/2014/main" id="{3021C88D-7BEA-8727-57C8-D52F6F6EF354}"/>
              </a:ext>
            </a:extLst>
          </p:cNvPr>
          <p:cNvSpPr>
            <a:spLocks noGrp="1"/>
          </p:cNvSpPr>
          <p:nvPr/>
        </p:nvSpPr>
        <p:spPr>
          <a:xfrm>
            <a:off x="365760" y="451942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Cruzeiro do Sul Educacional</a:t>
            </a:r>
          </a:p>
        </p:txBody>
      </p:sp>
      <p:sp>
        <p:nvSpPr>
          <p:cNvPr id="25" name="TextBox 24">
            <a:extLst>
              <a:ext uri="{FF2B5EF4-FFF2-40B4-BE49-F238E27FC236}">
                <a16:creationId xmlns:a16="http://schemas.microsoft.com/office/drawing/2014/main" id="{96BD2B1F-3564-865E-9E0B-A5EFF321BD5B}"/>
              </a:ext>
            </a:extLst>
          </p:cNvPr>
          <p:cNvSpPr>
            <a:spLocks noGrp="1"/>
          </p:cNvSpPr>
          <p:nvPr/>
        </p:nvSpPr>
        <p:spPr>
          <a:xfrm>
            <a:off x="365760" y="3286125"/>
            <a:ext cx="2008717" cy="338554"/>
          </a:xfrm>
          <a:prstGeom prst="rect">
            <a:avLst/>
          </a:prstGeom>
          <a:noFill/>
        </p:spPr>
        <p:txBody>
          <a:bodyPr wrap="square">
            <a:spAutoFit/>
          </a:bodyPr>
          <a:lstStyle/>
          <a:p>
            <a:r>
              <a:rPr sz="1600" b="1" dirty="0">
                <a:solidFill>
                  <a:srgbClr val="8EB3DF"/>
                </a:solidFill>
                <a:latin typeface="+mj-lt"/>
                <a:ea typeface="+mj-lt"/>
                <a:cs typeface="+mj-lt"/>
              </a:rPr>
              <a:t>Capital Goods</a:t>
            </a:r>
          </a:p>
        </p:txBody>
      </p:sp>
      <p:sp>
        <p:nvSpPr>
          <p:cNvPr id="26" name="TextBox 25">
            <a:extLst>
              <a:ext uri="{FF2B5EF4-FFF2-40B4-BE49-F238E27FC236}">
                <a16:creationId xmlns:a16="http://schemas.microsoft.com/office/drawing/2014/main" id="{ABF60356-B4B7-6CED-DF60-FD873AF00AE3}"/>
              </a:ext>
            </a:extLst>
          </p:cNvPr>
          <p:cNvSpPr>
            <a:spLocks noGrp="1"/>
          </p:cNvSpPr>
          <p:nvPr/>
        </p:nvSpPr>
        <p:spPr>
          <a:xfrm>
            <a:off x="365760" y="466572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Salta</a:t>
            </a:r>
          </a:p>
        </p:txBody>
      </p:sp>
      <p:sp>
        <p:nvSpPr>
          <p:cNvPr id="27" name="TextBox 26">
            <a:extLst>
              <a:ext uri="{FF2B5EF4-FFF2-40B4-BE49-F238E27FC236}">
                <a16:creationId xmlns:a16="http://schemas.microsoft.com/office/drawing/2014/main" id="{79D73DFD-9BB6-F4A0-CB05-F3651EFFF364}"/>
              </a:ext>
            </a:extLst>
          </p:cNvPr>
          <p:cNvSpPr>
            <a:spLocks noGrp="1"/>
          </p:cNvSpPr>
          <p:nvPr/>
        </p:nvSpPr>
        <p:spPr>
          <a:xfrm>
            <a:off x="365760" y="481203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Vitru Educação</a:t>
            </a:r>
          </a:p>
        </p:txBody>
      </p:sp>
      <p:sp>
        <p:nvSpPr>
          <p:cNvPr id="28" name="TextBox 27">
            <a:extLst>
              <a:ext uri="{FF2B5EF4-FFF2-40B4-BE49-F238E27FC236}">
                <a16:creationId xmlns:a16="http://schemas.microsoft.com/office/drawing/2014/main" id="{B555EA56-0B60-BF37-301F-B69720ADEC03}"/>
              </a:ext>
            </a:extLst>
          </p:cNvPr>
          <p:cNvSpPr>
            <a:spLocks noGrp="1"/>
          </p:cNvSpPr>
          <p:nvPr/>
        </p:nvSpPr>
        <p:spPr>
          <a:xfrm>
            <a:off x="365760" y="495833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Yduqs</a:t>
            </a:r>
          </a:p>
        </p:txBody>
      </p:sp>
      <p:sp>
        <p:nvSpPr>
          <p:cNvPr id="29" name="TextBox 28">
            <a:extLst>
              <a:ext uri="{FF2B5EF4-FFF2-40B4-BE49-F238E27FC236}">
                <a16:creationId xmlns:a16="http://schemas.microsoft.com/office/drawing/2014/main" id="{950BADC2-D72A-2BB7-BDE3-E83F0D809A36}"/>
              </a:ext>
            </a:extLst>
          </p:cNvPr>
          <p:cNvSpPr>
            <a:spLocks noGrp="1"/>
          </p:cNvSpPr>
          <p:nvPr/>
        </p:nvSpPr>
        <p:spPr>
          <a:xfrm>
            <a:off x="365760" y="5592699"/>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Agibank</a:t>
            </a:r>
          </a:p>
        </p:txBody>
      </p:sp>
      <p:sp>
        <p:nvSpPr>
          <p:cNvPr id="30" name="TextBox 29">
            <a:extLst>
              <a:ext uri="{FF2B5EF4-FFF2-40B4-BE49-F238E27FC236}">
                <a16:creationId xmlns:a16="http://schemas.microsoft.com/office/drawing/2014/main" id="{F4B428C1-BEB1-2677-45BA-2C5CBC495E8D}"/>
              </a:ext>
            </a:extLst>
          </p:cNvPr>
          <p:cNvSpPr>
            <a:spLocks noGrp="1"/>
          </p:cNvSpPr>
          <p:nvPr/>
        </p:nvSpPr>
        <p:spPr>
          <a:xfrm>
            <a:off x="365760" y="5739003"/>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B3</a:t>
            </a:r>
          </a:p>
        </p:txBody>
      </p:sp>
      <p:sp>
        <p:nvSpPr>
          <p:cNvPr id="31" name="TextBox 30">
            <a:extLst>
              <a:ext uri="{FF2B5EF4-FFF2-40B4-BE49-F238E27FC236}">
                <a16:creationId xmlns:a16="http://schemas.microsoft.com/office/drawing/2014/main" id="{961707D9-0C41-F2B7-7D73-A1DD384860D8}"/>
              </a:ext>
            </a:extLst>
          </p:cNvPr>
          <p:cNvSpPr>
            <a:spLocks noGrp="1"/>
          </p:cNvSpPr>
          <p:nvPr/>
        </p:nvSpPr>
        <p:spPr>
          <a:xfrm>
            <a:off x="365760" y="5885307"/>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Banco do Brasil</a:t>
            </a:r>
          </a:p>
        </p:txBody>
      </p:sp>
      <p:sp>
        <p:nvSpPr>
          <p:cNvPr id="32" name="TextBox 31">
            <a:extLst>
              <a:ext uri="{FF2B5EF4-FFF2-40B4-BE49-F238E27FC236}">
                <a16:creationId xmlns:a16="http://schemas.microsoft.com/office/drawing/2014/main" id="{D1072C92-9EF3-51EC-9FA8-C812EB5B2B65}"/>
              </a:ext>
            </a:extLst>
          </p:cNvPr>
          <p:cNvSpPr>
            <a:spLocks noGrp="1"/>
          </p:cNvSpPr>
          <p:nvPr/>
        </p:nvSpPr>
        <p:spPr>
          <a:xfrm>
            <a:off x="365760" y="6031611"/>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BB Seguridade</a:t>
            </a:r>
          </a:p>
        </p:txBody>
      </p:sp>
      <p:sp>
        <p:nvSpPr>
          <p:cNvPr id="33" name="TextBox 32">
            <a:extLst>
              <a:ext uri="{FF2B5EF4-FFF2-40B4-BE49-F238E27FC236}">
                <a16:creationId xmlns:a16="http://schemas.microsoft.com/office/drawing/2014/main" id="{4537E35B-0594-2A2D-8580-FB9BA8CE0C84}"/>
              </a:ext>
            </a:extLst>
          </p:cNvPr>
          <p:cNvSpPr>
            <a:spLocks noGrp="1"/>
          </p:cNvSpPr>
          <p:nvPr/>
        </p:nvSpPr>
        <p:spPr>
          <a:xfrm>
            <a:off x="365760" y="6177915"/>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BR Partners</a:t>
            </a:r>
          </a:p>
        </p:txBody>
      </p:sp>
      <p:sp>
        <p:nvSpPr>
          <p:cNvPr id="34" name="TextBox 33">
            <a:extLst>
              <a:ext uri="{FF2B5EF4-FFF2-40B4-BE49-F238E27FC236}">
                <a16:creationId xmlns:a16="http://schemas.microsoft.com/office/drawing/2014/main" id="{DEE225E4-03FF-ECB9-3BC2-C341FFC6A41F}"/>
              </a:ext>
            </a:extLst>
          </p:cNvPr>
          <p:cNvSpPr>
            <a:spLocks noGrp="1"/>
          </p:cNvSpPr>
          <p:nvPr/>
        </p:nvSpPr>
        <p:spPr>
          <a:xfrm>
            <a:off x="365760" y="6324219"/>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Bradesco</a:t>
            </a:r>
          </a:p>
        </p:txBody>
      </p:sp>
      <p:sp>
        <p:nvSpPr>
          <p:cNvPr id="35" name="TextBox 34">
            <a:extLst>
              <a:ext uri="{FF2B5EF4-FFF2-40B4-BE49-F238E27FC236}">
                <a16:creationId xmlns:a16="http://schemas.microsoft.com/office/drawing/2014/main" id="{14BD61E1-ABC1-D38E-0AFF-1C350E6F84EE}"/>
              </a:ext>
            </a:extLst>
          </p:cNvPr>
          <p:cNvSpPr>
            <a:spLocks noGrp="1"/>
          </p:cNvSpPr>
          <p:nvPr/>
        </p:nvSpPr>
        <p:spPr>
          <a:xfrm>
            <a:off x="365760" y="6470523"/>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Caixa Seguridade</a:t>
            </a:r>
          </a:p>
        </p:txBody>
      </p:sp>
      <p:sp>
        <p:nvSpPr>
          <p:cNvPr id="37" name="TextBox 36">
            <a:extLst>
              <a:ext uri="{FF2B5EF4-FFF2-40B4-BE49-F238E27FC236}">
                <a16:creationId xmlns:a16="http://schemas.microsoft.com/office/drawing/2014/main" id="{20F4021F-9AB6-2B31-D039-A86D6F726CF6}"/>
              </a:ext>
            </a:extLst>
          </p:cNvPr>
          <p:cNvSpPr>
            <a:spLocks noGrp="1"/>
          </p:cNvSpPr>
          <p:nvPr/>
        </p:nvSpPr>
        <p:spPr>
          <a:xfrm>
            <a:off x="4846320" y="4873752"/>
            <a:ext cx="2008717" cy="338554"/>
          </a:xfrm>
          <a:prstGeom prst="rect">
            <a:avLst/>
          </a:prstGeom>
          <a:noFill/>
        </p:spPr>
        <p:txBody>
          <a:bodyPr wrap="square">
            <a:spAutoFit/>
          </a:bodyPr>
          <a:lstStyle/>
          <a:p>
            <a:r>
              <a:rPr sz="1600" b="1" dirty="0">
                <a:solidFill>
                  <a:srgbClr val="8EB3DF"/>
                </a:solidFill>
                <a:latin typeface="+mj-lt"/>
                <a:ea typeface="+mj-lt"/>
                <a:cs typeface="+mj-lt"/>
              </a:rPr>
              <a:t>Utilities</a:t>
            </a:r>
          </a:p>
        </p:txBody>
      </p:sp>
      <p:sp>
        <p:nvSpPr>
          <p:cNvPr id="38" name="TextBox 37">
            <a:extLst>
              <a:ext uri="{FF2B5EF4-FFF2-40B4-BE49-F238E27FC236}">
                <a16:creationId xmlns:a16="http://schemas.microsoft.com/office/drawing/2014/main" id="{4FAE4773-DE61-286F-159E-33AFC3914DA8}"/>
              </a:ext>
            </a:extLst>
          </p:cNvPr>
          <p:cNvSpPr>
            <a:spLocks noGrp="1"/>
          </p:cNvSpPr>
          <p:nvPr/>
        </p:nvSpPr>
        <p:spPr>
          <a:xfrm>
            <a:off x="365760" y="6616827"/>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IRB(Re)</a:t>
            </a:r>
          </a:p>
        </p:txBody>
      </p:sp>
      <p:sp>
        <p:nvSpPr>
          <p:cNvPr id="39" name="TextBox 38">
            <a:extLst>
              <a:ext uri="{FF2B5EF4-FFF2-40B4-BE49-F238E27FC236}">
                <a16:creationId xmlns:a16="http://schemas.microsoft.com/office/drawing/2014/main" id="{81F5A239-ABD4-120B-E111-69060F3BCC79}"/>
              </a:ext>
            </a:extLst>
          </p:cNvPr>
          <p:cNvSpPr>
            <a:spLocks noGrp="1"/>
          </p:cNvSpPr>
          <p:nvPr/>
        </p:nvSpPr>
        <p:spPr>
          <a:xfrm>
            <a:off x="365760" y="6763131"/>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Itaú</a:t>
            </a:r>
          </a:p>
        </p:txBody>
      </p:sp>
      <p:sp>
        <p:nvSpPr>
          <p:cNvPr id="40" name="TextBox 39">
            <a:extLst>
              <a:ext uri="{FF2B5EF4-FFF2-40B4-BE49-F238E27FC236}">
                <a16:creationId xmlns:a16="http://schemas.microsoft.com/office/drawing/2014/main" id="{FDD7C58A-36F6-D8B4-03EA-4DD38AF48535}"/>
              </a:ext>
            </a:extLst>
          </p:cNvPr>
          <p:cNvSpPr>
            <a:spLocks noGrp="1"/>
          </p:cNvSpPr>
          <p:nvPr/>
        </p:nvSpPr>
        <p:spPr>
          <a:xfrm>
            <a:off x="365760" y="6909435"/>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Mercantil</a:t>
            </a:r>
          </a:p>
        </p:txBody>
      </p:sp>
      <p:sp>
        <p:nvSpPr>
          <p:cNvPr id="41" name="TextBox 40">
            <a:extLst>
              <a:ext uri="{FF2B5EF4-FFF2-40B4-BE49-F238E27FC236}">
                <a16:creationId xmlns:a16="http://schemas.microsoft.com/office/drawing/2014/main" id="{79D68C34-0FDA-2851-7228-B7F2FBB5136E}"/>
              </a:ext>
            </a:extLst>
          </p:cNvPr>
          <p:cNvSpPr>
            <a:spLocks noGrp="1"/>
          </p:cNvSpPr>
          <p:nvPr/>
        </p:nvSpPr>
        <p:spPr>
          <a:xfrm>
            <a:off x="365760" y="7055739"/>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Pine</a:t>
            </a:r>
          </a:p>
        </p:txBody>
      </p:sp>
      <p:sp>
        <p:nvSpPr>
          <p:cNvPr id="42" name="TextBox 41">
            <a:extLst>
              <a:ext uri="{FF2B5EF4-FFF2-40B4-BE49-F238E27FC236}">
                <a16:creationId xmlns:a16="http://schemas.microsoft.com/office/drawing/2014/main" id="{BC26BA4A-77CB-FCEC-D73D-42ECA5DA3803}"/>
              </a:ext>
            </a:extLst>
          </p:cNvPr>
          <p:cNvSpPr>
            <a:spLocks noGrp="1"/>
          </p:cNvSpPr>
          <p:nvPr/>
        </p:nvSpPr>
        <p:spPr>
          <a:xfrm>
            <a:off x="365760" y="7202043"/>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Stone</a:t>
            </a:r>
          </a:p>
        </p:txBody>
      </p:sp>
      <p:sp>
        <p:nvSpPr>
          <p:cNvPr id="43" name="TextBox 42">
            <a:extLst>
              <a:ext uri="{FF2B5EF4-FFF2-40B4-BE49-F238E27FC236}">
                <a16:creationId xmlns:a16="http://schemas.microsoft.com/office/drawing/2014/main" id="{B7755E2D-8C3C-F449-2397-7DA1E32E3222}"/>
              </a:ext>
            </a:extLst>
          </p:cNvPr>
          <p:cNvSpPr>
            <a:spLocks noGrp="1"/>
          </p:cNvSpPr>
          <p:nvPr/>
        </p:nvSpPr>
        <p:spPr>
          <a:xfrm>
            <a:off x="365760" y="7348347"/>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XP Inc.</a:t>
            </a:r>
          </a:p>
        </p:txBody>
      </p:sp>
      <p:sp>
        <p:nvSpPr>
          <p:cNvPr id="46" name="TextBox 45">
            <a:extLst>
              <a:ext uri="{FF2B5EF4-FFF2-40B4-BE49-F238E27FC236}">
                <a16:creationId xmlns:a16="http://schemas.microsoft.com/office/drawing/2014/main" id="{45FB9832-7730-D360-40BA-056BEE45A07B}"/>
              </a:ext>
            </a:extLst>
          </p:cNvPr>
          <p:cNvSpPr>
            <a:spLocks noGrp="1"/>
          </p:cNvSpPr>
          <p:nvPr/>
        </p:nvSpPr>
        <p:spPr>
          <a:xfrm>
            <a:off x="365760" y="798271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BradSaúde</a:t>
            </a:r>
          </a:p>
        </p:txBody>
      </p:sp>
      <p:sp>
        <p:nvSpPr>
          <p:cNvPr id="47" name="TextBox 46">
            <a:extLst>
              <a:ext uri="{FF2B5EF4-FFF2-40B4-BE49-F238E27FC236}">
                <a16:creationId xmlns:a16="http://schemas.microsoft.com/office/drawing/2014/main" id="{97C4C4F2-8102-AE62-5E12-499314A79C03}"/>
              </a:ext>
            </a:extLst>
          </p:cNvPr>
          <p:cNvSpPr>
            <a:spLocks noGrp="1"/>
          </p:cNvSpPr>
          <p:nvPr/>
        </p:nvSpPr>
        <p:spPr>
          <a:xfrm>
            <a:off x="2606040" y="1188720"/>
            <a:ext cx="2008717" cy="338554"/>
          </a:xfrm>
          <a:prstGeom prst="rect">
            <a:avLst/>
          </a:prstGeom>
          <a:noFill/>
        </p:spPr>
        <p:txBody>
          <a:bodyPr wrap="square">
            <a:spAutoFit/>
          </a:bodyPr>
          <a:lstStyle/>
          <a:p>
            <a:r>
              <a:rPr sz="1600" b="1" dirty="0">
                <a:solidFill>
                  <a:srgbClr val="8EB3DF"/>
                </a:solidFill>
                <a:latin typeface="+mj-lt"/>
                <a:ea typeface="+mj-lt"/>
                <a:cs typeface="+mj-lt"/>
              </a:rPr>
              <a:t>Metals &amp; Mining</a:t>
            </a:r>
          </a:p>
        </p:txBody>
      </p:sp>
      <p:sp>
        <p:nvSpPr>
          <p:cNvPr id="48" name="TextBox 47">
            <a:extLst>
              <a:ext uri="{FF2B5EF4-FFF2-40B4-BE49-F238E27FC236}">
                <a16:creationId xmlns:a16="http://schemas.microsoft.com/office/drawing/2014/main" id="{2203C2D9-09F9-415C-F1A2-02C03B51AA0D}"/>
              </a:ext>
            </a:extLst>
          </p:cNvPr>
          <p:cNvSpPr>
            <a:spLocks noGrp="1"/>
          </p:cNvSpPr>
          <p:nvPr/>
        </p:nvSpPr>
        <p:spPr>
          <a:xfrm>
            <a:off x="365760" y="812901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Dasa</a:t>
            </a:r>
          </a:p>
        </p:txBody>
      </p:sp>
      <p:sp>
        <p:nvSpPr>
          <p:cNvPr id="49" name="TextBox 48">
            <a:extLst>
              <a:ext uri="{FF2B5EF4-FFF2-40B4-BE49-F238E27FC236}">
                <a16:creationId xmlns:a16="http://schemas.microsoft.com/office/drawing/2014/main" id="{D6FA801E-46C8-E7CF-721A-DDF8A3BBBCB6}"/>
              </a:ext>
            </a:extLst>
          </p:cNvPr>
          <p:cNvSpPr>
            <a:spLocks noGrp="1"/>
          </p:cNvSpPr>
          <p:nvPr/>
        </p:nvSpPr>
        <p:spPr>
          <a:xfrm>
            <a:off x="365760" y="827532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Fleury</a:t>
            </a:r>
          </a:p>
        </p:txBody>
      </p:sp>
      <p:sp>
        <p:nvSpPr>
          <p:cNvPr id="50" name="TextBox 49">
            <a:extLst>
              <a:ext uri="{FF2B5EF4-FFF2-40B4-BE49-F238E27FC236}">
                <a16:creationId xmlns:a16="http://schemas.microsoft.com/office/drawing/2014/main" id="{170CE230-2736-A2D6-318C-0502E01DB632}"/>
              </a:ext>
            </a:extLst>
          </p:cNvPr>
          <p:cNvSpPr>
            <a:spLocks noGrp="1"/>
          </p:cNvSpPr>
          <p:nvPr/>
        </p:nvSpPr>
        <p:spPr>
          <a:xfrm>
            <a:off x="365760" y="842162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Hapvida</a:t>
            </a:r>
          </a:p>
        </p:txBody>
      </p:sp>
      <p:sp>
        <p:nvSpPr>
          <p:cNvPr id="51" name="TextBox 50">
            <a:extLst>
              <a:ext uri="{FF2B5EF4-FFF2-40B4-BE49-F238E27FC236}">
                <a16:creationId xmlns:a16="http://schemas.microsoft.com/office/drawing/2014/main" id="{D8ABE4C8-B2A8-CAEB-E6CA-E3F643298A11}"/>
              </a:ext>
            </a:extLst>
          </p:cNvPr>
          <p:cNvSpPr>
            <a:spLocks noGrp="1"/>
          </p:cNvSpPr>
          <p:nvPr/>
        </p:nvSpPr>
        <p:spPr>
          <a:xfrm>
            <a:off x="365760" y="856792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Hypera</a:t>
            </a:r>
          </a:p>
        </p:txBody>
      </p:sp>
      <p:sp>
        <p:nvSpPr>
          <p:cNvPr id="52" name="TextBox 51">
            <a:extLst>
              <a:ext uri="{FF2B5EF4-FFF2-40B4-BE49-F238E27FC236}">
                <a16:creationId xmlns:a16="http://schemas.microsoft.com/office/drawing/2014/main" id="{6B9DCC3B-61F7-FEA1-2B9C-A9F5145E947F}"/>
              </a:ext>
            </a:extLst>
          </p:cNvPr>
          <p:cNvSpPr>
            <a:spLocks noGrp="1"/>
          </p:cNvSpPr>
          <p:nvPr/>
        </p:nvSpPr>
        <p:spPr>
          <a:xfrm>
            <a:off x="365760" y="871423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Mater Dei</a:t>
            </a:r>
          </a:p>
        </p:txBody>
      </p:sp>
      <p:sp>
        <p:nvSpPr>
          <p:cNvPr id="54" name="TextBox 53">
            <a:extLst>
              <a:ext uri="{FF2B5EF4-FFF2-40B4-BE49-F238E27FC236}">
                <a16:creationId xmlns:a16="http://schemas.microsoft.com/office/drawing/2014/main" id="{74B916A4-C080-535A-49F3-9445317E7104}"/>
              </a:ext>
            </a:extLst>
          </p:cNvPr>
          <p:cNvSpPr>
            <a:spLocks noGrp="1"/>
          </p:cNvSpPr>
          <p:nvPr/>
        </p:nvSpPr>
        <p:spPr>
          <a:xfrm>
            <a:off x="2606040" y="1888010"/>
            <a:ext cx="2008717" cy="338554"/>
          </a:xfrm>
          <a:prstGeom prst="rect">
            <a:avLst/>
          </a:prstGeom>
          <a:noFill/>
        </p:spPr>
        <p:txBody>
          <a:bodyPr wrap="square">
            <a:spAutoFit/>
          </a:bodyPr>
          <a:lstStyle/>
          <a:p>
            <a:r>
              <a:rPr sz="1600" b="1">
                <a:solidFill>
                  <a:srgbClr val="8EB3DF"/>
                </a:solidFill>
                <a:latin typeface="+mj-lt"/>
                <a:ea typeface="+mj-lt"/>
                <a:cs typeface="+mj-lt"/>
              </a:rPr>
              <a:t>Oil &amp; Gas</a:t>
            </a:r>
          </a:p>
        </p:txBody>
      </p:sp>
      <p:sp>
        <p:nvSpPr>
          <p:cNvPr id="55" name="TextBox 54">
            <a:extLst>
              <a:ext uri="{FF2B5EF4-FFF2-40B4-BE49-F238E27FC236}">
                <a16:creationId xmlns:a16="http://schemas.microsoft.com/office/drawing/2014/main" id="{4DB670CA-E9B1-BA9F-6215-0BEFAB767ED9}"/>
              </a:ext>
            </a:extLst>
          </p:cNvPr>
          <p:cNvSpPr>
            <a:spLocks noGrp="1"/>
          </p:cNvSpPr>
          <p:nvPr/>
        </p:nvSpPr>
        <p:spPr>
          <a:xfrm>
            <a:off x="365760" y="886053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Rede D'Or</a:t>
            </a:r>
          </a:p>
        </p:txBody>
      </p:sp>
      <p:sp>
        <p:nvSpPr>
          <p:cNvPr id="56" name="TextBox 55">
            <a:extLst>
              <a:ext uri="{FF2B5EF4-FFF2-40B4-BE49-F238E27FC236}">
                <a16:creationId xmlns:a16="http://schemas.microsoft.com/office/drawing/2014/main" id="{B45D8185-381D-3841-650D-3B3BEDAAD35D}"/>
              </a:ext>
            </a:extLst>
          </p:cNvPr>
          <p:cNvSpPr>
            <a:spLocks noGrp="1"/>
          </p:cNvSpPr>
          <p:nvPr/>
        </p:nvSpPr>
        <p:spPr>
          <a:xfrm>
            <a:off x="365760" y="900684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União Química</a:t>
            </a:r>
          </a:p>
        </p:txBody>
      </p:sp>
      <p:sp>
        <p:nvSpPr>
          <p:cNvPr id="60" name="TextBox 59">
            <a:extLst>
              <a:ext uri="{FF2B5EF4-FFF2-40B4-BE49-F238E27FC236}">
                <a16:creationId xmlns:a16="http://schemas.microsoft.com/office/drawing/2014/main" id="{E378122B-D268-E2E4-95D5-829AD1E7C9F7}"/>
              </a:ext>
            </a:extLst>
          </p:cNvPr>
          <p:cNvSpPr>
            <a:spLocks noGrp="1"/>
          </p:cNvSpPr>
          <p:nvPr/>
        </p:nvSpPr>
        <p:spPr>
          <a:xfrm>
            <a:off x="365760" y="3592449"/>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WEG</a:t>
            </a:r>
          </a:p>
        </p:txBody>
      </p:sp>
      <p:sp>
        <p:nvSpPr>
          <p:cNvPr id="61" name="TextBox 60">
            <a:extLst>
              <a:ext uri="{FF2B5EF4-FFF2-40B4-BE49-F238E27FC236}">
                <a16:creationId xmlns:a16="http://schemas.microsoft.com/office/drawing/2014/main" id="{2E2E103C-618D-7F3A-7EE8-9E4E5782C5E0}"/>
              </a:ext>
            </a:extLst>
          </p:cNvPr>
          <p:cNvSpPr>
            <a:spLocks noGrp="1"/>
          </p:cNvSpPr>
          <p:nvPr/>
        </p:nvSpPr>
        <p:spPr>
          <a:xfrm>
            <a:off x="4846320" y="518007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Aegea</a:t>
            </a:r>
          </a:p>
        </p:txBody>
      </p:sp>
      <p:sp>
        <p:nvSpPr>
          <p:cNvPr id="62" name="TextBox 61">
            <a:extLst>
              <a:ext uri="{FF2B5EF4-FFF2-40B4-BE49-F238E27FC236}">
                <a16:creationId xmlns:a16="http://schemas.microsoft.com/office/drawing/2014/main" id="{5DC76699-C7B0-B654-FF40-4A4E41368E6C}"/>
              </a:ext>
            </a:extLst>
          </p:cNvPr>
          <p:cNvSpPr>
            <a:spLocks noGrp="1"/>
          </p:cNvSpPr>
          <p:nvPr/>
        </p:nvSpPr>
        <p:spPr>
          <a:xfrm>
            <a:off x="4846320" y="5326380"/>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Auren</a:t>
            </a:r>
          </a:p>
        </p:txBody>
      </p:sp>
      <p:sp>
        <p:nvSpPr>
          <p:cNvPr id="63" name="TextBox 62">
            <a:extLst>
              <a:ext uri="{FF2B5EF4-FFF2-40B4-BE49-F238E27FC236}">
                <a16:creationId xmlns:a16="http://schemas.microsoft.com/office/drawing/2014/main" id="{B1C7FAA4-CD9A-2895-15CA-9D9DF3BA393E}"/>
              </a:ext>
            </a:extLst>
          </p:cNvPr>
          <p:cNvSpPr>
            <a:spLocks noGrp="1"/>
          </p:cNvSpPr>
          <p:nvPr/>
        </p:nvSpPr>
        <p:spPr>
          <a:xfrm>
            <a:off x="4846320" y="5472684"/>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A</a:t>
            </a:r>
            <a:r>
              <a:rPr lang="pt-BR" sz="900" b="1" dirty="0" err="1">
                <a:solidFill>
                  <a:schemeClr val="bg1"/>
                </a:solidFill>
                <a:latin typeface="+mj-lt"/>
                <a:ea typeface="+mj-lt"/>
                <a:cs typeface="+mj-lt"/>
              </a:rPr>
              <a:t>xia</a:t>
            </a:r>
            <a:r>
              <a:rPr lang="pt-BR" sz="900" b="1" dirty="0">
                <a:solidFill>
                  <a:schemeClr val="bg1"/>
                </a:solidFill>
                <a:latin typeface="+mj-lt"/>
                <a:ea typeface="+mj-lt"/>
                <a:cs typeface="+mj-lt"/>
              </a:rPr>
              <a:t> Energia</a:t>
            </a:r>
            <a:endParaRPr sz="900" b="1" dirty="0">
              <a:solidFill>
                <a:schemeClr val="bg1"/>
              </a:solidFill>
              <a:latin typeface="+mj-lt"/>
              <a:ea typeface="+mj-lt"/>
              <a:cs typeface="+mj-lt"/>
            </a:endParaRPr>
          </a:p>
        </p:txBody>
      </p:sp>
      <p:sp>
        <p:nvSpPr>
          <p:cNvPr id="2" name="TextBox 1">
            <a:extLst>
              <a:ext uri="{FF2B5EF4-FFF2-40B4-BE49-F238E27FC236}">
                <a16:creationId xmlns:a16="http://schemas.microsoft.com/office/drawing/2014/main" id="{B7FE9BD1-D3D6-EAFC-355A-83F004C9F4AF}"/>
              </a:ext>
            </a:extLst>
          </p:cNvPr>
          <p:cNvSpPr>
            <a:spLocks noGrp="1"/>
          </p:cNvSpPr>
          <p:nvPr/>
        </p:nvSpPr>
        <p:spPr>
          <a:xfrm>
            <a:off x="2606040" y="3286125"/>
            <a:ext cx="2008717" cy="338554"/>
          </a:xfrm>
          <a:prstGeom prst="rect">
            <a:avLst/>
          </a:prstGeom>
          <a:noFill/>
        </p:spPr>
        <p:txBody>
          <a:bodyPr wrap="square">
            <a:spAutoFit/>
          </a:bodyPr>
          <a:lstStyle/>
          <a:p>
            <a:r>
              <a:rPr sz="1600" b="1">
                <a:solidFill>
                  <a:srgbClr val="8EB3DF"/>
                </a:solidFill>
                <a:latin typeface="+mj-lt"/>
                <a:ea typeface="+mj-lt"/>
                <a:cs typeface="+mj-lt"/>
              </a:rPr>
              <a:t>Pulp &amp; Paper</a:t>
            </a:r>
          </a:p>
        </p:txBody>
      </p:sp>
      <p:sp>
        <p:nvSpPr>
          <p:cNvPr id="4" name="TextBox 3">
            <a:extLst>
              <a:ext uri="{FF2B5EF4-FFF2-40B4-BE49-F238E27FC236}">
                <a16:creationId xmlns:a16="http://schemas.microsoft.com/office/drawing/2014/main" id="{3FC7AB02-EB46-1E65-A5CC-457F57C003FF}"/>
              </a:ext>
            </a:extLst>
          </p:cNvPr>
          <p:cNvSpPr>
            <a:spLocks noGrp="1"/>
          </p:cNvSpPr>
          <p:nvPr/>
        </p:nvSpPr>
        <p:spPr>
          <a:xfrm>
            <a:off x="4846320" y="5618988"/>
            <a:ext cx="2008717" cy="230832"/>
          </a:xfrm>
          <a:prstGeom prst="rect">
            <a:avLst/>
          </a:prstGeom>
          <a:noFill/>
        </p:spPr>
        <p:txBody>
          <a:bodyPr wrap="square">
            <a:spAutoFit/>
          </a:bodyPr>
          <a:lstStyle/>
          <a:p>
            <a:pPr algn="l">
              <a:buNone/>
            </a:pPr>
            <a:r>
              <a:rPr sz="900" b="1" dirty="0" err="1">
                <a:solidFill>
                  <a:schemeClr val="bg1"/>
                </a:solidFill>
                <a:latin typeface="+mj-lt"/>
                <a:ea typeface="+mj-lt"/>
                <a:cs typeface="+mj-lt"/>
              </a:rPr>
              <a:t>Cemig</a:t>
            </a:r>
            <a:endParaRPr sz="900" b="1" dirty="0">
              <a:solidFill>
                <a:schemeClr val="bg1"/>
              </a:solidFill>
              <a:latin typeface="+mj-lt"/>
              <a:ea typeface="+mj-lt"/>
              <a:cs typeface="+mj-lt"/>
            </a:endParaRPr>
          </a:p>
        </p:txBody>
      </p:sp>
      <p:sp>
        <p:nvSpPr>
          <p:cNvPr id="53" name="TextBox 52">
            <a:extLst>
              <a:ext uri="{FF2B5EF4-FFF2-40B4-BE49-F238E27FC236}">
                <a16:creationId xmlns:a16="http://schemas.microsoft.com/office/drawing/2014/main" id="{8693FCA1-33DA-2389-A407-9268B379F67F}"/>
              </a:ext>
            </a:extLst>
          </p:cNvPr>
          <p:cNvSpPr>
            <a:spLocks noGrp="1"/>
          </p:cNvSpPr>
          <p:nvPr/>
        </p:nvSpPr>
        <p:spPr>
          <a:xfrm>
            <a:off x="2606040" y="3955426"/>
            <a:ext cx="2008717" cy="338554"/>
          </a:xfrm>
          <a:prstGeom prst="rect">
            <a:avLst/>
          </a:prstGeom>
          <a:noFill/>
        </p:spPr>
        <p:txBody>
          <a:bodyPr wrap="square">
            <a:spAutoFit/>
          </a:bodyPr>
          <a:lstStyle/>
          <a:p>
            <a:r>
              <a:rPr sz="1600" b="1">
                <a:solidFill>
                  <a:srgbClr val="8EB3DF"/>
                </a:solidFill>
                <a:latin typeface="+mj-lt"/>
                <a:ea typeface="+mj-lt"/>
                <a:cs typeface="+mj-lt"/>
              </a:rPr>
              <a:t>Real Estate</a:t>
            </a:r>
          </a:p>
        </p:txBody>
      </p:sp>
      <p:sp>
        <p:nvSpPr>
          <p:cNvPr id="58" name="TextBox 57">
            <a:extLst>
              <a:ext uri="{FF2B5EF4-FFF2-40B4-BE49-F238E27FC236}">
                <a16:creationId xmlns:a16="http://schemas.microsoft.com/office/drawing/2014/main" id="{49E6FB3C-C061-4CD1-DFB0-3FA8969CBB99}"/>
              </a:ext>
            </a:extLst>
          </p:cNvPr>
          <p:cNvSpPr>
            <a:spLocks noGrp="1"/>
          </p:cNvSpPr>
          <p:nvPr/>
        </p:nvSpPr>
        <p:spPr>
          <a:xfrm>
            <a:off x="4846320" y="591159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Copasa</a:t>
            </a:r>
          </a:p>
        </p:txBody>
      </p:sp>
      <p:sp>
        <p:nvSpPr>
          <p:cNvPr id="59" name="TextBox 58">
            <a:extLst>
              <a:ext uri="{FF2B5EF4-FFF2-40B4-BE49-F238E27FC236}">
                <a16:creationId xmlns:a16="http://schemas.microsoft.com/office/drawing/2014/main" id="{A4645B2A-0B5C-628D-46D6-03F0EE2CD46B}"/>
              </a:ext>
            </a:extLst>
          </p:cNvPr>
          <p:cNvSpPr>
            <a:spLocks noGrp="1"/>
          </p:cNvSpPr>
          <p:nvPr/>
        </p:nvSpPr>
        <p:spPr>
          <a:xfrm>
            <a:off x="4846320" y="605790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Copel</a:t>
            </a:r>
          </a:p>
        </p:txBody>
      </p:sp>
      <p:sp>
        <p:nvSpPr>
          <p:cNvPr id="64" name="TextBox 63">
            <a:extLst>
              <a:ext uri="{FF2B5EF4-FFF2-40B4-BE49-F238E27FC236}">
                <a16:creationId xmlns:a16="http://schemas.microsoft.com/office/drawing/2014/main" id="{3C3080D9-0C55-0798-37A9-609183CE5DB5}"/>
              </a:ext>
            </a:extLst>
          </p:cNvPr>
          <p:cNvSpPr>
            <a:spLocks noGrp="1"/>
          </p:cNvSpPr>
          <p:nvPr/>
        </p:nvSpPr>
        <p:spPr>
          <a:xfrm>
            <a:off x="4846320" y="620420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Energisa</a:t>
            </a:r>
          </a:p>
        </p:txBody>
      </p:sp>
      <p:sp>
        <p:nvSpPr>
          <p:cNvPr id="65" name="TextBox 64">
            <a:extLst>
              <a:ext uri="{FF2B5EF4-FFF2-40B4-BE49-F238E27FC236}">
                <a16:creationId xmlns:a16="http://schemas.microsoft.com/office/drawing/2014/main" id="{72896531-3244-9CC7-73E6-3973171B0F33}"/>
              </a:ext>
            </a:extLst>
          </p:cNvPr>
          <p:cNvSpPr>
            <a:spLocks noGrp="1"/>
          </p:cNvSpPr>
          <p:nvPr/>
        </p:nvSpPr>
        <p:spPr>
          <a:xfrm>
            <a:off x="4846320" y="635050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Engie</a:t>
            </a:r>
          </a:p>
        </p:txBody>
      </p:sp>
      <p:sp>
        <p:nvSpPr>
          <p:cNvPr id="66" name="TextBox 65">
            <a:extLst>
              <a:ext uri="{FF2B5EF4-FFF2-40B4-BE49-F238E27FC236}">
                <a16:creationId xmlns:a16="http://schemas.microsoft.com/office/drawing/2014/main" id="{89138027-E87B-8D88-BDB5-C92598B62E1D}"/>
              </a:ext>
            </a:extLst>
          </p:cNvPr>
          <p:cNvSpPr>
            <a:spLocks noGrp="1"/>
          </p:cNvSpPr>
          <p:nvPr/>
        </p:nvSpPr>
        <p:spPr>
          <a:xfrm>
            <a:off x="4846320" y="649681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Equatorial</a:t>
            </a:r>
          </a:p>
        </p:txBody>
      </p:sp>
      <p:sp>
        <p:nvSpPr>
          <p:cNvPr id="67" name="TextBox 66">
            <a:extLst>
              <a:ext uri="{FF2B5EF4-FFF2-40B4-BE49-F238E27FC236}">
                <a16:creationId xmlns:a16="http://schemas.microsoft.com/office/drawing/2014/main" id="{F00CE533-F996-B427-2E1D-D9A8E8C045EF}"/>
              </a:ext>
            </a:extLst>
          </p:cNvPr>
          <p:cNvSpPr>
            <a:spLocks noGrp="1"/>
          </p:cNvSpPr>
          <p:nvPr/>
        </p:nvSpPr>
        <p:spPr>
          <a:xfrm>
            <a:off x="4846320" y="664311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Light</a:t>
            </a:r>
          </a:p>
        </p:txBody>
      </p:sp>
      <p:sp>
        <p:nvSpPr>
          <p:cNvPr id="68" name="TextBox 67">
            <a:extLst>
              <a:ext uri="{FF2B5EF4-FFF2-40B4-BE49-F238E27FC236}">
                <a16:creationId xmlns:a16="http://schemas.microsoft.com/office/drawing/2014/main" id="{B0DFA29A-D090-8777-7E6F-814419912EB5}"/>
              </a:ext>
            </a:extLst>
          </p:cNvPr>
          <p:cNvSpPr>
            <a:spLocks noGrp="1"/>
          </p:cNvSpPr>
          <p:nvPr/>
        </p:nvSpPr>
        <p:spPr>
          <a:xfrm>
            <a:off x="4846320" y="678942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Orizon</a:t>
            </a:r>
          </a:p>
        </p:txBody>
      </p:sp>
      <p:sp>
        <p:nvSpPr>
          <p:cNvPr id="69" name="TextBox 68">
            <a:extLst>
              <a:ext uri="{FF2B5EF4-FFF2-40B4-BE49-F238E27FC236}">
                <a16:creationId xmlns:a16="http://schemas.microsoft.com/office/drawing/2014/main" id="{5E395965-B5B6-318A-DF93-7F68D6233802}"/>
              </a:ext>
            </a:extLst>
          </p:cNvPr>
          <p:cNvSpPr>
            <a:spLocks noGrp="1"/>
          </p:cNvSpPr>
          <p:nvPr/>
        </p:nvSpPr>
        <p:spPr>
          <a:xfrm>
            <a:off x="4846320" y="693572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Taesa</a:t>
            </a:r>
          </a:p>
        </p:txBody>
      </p:sp>
      <p:sp>
        <p:nvSpPr>
          <p:cNvPr id="70" name="TextBox 69">
            <a:extLst>
              <a:ext uri="{FF2B5EF4-FFF2-40B4-BE49-F238E27FC236}">
                <a16:creationId xmlns:a16="http://schemas.microsoft.com/office/drawing/2014/main" id="{17232527-EEBE-B07D-9BC4-26FE4264472F}"/>
              </a:ext>
            </a:extLst>
          </p:cNvPr>
          <p:cNvSpPr>
            <a:spLocks noGrp="1"/>
          </p:cNvSpPr>
          <p:nvPr/>
        </p:nvSpPr>
        <p:spPr>
          <a:xfrm>
            <a:off x="2606040" y="1495044"/>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CSN</a:t>
            </a:r>
          </a:p>
        </p:txBody>
      </p:sp>
      <p:sp>
        <p:nvSpPr>
          <p:cNvPr id="72" name="TextBox 71">
            <a:extLst>
              <a:ext uri="{FF2B5EF4-FFF2-40B4-BE49-F238E27FC236}">
                <a16:creationId xmlns:a16="http://schemas.microsoft.com/office/drawing/2014/main" id="{EF8467F2-80DC-373D-8287-706E25BCADB0}"/>
              </a:ext>
            </a:extLst>
          </p:cNvPr>
          <p:cNvSpPr>
            <a:spLocks noGrp="1"/>
          </p:cNvSpPr>
          <p:nvPr/>
        </p:nvSpPr>
        <p:spPr>
          <a:xfrm>
            <a:off x="2606040" y="6115214"/>
            <a:ext cx="2008717" cy="338554"/>
          </a:xfrm>
          <a:prstGeom prst="rect">
            <a:avLst/>
          </a:prstGeom>
          <a:noFill/>
        </p:spPr>
        <p:txBody>
          <a:bodyPr wrap="square">
            <a:spAutoFit/>
          </a:bodyPr>
          <a:lstStyle/>
          <a:p>
            <a:r>
              <a:rPr sz="1600" b="1">
                <a:solidFill>
                  <a:srgbClr val="8EB3DF"/>
                </a:solidFill>
                <a:latin typeface="+mj-lt"/>
                <a:ea typeface="+mj-lt"/>
                <a:cs typeface="+mj-lt"/>
              </a:rPr>
              <a:t>Retail</a:t>
            </a:r>
          </a:p>
        </p:txBody>
      </p:sp>
      <p:sp>
        <p:nvSpPr>
          <p:cNvPr id="73" name="TextBox 72">
            <a:extLst>
              <a:ext uri="{FF2B5EF4-FFF2-40B4-BE49-F238E27FC236}">
                <a16:creationId xmlns:a16="http://schemas.microsoft.com/office/drawing/2014/main" id="{058BA303-48E7-7D53-B5F6-32E67216E08E}"/>
              </a:ext>
            </a:extLst>
          </p:cNvPr>
          <p:cNvSpPr>
            <a:spLocks noGrp="1"/>
          </p:cNvSpPr>
          <p:nvPr/>
        </p:nvSpPr>
        <p:spPr>
          <a:xfrm>
            <a:off x="2606040" y="164134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Vale</a:t>
            </a:r>
          </a:p>
        </p:txBody>
      </p:sp>
      <p:sp>
        <p:nvSpPr>
          <p:cNvPr id="74" name="TextBox 73">
            <a:extLst>
              <a:ext uri="{FF2B5EF4-FFF2-40B4-BE49-F238E27FC236}">
                <a16:creationId xmlns:a16="http://schemas.microsoft.com/office/drawing/2014/main" id="{EFD498B7-42B9-8C40-F340-AB48FCE47799}"/>
              </a:ext>
            </a:extLst>
          </p:cNvPr>
          <p:cNvSpPr>
            <a:spLocks noGrp="1"/>
          </p:cNvSpPr>
          <p:nvPr/>
        </p:nvSpPr>
        <p:spPr>
          <a:xfrm>
            <a:off x="2606040" y="2194334"/>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Brava</a:t>
            </a:r>
          </a:p>
        </p:txBody>
      </p:sp>
      <p:sp>
        <p:nvSpPr>
          <p:cNvPr id="76" name="TextBox 75">
            <a:extLst>
              <a:ext uri="{FF2B5EF4-FFF2-40B4-BE49-F238E27FC236}">
                <a16:creationId xmlns:a16="http://schemas.microsoft.com/office/drawing/2014/main" id="{C851A0A4-C990-FFA4-A6DE-B137D96102F9}"/>
              </a:ext>
            </a:extLst>
          </p:cNvPr>
          <p:cNvSpPr>
            <a:spLocks noGrp="1"/>
          </p:cNvSpPr>
          <p:nvPr/>
        </p:nvSpPr>
        <p:spPr>
          <a:xfrm>
            <a:off x="2606040" y="234063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Origem</a:t>
            </a:r>
          </a:p>
        </p:txBody>
      </p:sp>
      <p:sp>
        <p:nvSpPr>
          <p:cNvPr id="77" name="TextBox 76">
            <a:extLst>
              <a:ext uri="{FF2B5EF4-FFF2-40B4-BE49-F238E27FC236}">
                <a16:creationId xmlns:a16="http://schemas.microsoft.com/office/drawing/2014/main" id="{CFE7F5A9-CF19-A968-5974-31ECABAF1AC9}"/>
              </a:ext>
            </a:extLst>
          </p:cNvPr>
          <p:cNvSpPr>
            <a:spLocks noGrp="1"/>
          </p:cNvSpPr>
          <p:nvPr/>
        </p:nvSpPr>
        <p:spPr>
          <a:xfrm>
            <a:off x="2606040" y="248694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Petrobras</a:t>
            </a:r>
          </a:p>
        </p:txBody>
      </p:sp>
      <p:sp>
        <p:nvSpPr>
          <p:cNvPr id="78" name="TextBox 77">
            <a:extLst>
              <a:ext uri="{FF2B5EF4-FFF2-40B4-BE49-F238E27FC236}">
                <a16:creationId xmlns:a16="http://schemas.microsoft.com/office/drawing/2014/main" id="{0B8DDF99-977B-E8B7-5F87-9C2DF5202137}"/>
              </a:ext>
            </a:extLst>
          </p:cNvPr>
          <p:cNvSpPr>
            <a:spLocks noGrp="1"/>
          </p:cNvSpPr>
          <p:nvPr/>
        </p:nvSpPr>
        <p:spPr>
          <a:xfrm>
            <a:off x="2606040" y="263324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PetroRecôncavo</a:t>
            </a:r>
          </a:p>
        </p:txBody>
      </p:sp>
      <p:sp>
        <p:nvSpPr>
          <p:cNvPr id="79" name="TextBox 78">
            <a:extLst>
              <a:ext uri="{FF2B5EF4-FFF2-40B4-BE49-F238E27FC236}">
                <a16:creationId xmlns:a16="http://schemas.microsoft.com/office/drawing/2014/main" id="{C233E533-673B-AD43-284D-57A00772691F}"/>
              </a:ext>
            </a:extLst>
          </p:cNvPr>
          <p:cNvSpPr>
            <a:spLocks noGrp="1"/>
          </p:cNvSpPr>
          <p:nvPr/>
        </p:nvSpPr>
        <p:spPr>
          <a:xfrm>
            <a:off x="2606040" y="277955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PRIO</a:t>
            </a:r>
          </a:p>
        </p:txBody>
      </p:sp>
      <p:sp>
        <p:nvSpPr>
          <p:cNvPr id="80" name="TextBox 79">
            <a:extLst>
              <a:ext uri="{FF2B5EF4-FFF2-40B4-BE49-F238E27FC236}">
                <a16:creationId xmlns:a16="http://schemas.microsoft.com/office/drawing/2014/main" id="{714A9E72-719B-08B3-D493-F8BC1E423C60}"/>
              </a:ext>
            </a:extLst>
          </p:cNvPr>
          <p:cNvSpPr>
            <a:spLocks noGrp="1"/>
          </p:cNvSpPr>
          <p:nvPr/>
        </p:nvSpPr>
        <p:spPr>
          <a:xfrm>
            <a:off x="2606040" y="292585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Ultra</a:t>
            </a:r>
          </a:p>
        </p:txBody>
      </p:sp>
      <p:sp>
        <p:nvSpPr>
          <p:cNvPr id="81" name="TextBox 80">
            <a:extLst>
              <a:ext uri="{FF2B5EF4-FFF2-40B4-BE49-F238E27FC236}">
                <a16:creationId xmlns:a16="http://schemas.microsoft.com/office/drawing/2014/main" id="{CA18C3C5-A413-494D-DA5F-137BD2C592B3}"/>
              </a:ext>
            </a:extLst>
          </p:cNvPr>
          <p:cNvSpPr>
            <a:spLocks noGrp="1"/>
          </p:cNvSpPr>
          <p:nvPr/>
        </p:nvSpPr>
        <p:spPr>
          <a:xfrm>
            <a:off x="2606040" y="307215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Vibra</a:t>
            </a:r>
          </a:p>
        </p:txBody>
      </p:sp>
      <p:sp>
        <p:nvSpPr>
          <p:cNvPr id="82" name="TextBox 81">
            <a:extLst>
              <a:ext uri="{FF2B5EF4-FFF2-40B4-BE49-F238E27FC236}">
                <a16:creationId xmlns:a16="http://schemas.microsoft.com/office/drawing/2014/main" id="{F879602E-D67B-2D39-D270-FE957939CA23}"/>
              </a:ext>
            </a:extLst>
          </p:cNvPr>
          <p:cNvSpPr>
            <a:spLocks noGrp="1"/>
          </p:cNvSpPr>
          <p:nvPr/>
        </p:nvSpPr>
        <p:spPr>
          <a:xfrm>
            <a:off x="2606040" y="3592449"/>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Klabin</a:t>
            </a:r>
          </a:p>
        </p:txBody>
      </p:sp>
      <p:sp>
        <p:nvSpPr>
          <p:cNvPr id="83" name="TextBox 82">
            <a:extLst>
              <a:ext uri="{FF2B5EF4-FFF2-40B4-BE49-F238E27FC236}">
                <a16:creationId xmlns:a16="http://schemas.microsoft.com/office/drawing/2014/main" id="{2C7B66D0-5298-0B63-A4F1-5DF002440421}"/>
              </a:ext>
            </a:extLst>
          </p:cNvPr>
          <p:cNvSpPr>
            <a:spLocks noGrp="1"/>
          </p:cNvSpPr>
          <p:nvPr/>
        </p:nvSpPr>
        <p:spPr>
          <a:xfrm>
            <a:off x="2606040" y="3738753"/>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Suzano</a:t>
            </a:r>
          </a:p>
        </p:txBody>
      </p:sp>
      <p:sp>
        <p:nvSpPr>
          <p:cNvPr id="84" name="TextBox 83">
            <a:extLst>
              <a:ext uri="{FF2B5EF4-FFF2-40B4-BE49-F238E27FC236}">
                <a16:creationId xmlns:a16="http://schemas.microsoft.com/office/drawing/2014/main" id="{49E4E2B0-973D-D93B-8B5F-0617BDFF3355}"/>
              </a:ext>
            </a:extLst>
          </p:cNvPr>
          <p:cNvSpPr>
            <a:spLocks noGrp="1"/>
          </p:cNvSpPr>
          <p:nvPr/>
        </p:nvSpPr>
        <p:spPr>
          <a:xfrm>
            <a:off x="2606040" y="426175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Allos</a:t>
            </a:r>
          </a:p>
        </p:txBody>
      </p:sp>
      <p:sp>
        <p:nvSpPr>
          <p:cNvPr id="85" name="TextBox 84">
            <a:extLst>
              <a:ext uri="{FF2B5EF4-FFF2-40B4-BE49-F238E27FC236}">
                <a16:creationId xmlns:a16="http://schemas.microsoft.com/office/drawing/2014/main" id="{A3BBB7B1-7A1C-A8FD-A973-F6B5496F4F82}"/>
              </a:ext>
            </a:extLst>
          </p:cNvPr>
          <p:cNvSpPr>
            <a:spLocks noGrp="1"/>
          </p:cNvSpPr>
          <p:nvPr/>
        </p:nvSpPr>
        <p:spPr>
          <a:xfrm>
            <a:off x="2606040" y="440805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Cury</a:t>
            </a:r>
          </a:p>
        </p:txBody>
      </p:sp>
      <p:sp>
        <p:nvSpPr>
          <p:cNvPr id="86" name="TextBox 85">
            <a:extLst>
              <a:ext uri="{FF2B5EF4-FFF2-40B4-BE49-F238E27FC236}">
                <a16:creationId xmlns:a16="http://schemas.microsoft.com/office/drawing/2014/main" id="{0397B395-7C6E-8796-41AB-D950F4CD046C}"/>
              </a:ext>
            </a:extLst>
          </p:cNvPr>
          <p:cNvSpPr>
            <a:spLocks noGrp="1"/>
          </p:cNvSpPr>
          <p:nvPr/>
        </p:nvSpPr>
        <p:spPr>
          <a:xfrm>
            <a:off x="4846320" y="1188720"/>
            <a:ext cx="2008717" cy="338554"/>
          </a:xfrm>
          <a:prstGeom prst="rect">
            <a:avLst/>
          </a:prstGeom>
          <a:noFill/>
        </p:spPr>
        <p:txBody>
          <a:bodyPr wrap="square">
            <a:spAutoFit/>
          </a:bodyPr>
          <a:lstStyle/>
          <a:p>
            <a:r>
              <a:rPr sz="1600" b="1" dirty="0">
                <a:solidFill>
                  <a:srgbClr val="8EB3DF"/>
                </a:solidFill>
                <a:latin typeface="+mj-lt"/>
                <a:ea typeface="+mj-lt"/>
                <a:cs typeface="+mj-lt"/>
              </a:rPr>
              <a:t>TMT</a:t>
            </a:r>
          </a:p>
        </p:txBody>
      </p:sp>
      <p:sp>
        <p:nvSpPr>
          <p:cNvPr id="87" name="TextBox 86">
            <a:extLst>
              <a:ext uri="{FF2B5EF4-FFF2-40B4-BE49-F238E27FC236}">
                <a16:creationId xmlns:a16="http://schemas.microsoft.com/office/drawing/2014/main" id="{41D30E5F-F79A-4BA6-D6D8-126051331A43}"/>
              </a:ext>
            </a:extLst>
          </p:cNvPr>
          <p:cNvSpPr>
            <a:spLocks noGrp="1"/>
          </p:cNvSpPr>
          <p:nvPr/>
        </p:nvSpPr>
        <p:spPr>
          <a:xfrm>
            <a:off x="2606040" y="455435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Cyrela</a:t>
            </a:r>
          </a:p>
        </p:txBody>
      </p:sp>
      <p:sp>
        <p:nvSpPr>
          <p:cNvPr id="88" name="TextBox 87">
            <a:extLst>
              <a:ext uri="{FF2B5EF4-FFF2-40B4-BE49-F238E27FC236}">
                <a16:creationId xmlns:a16="http://schemas.microsoft.com/office/drawing/2014/main" id="{A6D41F3C-6C2E-CEAA-7340-7B94498C9852}"/>
              </a:ext>
            </a:extLst>
          </p:cNvPr>
          <p:cNvSpPr>
            <a:spLocks noGrp="1"/>
          </p:cNvSpPr>
          <p:nvPr/>
        </p:nvSpPr>
        <p:spPr>
          <a:xfrm>
            <a:off x="2606040" y="470066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Direcional</a:t>
            </a:r>
          </a:p>
        </p:txBody>
      </p:sp>
      <p:sp>
        <p:nvSpPr>
          <p:cNvPr id="89" name="TextBox 88">
            <a:extLst>
              <a:ext uri="{FF2B5EF4-FFF2-40B4-BE49-F238E27FC236}">
                <a16:creationId xmlns:a16="http://schemas.microsoft.com/office/drawing/2014/main" id="{FF2EF6C5-87FC-71E4-3D25-3CE0DA2EA389}"/>
              </a:ext>
            </a:extLst>
          </p:cNvPr>
          <p:cNvSpPr>
            <a:spLocks noGrp="1"/>
          </p:cNvSpPr>
          <p:nvPr/>
        </p:nvSpPr>
        <p:spPr>
          <a:xfrm>
            <a:off x="2606040" y="484696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Even</a:t>
            </a:r>
          </a:p>
        </p:txBody>
      </p:sp>
      <p:sp>
        <p:nvSpPr>
          <p:cNvPr id="90" name="TextBox 89">
            <a:extLst>
              <a:ext uri="{FF2B5EF4-FFF2-40B4-BE49-F238E27FC236}">
                <a16:creationId xmlns:a16="http://schemas.microsoft.com/office/drawing/2014/main" id="{0ABC273B-F528-62AF-7094-05A0F437C606}"/>
              </a:ext>
            </a:extLst>
          </p:cNvPr>
          <p:cNvSpPr>
            <a:spLocks noGrp="1"/>
          </p:cNvSpPr>
          <p:nvPr/>
        </p:nvSpPr>
        <p:spPr>
          <a:xfrm>
            <a:off x="2606040" y="499327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Iguatemi</a:t>
            </a:r>
          </a:p>
        </p:txBody>
      </p:sp>
      <p:sp>
        <p:nvSpPr>
          <p:cNvPr id="91" name="TextBox 90">
            <a:extLst>
              <a:ext uri="{FF2B5EF4-FFF2-40B4-BE49-F238E27FC236}">
                <a16:creationId xmlns:a16="http://schemas.microsoft.com/office/drawing/2014/main" id="{0754098A-51C2-807F-56F4-DE52B01A7083}"/>
              </a:ext>
            </a:extLst>
          </p:cNvPr>
          <p:cNvSpPr>
            <a:spLocks noGrp="1"/>
          </p:cNvSpPr>
          <p:nvPr/>
        </p:nvSpPr>
        <p:spPr>
          <a:xfrm>
            <a:off x="2606040" y="513957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JHSF</a:t>
            </a:r>
          </a:p>
        </p:txBody>
      </p:sp>
      <p:sp>
        <p:nvSpPr>
          <p:cNvPr id="100" name="TextBox 99">
            <a:extLst>
              <a:ext uri="{FF2B5EF4-FFF2-40B4-BE49-F238E27FC236}">
                <a16:creationId xmlns:a16="http://schemas.microsoft.com/office/drawing/2014/main" id="{BFC50985-3DD3-744E-7A73-43DDCAD107B0}"/>
              </a:ext>
            </a:extLst>
          </p:cNvPr>
          <p:cNvSpPr>
            <a:spLocks noGrp="1"/>
          </p:cNvSpPr>
          <p:nvPr/>
        </p:nvSpPr>
        <p:spPr>
          <a:xfrm>
            <a:off x="4846320" y="2884932"/>
            <a:ext cx="2008717" cy="338554"/>
          </a:xfrm>
          <a:prstGeom prst="rect">
            <a:avLst/>
          </a:prstGeom>
          <a:noFill/>
        </p:spPr>
        <p:txBody>
          <a:bodyPr wrap="square">
            <a:spAutoFit/>
          </a:bodyPr>
          <a:lstStyle/>
          <a:p>
            <a:r>
              <a:rPr sz="1600" b="1">
                <a:solidFill>
                  <a:srgbClr val="8EB3DF"/>
                </a:solidFill>
                <a:latin typeface="+mj-lt"/>
                <a:ea typeface="+mj-lt"/>
                <a:cs typeface="+mj-lt"/>
              </a:rPr>
              <a:t>Transportation</a:t>
            </a:r>
          </a:p>
        </p:txBody>
      </p:sp>
      <p:sp>
        <p:nvSpPr>
          <p:cNvPr id="101" name="TextBox 100">
            <a:extLst>
              <a:ext uri="{FF2B5EF4-FFF2-40B4-BE49-F238E27FC236}">
                <a16:creationId xmlns:a16="http://schemas.microsoft.com/office/drawing/2014/main" id="{86887FB9-CCF9-D644-2775-E0B8AE9A705D}"/>
              </a:ext>
            </a:extLst>
          </p:cNvPr>
          <p:cNvSpPr>
            <a:spLocks noGrp="1"/>
          </p:cNvSpPr>
          <p:nvPr/>
        </p:nvSpPr>
        <p:spPr>
          <a:xfrm>
            <a:off x="2606040" y="528587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Lavvi</a:t>
            </a:r>
          </a:p>
        </p:txBody>
      </p:sp>
      <p:sp>
        <p:nvSpPr>
          <p:cNvPr id="102" name="TextBox 101">
            <a:extLst>
              <a:ext uri="{FF2B5EF4-FFF2-40B4-BE49-F238E27FC236}">
                <a16:creationId xmlns:a16="http://schemas.microsoft.com/office/drawing/2014/main" id="{1EC7AAEC-C726-83BB-A802-EB8C3A07755B}"/>
              </a:ext>
            </a:extLst>
          </p:cNvPr>
          <p:cNvSpPr>
            <a:spLocks noGrp="1"/>
          </p:cNvSpPr>
          <p:nvPr/>
        </p:nvSpPr>
        <p:spPr>
          <a:xfrm>
            <a:off x="2606040" y="543218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Moura Dubeux</a:t>
            </a:r>
          </a:p>
        </p:txBody>
      </p:sp>
      <p:sp>
        <p:nvSpPr>
          <p:cNvPr id="103" name="TextBox 102">
            <a:extLst>
              <a:ext uri="{FF2B5EF4-FFF2-40B4-BE49-F238E27FC236}">
                <a16:creationId xmlns:a16="http://schemas.microsoft.com/office/drawing/2014/main" id="{5BF9A98D-376D-D659-404C-7C04BB1EA920}"/>
              </a:ext>
            </a:extLst>
          </p:cNvPr>
          <p:cNvSpPr>
            <a:spLocks noGrp="1"/>
          </p:cNvSpPr>
          <p:nvPr/>
        </p:nvSpPr>
        <p:spPr>
          <a:xfrm>
            <a:off x="2606040" y="557848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MRV</a:t>
            </a:r>
          </a:p>
        </p:txBody>
      </p:sp>
      <p:sp>
        <p:nvSpPr>
          <p:cNvPr id="104" name="TextBox 103">
            <a:extLst>
              <a:ext uri="{FF2B5EF4-FFF2-40B4-BE49-F238E27FC236}">
                <a16:creationId xmlns:a16="http://schemas.microsoft.com/office/drawing/2014/main" id="{5F034A05-B0B3-3392-B4EB-256016146EC7}"/>
              </a:ext>
            </a:extLst>
          </p:cNvPr>
          <p:cNvSpPr>
            <a:spLocks noGrp="1"/>
          </p:cNvSpPr>
          <p:nvPr/>
        </p:nvSpPr>
        <p:spPr>
          <a:xfrm>
            <a:off x="2606040" y="572479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Multiplan</a:t>
            </a:r>
          </a:p>
        </p:txBody>
      </p:sp>
      <p:sp>
        <p:nvSpPr>
          <p:cNvPr id="105" name="TextBox 104">
            <a:extLst>
              <a:ext uri="{FF2B5EF4-FFF2-40B4-BE49-F238E27FC236}">
                <a16:creationId xmlns:a16="http://schemas.microsoft.com/office/drawing/2014/main" id="{936CC832-23B8-12DB-2A45-427E4EEDC8F2}"/>
              </a:ext>
            </a:extLst>
          </p:cNvPr>
          <p:cNvSpPr>
            <a:spLocks noGrp="1"/>
          </p:cNvSpPr>
          <p:nvPr/>
        </p:nvSpPr>
        <p:spPr>
          <a:xfrm>
            <a:off x="2606040" y="587109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Plano&amp;Plano</a:t>
            </a:r>
          </a:p>
        </p:txBody>
      </p:sp>
      <p:sp>
        <p:nvSpPr>
          <p:cNvPr id="112" name="TextBox 111">
            <a:extLst>
              <a:ext uri="{FF2B5EF4-FFF2-40B4-BE49-F238E27FC236}">
                <a16:creationId xmlns:a16="http://schemas.microsoft.com/office/drawing/2014/main" id="{CC015CBD-3E58-1D58-58ED-F680CB26E47A}"/>
              </a:ext>
            </a:extLst>
          </p:cNvPr>
          <p:cNvSpPr>
            <a:spLocks noGrp="1"/>
          </p:cNvSpPr>
          <p:nvPr/>
        </p:nvSpPr>
        <p:spPr>
          <a:xfrm>
            <a:off x="2606040" y="642153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Alpargatas</a:t>
            </a:r>
          </a:p>
        </p:txBody>
      </p:sp>
      <p:sp>
        <p:nvSpPr>
          <p:cNvPr id="113" name="TextBox 112">
            <a:extLst>
              <a:ext uri="{FF2B5EF4-FFF2-40B4-BE49-F238E27FC236}">
                <a16:creationId xmlns:a16="http://schemas.microsoft.com/office/drawing/2014/main" id="{393A987D-B5EC-76AA-0CC0-DF5BB0AA5EB5}"/>
              </a:ext>
            </a:extLst>
          </p:cNvPr>
          <p:cNvSpPr>
            <a:spLocks noGrp="1"/>
          </p:cNvSpPr>
          <p:nvPr/>
        </p:nvSpPr>
        <p:spPr>
          <a:xfrm>
            <a:off x="2606040" y="656784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Assaí</a:t>
            </a:r>
          </a:p>
        </p:txBody>
      </p:sp>
      <p:sp>
        <p:nvSpPr>
          <p:cNvPr id="114" name="TextBox 113">
            <a:extLst>
              <a:ext uri="{FF2B5EF4-FFF2-40B4-BE49-F238E27FC236}">
                <a16:creationId xmlns:a16="http://schemas.microsoft.com/office/drawing/2014/main" id="{E977F5D8-B614-3EBB-2A0C-792037C6449E}"/>
              </a:ext>
            </a:extLst>
          </p:cNvPr>
          <p:cNvSpPr>
            <a:spLocks noGrp="1"/>
          </p:cNvSpPr>
          <p:nvPr/>
        </p:nvSpPr>
        <p:spPr>
          <a:xfrm>
            <a:off x="2606040" y="671414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Azzas 2154</a:t>
            </a:r>
          </a:p>
        </p:txBody>
      </p:sp>
      <p:sp>
        <p:nvSpPr>
          <p:cNvPr id="115" name="TextBox 114">
            <a:extLst>
              <a:ext uri="{FF2B5EF4-FFF2-40B4-BE49-F238E27FC236}">
                <a16:creationId xmlns:a16="http://schemas.microsoft.com/office/drawing/2014/main" id="{FD273B7A-1543-7557-355D-52D803529B64}"/>
              </a:ext>
            </a:extLst>
          </p:cNvPr>
          <p:cNvSpPr>
            <a:spLocks noGrp="1"/>
          </p:cNvSpPr>
          <p:nvPr/>
        </p:nvSpPr>
        <p:spPr>
          <a:xfrm>
            <a:off x="2606040" y="686045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C&amp;A</a:t>
            </a:r>
          </a:p>
        </p:txBody>
      </p:sp>
      <p:sp>
        <p:nvSpPr>
          <p:cNvPr id="118" name="TextBox 117">
            <a:extLst>
              <a:ext uri="{FF2B5EF4-FFF2-40B4-BE49-F238E27FC236}">
                <a16:creationId xmlns:a16="http://schemas.microsoft.com/office/drawing/2014/main" id="{F68C5564-7AD3-A7C8-54D0-530E7A959DD6}"/>
              </a:ext>
            </a:extLst>
          </p:cNvPr>
          <p:cNvSpPr>
            <a:spLocks noGrp="1"/>
          </p:cNvSpPr>
          <p:nvPr/>
        </p:nvSpPr>
        <p:spPr>
          <a:xfrm>
            <a:off x="2606040" y="7006754"/>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Grupo SBF</a:t>
            </a:r>
          </a:p>
        </p:txBody>
      </p:sp>
      <p:sp>
        <p:nvSpPr>
          <p:cNvPr id="119" name="TextBox 118">
            <a:extLst>
              <a:ext uri="{FF2B5EF4-FFF2-40B4-BE49-F238E27FC236}">
                <a16:creationId xmlns:a16="http://schemas.microsoft.com/office/drawing/2014/main" id="{5F9FAA32-2495-A805-B67B-C10D433055FF}"/>
              </a:ext>
            </a:extLst>
          </p:cNvPr>
          <p:cNvSpPr>
            <a:spLocks noGrp="1"/>
          </p:cNvSpPr>
          <p:nvPr/>
        </p:nvSpPr>
        <p:spPr>
          <a:xfrm>
            <a:off x="2606040" y="7153058"/>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Live!</a:t>
            </a:r>
          </a:p>
        </p:txBody>
      </p:sp>
      <p:sp>
        <p:nvSpPr>
          <p:cNvPr id="120" name="TextBox 119">
            <a:extLst>
              <a:ext uri="{FF2B5EF4-FFF2-40B4-BE49-F238E27FC236}">
                <a16:creationId xmlns:a16="http://schemas.microsoft.com/office/drawing/2014/main" id="{A0D7B750-58A9-F833-65A3-680157040C1C}"/>
              </a:ext>
            </a:extLst>
          </p:cNvPr>
          <p:cNvSpPr>
            <a:spLocks noGrp="1"/>
          </p:cNvSpPr>
          <p:nvPr/>
        </p:nvSpPr>
        <p:spPr>
          <a:xfrm>
            <a:off x="2606040" y="7299362"/>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Magalu</a:t>
            </a:r>
          </a:p>
        </p:txBody>
      </p:sp>
      <p:sp>
        <p:nvSpPr>
          <p:cNvPr id="121" name="TextBox 120">
            <a:extLst>
              <a:ext uri="{FF2B5EF4-FFF2-40B4-BE49-F238E27FC236}">
                <a16:creationId xmlns:a16="http://schemas.microsoft.com/office/drawing/2014/main" id="{E4772F84-9E1F-89BE-FDA5-4082C053C19B}"/>
              </a:ext>
            </a:extLst>
          </p:cNvPr>
          <p:cNvSpPr>
            <a:spLocks noGrp="1"/>
          </p:cNvSpPr>
          <p:nvPr/>
        </p:nvSpPr>
        <p:spPr>
          <a:xfrm>
            <a:off x="2606040" y="7445666"/>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Mercado Libre</a:t>
            </a:r>
          </a:p>
        </p:txBody>
      </p:sp>
      <p:sp>
        <p:nvSpPr>
          <p:cNvPr id="122" name="TextBox 121">
            <a:extLst>
              <a:ext uri="{FF2B5EF4-FFF2-40B4-BE49-F238E27FC236}">
                <a16:creationId xmlns:a16="http://schemas.microsoft.com/office/drawing/2014/main" id="{D8ABBA1C-4C5A-6AE4-98C8-791DDDD44C46}"/>
              </a:ext>
            </a:extLst>
          </p:cNvPr>
          <p:cNvSpPr>
            <a:spLocks noGrp="1"/>
          </p:cNvSpPr>
          <p:nvPr/>
        </p:nvSpPr>
        <p:spPr>
          <a:xfrm>
            <a:off x="2606040" y="7591970"/>
            <a:ext cx="2008717" cy="230832"/>
          </a:xfrm>
          <a:prstGeom prst="rect">
            <a:avLst/>
          </a:prstGeom>
          <a:noFill/>
        </p:spPr>
        <p:txBody>
          <a:bodyPr wrap="square">
            <a:spAutoFit/>
          </a:bodyPr>
          <a:lstStyle/>
          <a:p>
            <a:pPr algn="l">
              <a:buNone/>
            </a:pPr>
            <a:r>
              <a:rPr sz="900" b="1">
                <a:solidFill>
                  <a:schemeClr val="bg1"/>
                </a:solidFill>
                <a:latin typeface="+mj-lt"/>
                <a:ea typeface="+mj-lt"/>
                <a:cs typeface="+mj-lt"/>
              </a:rPr>
              <a:t>Natura</a:t>
            </a:r>
          </a:p>
        </p:txBody>
      </p:sp>
      <p:sp>
        <p:nvSpPr>
          <p:cNvPr id="123" name="TextBox 8 2026 copy 1">
            <a:extLst>
              <a:ext uri="{FF2B5EF4-FFF2-40B4-BE49-F238E27FC236}">
                <a16:creationId xmlns:a16="http://schemas.microsoft.com/office/drawing/2014/main" id="{94CA0D84-2DC6-41D5-B31A-B866BD0A23ED}"/>
              </a:ext>
            </a:extLst>
          </p:cNvPr>
          <p:cNvSpPr>
            <a:spLocks noGrp="1"/>
          </p:cNvSpPr>
          <p:nvPr/>
        </p:nvSpPr>
        <p:spPr>
          <a:xfrm>
            <a:off x="2606040" y="7738274"/>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Pague Menos</a:t>
            </a:r>
          </a:p>
        </p:txBody>
      </p:sp>
      <p:sp>
        <p:nvSpPr>
          <p:cNvPr id="124" name="TextBox 8 2026 copy 2">
            <a:extLst>
              <a:ext uri="{FF2B5EF4-FFF2-40B4-BE49-F238E27FC236}">
                <a16:creationId xmlns:a16="http://schemas.microsoft.com/office/drawing/2014/main" id="{8DD75E7C-0C31-45F5-8BD4-F30CEDF54379}"/>
              </a:ext>
            </a:extLst>
          </p:cNvPr>
          <p:cNvSpPr>
            <a:spLocks noGrp="1"/>
          </p:cNvSpPr>
          <p:nvPr/>
        </p:nvSpPr>
        <p:spPr>
          <a:xfrm>
            <a:off x="2606040" y="7884578"/>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Panvel</a:t>
            </a:r>
          </a:p>
        </p:txBody>
      </p:sp>
      <p:sp>
        <p:nvSpPr>
          <p:cNvPr id="125" name="TextBox 8 2026 copy 3">
            <a:extLst>
              <a:ext uri="{FF2B5EF4-FFF2-40B4-BE49-F238E27FC236}">
                <a16:creationId xmlns:a16="http://schemas.microsoft.com/office/drawing/2014/main" id="{D658FF67-1500-464F-B5E3-D1FADFCF3329}"/>
              </a:ext>
            </a:extLst>
          </p:cNvPr>
          <p:cNvSpPr>
            <a:spLocks noGrp="1"/>
          </p:cNvSpPr>
          <p:nvPr/>
        </p:nvSpPr>
        <p:spPr>
          <a:xfrm>
            <a:off x="2606040" y="8030882"/>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Petlove</a:t>
            </a:r>
          </a:p>
        </p:txBody>
      </p:sp>
      <p:sp>
        <p:nvSpPr>
          <p:cNvPr id="126" name="TextBox 8 2026 copy 4">
            <a:extLst>
              <a:ext uri="{FF2B5EF4-FFF2-40B4-BE49-F238E27FC236}">
                <a16:creationId xmlns:a16="http://schemas.microsoft.com/office/drawing/2014/main" id="{CE8817F6-CACB-4079-B990-4B2C5AB8B274}"/>
              </a:ext>
            </a:extLst>
          </p:cNvPr>
          <p:cNvSpPr>
            <a:spLocks noGrp="1"/>
          </p:cNvSpPr>
          <p:nvPr/>
        </p:nvSpPr>
        <p:spPr>
          <a:xfrm>
            <a:off x="2606040" y="8177186"/>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Petz Cobasi</a:t>
            </a:r>
          </a:p>
        </p:txBody>
      </p:sp>
      <p:sp>
        <p:nvSpPr>
          <p:cNvPr id="127" name="TextBox 8 2026 copy 5">
            <a:extLst>
              <a:ext uri="{FF2B5EF4-FFF2-40B4-BE49-F238E27FC236}">
                <a16:creationId xmlns:a16="http://schemas.microsoft.com/office/drawing/2014/main" id="{0FB2747A-251D-406A-ABA1-1D76B46EDC06}"/>
              </a:ext>
            </a:extLst>
          </p:cNvPr>
          <p:cNvSpPr>
            <a:spLocks noGrp="1"/>
          </p:cNvSpPr>
          <p:nvPr/>
        </p:nvSpPr>
        <p:spPr>
          <a:xfrm>
            <a:off x="2606040" y="8323490"/>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Profarma</a:t>
            </a:r>
          </a:p>
        </p:txBody>
      </p:sp>
      <p:sp>
        <p:nvSpPr>
          <p:cNvPr id="128" name="TextBox 8 2026 copy 6">
            <a:extLst>
              <a:ext uri="{FF2B5EF4-FFF2-40B4-BE49-F238E27FC236}">
                <a16:creationId xmlns:a16="http://schemas.microsoft.com/office/drawing/2014/main" id="{8234993C-E1BB-47CD-960D-DDFC87BCAA19}"/>
              </a:ext>
            </a:extLst>
          </p:cNvPr>
          <p:cNvSpPr>
            <a:spLocks noGrp="1"/>
          </p:cNvSpPr>
          <p:nvPr/>
        </p:nvSpPr>
        <p:spPr>
          <a:xfrm>
            <a:off x="2606040" y="8469794"/>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RD Saúde</a:t>
            </a:r>
          </a:p>
        </p:txBody>
      </p:sp>
      <p:sp>
        <p:nvSpPr>
          <p:cNvPr id="129" name="TextBox 8 2026 copy 7">
            <a:extLst>
              <a:ext uri="{FF2B5EF4-FFF2-40B4-BE49-F238E27FC236}">
                <a16:creationId xmlns:a16="http://schemas.microsoft.com/office/drawing/2014/main" id="{F39A989C-D964-46B3-949E-8BCF7699B70A}"/>
              </a:ext>
            </a:extLst>
          </p:cNvPr>
          <p:cNvSpPr>
            <a:spLocks noGrp="1"/>
          </p:cNvSpPr>
          <p:nvPr/>
        </p:nvSpPr>
        <p:spPr>
          <a:xfrm>
            <a:off x="2606040" y="8616098"/>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Renner</a:t>
            </a:r>
          </a:p>
        </p:txBody>
      </p:sp>
      <p:sp>
        <p:nvSpPr>
          <p:cNvPr id="130" name="TextBox 8 2026 copy 8">
            <a:extLst>
              <a:ext uri="{FF2B5EF4-FFF2-40B4-BE49-F238E27FC236}">
                <a16:creationId xmlns:a16="http://schemas.microsoft.com/office/drawing/2014/main" id="{7C98FF11-21D0-4CA2-BC8F-225115C7DE7E}"/>
              </a:ext>
            </a:extLst>
          </p:cNvPr>
          <p:cNvSpPr>
            <a:spLocks noGrp="1"/>
          </p:cNvSpPr>
          <p:nvPr/>
        </p:nvSpPr>
        <p:spPr>
          <a:xfrm>
            <a:off x="2606040" y="8762402"/>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Riachuelo</a:t>
            </a:r>
          </a:p>
        </p:txBody>
      </p:sp>
      <p:sp>
        <p:nvSpPr>
          <p:cNvPr id="131" name="TextBox 8 2026 copy 9">
            <a:extLst>
              <a:ext uri="{FF2B5EF4-FFF2-40B4-BE49-F238E27FC236}">
                <a16:creationId xmlns:a16="http://schemas.microsoft.com/office/drawing/2014/main" id="{52AE936B-792C-4267-9ADF-D7B4E185CE76}"/>
              </a:ext>
            </a:extLst>
          </p:cNvPr>
          <p:cNvSpPr>
            <a:spLocks noGrp="1"/>
          </p:cNvSpPr>
          <p:nvPr/>
        </p:nvSpPr>
        <p:spPr>
          <a:xfrm>
            <a:off x="2606040" y="8908706"/>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Smartfit</a:t>
            </a:r>
          </a:p>
        </p:txBody>
      </p:sp>
      <p:sp>
        <p:nvSpPr>
          <p:cNvPr id="132" name="TextBox 8 2026 copy 10">
            <a:extLst>
              <a:ext uri="{FF2B5EF4-FFF2-40B4-BE49-F238E27FC236}">
                <a16:creationId xmlns:a16="http://schemas.microsoft.com/office/drawing/2014/main" id="{AE26F871-8665-4985-9C70-D18EF0B53E0A}"/>
              </a:ext>
            </a:extLst>
          </p:cNvPr>
          <p:cNvSpPr>
            <a:spLocks noGrp="1"/>
          </p:cNvSpPr>
          <p:nvPr/>
        </p:nvSpPr>
        <p:spPr>
          <a:xfrm>
            <a:off x="2606040" y="9055010"/>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Vivara</a:t>
            </a:r>
          </a:p>
        </p:txBody>
      </p:sp>
      <p:sp>
        <p:nvSpPr>
          <p:cNvPr id="133" name="TextBox 8 2026 copy 11">
            <a:extLst>
              <a:ext uri="{FF2B5EF4-FFF2-40B4-BE49-F238E27FC236}">
                <a16:creationId xmlns:a16="http://schemas.microsoft.com/office/drawing/2014/main" id="{9482CD38-74A7-4FF6-876D-F7AFC9546CEE}"/>
              </a:ext>
            </a:extLst>
          </p:cNvPr>
          <p:cNvSpPr>
            <a:spLocks noGrp="1"/>
          </p:cNvSpPr>
          <p:nvPr/>
        </p:nvSpPr>
        <p:spPr>
          <a:xfrm>
            <a:off x="2606040" y="9201314"/>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Vulcabras</a:t>
            </a:r>
          </a:p>
        </p:txBody>
      </p:sp>
      <p:sp>
        <p:nvSpPr>
          <p:cNvPr id="134" name="TextBox 8 2026 copy 12">
            <a:extLst>
              <a:ext uri="{FF2B5EF4-FFF2-40B4-BE49-F238E27FC236}">
                <a16:creationId xmlns:a16="http://schemas.microsoft.com/office/drawing/2014/main" id="{9D342569-57D2-4C89-ACFD-D2CA83CF61D3}"/>
              </a:ext>
            </a:extLst>
          </p:cNvPr>
          <p:cNvSpPr>
            <a:spLocks noGrp="1"/>
          </p:cNvSpPr>
          <p:nvPr/>
        </p:nvSpPr>
        <p:spPr>
          <a:xfrm>
            <a:off x="4846320" y="1495044"/>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Bemobi</a:t>
            </a:r>
          </a:p>
        </p:txBody>
      </p:sp>
      <p:sp>
        <p:nvSpPr>
          <p:cNvPr id="135" name="TextBox 8 2026 copy 13">
            <a:extLst>
              <a:ext uri="{FF2B5EF4-FFF2-40B4-BE49-F238E27FC236}">
                <a16:creationId xmlns:a16="http://schemas.microsoft.com/office/drawing/2014/main" id="{7B08D8F9-D299-4159-9EE6-E738E35A7BC2}"/>
              </a:ext>
            </a:extLst>
          </p:cNvPr>
          <p:cNvSpPr>
            <a:spLocks noGrp="1"/>
          </p:cNvSpPr>
          <p:nvPr/>
        </p:nvSpPr>
        <p:spPr>
          <a:xfrm>
            <a:off x="4846320" y="1641348"/>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Intelbras</a:t>
            </a:r>
          </a:p>
        </p:txBody>
      </p:sp>
      <p:sp>
        <p:nvSpPr>
          <p:cNvPr id="136" name="TextBox 8 2026 copy 14">
            <a:extLst>
              <a:ext uri="{FF2B5EF4-FFF2-40B4-BE49-F238E27FC236}">
                <a16:creationId xmlns:a16="http://schemas.microsoft.com/office/drawing/2014/main" id="{E1D50D8C-DF4E-4570-9D7B-66DD660ED0B5}"/>
              </a:ext>
            </a:extLst>
          </p:cNvPr>
          <p:cNvSpPr>
            <a:spLocks noGrp="1"/>
          </p:cNvSpPr>
          <p:nvPr/>
        </p:nvSpPr>
        <p:spPr>
          <a:xfrm>
            <a:off x="4846320" y="1787651"/>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Livemode</a:t>
            </a:r>
          </a:p>
        </p:txBody>
      </p:sp>
      <p:sp>
        <p:nvSpPr>
          <p:cNvPr id="137" name="TextBox 8 2026 copy 15">
            <a:extLst>
              <a:ext uri="{FF2B5EF4-FFF2-40B4-BE49-F238E27FC236}">
                <a16:creationId xmlns:a16="http://schemas.microsoft.com/office/drawing/2014/main" id="{4F992CC8-E948-4B49-B8A2-D9E1B72660B8}"/>
              </a:ext>
            </a:extLst>
          </p:cNvPr>
          <p:cNvSpPr>
            <a:spLocks noGrp="1"/>
          </p:cNvSpPr>
          <p:nvPr/>
        </p:nvSpPr>
        <p:spPr>
          <a:xfrm>
            <a:off x="4846320" y="1933955"/>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LWSA</a:t>
            </a:r>
          </a:p>
        </p:txBody>
      </p:sp>
      <p:sp>
        <p:nvSpPr>
          <p:cNvPr id="138" name="TextBox 8 2026 copy 16">
            <a:extLst>
              <a:ext uri="{FF2B5EF4-FFF2-40B4-BE49-F238E27FC236}">
                <a16:creationId xmlns:a16="http://schemas.microsoft.com/office/drawing/2014/main" id="{457E02CA-0005-44D3-96D5-5C9DA3BFE0D8}"/>
              </a:ext>
            </a:extLst>
          </p:cNvPr>
          <p:cNvSpPr>
            <a:spLocks noGrp="1"/>
          </p:cNvSpPr>
          <p:nvPr/>
        </p:nvSpPr>
        <p:spPr>
          <a:xfrm>
            <a:off x="4846320" y="2080260"/>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Senior Sistemas</a:t>
            </a:r>
          </a:p>
        </p:txBody>
      </p:sp>
      <p:sp>
        <p:nvSpPr>
          <p:cNvPr id="139" name="TextBox 8 2026 copy 17">
            <a:extLst>
              <a:ext uri="{FF2B5EF4-FFF2-40B4-BE49-F238E27FC236}">
                <a16:creationId xmlns:a16="http://schemas.microsoft.com/office/drawing/2014/main" id="{05B31B0B-6263-4AA9-B596-244B757EAB40}"/>
              </a:ext>
            </a:extLst>
          </p:cNvPr>
          <p:cNvSpPr>
            <a:spLocks noGrp="1"/>
          </p:cNvSpPr>
          <p:nvPr/>
        </p:nvSpPr>
        <p:spPr>
          <a:xfrm>
            <a:off x="4846320" y="2226564"/>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Telefônica Vivo</a:t>
            </a:r>
          </a:p>
        </p:txBody>
      </p:sp>
      <p:sp>
        <p:nvSpPr>
          <p:cNvPr id="140" name="TextBox 8 2026 copy 18">
            <a:extLst>
              <a:ext uri="{FF2B5EF4-FFF2-40B4-BE49-F238E27FC236}">
                <a16:creationId xmlns:a16="http://schemas.microsoft.com/office/drawing/2014/main" id="{E831E858-9E6F-4A8C-A0DB-FCA426000943}"/>
              </a:ext>
            </a:extLst>
          </p:cNvPr>
          <p:cNvSpPr>
            <a:spLocks noGrp="1"/>
          </p:cNvSpPr>
          <p:nvPr/>
        </p:nvSpPr>
        <p:spPr>
          <a:xfrm>
            <a:off x="4846320" y="2372868"/>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TIM</a:t>
            </a:r>
          </a:p>
        </p:txBody>
      </p:sp>
      <p:sp>
        <p:nvSpPr>
          <p:cNvPr id="141" name="TextBox 8 2026 copy 19">
            <a:extLst>
              <a:ext uri="{FF2B5EF4-FFF2-40B4-BE49-F238E27FC236}">
                <a16:creationId xmlns:a16="http://schemas.microsoft.com/office/drawing/2014/main" id="{30A7E063-5386-476A-956A-3DD2AFE92052}"/>
              </a:ext>
            </a:extLst>
          </p:cNvPr>
          <p:cNvSpPr>
            <a:spLocks noGrp="1"/>
          </p:cNvSpPr>
          <p:nvPr/>
        </p:nvSpPr>
        <p:spPr>
          <a:xfrm>
            <a:off x="4846320" y="2519172"/>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TOTVS</a:t>
            </a:r>
          </a:p>
        </p:txBody>
      </p:sp>
      <p:sp>
        <p:nvSpPr>
          <p:cNvPr id="142" name="TextBox 8 2026 copy 20">
            <a:extLst>
              <a:ext uri="{FF2B5EF4-FFF2-40B4-BE49-F238E27FC236}">
                <a16:creationId xmlns:a16="http://schemas.microsoft.com/office/drawing/2014/main" id="{756A8A78-2BE7-48F0-8E25-9344CF6441BE}"/>
              </a:ext>
            </a:extLst>
          </p:cNvPr>
          <p:cNvSpPr>
            <a:spLocks noGrp="1"/>
          </p:cNvSpPr>
          <p:nvPr/>
        </p:nvSpPr>
        <p:spPr>
          <a:xfrm>
            <a:off x="4846320" y="3191256"/>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Armac</a:t>
            </a:r>
          </a:p>
        </p:txBody>
      </p:sp>
      <p:sp>
        <p:nvSpPr>
          <p:cNvPr id="143" name="TextBox 8 2026 copy 21">
            <a:extLst>
              <a:ext uri="{FF2B5EF4-FFF2-40B4-BE49-F238E27FC236}">
                <a16:creationId xmlns:a16="http://schemas.microsoft.com/office/drawing/2014/main" id="{B6BBE8CF-4D6B-49DF-9222-5855A4272659}"/>
              </a:ext>
            </a:extLst>
          </p:cNvPr>
          <p:cNvSpPr>
            <a:spLocks noGrp="1"/>
          </p:cNvSpPr>
          <p:nvPr/>
        </p:nvSpPr>
        <p:spPr>
          <a:xfrm>
            <a:off x="4846320" y="3337560"/>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Automob</a:t>
            </a:r>
          </a:p>
        </p:txBody>
      </p:sp>
      <p:sp>
        <p:nvSpPr>
          <p:cNvPr id="144" name="TextBox 8 2026 copy 22">
            <a:extLst>
              <a:ext uri="{FF2B5EF4-FFF2-40B4-BE49-F238E27FC236}">
                <a16:creationId xmlns:a16="http://schemas.microsoft.com/office/drawing/2014/main" id="{C9EF63C5-B8A5-4C56-A0EC-EFAF0D1F9683}"/>
              </a:ext>
            </a:extLst>
          </p:cNvPr>
          <p:cNvSpPr>
            <a:spLocks noGrp="1"/>
          </p:cNvSpPr>
          <p:nvPr/>
        </p:nvSpPr>
        <p:spPr>
          <a:xfrm>
            <a:off x="4846320" y="3483864"/>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Ecorodovias</a:t>
            </a:r>
          </a:p>
        </p:txBody>
      </p:sp>
      <p:sp>
        <p:nvSpPr>
          <p:cNvPr id="145" name="TextBox 8 2026 copy 23">
            <a:extLst>
              <a:ext uri="{FF2B5EF4-FFF2-40B4-BE49-F238E27FC236}">
                <a16:creationId xmlns:a16="http://schemas.microsoft.com/office/drawing/2014/main" id="{8584CD6A-AC9C-4233-BC87-0BF66B54601E}"/>
              </a:ext>
            </a:extLst>
          </p:cNvPr>
          <p:cNvSpPr>
            <a:spLocks noGrp="1"/>
          </p:cNvSpPr>
          <p:nvPr/>
        </p:nvSpPr>
        <p:spPr>
          <a:xfrm>
            <a:off x="4846320" y="3630168"/>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GPS</a:t>
            </a:r>
          </a:p>
        </p:txBody>
      </p:sp>
      <p:sp>
        <p:nvSpPr>
          <p:cNvPr id="146" name="TextBox 8 2026 copy 24">
            <a:extLst>
              <a:ext uri="{FF2B5EF4-FFF2-40B4-BE49-F238E27FC236}">
                <a16:creationId xmlns:a16="http://schemas.microsoft.com/office/drawing/2014/main" id="{B08049AC-F0D0-4C0D-92F3-0F830E2752EB}"/>
              </a:ext>
            </a:extLst>
          </p:cNvPr>
          <p:cNvSpPr>
            <a:spLocks noGrp="1"/>
          </p:cNvSpPr>
          <p:nvPr/>
        </p:nvSpPr>
        <p:spPr>
          <a:xfrm>
            <a:off x="4846320" y="3776472"/>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Motiva</a:t>
            </a:r>
          </a:p>
        </p:txBody>
      </p:sp>
      <p:sp>
        <p:nvSpPr>
          <p:cNvPr id="147" name="TextBox 8 2026 copy 25">
            <a:extLst>
              <a:ext uri="{FF2B5EF4-FFF2-40B4-BE49-F238E27FC236}">
                <a16:creationId xmlns:a16="http://schemas.microsoft.com/office/drawing/2014/main" id="{3A67DDD3-1F67-46A6-9B89-B9F73ACFDE38}"/>
              </a:ext>
            </a:extLst>
          </p:cNvPr>
          <p:cNvSpPr>
            <a:spLocks noGrp="1"/>
          </p:cNvSpPr>
          <p:nvPr/>
        </p:nvSpPr>
        <p:spPr>
          <a:xfrm>
            <a:off x="4846320" y="3922776"/>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Movida</a:t>
            </a:r>
          </a:p>
        </p:txBody>
      </p:sp>
      <p:sp>
        <p:nvSpPr>
          <p:cNvPr id="148" name="TextBox 8 2026 copy 26">
            <a:extLst>
              <a:ext uri="{FF2B5EF4-FFF2-40B4-BE49-F238E27FC236}">
                <a16:creationId xmlns:a16="http://schemas.microsoft.com/office/drawing/2014/main" id="{F6262BE8-BD2A-4A5E-935E-87AAF50BC183}"/>
              </a:ext>
            </a:extLst>
          </p:cNvPr>
          <p:cNvSpPr>
            <a:spLocks noGrp="1"/>
          </p:cNvSpPr>
          <p:nvPr/>
        </p:nvSpPr>
        <p:spPr>
          <a:xfrm>
            <a:off x="4846320" y="4069080"/>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Priner</a:t>
            </a:r>
          </a:p>
        </p:txBody>
      </p:sp>
      <p:sp>
        <p:nvSpPr>
          <p:cNvPr id="149" name="TextBox 8 2026 copy 27">
            <a:extLst>
              <a:ext uri="{FF2B5EF4-FFF2-40B4-BE49-F238E27FC236}">
                <a16:creationId xmlns:a16="http://schemas.microsoft.com/office/drawing/2014/main" id="{4E3CBE27-7393-4DD1-9436-C00F8E291690}"/>
              </a:ext>
            </a:extLst>
          </p:cNvPr>
          <p:cNvSpPr>
            <a:spLocks noGrp="1"/>
          </p:cNvSpPr>
          <p:nvPr/>
        </p:nvSpPr>
        <p:spPr>
          <a:xfrm>
            <a:off x="4846320" y="4215384"/>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Rumo</a:t>
            </a:r>
          </a:p>
        </p:txBody>
      </p:sp>
      <p:sp>
        <p:nvSpPr>
          <p:cNvPr id="150" name="TextBox 8 2026 copy 28">
            <a:extLst>
              <a:ext uri="{FF2B5EF4-FFF2-40B4-BE49-F238E27FC236}">
                <a16:creationId xmlns:a16="http://schemas.microsoft.com/office/drawing/2014/main" id="{FF345CF7-ABE5-419F-976F-997D5639AC79}"/>
              </a:ext>
            </a:extLst>
          </p:cNvPr>
          <p:cNvSpPr>
            <a:spLocks noGrp="1"/>
          </p:cNvSpPr>
          <p:nvPr/>
        </p:nvSpPr>
        <p:spPr>
          <a:xfrm>
            <a:off x="4846320" y="4361688"/>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Simpar</a:t>
            </a:r>
          </a:p>
        </p:txBody>
      </p:sp>
      <p:sp>
        <p:nvSpPr>
          <p:cNvPr id="151" name="TextBox 8 2026 copy 29">
            <a:extLst>
              <a:ext uri="{FF2B5EF4-FFF2-40B4-BE49-F238E27FC236}">
                <a16:creationId xmlns:a16="http://schemas.microsoft.com/office/drawing/2014/main" id="{E6EDFD60-8FF1-4FFF-B196-843F0C3678FF}"/>
              </a:ext>
            </a:extLst>
          </p:cNvPr>
          <p:cNvSpPr>
            <a:spLocks noGrp="1"/>
          </p:cNvSpPr>
          <p:nvPr/>
        </p:nvSpPr>
        <p:spPr>
          <a:xfrm>
            <a:off x="4846320" y="4507992"/>
            <a:ext cx="2008717" cy="230832"/>
          </a:xfrm>
          <a:prstGeom prst="rect">
            <a:avLst/>
          </a:prstGeom>
          <a:noFill/>
          <a:ln w="0">
            <a:noFill/>
            <a:prstDash val="solid"/>
          </a:ln>
        </p:spPr>
        <p:txBody>
          <a:bodyPr wrap="square">
            <a:spAutoFit/>
          </a:bodyPr>
          <a:lstStyle/>
          <a:p>
            <a:pPr algn="l">
              <a:defRPr sz="800" b="1">
                <a:solidFill>
                  <a:srgbClr val="FFFFFF"/>
                </a:solidFill>
                <a:latin typeface="+mj-lt"/>
                <a:ea typeface="+mj-lt"/>
                <a:cs typeface="+mj-lt"/>
              </a:defRPr>
            </a:pPr>
            <a:r>
              <a:rPr sz="900" b="1">
                <a:solidFill>
                  <a:srgbClr val="FFFFFF"/>
                </a:solidFill>
                <a:latin typeface="+mj-lt"/>
                <a:ea typeface="+mj-lt"/>
                <a:cs typeface="+mj-lt"/>
              </a:rPr>
              <a:t>Vamos</a:t>
            </a:r>
          </a:p>
        </p:txBody>
      </p:sp>
      <p:sp>
        <p:nvSpPr>
          <p:cNvPr id="8" name="TextBox 3">
            <a:extLst>
              <a:ext uri="{FF2B5EF4-FFF2-40B4-BE49-F238E27FC236}">
                <a16:creationId xmlns:a16="http://schemas.microsoft.com/office/drawing/2014/main" id="{DF831856-B7A3-4A12-8461-275210DF6AE9}"/>
              </a:ext>
            </a:extLst>
          </p:cNvPr>
          <p:cNvSpPr>
            <a:spLocks noGrp="1"/>
          </p:cNvSpPr>
          <p:nvPr/>
        </p:nvSpPr>
        <p:spPr>
          <a:xfrm>
            <a:off x="4846320" y="5765292"/>
            <a:ext cx="2008717" cy="230832"/>
          </a:xfrm>
          <a:prstGeom prst="rect">
            <a:avLst/>
          </a:prstGeom>
          <a:noFill/>
        </p:spPr>
        <p:txBody>
          <a:bodyPr wrap="square">
            <a:spAutoFit/>
          </a:bodyPr>
          <a:lstStyle/>
          <a:p>
            <a:pPr algn="l">
              <a:buNone/>
            </a:pPr>
            <a:r>
              <a:rPr sz="900" b="1" dirty="0">
                <a:solidFill>
                  <a:schemeClr val="bg1"/>
                </a:solidFill>
                <a:latin typeface="+mj-lt"/>
                <a:ea typeface="+mj-lt"/>
                <a:cs typeface="+mj-lt"/>
              </a:rPr>
              <a:t>C</a:t>
            </a:r>
            <a:r>
              <a:rPr lang="pt-BR" sz="900" b="1" dirty="0" err="1">
                <a:solidFill>
                  <a:schemeClr val="bg1"/>
                </a:solidFill>
                <a:latin typeface="+mj-lt"/>
                <a:ea typeface="+mj-lt"/>
                <a:cs typeface="+mj-lt"/>
              </a:rPr>
              <a:t>ompass</a:t>
            </a:r>
            <a:endParaRPr sz="900" b="1" dirty="0">
              <a:solidFill>
                <a:schemeClr val="bg1"/>
              </a:solidFill>
              <a:latin typeface="+mj-lt"/>
              <a:ea typeface="+mj-lt"/>
              <a:cs typeface="+mj-lt"/>
            </a:endParaRPr>
          </a:p>
        </p:txBody>
      </p:sp>
    </p:spTree>
    <p:extLst>
      <p:ext uri="{BB962C8B-B14F-4D97-AF65-F5344CB8AC3E}">
        <p14:creationId xmlns:p14="http://schemas.microsoft.com/office/powerpoint/2010/main" val="4164885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E02E447-928B-491A-BB70-5CD030ED9D43}"/>
              </a:ext>
            </a:extLst>
          </p:cNvPr>
          <p:cNvSpPr>
            <a:spLocks noGrp="1"/>
          </p:cNvSpPr>
          <p:nvPr>
            <p:ph type="body" sz="quarter" idx="17"/>
          </p:nvPr>
        </p:nvSpPr>
        <p:spPr>
          <a:xfrm>
            <a:off x="2551077" y="2178594"/>
            <a:ext cx="3938623" cy="338554"/>
          </a:xfrm>
        </p:spPr>
        <p:txBody>
          <a:bodyPr/>
          <a:lstStyle/>
          <a:p>
            <a:r>
              <a:rPr lang="en-US" dirty="0">
                <a:hlinkClick r:id="rId2" action="ppaction://hlinksldjump">
                  <a:extLst>
                    <a:ext uri="{A12FA001-AC4F-418D-AE19-62706E023703}">
                      <ahyp:hlinkClr xmlns:ahyp="http://schemas.microsoft.com/office/drawing/2018/hyperlinkcolor" val="tx"/>
                    </a:ext>
                  </a:extLst>
                </a:hlinkClick>
              </a:rPr>
              <a:t>3. Agri, Food and Beverages</a:t>
            </a:r>
            <a:endParaRPr lang="en-US" dirty="0">
              <a:hlinkClick r:id="rId3" action="ppaction://hlinksldjump">
                <a:extLst>
                  <a:ext uri="{A12FA001-AC4F-418D-AE19-62706E023703}">
                    <ahyp:hlinkClr xmlns:ahyp="http://schemas.microsoft.com/office/drawing/2018/hyperlinkcolor" val="tx"/>
                  </a:ext>
                </a:extLst>
              </a:hlinkClick>
            </a:endParaRPr>
          </a:p>
        </p:txBody>
      </p:sp>
      <p:sp>
        <p:nvSpPr>
          <p:cNvPr id="4" name="Text Placeholder 3">
            <a:extLst>
              <a:ext uri="{FF2B5EF4-FFF2-40B4-BE49-F238E27FC236}">
                <a16:creationId xmlns:a16="http://schemas.microsoft.com/office/drawing/2014/main" id="{70CD7804-A50A-457D-A0F9-9321F2D4A205}"/>
              </a:ext>
            </a:extLst>
          </p:cNvPr>
          <p:cNvSpPr>
            <a:spLocks noGrp="1"/>
          </p:cNvSpPr>
          <p:nvPr>
            <p:ph type="body" sz="quarter" idx="19"/>
          </p:nvPr>
        </p:nvSpPr>
        <p:spPr>
          <a:xfrm>
            <a:off x="2551077" y="2772509"/>
            <a:ext cx="3938623" cy="338554"/>
          </a:xfrm>
        </p:spPr>
        <p:txBody>
          <a:bodyPr vert="horz" lIns="0" tIns="45720" rIns="91440" bIns="45720" rtlCol="0" anchor="t">
            <a:noAutofit/>
          </a:bodyPr>
          <a:lstStyle/>
          <a:p>
            <a:r>
              <a:rPr lang="en-US" dirty="0">
                <a:hlinkClick r:id="rId4" action="ppaction://hlinksldjump">
                  <a:extLst>
                    <a:ext uri="{A12FA001-AC4F-418D-AE19-62706E023703}">
                      <ahyp:hlinkClr xmlns:ahyp="http://schemas.microsoft.com/office/drawing/2018/hyperlinkcolor" val="tx"/>
                    </a:ext>
                  </a:extLst>
                </a:hlinkClick>
              </a:rPr>
              <a:t>4. Banks and Non-Bank Financials</a:t>
            </a:r>
            <a:endParaRPr lang="en-US" dirty="0">
              <a:hlinkClick r:id="rId5" action="ppaction://hlinksldjump">
                <a:extLst>
                  <a:ext uri="{A12FA001-AC4F-418D-AE19-62706E023703}">
                    <ahyp:hlinkClr xmlns:ahyp="http://schemas.microsoft.com/office/drawing/2018/hyperlinkcolor" val="tx"/>
                  </a:ext>
                </a:extLst>
              </a:hlinkClick>
            </a:endParaRPr>
          </a:p>
        </p:txBody>
      </p:sp>
      <p:sp>
        <p:nvSpPr>
          <p:cNvPr id="67" name="Text Placeholder 66">
            <a:extLst>
              <a:ext uri="{FF2B5EF4-FFF2-40B4-BE49-F238E27FC236}">
                <a16:creationId xmlns:a16="http://schemas.microsoft.com/office/drawing/2014/main" id="{A33F158C-9A42-FCFA-427C-846D65782794}"/>
              </a:ext>
            </a:extLst>
          </p:cNvPr>
          <p:cNvSpPr>
            <a:spLocks noGrp="1"/>
          </p:cNvSpPr>
          <p:nvPr>
            <p:ph type="body" sz="quarter" idx="21"/>
          </p:nvPr>
        </p:nvSpPr>
        <p:spPr>
          <a:xfrm>
            <a:off x="2551077" y="3366424"/>
            <a:ext cx="3938623" cy="338554"/>
          </a:xfrm>
        </p:spPr>
        <p:txBody>
          <a:bodyPr/>
          <a:lstStyle/>
          <a:p>
            <a:r>
              <a:rPr lang="en-US" dirty="0">
                <a:hlinkClick r:id="rId6" action="ppaction://hlinksldjump">
                  <a:extLst>
                    <a:ext uri="{A12FA001-AC4F-418D-AE19-62706E023703}">
                      <ahyp:hlinkClr xmlns:ahyp="http://schemas.microsoft.com/office/drawing/2018/hyperlinkcolor" val="tx"/>
                    </a:ext>
                  </a:extLst>
                </a:hlinkClick>
              </a:rPr>
              <a:t>5. Capital Goods</a:t>
            </a:r>
            <a:endParaRPr lang="en-US" dirty="0"/>
          </a:p>
          <a:p>
            <a:endParaRPr lang="en-US" dirty="0">
              <a:hlinkClick r:id="rId5" action="ppaction://hlinksldjump">
                <a:extLst>
                  <a:ext uri="{A12FA001-AC4F-418D-AE19-62706E023703}">
                    <ahyp:hlinkClr xmlns:ahyp="http://schemas.microsoft.com/office/drawing/2018/hyperlinkcolor" val="tx"/>
                  </a:ext>
                </a:extLst>
              </a:hlinkClick>
            </a:endParaRPr>
          </a:p>
          <a:p>
            <a:endParaRPr lang="pt-BR" dirty="0"/>
          </a:p>
        </p:txBody>
      </p:sp>
      <p:sp>
        <p:nvSpPr>
          <p:cNvPr id="68" name="Text Placeholder 67">
            <a:extLst>
              <a:ext uri="{FF2B5EF4-FFF2-40B4-BE49-F238E27FC236}">
                <a16:creationId xmlns:a16="http://schemas.microsoft.com/office/drawing/2014/main" id="{7326F88A-8331-D8AA-1FEF-B9E43DAE061C}"/>
              </a:ext>
            </a:extLst>
          </p:cNvPr>
          <p:cNvSpPr>
            <a:spLocks noGrp="1"/>
          </p:cNvSpPr>
          <p:nvPr>
            <p:ph type="body" sz="quarter" idx="23"/>
          </p:nvPr>
        </p:nvSpPr>
        <p:spPr>
          <a:xfrm>
            <a:off x="2551077" y="4554254"/>
            <a:ext cx="3938623" cy="338554"/>
          </a:xfrm>
        </p:spPr>
        <p:txBody>
          <a:bodyPr/>
          <a:lstStyle/>
          <a:p>
            <a:r>
              <a:rPr lang="en-US" dirty="0">
                <a:hlinkClick r:id="rId7" action="ppaction://hlinksldjump">
                  <a:extLst>
                    <a:ext uri="{A12FA001-AC4F-418D-AE19-62706E023703}">
                      <ahyp:hlinkClr xmlns:ahyp="http://schemas.microsoft.com/office/drawing/2018/hyperlinkcolor" val="tx"/>
                    </a:ext>
                  </a:extLst>
                </a:hlinkClick>
              </a:rPr>
              <a:t>7. Healthcare</a:t>
            </a:r>
            <a:endParaRPr lang="en-US" dirty="0"/>
          </a:p>
          <a:p>
            <a:endParaRPr lang="en-US" dirty="0">
              <a:hlinkClick r:id="rId5" action="ppaction://hlinksldjump">
                <a:extLst>
                  <a:ext uri="{A12FA001-AC4F-418D-AE19-62706E023703}">
                    <ahyp:hlinkClr xmlns:ahyp="http://schemas.microsoft.com/office/drawing/2018/hyperlinkcolor" val="tx"/>
                  </a:ext>
                </a:extLst>
              </a:hlinkClick>
            </a:endParaRPr>
          </a:p>
          <a:p>
            <a:endParaRPr lang="pt-BR" dirty="0"/>
          </a:p>
        </p:txBody>
      </p:sp>
      <p:sp>
        <p:nvSpPr>
          <p:cNvPr id="69" name="Text Placeholder 68">
            <a:extLst>
              <a:ext uri="{FF2B5EF4-FFF2-40B4-BE49-F238E27FC236}">
                <a16:creationId xmlns:a16="http://schemas.microsoft.com/office/drawing/2014/main" id="{D70AEF61-37D2-AE0B-8A94-44D092508356}"/>
              </a:ext>
            </a:extLst>
          </p:cNvPr>
          <p:cNvSpPr>
            <a:spLocks noGrp="1"/>
          </p:cNvSpPr>
          <p:nvPr>
            <p:ph type="body" sz="quarter" idx="25"/>
          </p:nvPr>
        </p:nvSpPr>
        <p:spPr>
          <a:xfrm>
            <a:off x="2551077" y="5742084"/>
            <a:ext cx="3938623" cy="338554"/>
          </a:xfrm>
        </p:spPr>
        <p:txBody>
          <a:bodyPr/>
          <a:lstStyle/>
          <a:p>
            <a:r>
              <a:rPr lang="en-US" dirty="0">
                <a:hlinkClick r:id="rId8" action="ppaction://hlinksldjump">
                  <a:extLst>
                    <a:ext uri="{A12FA001-AC4F-418D-AE19-62706E023703}">
                      <ahyp:hlinkClr xmlns:ahyp="http://schemas.microsoft.com/office/drawing/2018/hyperlinkcolor" val="tx"/>
                    </a:ext>
                  </a:extLst>
                </a:hlinkClick>
              </a:rPr>
              <a:t>9. Oil, Gas &amp; Petrochemicals</a:t>
            </a:r>
            <a:endParaRPr lang="en-US" dirty="0"/>
          </a:p>
          <a:p>
            <a:endParaRPr lang="pt-BR" dirty="0"/>
          </a:p>
        </p:txBody>
      </p:sp>
      <p:sp>
        <p:nvSpPr>
          <p:cNvPr id="70" name="Text Placeholder 69">
            <a:extLst>
              <a:ext uri="{FF2B5EF4-FFF2-40B4-BE49-F238E27FC236}">
                <a16:creationId xmlns:a16="http://schemas.microsoft.com/office/drawing/2014/main" id="{12B24666-3CEC-ACDC-56EF-29B47C8898AF}"/>
              </a:ext>
            </a:extLst>
          </p:cNvPr>
          <p:cNvSpPr>
            <a:spLocks noGrp="1"/>
          </p:cNvSpPr>
          <p:nvPr>
            <p:ph type="body" sz="quarter" idx="27"/>
          </p:nvPr>
        </p:nvSpPr>
        <p:spPr>
          <a:xfrm>
            <a:off x="2551077" y="6929914"/>
            <a:ext cx="3938623" cy="338554"/>
          </a:xfrm>
        </p:spPr>
        <p:txBody>
          <a:bodyPr/>
          <a:lstStyle/>
          <a:p>
            <a:r>
              <a:rPr lang="en-US" dirty="0">
                <a:hlinkClick r:id="rId9" action="ppaction://hlinksldjump">
                  <a:extLst>
                    <a:ext uri="{A12FA001-AC4F-418D-AE19-62706E023703}">
                      <ahyp:hlinkClr xmlns:ahyp="http://schemas.microsoft.com/office/drawing/2018/hyperlinkcolor" val="tx"/>
                    </a:ext>
                  </a:extLst>
                </a:hlinkClick>
              </a:rPr>
              <a:t>11. Real Estate</a:t>
            </a:r>
            <a:endParaRPr lang="en-US" dirty="0"/>
          </a:p>
        </p:txBody>
      </p:sp>
      <p:sp>
        <p:nvSpPr>
          <p:cNvPr id="71" name="Text Placeholder 70">
            <a:extLst>
              <a:ext uri="{FF2B5EF4-FFF2-40B4-BE49-F238E27FC236}">
                <a16:creationId xmlns:a16="http://schemas.microsoft.com/office/drawing/2014/main" id="{36347931-6A9E-6BF8-806E-B80DFF3402E9}"/>
              </a:ext>
            </a:extLst>
          </p:cNvPr>
          <p:cNvSpPr>
            <a:spLocks noGrp="1"/>
          </p:cNvSpPr>
          <p:nvPr>
            <p:ph type="body" sz="quarter" idx="28"/>
          </p:nvPr>
        </p:nvSpPr>
        <p:spPr>
          <a:xfrm>
            <a:off x="2551077" y="3960339"/>
            <a:ext cx="3938623" cy="338554"/>
          </a:xfrm>
        </p:spPr>
        <p:txBody>
          <a:bodyPr/>
          <a:lstStyle/>
          <a:p>
            <a:r>
              <a:rPr lang="en-US" dirty="0">
                <a:hlinkClick r:id="rId5" action="ppaction://hlinksldjump">
                  <a:extLst>
                    <a:ext uri="{A12FA001-AC4F-418D-AE19-62706E023703}">
                      <ahyp:hlinkClr xmlns:ahyp="http://schemas.microsoft.com/office/drawing/2018/hyperlinkcolor" val="tx"/>
                    </a:ext>
                  </a:extLst>
                </a:hlinkClick>
              </a:rPr>
              <a:t>6. Education</a:t>
            </a:r>
          </a:p>
          <a:p>
            <a:endParaRPr lang="pt-BR" dirty="0"/>
          </a:p>
        </p:txBody>
      </p:sp>
      <p:sp>
        <p:nvSpPr>
          <p:cNvPr id="72" name="Text Placeholder 71">
            <a:extLst>
              <a:ext uri="{FF2B5EF4-FFF2-40B4-BE49-F238E27FC236}">
                <a16:creationId xmlns:a16="http://schemas.microsoft.com/office/drawing/2014/main" id="{02B96DE4-7B80-3910-22E6-AFD44849BE6C}"/>
              </a:ext>
            </a:extLst>
          </p:cNvPr>
          <p:cNvSpPr>
            <a:spLocks noGrp="1"/>
          </p:cNvSpPr>
          <p:nvPr>
            <p:ph type="body" sz="quarter" idx="29"/>
          </p:nvPr>
        </p:nvSpPr>
        <p:spPr>
          <a:xfrm>
            <a:off x="2551077" y="5148169"/>
            <a:ext cx="3938623" cy="338554"/>
          </a:xfrm>
        </p:spPr>
        <p:txBody>
          <a:bodyPr/>
          <a:lstStyle/>
          <a:p>
            <a:r>
              <a:rPr lang="en-US" dirty="0">
                <a:hlinkClick r:id="rId10" action="ppaction://hlinksldjump">
                  <a:extLst>
                    <a:ext uri="{A12FA001-AC4F-418D-AE19-62706E023703}">
                      <ahyp:hlinkClr xmlns:ahyp="http://schemas.microsoft.com/office/drawing/2018/hyperlinkcolor" val="tx"/>
                    </a:ext>
                  </a:extLst>
                </a:hlinkClick>
              </a:rPr>
              <a:t>8. Metals &amp; Mining</a:t>
            </a:r>
            <a:endParaRPr lang="en-US" dirty="0"/>
          </a:p>
          <a:p>
            <a:endParaRPr lang="pt-BR" dirty="0"/>
          </a:p>
        </p:txBody>
      </p:sp>
      <p:sp>
        <p:nvSpPr>
          <p:cNvPr id="73" name="Text Placeholder 72">
            <a:extLst>
              <a:ext uri="{FF2B5EF4-FFF2-40B4-BE49-F238E27FC236}">
                <a16:creationId xmlns:a16="http://schemas.microsoft.com/office/drawing/2014/main" id="{86B99B8C-EEDD-ED43-FCD5-9521258C4A27}"/>
              </a:ext>
            </a:extLst>
          </p:cNvPr>
          <p:cNvSpPr>
            <a:spLocks noGrp="1"/>
          </p:cNvSpPr>
          <p:nvPr>
            <p:ph type="body" sz="quarter" idx="30"/>
          </p:nvPr>
        </p:nvSpPr>
        <p:spPr>
          <a:xfrm>
            <a:off x="2551077" y="6335999"/>
            <a:ext cx="3938623" cy="338554"/>
          </a:xfrm>
        </p:spPr>
        <p:txBody>
          <a:bodyPr/>
          <a:lstStyle/>
          <a:p>
            <a:r>
              <a:rPr lang="en-US" dirty="0">
                <a:hlinkClick r:id="rId11" action="ppaction://hlinksldjump">
                  <a:extLst>
                    <a:ext uri="{A12FA001-AC4F-418D-AE19-62706E023703}">
                      <ahyp:hlinkClr xmlns:ahyp="http://schemas.microsoft.com/office/drawing/2018/hyperlinkcolor" val="tx"/>
                    </a:ext>
                  </a:extLst>
                </a:hlinkClick>
              </a:rPr>
              <a:t>10. Pulp &amp; Paper</a:t>
            </a:r>
            <a:endParaRPr lang="en-US" dirty="0"/>
          </a:p>
          <a:p>
            <a:endParaRPr lang="pt-BR" dirty="0"/>
          </a:p>
        </p:txBody>
      </p:sp>
      <p:sp>
        <p:nvSpPr>
          <p:cNvPr id="74" name="Text Placeholder 73">
            <a:extLst>
              <a:ext uri="{FF2B5EF4-FFF2-40B4-BE49-F238E27FC236}">
                <a16:creationId xmlns:a16="http://schemas.microsoft.com/office/drawing/2014/main" id="{F8A29595-7731-DFF6-FC9E-92491AB5B24D}"/>
              </a:ext>
            </a:extLst>
          </p:cNvPr>
          <p:cNvSpPr>
            <a:spLocks noGrp="1"/>
          </p:cNvSpPr>
          <p:nvPr>
            <p:ph type="body" sz="quarter" idx="31"/>
          </p:nvPr>
        </p:nvSpPr>
        <p:spPr>
          <a:xfrm>
            <a:off x="2551077" y="7523829"/>
            <a:ext cx="3938623" cy="338554"/>
          </a:xfrm>
        </p:spPr>
        <p:txBody>
          <a:bodyPr/>
          <a:lstStyle/>
          <a:p>
            <a:r>
              <a:rPr lang="en-US" dirty="0">
                <a:hlinkClick r:id="rId12" action="ppaction://hlinksldjump">
                  <a:extLst>
                    <a:ext uri="{A12FA001-AC4F-418D-AE19-62706E023703}">
                      <ahyp:hlinkClr xmlns:ahyp="http://schemas.microsoft.com/office/drawing/2018/hyperlinkcolor" val="tx"/>
                    </a:ext>
                  </a:extLst>
                </a:hlinkClick>
              </a:rPr>
              <a:t>12. Retail</a:t>
            </a:r>
            <a:endParaRPr lang="en-US" dirty="0"/>
          </a:p>
          <a:p>
            <a:endParaRPr lang="pt-BR" dirty="0"/>
          </a:p>
        </p:txBody>
      </p:sp>
      <p:sp>
        <p:nvSpPr>
          <p:cNvPr id="75" name="Text Placeholder 74">
            <a:extLst>
              <a:ext uri="{FF2B5EF4-FFF2-40B4-BE49-F238E27FC236}">
                <a16:creationId xmlns:a16="http://schemas.microsoft.com/office/drawing/2014/main" id="{6A7B0A4A-13AC-2B37-2114-59669AF9E43C}"/>
              </a:ext>
            </a:extLst>
          </p:cNvPr>
          <p:cNvSpPr>
            <a:spLocks noGrp="1"/>
          </p:cNvSpPr>
          <p:nvPr>
            <p:ph type="body" sz="quarter" idx="32"/>
          </p:nvPr>
        </p:nvSpPr>
        <p:spPr>
          <a:xfrm>
            <a:off x="2551077" y="8117744"/>
            <a:ext cx="3938623" cy="338554"/>
          </a:xfrm>
        </p:spPr>
        <p:txBody>
          <a:bodyPr/>
          <a:lstStyle/>
          <a:p>
            <a:r>
              <a:rPr lang="en-US" dirty="0">
                <a:hlinkClick r:id="rId13" action="ppaction://hlinksldjump">
                  <a:extLst>
                    <a:ext uri="{A12FA001-AC4F-418D-AE19-62706E023703}">
                      <ahyp:hlinkClr xmlns:ahyp="http://schemas.microsoft.com/office/drawing/2018/hyperlinkcolor" val="tx"/>
                    </a:ext>
                  </a:extLst>
                </a:hlinkClick>
              </a:rPr>
              <a:t>13. TMT</a:t>
            </a:r>
            <a:endParaRPr lang="en-US" dirty="0"/>
          </a:p>
          <a:p>
            <a:endParaRPr lang="pt-BR" dirty="0"/>
          </a:p>
        </p:txBody>
      </p:sp>
      <p:sp>
        <p:nvSpPr>
          <p:cNvPr id="76" name="Text Placeholder 75">
            <a:extLst>
              <a:ext uri="{FF2B5EF4-FFF2-40B4-BE49-F238E27FC236}">
                <a16:creationId xmlns:a16="http://schemas.microsoft.com/office/drawing/2014/main" id="{74777448-04E9-CC8C-342D-B771E0979103}"/>
              </a:ext>
            </a:extLst>
          </p:cNvPr>
          <p:cNvSpPr>
            <a:spLocks noGrp="1"/>
          </p:cNvSpPr>
          <p:nvPr>
            <p:ph type="body" sz="quarter" idx="33"/>
          </p:nvPr>
        </p:nvSpPr>
        <p:spPr>
          <a:xfrm>
            <a:off x="2551077" y="8711659"/>
            <a:ext cx="3938623" cy="338554"/>
          </a:xfrm>
        </p:spPr>
        <p:txBody>
          <a:bodyPr/>
          <a:lstStyle/>
          <a:p>
            <a:r>
              <a:rPr lang="en-US" dirty="0">
                <a:hlinkClick r:id="rId14" action="ppaction://hlinksldjump">
                  <a:extLst>
                    <a:ext uri="{A12FA001-AC4F-418D-AE19-62706E023703}">
                      <ahyp:hlinkClr xmlns:ahyp="http://schemas.microsoft.com/office/drawing/2018/hyperlinkcolor" val="tx"/>
                    </a:ext>
                  </a:extLst>
                </a:hlinkClick>
              </a:rPr>
              <a:t>14. Transportation</a:t>
            </a:r>
            <a:endParaRPr lang="en-US" dirty="0"/>
          </a:p>
        </p:txBody>
      </p:sp>
      <p:sp>
        <p:nvSpPr>
          <p:cNvPr id="77" name="Text Placeholder 76">
            <a:extLst>
              <a:ext uri="{FF2B5EF4-FFF2-40B4-BE49-F238E27FC236}">
                <a16:creationId xmlns:a16="http://schemas.microsoft.com/office/drawing/2014/main" id="{0922D039-63BD-5000-96ED-35D9AAE2240D}"/>
              </a:ext>
            </a:extLst>
          </p:cNvPr>
          <p:cNvSpPr>
            <a:spLocks noGrp="1"/>
          </p:cNvSpPr>
          <p:nvPr>
            <p:ph type="body" sz="quarter" idx="34"/>
          </p:nvPr>
        </p:nvSpPr>
        <p:spPr>
          <a:xfrm>
            <a:off x="2551077" y="9305569"/>
            <a:ext cx="3938623" cy="338554"/>
          </a:xfrm>
        </p:spPr>
        <p:txBody>
          <a:bodyPr/>
          <a:lstStyle/>
          <a:p>
            <a:r>
              <a:rPr lang="en-US" dirty="0">
                <a:solidFill>
                  <a:schemeClr val="bg1"/>
                </a:solidFill>
                <a:hlinkClick r:id="rId15" action="ppaction://hlinksldjump">
                  <a:extLst>
                    <a:ext uri="{A12FA001-AC4F-418D-AE19-62706E023703}">
                      <ahyp:hlinkClr xmlns:ahyp="http://schemas.microsoft.com/office/drawing/2018/hyperlinkcolor" val="tx"/>
                    </a:ext>
                  </a:extLst>
                </a:hlinkClick>
              </a:rPr>
              <a:t>15. Utilities</a:t>
            </a:r>
            <a:endParaRPr lang="en-US" dirty="0">
              <a:solidFill>
                <a:schemeClr val="bg1"/>
              </a:solidFill>
            </a:endParaRPr>
          </a:p>
        </p:txBody>
      </p:sp>
      <p:sp>
        <p:nvSpPr>
          <p:cNvPr id="3" name="Text Placeholder 1">
            <a:extLst>
              <a:ext uri="{FF2B5EF4-FFF2-40B4-BE49-F238E27FC236}">
                <a16:creationId xmlns:a16="http://schemas.microsoft.com/office/drawing/2014/main" id="{2A67F72F-21DE-8DA9-2D39-CDAB36660478}"/>
              </a:ext>
            </a:extLst>
          </p:cNvPr>
          <p:cNvSpPr txBox="1">
            <a:spLocks/>
          </p:cNvSpPr>
          <p:nvPr/>
        </p:nvSpPr>
        <p:spPr>
          <a:xfrm>
            <a:off x="2551077" y="990764"/>
            <a:ext cx="3938623" cy="338554"/>
          </a:xfrm>
          <a:prstGeom prst="rect">
            <a:avLst/>
          </a:prstGeom>
        </p:spPr>
        <p:txBody>
          <a:bodyPr vert="horz" lIns="0" tIns="45720" rIns="91440" bIns="4572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800" b="0" kern="1200" dirty="0">
                <a:solidFill>
                  <a:schemeClr val="accent3">
                    <a:lumMod val="20000"/>
                    <a:lumOff val="80000"/>
                  </a:schemeClr>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hlinkClick r:id="rId3" action="ppaction://hlinksldjump">
                  <a:extLst>
                    <a:ext uri="{A12FA001-AC4F-418D-AE19-62706E023703}">
                      <ahyp:hlinkClr xmlns:ahyp="http://schemas.microsoft.com/office/drawing/2018/hyperlinkcolor" val="tx"/>
                    </a:ext>
                  </a:extLst>
                </a:hlinkClick>
              </a:rPr>
              <a:t>1. Brazil Equity Strategy</a:t>
            </a:r>
          </a:p>
        </p:txBody>
      </p:sp>
      <p:sp>
        <p:nvSpPr>
          <p:cNvPr id="5" name="Text Placeholder 1">
            <a:extLst>
              <a:ext uri="{FF2B5EF4-FFF2-40B4-BE49-F238E27FC236}">
                <a16:creationId xmlns:a16="http://schemas.microsoft.com/office/drawing/2014/main" id="{3723A2CF-BA37-28E2-15FE-6BC4BF12AD0A}"/>
              </a:ext>
            </a:extLst>
          </p:cNvPr>
          <p:cNvSpPr txBox="1">
            <a:spLocks/>
          </p:cNvSpPr>
          <p:nvPr/>
        </p:nvSpPr>
        <p:spPr>
          <a:xfrm>
            <a:off x="2551077" y="1584679"/>
            <a:ext cx="3938623" cy="338554"/>
          </a:xfrm>
          <a:prstGeom prst="rect">
            <a:avLst/>
          </a:prstGeom>
        </p:spPr>
        <p:txBody>
          <a:bodyPr vert="horz" lIns="0" tIns="45720" rIns="91440" bIns="4572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800" b="0" kern="1200" dirty="0">
                <a:solidFill>
                  <a:schemeClr val="accent3">
                    <a:lumMod val="20000"/>
                    <a:lumOff val="80000"/>
                  </a:schemeClr>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hlinkClick r:id="rId16" action="ppaction://hlinksldjump">
                  <a:extLst>
                    <a:ext uri="{A12FA001-AC4F-418D-AE19-62706E023703}">
                      <ahyp:hlinkClr xmlns:ahyp="http://schemas.microsoft.com/office/drawing/2018/hyperlinkcolor" val="tx"/>
                    </a:ext>
                  </a:extLst>
                </a:hlinkClick>
              </a:rPr>
              <a:t>2. ESG</a:t>
            </a:r>
            <a:endParaRPr lang="en-US" dirty="0">
              <a:hlinkClick r:id="rId3" action="ppaction://hlinksldjump">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666828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94047-8909-8A0F-D554-1B89A0DF439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35BD006-7AFF-A3BE-F82B-3B435E9C4FEF}"/>
              </a:ext>
            </a:extLst>
          </p:cNvPr>
          <p:cNvSpPr>
            <a:spLocks noGrp="1"/>
          </p:cNvSpPr>
          <p:nvPr>
            <p:ph type="body" sz="quarter" idx="20"/>
          </p:nvPr>
        </p:nvSpPr>
        <p:spPr>
          <a:xfrm>
            <a:off x="382829" y="1500035"/>
            <a:ext cx="6106870" cy="7953528"/>
          </a:xfrm>
          <a:noFill/>
        </p:spPr>
        <p:txBody>
          <a:bodyPr/>
          <a:lstStyle/>
          <a:p>
            <a:r>
              <a:rPr lang="en-US" sz="1200" b="1" u="sng" dirty="0"/>
              <a:t>Theme #1: October Elections – How are companies preparing for different scenarios and approaching capex and growth decisions?</a:t>
            </a:r>
            <a:endParaRPr lang="pt-BR" sz="1200" u="sng" dirty="0"/>
          </a:p>
          <a:p>
            <a:r>
              <a:rPr lang="en-US" dirty="0" b="0" i="0" u="none"/>
              <a:t>Our</a:t>
            </a:r>
            <a:r>
              <a:rPr lang="en-US" dirty="0" b="0" i="0" u="none"/>
              <a:t>view:</a:t>
            </a:r>
            <a:r>
              <a:rPr lang="en-US" dirty="0" b="0" i="0" u="none"/>
              <a:t>From a market perspective, while we initially expected the current election cycle to generate less volatility than previous presidential elections, recent months have proven otherwise. Equity-market volatility has increased and is now broadly in line with historical averages observed during past election cycles. Looking ahead, the key question is whether the post-election policy framework will support fiscal improvement and foster private investment in Brazil. A more credible policy outlook could unlock postponed projects and drive a reacceleration in investment in 2027, while greater uncertainty could prolong a wait-and-see stance, particularly in regulated, domestic-demand and capital-intensive sectors.</a:t>
            </a:r>
            <a:endParaRPr lang="pt-BR" dirty="0"/>
          </a:p>
          <a:p>
            <a:endParaRPr lang="pt-BR" dirty="0"/>
          </a:p>
          <a:p>
            <a:r>
              <a:rPr lang="en-US" sz="1200" b="1" u="sng" dirty="0"/>
              <a:t>Theme #2: Economic Activity – How are companies preparing for a potential slowdown in economic activity from 2H26 or 2027 onward, and where do they see resilience in demand and earnings?</a:t>
            </a:r>
            <a:endParaRPr lang="pt-BR" sz="1200" u="sng" dirty="0"/>
          </a:p>
          <a:p>
            <a:r>
              <a:rPr lang="en-US" b="1" dirty="0" i="0" u="none"/>
              <a:t>Our view:</a:t>
            </a:r>
            <a:r>
              <a:rPr lang="en-US" dirty="0" b="0" i="0" u="none"/>
              <a:t> Our macro team forecasts 2.0% GDP growth in 2026 and a sharper slowdown to 1.0% in 2027, driven by reduced fiscal and quasi-fiscal support and worsening credit conditions. While historically low unemployment and solid job creation should provide some near-term support, the lagged effects of high interest rates, elevated indebtedness, and weaker business and consumer confidence are likely to become increasingly visible in demand. In this environment, income-sensitive and credit-sensitive sectors are expected to face greater pressure on earnings. The key question is how management teams can prepare for weaker activity from now onwards, particularly through cost discipline and efforts to protect cash generation.</a:t>
            </a:r>
            <a:endParaRPr lang="pt-BR" dirty="0"/>
          </a:p>
          <a:p>
            <a:endParaRPr lang="pt-BR" dirty="0"/>
          </a:p>
          <a:p>
            <a:r>
              <a:rPr lang="en-US" sz="1200" b="1" u="sng" dirty="0"/>
              <a:t>Theme #3: Higher-for-Longer Rates and Corporate Credit – How is a higher-for-longer interest-rate environment going to affect companies’ leverage, refinancing capacity, access to credit and capital allocation?</a:t>
            </a:r>
            <a:endParaRPr lang="pt-BR" sz="1200" u="sng" dirty="0"/>
          </a:p>
          <a:p>
            <a:r>
              <a:rPr lang="en-US" b="1" dirty="0" i="0" u="none"/>
              <a:t>Our view:</a:t>
            </a:r>
            <a:r>
              <a:rPr lang="en-US" dirty="0" b="0" i="0" u="none"/>
              <a:t> Aggregate balance sheets among Brazilian listed companies remain broadly healthy, with leverage, interest coverage, liquidity and debt maturities near historical averages. However, we see meaningful risks concentrated in specific names, as highlighted by recent credit events in Brazil. As rates are expected to remain elevated over the coming months despite the BCB’s ongoing easing cycle, a key question is to what extent this will affect companies’ earnings expectations in 2H26 and 2027. This risk may be understated in current estimates, which assume a 17% decline in financial expenses in 2027, according to our sector analysts’ estimates.</a:t>
            </a:r>
            <a:r>
              <a:rPr lang="en-US" dirty="0" b="0" i="0" u="none"/>
              <a:t>For further details, please refer to our thematic report, </a:t>
            </a:r>
            <a:r>
              <a:rPr lang="en-US" dirty="0" b="0" i="0" u="sng">
                <a:hlinkClick r:id="rId3"/>
              </a:rPr>
              <a:t>A Deep Dive into the Financial Health of Brazilian Corporates</a:t>
            </a:r>
            <a:r>
              <a:rPr lang="en-US" dirty="0" b="0" i="0" u="none"/>
              <a:t>.</a:t>
            </a:r>
            <a:endParaRPr lang="pt-BR" dirty="0"/>
          </a:p>
        </p:txBody>
      </p:sp>
      <p:sp>
        <p:nvSpPr>
          <p:cNvPr id="13" name="Text Placeholder 12">
            <a:extLst>
              <a:ext uri="{FF2B5EF4-FFF2-40B4-BE49-F238E27FC236}">
                <a16:creationId xmlns:a16="http://schemas.microsoft.com/office/drawing/2014/main" id="{3FE882C4-883A-FBEA-4242-53A08C4EFF92}"/>
              </a:ext>
            </a:extLst>
          </p:cNvPr>
          <p:cNvSpPr>
            <a:spLocks noGrp="1"/>
          </p:cNvSpPr>
          <p:nvPr>
            <p:ph type="body" sz="quarter" idx="16"/>
          </p:nvPr>
        </p:nvSpPr>
        <p:spPr/>
        <p:txBody>
          <a:bodyPr/>
          <a:lstStyle/>
          <a:p>
            <a:r>
              <a:rPr lang="pt-BR" dirty="0"/>
              <a:t>XP CEO </a:t>
            </a:r>
            <a:r>
              <a:rPr lang="pt-BR" dirty="0" err="1"/>
              <a:t>Conference</a:t>
            </a:r>
            <a:r>
              <a:rPr lang="pt-BR" dirty="0"/>
              <a:t> 2026</a:t>
            </a:r>
          </a:p>
          <a:p>
            <a:endParaRPr lang="pt-BR" dirty="0"/>
          </a:p>
        </p:txBody>
      </p:sp>
      <p:sp>
        <p:nvSpPr>
          <p:cNvPr id="14" name="Text Placeholder 13">
            <a:extLst>
              <a:ext uri="{FF2B5EF4-FFF2-40B4-BE49-F238E27FC236}">
                <a16:creationId xmlns:a16="http://schemas.microsoft.com/office/drawing/2014/main" id="{0D826C9B-DF12-A33C-009C-4056037D2F7E}"/>
              </a:ext>
            </a:extLst>
          </p:cNvPr>
          <p:cNvSpPr>
            <a:spLocks noGrp="1"/>
          </p:cNvSpPr>
          <p:nvPr>
            <p:ph type="body" sz="quarter" idx="17"/>
          </p:nvPr>
        </p:nvSpPr>
        <p:spPr/>
        <p:txBody>
          <a:bodyPr/>
          <a:lstStyle/>
          <a:p>
            <a:r>
              <a:rPr lang="pt-BR" dirty="0" err="1"/>
              <a:t>Brazil</a:t>
            </a:r>
            <a:r>
              <a:rPr lang="pt-BR" dirty="0"/>
              <a:t> </a:t>
            </a:r>
            <a:r>
              <a:rPr lang="pt-BR" dirty="0" err="1"/>
              <a:t>Equity</a:t>
            </a:r>
            <a:r>
              <a:rPr lang="pt-BR" dirty="0"/>
              <a:t> </a:t>
            </a:r>
            <a:r>
              <a:rPr lang="pt-BR" dirty="0" err="1"/>
              <a:t>Strategy</a:t>
            </a:r>
            <a:endParaRPr lang="pt-BR" dirty="0"/>
          </a:p>
        </p:txBody>
      </p:sp>
      <p:sp>
        <p:nvSpPr>
          <p:cNvPr id="15" name="Text Placeholder 14">
            <a:extLst>
              <a:ext uri="{FF2B5EF4-FFF2-40B4-BE49-F238E27FC236}">
                <a16:creationId xmlns:a16="http://schemas.microsoft.com/office/drawing/2014/main" id="{BA06736B-B498-9343-0F7B-89860080639E}"/>
              </a:ext>
            </a:extLst>
          </p:cNvPr>
          <p:cNvSpPr>
            <a:spLocks noGrp="1"/>
          </p:cNvSpPr>
          <p:nvPr>
            <p:ph type="body" sz="quarter" idx="31"/>
          </p:nvPr>
        </p:nvSpPr>
        <p:spPr/>
        <p:txBody>
          <a:bodyPr/>
          <a:lstStyle/>
          <a:p>
            <a:r>
              <a:rPr lang="pt-BR" dirty="0" err="1"/>
              <a:t>Source</a:t>
            </a:r>
            <a:r>
              <a:rPr lang="pt-BR" dirty="0"/>
              <a:t>: XP Research.</a:t>
            </a:r>
          </a:p>
        </p:txBody>
      </p:sp>
      <p:sp>
        <p:nvSpPr>
          <p:cNvPr id="16" name="Date Placeholder 15">
            <a:extLst>
              <a:ext uri="{FF2B5EF4-FFF2-40B4-BE49-F238E27FC236}">
                <a16:creationId xmlns:a16="http://schemas.microsoft.com/office/drawing/2014/main" id="{E3FED47C-13EB-C5C8-AE47-E6EEB34366BF}"/>
              </a:ext>
            </a:extLst>
          </p:cNvPr>
          <p:cNvSpPr>
            <a:spLocks noGrp="1"/>
          </p:cNvSpPr>
          <p:nvPr>
            <p:ph type="dt" sz="half" idx="2"/>
          </p:nvPr>
        </p:nvSpPr>
        <p:spPr/>
        <p:txBody>
          <a:bodyPr/>
          <a:lstStyle/>
          <a:p>
            <a:fld id="{944B1522-D64F-491F-B357-196ED417A415}" type="datetime4">
              <a:rPr lang="en-US" smtClean="0"/>
              <a:pPr/>
              <a:t>August 11, 2026</a:t>
            </a:fld>
            <a:endParaRPr lang="en-US" dirty="0"/>
          </a:p>
        </p:txBody>
      </p:sp>
    </p:spTree>
    <p:extLst>
      <p:ext uri="{BB962C8B-B14F-4D97-AF65-F5344CB8AC3E}">
        <p14:creationId xmlns:p14="http://schemas.microsoft.com/office/powerpoint/2010/main" val="2634895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2B9FD-9024-1226-D305-D19DAAC888B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CE70C90-D3E3-06EE-5446-31448175B968}"/>
              </a:ext>
            </a:extLst>
          </p:cNvPr>
          <p:cNvSpPr>
            <a:spLocks noGrp="1"/>
          </p:cNvSpPr>
          <p:nvPr>
            <p:ph type="body" sz="quarter" idx="20"/>
          </p:nvPr>
        </p:nvSpPr>
        <p:spPr>
          <a:xfrm>
            <a:off x="382829" y="1500035"/>
            <a:ext cx="6106870" cy="7953528"/>
          </a:xfrm>
          <a:noFill/>
        </p:spPr>
        <p:txBody>
          <a:bodyPr/>
          <a:lstStyle/>
          <a:p>
            <a:r>
              <a:rPr lang="en-US" sz="1200" b="1" u="sng" dirty="0"/>
              <a:t>Theme #4: AI Adoption – How are companies integrating AI into their operations, products and competitive strategies?</a:t>
            </a:r>
            <a:endParaRPr lang="pt-BR" sz="1200" u="sng" dirty="0"/>
          </a:p>
          <a:p>
            <a:r>
              <a:rPr lang="en-US" b="1" dirty="0" i="0" u="none"/>
              <a:t>Our view:</a:t>
            </a:r>
            <a:r>
              <a:rPr lang="en-US" dirty="0" b="0" i="0" u="none"/>
              <a:t> Although Brazil is not currently viewed by the market as a direct AI play, we believe the country can still be a key beneficiary of the theme through two main avenues. First, its large </a:t>
            </a:r>
            <a:r>
              <a:rPr lang="en-US" dirty="0" b="0" i="0" u="none"/>
              <a:t>consumer market, tech-savvy population and track record of rapid digital adoption create favorable conditions for companies to deploy AI at scale and capture productivity and automation gains. Second, Brazil can benefit from growing demand for the physical infrastructure supporting AI, particularly data centers and power, underpinned by its renewable energy matrix and strong fiber connectivity. Regulatory constraints, however, remain a key challenge. For further details, please refer to our thematic report, </a:t>
            </a:r>
            <a:r>
              <a:rPr lang="en-US" dirty="0" b="0" i="0" u="sng">
                <a:hlinkClick r:id="rId3"/>
              </a:rPr>
              <a:t>Brazil AI Playbook</a:t>
            </a:r>
            <a:r>
              <a:rPr lang="en-US" dirty="0" b="0" i="0" u="none"/>
              <a:t>.</a:t>
            </a:r>
            <a:endParaRPr lang="pt-BR" dirty="0"/>
          </a:p>
          <a:p>
            <a:endParaRPr lang="pt-BR" dirty="0"/>
          </a:p>
          <a:p>
            <a:r>
              <a:rPr lang="en-US" sz="1200" b="1" u="sng" dirty="0"/>
              <a:t>Theme #5: Investor Sentiment and Flows – How are global investors positioning Brazil relative to other global markets, and what could trigger a renewed wave of foreign inflows into Brazilian equities?</a:t>
            </a:r>
            <a:endParaRPr lang="pt-BR" sz="1200" u="sng" dirty="0"/>
          </a:p>
          <a:p>
            <a:r>
              <a:rPr lang="en-US" b="1" dirty="0" i="0" u="none"/>
              <a:t>Our view:</a:t>
            </a:r>
            <a:r>
              <a:rPr lang="en-US" dirty="0" b="0" i="0" u="none"/>
              <a:t> Recent months showed that Brazilian equity prices were driven more by foreign flows than by domestic fundamentals. Brazil benefited from a global rotation away from US assets at the start of the year, but flows reversed from mid-April onward as US earnings momentum strengthened and the AI trade took center stage globally. Since then, sentiment has also deteriorated meaningfully, with our XP Sentiment Indicator reaching extremely bearish levels. Looking ahead, we see three factors as key to a recovery in sentiment and foreign flows: (</a:t>
            </a:r>
            <a:r>
              <a:rPr lang="en-US" dirty="0" b="0" i="0" u="none"/>
              <a:t>i</a:t>
            </a:r>
            <a:r>
              <a:rPr lang="en-US" dirty="0" b="0" i="0" u="none"/>
              <a:t>) greater relative appeal of value and commodity plays, such as Brazil, versus growth- and AI-heavy markets; (ii) </a:t>
            </a:r>
            <a:r>
              <a:rPr lang="en-US" dirty="0" b="0" i="0" u="none"/>
              <a:t>an improvement in inflation and rates expectations</a:t>
            </a:r>
            <a:r>
              <a:rPr lang="en-US" dirty="0" b="0" i="0" u="none"/>
              <a:t>; and (iii) an improvement in the fiscal outlook, particularly in the context of the October presidential elections.</a:t>
            </a:r>
            <a:endParaRPr lang="pt-BR" dirty="0"/>
          </a:p>
        </p:txBody>
      </p:sp>
      <p:sp>
        <p:nvSpPr>
          <p:cNvPr id="13" name="Text Placeholder 12">
            <a:extLst>
              <a:ext uri="{FF2B5EF4-FFF2-40B4-BE49-F238E27FC236}">
                <a16:creationId xmlns:a16="http://schemas.microsoft.com/office/drawing/2014/main" id="{583D4A34-D59C-AB40-46A1-CC7BDDAB9185}"/>
              </a:ext>
            </a:extLst>
          </p:cNvPr>
          <p:cNvSpPr>
            <a:spLocks noGrp="1"/>
          </p:cNvSpPr>
          <p:nvPr>
            <p:ph type="body" sz="quarter" idx="16"/>
          </p:nvPr>
        </p:nvSpPr>
        <p:spPr/>
        <p:txBody>
          <a:bodyPr/>
          <a:lstStyle/>
          <a:p>
            <a:r>
              <a:rPr lang="pt-BR" dirty="0"/>
              <a:t>XP CEO </a:t>
            </a:r>
            <a:r>
              <a:rPr lang="pt-BR" dirty="0" err="1"/>
              <a:t>Conference</a:t>
            </a:r>
            <a:r>
              <a:rPr lang="pt-BR" dirty="0"/>
              <a:t> 2026</a:t>
            </a:r>
          </a:p>
          <a:p>
            <a:endParaRPr lang="pt-BR" dirty="0"/>
          </a:p>
        </p:txBody>
      </p:sp>
      <p:sp>
        <p:nvSpPr>
          <p:cNvPr id="14" name="Text Placeholder 13">
            <a:extLst>
              <a:ext uri="{FF2B5EF4-FFF2-40B4-BE49-F238E27FC236}">
                <a16:creationId xmlns:a16="http://schemas.microsoft.com/office/drawing/2014/main" id="{4C1C22DA-3C5F-6C55-3393-F767F7A74330}"/>
              </a:ext>
            </a:extLst>
          </p:cNvPr>
          <p:cNvSpPr>
            <a:spLocks noGrp="1"/>
          </p:cNvSpPr>
          <p:nvPr>
            <p:ph type="body" sz="quarter" idx="17"/>
          </p:nvPr>
        </p:nvSpPr>
        <p:spPr/>
        <p:txBody>
          <a:bodyPr/>
          <a:lstStyle/>
          <a:p>
            <a:r>
              <a:rPr lang="pt-BR" dirty="0" err="1"/>
              <a:t>Brazil</a:t>
            </a:r>
            <a:r>
              <a:rPr lang="pt-BR" dirty="0"/>
              <a:t> </a:t>
            </a:r>
            <a:r>
              <a:rPr lang="pt-BR" dirty="0" err="1"/>
              <a:t>Equity</a:t>
            </a:r>
            <a:r>
              <a:rPr lang="pt-BR" dirty="0"/>
              <a:t> </a:t>
            </a:r>
            <a:r>
              <a:rPr lang="pt-BR" dirty="0" err="1"/>
              <a:t>Strategy</a:t>
            </a:r>
            <a:endParaRPr lang="pt-BR" dirty="0"/>
          </a:p>
        </p:txBody>
      </p:sp>
      <p:sp>
        <p:nvSpPr>
          <p:cNvPr id="15" name="Text Placeholder 14">
            <a:extLst>
              <a:ext uri="{FF2B5EF4-FFF2-40B4-BE49-F238E27FC236}">
                <a16:creationId xmlns:a16="http://schemas.microsoft.com/office/drawing/2014/main" id="{C1123D7F-B137-22B6-6E4D-91EF48C501DD}"/>
              </a:ext>
            </a:extLst>
          </p:cNvPr>
          <p:cNvSpPr>
            <a:spLocks noGrp="1"/>
          </p:cNvSpPr>
          <p:nvPr>
            <p:ph type="body" sz="quarter" idx="31"/>
          </p:nvPr>
        </p:nvSpPr>
        <p:spPr/>
        <p:txBody>
          <a:bodyPr/>
          <a:lstStyle/>
          <a:p>
            <a:r>
              <a:rPr lang="pt-BR" dirty="0" err="1"/>
              <a:t>Source</a:t>
            </a:r>
            <a:r>
              <a:rPr lang="pt-BR" dirty="0"/>
              <a:t>: XP Research.</a:t>
            </a:r>
          </a:p>
        </p:txBody>
      </p:sp>
      <p:sp>
        <p:nvSpPr>
          <p:cNvPr id="16" name="Date Placeholder 15">
            <a:extLst>
              <a:ext uri="{FF2B5EF4-FFF2-40B4-BE49-F238E27FC236}">
                <a16:creationId xmlns:a16="http://schemas.microsoft.com/office/drawing/2014/main" id="{C057763C-14CF-00BE-D516-8B0271167F49}"/>
              </a:ext>
            </a:extLst>
          </p:cNvPr>
          <p:cNvSpPr>
            <a:spLocks noGrp="1"/>
          </p:cNvSpPr>
          <p:nvPr>
            <p:ph type="dt" sz="half" idx="2"/>
          </p:nvPr>
        </p:nvSpPr>
        <p:spPr/>
        <p:txBody>
          <a:bodyPr/>
          <a:lstStyle/>
          <a:p>
            <a:fld id="{944B1522-D64F-491F-B357-196ED417A415}" type="datetime4">
              <a:rPr lang="en-US" smtClean="0"/>
              <a:pPr/>
              <a:t>August 11, 2026</a:t>
            </a:fld>
            <a:endParaRPr lang="en-US" dirty="0"/>
          </a:p>
        </p:txBody>
      </p:sp>
    </p:spTree>
    <p:extLst>
      <p:ext uri="{BB962C8B-B14F-4D97-AF65-F5344CB8AC3E}">
        <p14:creationId xmlns:p14="http://schemas.microsoft.com/office/powerpoint/2010/main" val="414637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E881F-E00D-00DF-99A4-5A1EFD2F8BF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82BE20C-0645-8ECA-D737-9EE498F9AC9F}"/>
              </a:ext>
            </a:extLst>
          </p:cNvPr>
          <p:cNvSpPr>
            <a:spLocks noGrp="1"/>
          </p:cNvSpPr>
          <p:nvPr>
            <p:ph type="body" sz="quarter" idx="20"/>
          </p:nvPr>
        </p:nvSpPr>
        <p:spPr>
          <a:xfrm>
            <a:off x="382829" y="1500035"/>
            <a:ext cx="6106870" cy="7953528"/>
          </a:xfrm>
          <a:noFill/>
        </p:spPr>
        <p:txBody>
          <a:bodyPr/>
          <a:lstStyle/>
          <a:p>
            <a:r>
              <a:rPr lang="en-US" sz="1200" b="1" u="sng" dirty="0"/>
              <a:t>Theme #1: Energy transition meets energy security: From substitution to “more of everything”</a:t>
            </a:r>
            <a:endParaRPr lang="pt-BR" sz="1200" u="sng" dirty="0"/>
          </a:p>
          <a:p>
            <a:r>
              <a:rPr lang="en-US" dirty="0" b="0" i="0" u="none"/>
              <a:t>The energy transition is increasingly becoming an energy security imperative. Geopolitical fragmentation and concentrated supply chains are pushing governments and companies to prioritize secure, affordable and resilient energy systems, including grids, critical minerals, and clean-energy technologies. The result is a more pragmatic transition: rather than a simple fossil fuels vs. renewables substitution story, renewables continue to scale rapidly, while natural gas and other conventional energy sources remain essential for reliability and energy security. From an investment perspective, this reframes the transition as a multi-decade investment cycle spanning the entire energy value chain. For companies across utilities, oil &amp; gas, critical equipment, and infrastructure, monitoring how this evolving "more of everything" strategy translates into policy, infrastructure spending, permitting, and supply-chain investments will be increasingly important.</a:t>
            </a:r>
            <a:endParaRPr lang="pt-BR" dirty="0"/>
          </a:p>
          <a:p>
            <a:endParaRPr lang="pt-BR" dirty="0"/>
          </a:p>
          <a:p>
            <a:r>
              <a:rPr lang="en-US" sz="1200" b="1" u="sng" dirty="0"/>
              <a:t>Theme #2: Electrification: The rise of Chinese EVs and its implications for Brazil</a:t>
            </a:r>
            <a:endParaRPr lang="pt-BR" sz="1200" u="sng" dirty="0"/>
          </a:p>
          <a:p>
            <a:r>
              <a:rPr lang="en-US" dirty="0" b="0" i="0" u="none"/>
              <a:t>Electrification is shifting from a policy-driven decarbonization theme toward a cost, technology and consumer-adoption story, with China increasingly acting as the catalyst. Chinese OEMs are leveraging scale, battery know-how and vertical integration to expand overseas, creating a new competitive benchmark on pricing, technology and speed of innovation. This is already visible in Brazil: ~85% of EVs sold locally in 2025 were manufactured in China (IEA), while Chinese OEMs are increasingly moving toward local production. For investors, the key question is whether Chinese competition will structurally reshape vehicle pricing and margins, a relevant theme for car-rental companies, where lower-cost Chinese vehicles could improve fleet acquisition economics while </a:t>
            </a:r>
            <a:r>
              <a:rPr lang="en-US" dirty="0" b="0" i="0" u="none"/>
              <a:t>simultaneously putting pressure on depreciation and residual values. As this new ecosystem matures, beyond vehicles, opportunities for local players may emerge across batteries, charging infrastructure, power electronics and grid investments.</a:t>
            </a:r>
            <a:endParaRPr lang="pt-BR" dirty="0"/>
          </a:p>
        </p:txBody>
      </p:sp>
      <p:sp>
        <p:nvSpPr>
          <p:cNvPr id="13" name="Text Placeholder 12">
            <a:extLst>
              <a:ext uri="{FF2B5EF4-FFF2-40B4-BE49-F238E27FC236}">
                <a16:creationId xmlns:a16="http://schemas.microsoft.com/office/drawing/2014/main" id="{A5A4FC4C-EE1A-6BC9-0619-B00519C4F1FA}"/>
              </a:ext>
            </a:extLst>
          </p:cNvPr>
          <p:cNvSpPr>
            <a:spLocks noGrp="1"/>
          </p:cNvSpPr>
          <p:nvPr>
            <p:ph type="body" sz="quarter" idx="16"/>
          </p:nvPr>
        </p:nvSpPr>
        <p:spPr/>
        <p:txBody>
          <a:bodyPr/>
          <a:lstStyle/>
          <a:p>
            <a:r>
              <a:rPr lang="pt-BR" dirty="0"/>
              <a:t>XP CEO </a:t>
            </a:r>
            <a:r>
              <a:rPr lang="pt-BR" dirty="0" err="1"/>
              <a:t>Conference</a:t>
            </a:r>
            <a:r>
              <a:rPr lang="pt-BR" dirty="0"/>
              <a:t> 2026</a:t>
            </a:r>
          </a:p>
          <a:p>
            <a:endParaRPr lang="pt-BR" dirty="0"/>
          </a:p>
        </p:txBody>
      </p:sp>
      <p:sp>
        <p:nvSpPr>
          <p:cNvPr id="14" name="Text Placeholder 13">
            <a:extLst>
              <a:ext uri="{FF2B5EF4-FFF2-40B4-BE49-F238E27FC236}">
                <a16:creationId xmlns:a16="http://schemas.microsoft.com/office/drawing/2014/main" id="{D493D917-0D2A-F213-C41D-D263FE7F787D}"/>
              </a:ext>
            </a:extLst>
          </p:cNvPr>
          <p:cNvSpPr>
            <a:spLocks noGrp="1"/>
          </p:cNvSpPr>
          <p:nvPr>
            <p:ph type="body" sz="quarter" idx="17"/>
          </p:nvPr>
        </p:nvSpPr>
        <p:spPr/>
        <p:txBody>
          <a:bodyPr/>
          <a:lstStyle/>
          <a:p>
            <a:r>
              <a:rPr lang="pt-BR" dirty="0"/>
              <a:t>ESG Research</a:t>
            </a:r>
          </a:p>
        </p:txBody>
      </p:sp>
      <p:sp>
        <p:nvSpPr>
          <p:cNvPr id="15" name="Text Placeholder 14">
            <a:extLst>
              <a:ext uri="{FF2B5EF4-FFF2-40B4-BE49-F238E27FC236}">
                <a16:creationId xmlns:a16="http://schemas.microsoft.com/office/drawing/2014/main" id="{0815913B-3BE7-747E-6D97-9787826A1B89}"/>
              </a:ext>
            </a:extLst>
          </p:cNvPr>
          <p:cNvSpPr>
            <a:spLocks noGrp="1"/>
          </p:cNvSpPr>
          <p:nvPr>
            <p:ph type="body" sz="quarter" idx="31"/>
          </p:nvPr>
        </p:nvSpPr>
        <p:spPr/>
        <p:txBody>
          <a:bodyPr/>
          <a:lstStyle/>
          <a:p>
            <a:r>
              <a:rPr lang="pt-BR" dirty="0" err="1"/>
              <a:t>Source</a:t>
            </a:r>
            <a:r>
              <a:rPr lang="pt-BR" dirty="0"/>
              <a:t>: XP Research.</a:t>
            </a:r>
          </a:p>
        </p:txBody>
      </p:sp>
      <p:sp>
        <p:nvSpPr>
          <p:cNvPr id="16" name="Date Placeholder 15">
            <a:extLst>
              <a:ext uri="{FF2B5EF4-FFF2-40B4-BE49-F238E27FC236}">
                <a16:creationId xmlns:a16="http://schemas.microsoft.com/office/drawing/2014/main" id="{4A40FB78-16A4-946D-A4D8-C2C135D0B5C0}"/>
              </a:ext>
            </a:extLst>
          </p:cNvPr>
          <p:cNvSpPr>
            <a:spLocks noGrp="1"/>
          </p:cNvSpPr>
          <p:nvPr>
            <p:ph type="dt" sz="half" idx="2"/>
          </p:nvPr>
        </p:nvSpPr>
        <p:spPr/>
        <p:txBody>
          <a:bodyPr/>
          <a:lstStyle/>
          <a:p>
            <a:fld id="{944B1522-D64F-491F-B357-196ED417A415}" type="datetime4">
              <a:rPr lang="en-US" smtClean="0"/>
              <a:pPr/>
              <a:t>August 11, 2026</a:t>
            </a:fld>
            <a:endParaRPr lang="en-US" dirty="0"/>
          </a:p>
        </p:txBody>
      </p:sp>
    </p:spTree>
    <p:extLst>
      <p:ext uri="{BB962C8B-B14F-4D97-AF65-F5344CB8AC3E}">
        <p14:creationId xmlns:p14="http://schemas.microsoft.com/office/powerpoint/2010/main" val="286623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CB94A-F7CD-A9C1-E851-A4B5283D890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F2D2972-2383-CC81-94E1-D24B433B6ECB}"/>
              </a:ext>
            </a:extLst>
          </p:cNvPr>
          <p:cNvSpPr>
            <a:spLocks noGrp="1"/>
          </p:cNvSpPr>
          <p:nvPr>
            <p:ph type="body" sz="quarter" idx="20"/>
          </p:nvPr>
        </p:nvSpPr>
        <p:spPr>
          <a:xfrm>
            <a:off x="382829" y="1500035"/>
            <a:ext cx="6106870" cy="7953528"/>
          </a:xfrm>
          <a:noFill/>
        </p:spPr>
        <p:txBody>
          <a:bodyPr/>
          <a:lstStyle/>
          <a:p>
            <a:r>
              <a:rPr lang="en-US" sz="1200" b="1" u="sng" dirty="0"/>
              <a:t>Theme #3: The AI load boom: Data center demand as a tailwind for grid buildout and critical equipment</a:t>
            </a:r>
            <a:endParaRPr lang="pt-BR" sz="1200" u="sng" dirty="0"/>
          </a:p>
          <a:p>
            <a:r>
              <a:rPr lang="en-US" dirty="0" b="0" i="0" u="none"/>
              <a:t>AI is creating an unprecedented source of electricity demand, with data center capacity set to expand rapidly in the coming years. As a result, the debate is shifting from which energy source will power AI to how quickly power systems can accommodate this new load. Grid access is emerging as a key bottleneck, as data center deployment often outpaces transmission and distribution buildout. When it comes to Brazil, the country is well positioned to become a major data center hub, supported by abundant power resources and a highly renewable electricity mix. For investors, key areas to monitor include the pace of grid expansion and permitting, utilities’ capex plans, equipment supply constraints and pricing power, data center connectivity requirements, and increasing telecom investment in fiber and network infrastructure.</a:t>
            </a:r>
            <a:endParaRPr lang="pt-BR" dirty="0"/>
          </a:p>
          <a:p>
            <a:endParaRPr lang="pt-BR" dirty="0"/>
          </a:p>
          <a:p>
            <a:r>
              <a:rPr lang="en-US" sz="1200" b="1" u="sng" dirty="0"/>
              <a:t>Theme #4: BESS: Reading corporate appetite ahead of Brazil’s inaugural battery auctions</a:t>
            </a:r>
            <a:endParaRPr lang="pt-BR" sz="1200" u="sng" dirty="0"/>
          </a:p>
          <a:p>
            <a:r>
              <a:rPr lang="en-US" dirty="0" b="0" i="0" u="none"/>
              <a:t>As renewable penetration rises, grid flexibility is becoming a critical constraint, with battery energy storage systems (BESS) helping address the challenge by providing load shifting, fast-response balancing, lower curtailment, and firm capacity. In Brazil, the inaugural BESS auctions scheduled for December could mark a key inflection point for the sector, attracting interest from domestic manufacturers such as WEG, Moura, UCB Power; utilities including Axia Energia, ISA Energia, Auren and Engie; and global suppliers such as Huawei, BYD, CATL, Envision, </a:t>
            </a:r>
            <a:r>
              <a:rPr lang="en-US" dirty="0" b="0" i="0" u="none"/>
              <a:t>Sungrow</a:t>
            </a:r>
            <a:r>
              <a:rPr lang="en-US" dirty="0" b="0" i="0" u="none"/>
              <a:t>, </a:t>
            </a:r>
            <a:r>
              <a:rPr lang="en-US" dirty="0" b="0" i="0" u="none"/>
              <a:t>HyperStrong</a:t>
            </a:r>
            <a:r>
              <a:rPr lang="en-US" dirty="0" b="0" i="0" u="none"/>
              <a:t> and Tesla. As the auctions approach, investors are monitoring corporate positioning, targeted capacity and return thresholds, and capital commitments to assess which players are best placed to capitalize on Brazil’s first large-scale battery procurement cycle.</a:t>
            </a:r>
            <a:endParaRPr lang="pt-BR" dirty="0"/>
          </a:p>
        </p:txBody>
      </p:sp>
      <p:sp>
        <p:nvSpPr>
          <p:cNvPr id="13" name="Text Placeholder 12">
            <a:extLst>
              <a:ext uri="{FF2B5EF4-FFF2-40B4-BE49-F238E27FC236}">
                <a16:creationId xmlns:a16="http://schemas.microsoft.com/office/drawing/2014/main" id="{8CE1E03B-89F2-9E59-051D-3F5C77ABB253}"/>
              </a:ext>
            </a:extLst>
          </p:cNvPr>
          <p:cNvSpPr>
            <a:spLocks noGrp="1"/>
          </p:cNvSpPr>
          <p:nvPr>
            <p:ph type="body" sz="quarter" idx="16"/>
          </p:nvPr>
        </p:nvSpPr>
        <p:spPr/>
        <p:txBody>
          <a:bodyPr/>
          <a:lstStyle/>
          <a:p>
            <a:r>
              <a:rPr lang="pt-BR" dirty="0"/>
              <a:t>XP CEO </a:t>
            </a:r>
            <a:r>
              <a:rPr lang="pt-BR" dirty="0" err="1"/>
              <a:t>Conference</a:t>
            </a:r>
            <a:r>
              <a:rPr lang="pt-BR" dirty="0"/>
              <a:t> 2026</a:t>
            </a:r>
          </a:p>
          <a:p>
            <a:endParaRPr lang="pt-BR" dirty="0"/>
          </a:p>
        </p:txBody>
      </p:sp>
      <p:sp>
        <p:nvSpPr>
          <p:cNvPr id="14" name="Text Placeholder 13">
            <a:extLst>
              <a:ext uri="{FF2B5EF4-FFF2-40B4-BE49-F238E27FC236}">
                <a16:creationId xmlns:a16="http://schemas.microsoft.com/office/drawing/2014/main" id="{C860CC31-A678-9325-816E-E187EBB668F2}"/>
              </a:ext>
            </a:extLst>
          </p:cNvPr>
          <p:cNvSpPr>
            <a:spLocks noGrp="1"/>
          </p:cNvSpPr>
          <p:nvPr>
            <p:ph type="body" sz="quarter" idx="17"/>
          </p:nvPr>
        </p:nvSpPr>
        <p:spPr/>
        <p:txBody>
          <a:bodyPr/>
          <a:lstStyle/>
          <a:p>
            <a:r>
              <a:rPr lang="pt-BR" dirty="0"/>
              <a:t>ESG Research</a:t>
            </a:r>
          </a:p>
        </p:txBody>
      </p:sp>
      <p:sp>
        <p:nvSpPr>
          <p:cNvPr id="15" name="Text Placeholder 14">
            <a:extLst>
              <a:ext uri="{FF2B5EF4-FFF2-40B4-BE49-F238E27FC236}">
                <a16:creationId xmlns:a16="http://schemas.microsoft.com/office/drawing/2014/main" id="{E2211315-47F6-5C6B-12FB-FDF6435CE823}"/>
              </a:ext>
            </a:extLst>
          </p:cNvPr>
          <p:cNvSpPr>
            <a:spLocks noGrp="1"/>
          </p:cNvSpPr>
          <p:nvPr>
            <p:ph type="body" sz="quarter" idx="31"/>
          </p:nvPr>
        </p:nvSpPr>
        <p:spPr/>
        <p:txBody>
          <a:bodyPr/>
          <a:lstStyle/>
          <a:p>
            <a:r>
              <a:rPr lang="pt-BR" dirty="0" err="1"/>
              <a:t>Source</a:t>
            </a:r>
            <a:r>
              <a:rPr lang="pt-BR" dirty="0"/>
              <a:t>: XP Research.</a:t>
            </a:r>
          </a:p>
        </p:txBody>
      </p:sp>
      <p:sp>
        <p:nvSpPr>
          <p:cNvPr id="16" name="Date Placeholder 15">
            <a:extLst>
              <a:ext uri="{FF2B5EF4-FFF2-40B4-BE49-F238E27FC236}">
                <a16:creationId xmlns:a16="http://schemas.microsoft.com/office/drawing/2014/main" id="{82F820EB-8074-F4EF-1B91-B3AB4687485B}"/>
              </a:ext>
            </a:extLst>
          </p:cNvPr>
          <p:cNvSpPr>
            <a:spLocks noGrp="1"/>
          </p:cNvSpPr>
          <p:nvPr>
            <p:ph type="dt" sz="half" idx="2"/>
          </p:nvPr>
        </p:nvSpPr>
        <p:spPr/>
        <p:txBody>
          <a:bodyPr/>
          <a:lstStyle/>
          <a:p>
            <a:fld id="{944B1522-D64F-491F-B357-196ED417A415}" type="datetime4">
              <a:rPr lang="en-US" smtClean="0"/>
              <a:pPr/>
              <a:t>August 11, 2026</a:t>
            </a:fld>
            <a:endParaRPr lang="en-US" dirty="0"/>
          </a:p>
        </p:txBody>
      </p:sp>
    </p:spTree>
    <p:extLst>
      <p:ext uri="{BB962C8B-B14F-4D97-AF65-F5344CB8AC3E}">
        <p14:creationId xmlns:p14="http://schemas.microsoft.com/office/powerpoint/2010/main" val="2488285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A9E63-DFFD-4046-4D16-59BBE59D11C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4827B3A-EFAB-857E-A49E-FA1A1E3286E3}"/>
              </a:ext>
            </a:extLst>
          </p:cNvPr>
          <p:cNvSpPr>
            <a:spLocks noGrp="1"/>
          </p:cNvSpPr>
          <p:nvPr>
            <p:ph type="body" sz="quarter" idx="20"/>
          </p:nvPr>
        </p:nvSpPr>
        <p:spPr>
          <a:xfrm>
            <a:off x="382828" y="1497015"/>
            <a:ext cx="6106871" cy="7956548"/>
          </a:xfrm>
          <a:noFill/>
        </p:spPr>
        <p:txBody>
          <a:bodyPr/>
          <a:lstStyle/>
          <a:p>
            <a:r>
              <a:rPr lang="en-US" sz="1300" b="1" u="sng" dirty="0"/>
              <a:t>Agribusiness</a:t>
            </a:r>
          </a:p>
          <a:p>
            <a:r>
              <a:rPr lang="en-US" sz="1200" b="1" u="sng" dirty="0"/>
              <a:t>Theme #1: El Niño</a:t>
            </a:r>
            <a:endParaRPr lang="pt-BR" sz="1200" u="sng" dirty="0"/>
          </a:p>
          <a:p>
            <a:r>
              <a:rPr lang="en-US" dirty="0" b="0" i="0" u="none"/>
              <a:t>El Niño poses a meaningful risk to soybean yields, particularly in the MATOPIBA region. In addition, delays in soybean planting could shorten the window for Brazil's second corn crop, increasing production risk given </a:t>
            </a:r>
            <a:r>
              <a:rPr lang="en-US" dirty="0" b="0" i="0" u="none"/>
              <a:t>safrinha</a:t>
            </a:r>
            <a:r>
              <a:rPr lang="en-US" dirty="0" b="0" i="0" u="none"/>
              <a:t> corn's more volatile yield profile, though it is only a concern for 2027. In sugar and ethanol, El Niño has already disrupted rainfall patterns in South and Southeast Asia. For Brazil, a stronger El Niño is less likely to materially affect cane availability but could increase harvest execution risks and pressure crop quality.</a:t>
            </a:r>
            <a:endParaRPr lang="pt-BR" dirty="0"/>
          </a:p>
          <a:p>
            <a:endParaRPr lang="pt-BR" dirty="0"/>
          </a:p>
          <a:p>
            <a:r>
              <a:rPr lang="en-US" sz="1200" b="1" u="sng" dirty="0"/>
              <a:t>Theme #2: Fertilizers disruptions</a:t>
            </a:r>
            <a:endParaRPr lang="pt-BR" sz="1200" u="sng" dirty="0"/>
          </a:p>
          <a:p>
            <a:r>
              <a:rPr lang="en-US" dirty="0" b="0" i="0" u="none"/>
              <a:t>The agricultural input market remains exposed to elevated geopolitical uncertainty, with disruptions ranging from the Russia-Ukraine war to tensions in the Middle East continuing to </a:t>
            </a:r>
            <a:r>
              <a:rPr lang="en-US" dirty="0" b="0" i="0" u="none"/>
              <a:t>affect global trade flows and supply chains. As a result, input costs have remained structurally higher, increasing working capital requirements and putting additional pressure on farmers' balance sheets. In our view, this environment has led producers to adopt a more tactical purchasing approach, actively managing procurement timing to preserve liquidity, but we expect a decrease in usage for the next season. While commodity prices have recently improved, the sector remains vulnerable to further input cost volatility.</a:t>
            </a:r>
            <a:endParaRPr lang="pt-BR" dirty="0"/>
          </a:p>
          <a:p>
            <a:endParaRPr lang="pt-BR" dirty="0"/>
          </a:p>
          <a:p>
            <a:r>
              <a:rPr lang="en-US" sz="1200" b="1" u="sng" dirty="0"/>
              <a:t>Theme #3: Farmers' Financial Conditions</a:t>
            </a:r>
            <a:endParaRPr lang="pt-BR" sz="1200" u="sng" dirty="0"/>
          </a:p>
          <a:p>
            <a:r>
              <a:rPr lang="en-US" dirty="0" b="0" i="0" u="none"/>
              <a:t>Despite the recent improvement in soybean and corn margins based on our estimates, producers continue to operate in a challenging financial environment, with profitability still constrained by elevated input costs and limited earnings visibility. Financial stress across the sector is likely to remain elevated. Looking ahead, a sustained improvement in commodity prices could gradually strengthen producers' financial conditions and lead to a more constructive outlook for the sector.</a:t>
            </a:r>
            <a:endParaRPr lang="pt-BR" dirty="0"/>
          </a:p>
          <a:p>
            <a:endParaRPr lang="pt-BR" dirty="0"/>
          </a:p>
          <a:p>
            <a:r>
              <a:rPr lang="en-US" sz="1300" b="1" u="sng" dirty="0"/>
              <a:t>Beverage</a:t>
            </a:r>
          </a:p>
          <a:p>
            <a:r>
              <a:rPr lang="en-US" sz="1200" b="1" u="sng" dirty="0"/>
              <a:t>Theme #1: Weather</a:t>
            </a:r>
            <a:endParaRPr lang="pt-BR" sz="1200" u="sng" dirty="0"/>
          </a:p>
          <a:p>
            <a:r>
              <a:rPr lang="en-US" dirty="0" b="0" i="0" u="none"/>
              <a:t>Weather was one of the industry's key headwinds in 2025, with below-average temperatures from June onwards weighing on beverage consumption. In 2026, weather conditions are expected to normalize, although June remained unusually cold and likely contributed to the gap between consensus expectations and </a:t>
            </a:r>
            <a:r>
              <a:rPr lang="en-US" dirty="0" b="0" i="0" u="none"/>
              <a:t>AmBev’s</a:t>
            </a:r>
            <a:r>
              <a:rPr lang="en-US" dirty="0" b="0" i="0" u="none"/>
              <a:t> reported Q2 Brazil beer volumes . July, however, appears to have been significantly warmer nationwide, which may support a recovery in consumption trends. We believe Ambev still benefits from easy comps in the coming months and, given its stronger execution and continued market share gains, should be well positioned to outperform the broader industry.</a:t>
            </a:r>
            <a:endParaRPr lang="pt-BR" dirty="0"/>
          </a:p>
        </p:txBody>
      </p:sp>
      <p:sp>
        <p:nvSpPr>
          <p:cNvPr id="7" name="Text Placeholder 6">
            <a:extLst>
              <a:ext uri="{FF2B5EF4-FFF2-40B4-BE49-F238E27FC236}">
                <a16:creationId xmlns:a16="http://schemas.microsoft.com/office/drawing/2014/main" id="{24564BA6-F926-F4CD-E596-11E136044167}"/>
              </a:ext>
            </a:extLst>
          </p:cNvPr>
          <p:cNvSpPr>
            <a:spLocks noGrp="1"/>
          </p:cNvSpPr>
          <p:nvPr>
            <p:ph type="body" sz="quarter" idx="16"/>
          </p:nvPr>
        </p:nvSpPr>
        <p:spPr/>
        <p:txBody>
          <a:bodyPr/>
          <a:lstStyle/>
          <a:p>
            <a:r>
              <a:rPr lang="pt-BR" dirty="0"/>
              <a:t>XP CEO </a:t>
            </a:r>
            <a:r>
              <a:rPr lang="pt-BR" dirty="0" err="1"/>
              <a:t>Conference</a:t>
            </a:r>
            <a:r>
              <a:rPr lang="pt-BR" dirty="0"/>
              <a:t> 2026</a:t>
            </a:r>
          </a:p>
        </p:txBody>
      </p:sp>
      <p:sp>
        <p:nvSpPr>
          <p:cNvPr id="8" name="Text Placeholder 7">
            <a:extLst>
              <a:ext uri="{FF2B5EF4-FFF2-40B4-BE49-F238E27FC236}">
                <a16:creationId xmlns:a16="http://schemas.microsoft.com/office/drawing/2014/main" id="{FD4FAE62-94E4-E39E-6590-3FAC7404F8DD}"/>
              </a:ext>
            </a:extLst>
          </p:cNvPr>
          <p:cNvSpPr>
            <a:spLocks noGrp="1"/>
          </p:cNvSpPr>
          <p:nvPr>
            <p:ph type="body" sz="quarter" idx="17"/>
          </p:nvPr>
        </p:nvSpPr>
        <p:spPr/>
        <p:txBody>
          <a:bodyPr/>
          <a:lstStyle/>
          <a:p>
            <a:pPr algn="just" rtl="0"/>
            <a:r>
              <a:rPr lang="pt-BR" sz="1600" i="0" strike="noStrike" baseline="0" dirty="0" err="1">
                <a:solidFill>
                  <a:srgbClr val="18191A"/>
                </a:solidFill>
                <a:latin typeface="Roboto Light" panose="02000000000000000000" pitchFamily="2" charset="0"/>
              </a:rPr>
              <a:t>Agri</a:t>
            </a:r>
            <a:r>
              <a:rPr lang="pt-BR" sz="1600" i="0" strike="noStrike" baseline="0" dirty="0">
                <a:solidFill>
                  <a:srgbClr val="18191A"/>
                </a:solidFill>
                <a:latin typeface="Roboto Light" panose="02000000000000000000" pitchFamily="2" charset="0"/>
              </a:rPr>
              <a:t>, Food </a:t>
            </a:r>
            <a:r>
              <a:rPr lang="pt-BR" sz="1600" i="0" strike="noStrike" baseline="0" dirty="0" err="1">
                <a:solidFill>
                  <a:srgbClr val="18191A"/>
                </a:solidFill>
                <a:latin typeface="Roboto Light" panose="02000000000000000000" pitchFamily="2" charset="0"/>
              </a:rPr>
              <a:t>and</a:t>
            </a:r>
            <a:r>
              <a:rPr lang="pt-BR" sz="1600" i="0" strike="noStrike" baseline="0" dirty="0">
                <a:solidFill>
                  <a:srgbClr val="18191A"/>
                </a:solidFill>
                <a:latin typeface="Roboto Light" panose="02000000000000000000" pitchFamily="2" charset="0"/>
              </a:rPr>
              <a:t> </a:t>
            </a:r>
            <a:r>
              <a:rPr lang="pt-BR" sz="1600" i="0" strike="noStrike" baseline="0" dirty="0" err="1">
                <a:solidFill>
                  <a:srgbClr val="18191A"/>
                </a:solidFill>
                <a:latin typeface="Roboto Light" panose="02000000000000000000" pitchFamily="2" charset="0"/>
              </a:rPr>
              <a:t>Beverages</a:t>
            </a:r>
            <a:endParaRPr lang="pt-BR" sz="1600" i="0" strike="noStrike" baseline="0" dirty="0">
              <a:solidFill>
                <a:srgbClr val="18191A"/>
              </a:solidFill>
              <a:latin typeface="Roboto Light" panose="02000000000000000000" pitchFamily="2" charset="0"/>
            </a:endParaRPr>
          </a:p>
        </p:txBody>
      </p:sp>
      <p:sp>
        <p:nvSpPr>
          <p:cNvPr id="9" name="Text Placeholder 8">
            <a:extLst>
              <a:ext uri="{FF2B5EF4-FFF2-40B4-BE49-F238E27FC236}">
                <a16:creationId xmlns:a16="http://schemas.microsoft.com/office/drawing/2014/main" id="{BD763CA5-3651-B15A-AE95-B971B2D1B0F4}"/>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AAC6F71A-3DAE-3247-58AC-F22E13F2B33B}"/>
              </a:ext>
            </a:extLst>
          </p:cNvPr>
          <p:cNvSpPr>
            <a:spLocks noGrp="1"/>
          </p:cNvSpPr>
          <p:nvPr>
            <p:ph type="dt" sz="half" idx="2"/>
          </p:nvPr>
        </p:nvSpPr>
        <p:spPr/>
        <p:txBody>
          <a:bodyPr/>
          <a:lstStyle/>
          <a:p>
            <a:fld id="{0AD01827-9A36-4138-95B8-B0189D2D0C96}" type="datetime4">
              <a:rPr lang="en-US" smtClean="0"/>
              <a:pPr/>
              <a:t>August 11, 2026</a:t>
            </a:fld>
            <a:endParaRPr lang="en-US"/>
          </a:p>
        </p:txBody>
      </p:sp>
    </p:spTree>
    <p:extLst>
      <p:ext uri="{BB962C8B-B14F-4D97-AF65-F5344CB8AC3E}">
        <p14:creationId xmlns:p14="http://schemas.microsoft.com/office/powerpoint/2010/main" val="2962525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1CE12-FEAC-21D6-EE57-3D403A99BA7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9EDBC3A-04F0-3AE8-D01B-A387E4CC6665}"/>
              </a:ext>
            </a:extLst>
          </p:cNvPr>
          <p:cNvSpPr>
            <a:spLocks noGrp="1"/>
          </p:cNvSpPr>
          <p:nvPr>
            <p:ph type="body" sz="quarter" idx="20"/>
          </p:nvPr>
        </p:nvSpPr>
        <p:spPr>
          <a:xfrm>
            <a:off x="382828" y="1497015"/>
            <a:ext cx="6106871" cy="7956548"/>
          </a:xfrm>
          <a:noFill/>
        </p:spPr>
        <p:txBody>
          <a:bodyPr/>
          <a:lstStyle/>
          <a:p>
            <a:r>
              <a:rPr lang="en-US" sz="1300" b="1" u="sng" dirty="0"/>
              <a:t>Beverage</a:t>
            </a:r>
          </a:p>
          <a:p>
            <a:r>
              <a:rPr lang="en-US" sz="1200" b="1" u="sng" dirty="0"/>
              <a:t>Theme #2: Competitive Positioning</a:t>
            </a:r>
            <a:endParaRPr lang="pt-BR" sz="1200" u="sng" dirty="0"/>
          </a:p>
          <a:p>
            <a:r>
              <a:rPr lang="en-US" dirty="0" b="0" i="0" u="none"/>
              <a:t>AmBev's</a:t>
            </a:r>
            <a:r>
              <a:rPr lang="en-US" dirty="0" b="0" i="0" u="none"/>
              <a:t> stronger execution in pricing, portfolio management, and brand investments has enabled the company to gain share from its main competitors throughout 2026. Looking ahead, a key debate for the remainder of the year is how competitors, particularly Heineken, will respond in an effort to regain lost market share. In our view, </a:t>
            </a:r>
            <a:r>
              <a:rPr lang="en-US" dirty="0" b="0" i="0" u="none"/>
              <a:t>AmBev</a:t>
            </a:r>
            <a:r>
              <a:rPr lang="en-US" dirty="0" b="0" i="0" u="none"/>
              <a:t> is likely to continue gaining market share in the near term, as competitive initiatives and recently launched brands typically require time to scale and achieve meaningful market penetration.</a:t>
            </a:r>
            <a:endParaRPr lang="pt-BR" dirty="0"/>
          </a:p>
          <a:p>
            <a:endParaRPr lang="pt-BR" dirty="0"/>
          </a:p>
          <a:p>
            <a:r>
              <a:rPr lang="en-US" sz="1300" b="1" u="sng" dirty="0"/>
              <a:t>Food</a:t>
            </a:r>
          </a:p>
          <a:p>
            <a:r>
              <a:rPr lang="en-US" sz="1200" b="1" u="sng" dirty="0"/>
              <a:t>Theme #1: Chinese Beef Quota</a:t>
            </a:r>
            <a:endParaRPr lang="pt-BR" sz="1200" u="sng" dirty="0"/>
          </a:p>
          <a:p>
            <a:r>
              <a:rPr lang="en-US" dirty="0" b="0" i="0" u="none"/>
              <a:t>With the Chinese beef import quota probably already exhausted, we anticipate a temporary slowdown in export volumes during 3Q26, which should weigh on meatpackers' earnings. We expect shipments to gradually recover by 4Q26, as exporters begin rebuilding volumes against next year's quota allocation.</a:t>
            </a:r>
            <a:endParaRPr lang="pt-BR" dirty="0"/>
          </a:p>
          <a:p>
            <a:endParaRPr lang="pt-BR" dirty="0"/>
          </a:p>
          <a:p>
            <a:r>
              <a:rPr lang="en-US" sz="1200" b="1" u="sng" dirty="0"/>
              <a:t>Theme #2: Brazil Cattle Cycle</a:t>
            </a:r>
            <a:endParaRPr lang="pt-BR" sz="1200" u="sng" dirty="0"/>
          </a:p>
          <a:p>
            <a:r>
              <a:rPr lang="en-US" dirty="0" b="0" i="0" u="none"/>
              <a:t>The cattle cycle has turned in Brazil, with increased female retention reducing the availability of slaughter-ready cattle. As a result, we see a more challenging cost environment for Brazilian beef processors. So far, however, this pressure has been largely offset by a still-supportive export backdrop, driven by the ongoing global beef supply shortage and resilient international demand.</a:t>
            </a:r>
            <a:endParaRPr lang="pt-BR" dirty="0"/>
          </a:p>
          <a:p>
            <a:endParaRPr lang="pt-BR" dirty="0"/>
          </a:p>
          <a:p>
            <a:r>
              <a:rPr lang="en-US" sz="1200" b="1" u="sng" dirty="0"/>
              <a:t>Theme #3: Chicken Margin Normalization</a:t>
            </a:r>
            <a:endParaRPr lang="pt-BR" sz="1200" u="sng" dirty="0"/>
          </a:p>
          <a:p>
            <a:r>
              <a:rPr lang="en-US" dirty="0" b="0" i="0" u="none"/>
              <a:t>Despite a favorable export environment, we continue to expect poultry margins to normalize towards more sustainable levels following a period of exceptionally strong profitability. In our view, this remains a key headwind for earnings across the protein space. That said, the slower pace of chicken supply growth relative to previous expectations suggests a more gradual normalization process, which should help mitigate downside pressure on margins.</a:t>
            </a:r>
            <a:endParaRPr lang="pt-BR" dirty="0"/>
          </a:p>
          <a:p>
            <a:endParaRPr lang="pt-BR" dirty="0"/>
          </a:p>
          <a:p>
            <a:r>
              <a:rPr lang="en-US" sz="1200" b="1" u="sng" dirty="0"/>
              <a:t>Theme #4: Consumer Weakness</a:t>
            </a:r>
            <a:endParaRPr lang="pt-BR" sz="1200" u="sng" dirty="0"/>
          </a:p>
          <a:p>
            <a:r>
              <a:rPr lang="en-US" dirty="0" b="0" i="0" u="none"/>
              <a:t>Recent market data points to softer consumption trends, reinforcing our cautious stance on domestic demand. Elevated household indebtedness continues to pressure affordability and purchasing power, limiting a more meaningful recovery in consumer spending despite some improvement in macroeconomic conditions.</a:t>
            </a:r>
            <a:endParaRPr lang="pt-BR" dirty="0"/>
          </a:p>
        </p:txBody>
      </p:sp>
      <p:sp>
        <p:nvSpPr>
          <p:cNvPr id="7" name="Text Placeholder 6">
            <a:extLst>
              <a:ext uri="{FF2B5EF4-FFF2-40B4-BE49-F238E27FC236}">
                <a16:creationId xmlns:a16="http://schemas.microsoft.com/office/drawing/2014/main" id="{437A380B-7A8C-B780-8900-CDE0463D3161}"/>
              </a:ext>
            </a:extLst>
          </p:cNvPr>
          <p:cNvSpPr>
            <a:spLocks noGrp="1"/>
          </p:cNvSpPr>
          <p:nvPr>
            <p:ph type="body" sz="quarter" idx="16"/>
          </p:nvPr>
        </p:nvSpPr>
        <p:spPr/>
        <p:txBody>
          <a:bodyPr/>
          <a:lstStyle/>
          <a:p>
            <a:r>
              <a:rPr lang="pt-BR" dirty="0"/>
              <a:t>XP CEO </a:t>
            </a:r>
            <a:r>
              <a:rPr lang="pt-BR" dirty="0" err="1"/>
              <a:t>Conference</a:t>
            </a:r>
            <a:r>
              <a:rPr lang="pt-BR" dirty="0"/>
              <a:t> 2026</a:t>
            </a:r>
          </a:p>
        </p:txBody>
      </p:sp>
      <p:sp>
        <p:nvSpPr>
          <p:cNvPr id="8" name="Text Placeholder 7">
            <a:extLst>
              <a:ext uri="{FF2B5EF4-FFF2-40B4-BE49-F238E27FC236}">
                <a16:creationId xmlns:a16="http://schemas.microsoft.com/office/drawing/2014/main" id="{0E7FFD2C-ECB4-BC88-6916-155B41B395EC}"/>
              </a:ext>
            </a:extLst>
          </p:cNvPr>
          <p:cNvSpPr>
            <a:spLocks noGrp="1"/>
          </p:cNvSpPr>
          <p:nvPr>
            <p:ph type="body" sz="quarter" idx="17"/>
          </p:nvPr>
        </p:nvSpPr>
        <p:spPr/>
        <p:txBody>
          <a:bodyPr/>
          <a:lstStyle/>
          <a:p>
            <a:pPr algn="just"/>
            <a:r>
              <a:rPr lang="pt-BR" dirty="0" err="1">
                <a:solidFill>
                  <a:srgbClr val="18191A"/>
                </a:solidFill>
              </a:rPr>
              <a:t>Agri</a:t>
            </a:r>
            <a:r>
              <a:rPr lang="pt-BR" dirty="0">
                <a:solidFill>
                  <a:srgbClr val="18191A"/>
                </a:solidFill>
              </a:rPr>
              <a:t>, Food </a:t>
            </a:r>
            <a:r>
              <a:rPr lang="pt-BR" dirty="0" err="1">
                <a:solidFill>
                  <a:srgbClr val="18191A"/>
                </a:solidFill>
              </a:rPr>
              <a:t>and</a:t>
            </a:r>
            <a:r>
              <a:rPr lang="pt-BR" dirty="0">
                <a:solidFill>
                  <a:srgbClr val="18191A"/>
                </a:solidFill>
              </a:rPr>
              <a:t> </a:t>
            </a:r>
            <a:r>
              <a:rPr lang="pt-BR" dirty="0" err="1">
                <a:solidFill>
                  <a:srgbClr val="18191A"/>
                </a:solidFill>
              </a:rPr>
              <a:t>Beverages</a:t>
            </a:r>
            <a:endParaRPr lang="pt-BR" dirty="0">
              <a:solidFill>
                <a:srgbClr val="18191A"/>
              </a:solidFill>
            </a:endParaRPr>
          </a:p>
        </p:txBody>
      </p:sp>
      <p:sp>
        <p:nvSpPr>
          <p:cNvPr id="9" name="Text Placeholder 8">
            <a:extLst>
              <a:ext uri="{FF2B5EF4-FFF2-40B4-BE49-F238E27FC236}">
                <a16:creationId xmlns:a16="http://schemas.microsoft.com/office/drawing/2014/main" id="{CB6D2C0C-E9D1-F41C-A95C-63C792A43239}"/>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492E054E-ECD2-6F34-261F-D406BFACE81C}"/>
              </a:ext>
            </a:extLst>
          </p:cNvPr>
          <p:cNvSpPr>
            <a:spLocks noGrp="1"/>
          </p:cNvSpPr>
          <p:nvPr>
            <p:ph type="dt" sz="half" idx="2"/>
          </p:nvPr>
        </p:nvSpPr>
        <p:spPr/>
        <p:txBody>
          <a:bodyPr/>
          <a:lstStyle/>
          <a:p>
            <a:fld id="{0AD01827-9A36-4138-95B8-B0189D2D0C96}" type="datetime4">
              <a:rPr lang="en-US" smtClean="0"/>
              <a:pPr/>
              <a:t>August 11, 2026</a:t>
            </a:fld>
            <a:endParaRPr lang="en-US"/>
          </a:p>
        </p:txBody>
      </p:sp>
    </p:spTree>
    <p:extLst>
      <p:ext uri="{BB962C8B-B14F-4D97-AF65-F5344CB8AC3E}">
        <p14:creationId xmlns:p14="http://schemas.microsoft.com/office/powerpoint/2010/main" val="2282409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BF097-380C-57C3-F2B2-E96C445186D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63868C3-06B3-4D60-4FAF-2C8457DF4A0E}"/>
              </a:ext>
            </a:extLst>
          </p:cNvPr>
          <p:cNvSpPr>
            <a:spLocks noGrp="1"/>
          </p:cNvSpPr>
          <p:nvPr>
            <p:ph type="body" sz="quarter" idx="20"/>
          </p:nvPr>
        </p:nvSpPr>
        <p:spPr>
          <a:xfrm>
            <a:off x="382828" y="1497015"/>
            <a:ext cx="6106871" cy="7956548"/>
          </a:xfrm>
          <a:noFill/>
        </p:spPr>
        <p:txBody>
          <a:bodyPr/>
          <a:lstStyle/>
          <a:p>
            <a:r>
              <a:rPr lang="en-US" sz="1300" b="1" u="sng" dirty="0"/>
              <a:t>Banks</a:t>
            </a:r>
          </a:p>
          <a:p>
            <a:r>
              <a:rPr lang="en-US" sz="1200" b="1" u="sng" dirty="0"/>
              <a:t>Theme #1: Credit Cycle Resilience and Portfolio Quality</a:t>
            </a:r>
            <a:endParaRPr lang="pt-BR" sz="1200" u="sng" dirty="0"/>
          </a:p>
          <a:p>
            <a:r>
              <a:rPr lang="en-US" b="1" dirty="0" i="0" u="none"/>
              <a:t>Our view:</a:t>
            </a:r>
            <a:r>
              <a:rPr lang="en-US" dirty="0" b="0" i="0" u="none"/>
              <a:t> Despite a more challenging credit environment, marked by elevated household leverage, pressure in selected SME and agribusiness segments, and rising system-wide delinquency indicators, some players continue to exhibit resilient asset-quality metrics. Following several years of portfolio de-risking and tighter underwriting standards, leading banks appear relatively well positioned to navigate the current stage of the cycle while preserving profitability. However, the discussion is increasingly shifting toward 2027, when the combination of fading fiscal stimulus, high household indebtedness and still restrictive interest rates could create a more challenging backdrop for credit growth and asset quality. Investors should focus on how banks are positioning their portfolios for a potential turn in the cycle, whether underwriting standards remain appropriately calibrated, and which institutions are best prepared to navigate a potentially more demanding operating environment.</a:t>
            </a:r>
            <a:endParaRPr lang="pt-BR" dirty="0"/>
          </a:p>
          <a:p>
            <a:endParaRPr lang="pt-BR" dirty="0"/>
          </a:p>
          <a:p>
            <a:r>
              <a:rPr lang="en-US" sz="1200" b="1" u="sng" dirty="0"/>
              <a:t>Theme #2: Private Payroll Lending, Government Programs and the Evolution of Credit Growth</a:t>
            </a:r>
            <a:endParaRPr lang="pt-BR" sz="1200" u="sng" dirty="0"/>
          </a:p>
          <a:p>
            <a:r>
              <a:rPr lang="en-US" b="1" dirty="0" i="0" u="none"/>
              <a:t>Our view:</a:t>
            </a:r>
            <a:r>
              <a:rPr lang="en-US" dirty="0" b="0" i="0" u="none"/>
              <a:t> Credit remains one of the most relevant growth and monetization opportunities across the banking sector, but the discussion has broadened well beyond traditional consumer lending. Government-backed programs aimed at SMEs, such as FGI and </a:t>
            </a:r>
            <a:r>
              <a:rPr lang="en-US" dirty="0" b="0" i="0" u="none"/>
              <a:t>Pronampe</a:t>
            </a:r>
            <a:r>
              <a:rPr lang="en-US" dirty="0" b="0" i="0" u="none"/>
              <a:t>, have become increasingly important growth avenues and are playing a larger role in portfolio strategy discussions. At the same time, private payroll lending remains one of the most significant developments in Brazilian consumer finance, supported by strong demand for lower-cost secured products. As the market matures, investors should focus on the normalization of delinquency levels, the resolution of operational bottlenecks and the potential impact of interest-rate caps on long-term profitability. More broadly, the key debate is whether banks can continue expanding credit while maintaining disciplined underwriting, preserving asset quality and generating attractive risk-adjusted returns.</a:t>
            </a:r>
            <a:endParaRPr lang="pt-BR" dirty="0"/>
          </a:p>
          <a:p>
            <a:endParaRPr lang="pt-BR" dirty="0"/>
          </a:p>
          <a:p>
            <a:r>
              <a:rPr lang="en-US" sz="1200" b="1" u="sng" dirty="0"/>
              <a:t>Theme #3: Efficiency, Capital Management and Shareholder Returns</a:t>
            </a:r>
            <a:endParaRPr lang="pt-BR" sz="1200" u="sng" dirty="0"/>
          </a:p>
          <a:p>
            <a:r>
              <a:rPr lang="en-US" b="1" dirty="0" i="0" u="none"/>
              <a:t>Our view:</a:t>
            </a:r>
            <a:r>
              <a:rPr lang="en-US" dirty="0" b="0" i="0" u="none"/>
              <a:t> Profitability dispersion across the sector is increasingly being driven by execution rather than loan growth alone. As a result, discussions with management teams should extend beyond volume trends and focus on efficiency initiatives, service-fee generation and overall capital allocation discipline. We expect growing attention around efficiency-ratio trajectories, the sustainability of fee revenues, corporate reorganization initiatives, DTA consumption strategy, capital optimization efforts and the calibration of shareholder distributions. Ultimately, investors should focus on how </a:t>
            </a:r>
            <a:r>
              <a:rPr lang="en-US" dirty="0" b="0" i="0" u="none"/>
              <a:t>institutions can consistently generate attractive ROEs while maintaining capital flexibility and balancing growth opportunities with shareholder remuneration.</a:t>
            </a:r>
            <a:endParaRPr lang="pt-BR" dirty="0"/>
          </a:p>
        </p:txBody>
      </p:sp>
      <p:sp>
        <p:nvSpPr>
          <p:cNvPr id="7" name="Text Placeholder 6">
            <a:extLst>
              <a:ext uri="{FF2B5EF4-FFF2-40B4-BE49-F238E27FC236}">
                <a16:creationId xmlns:a16="http://schemas.microsoft.com/office/drawing/2014/main" id="{3F5FF599-C242-56AD-78C7-01FF1CE3E5F2}"/>
              </a:ext>
            </a:extLst>
          </p:cNvPr>
          <p:cNvSpPr>
            <a:spLocks noGrp="1"/>
          </p:cNvSpPr>
          <p:nvPr>
            <p:ph type="body" sz="quarter" idx="16"/>
          </p:nvPr>
        </p:nvSpPr>
        <p:spPr/>
        <p:txBody>
          <a:bodyPr/>
          <a:lstStyle/>
          <a:p>
            <a:r>
              <a:rPr lang="pt-BR" dirty="0"/>
              <a:t>XP CEO </a:t>
            </a:r>
            <a:r>
              <a:rPr lang="pt-BR" dirty="0" err="1"/>
              <a:t>Conference</a:t>
            </a:r>
            <a:r>
              <a:rPr lang="pt-BR" dirty="0"/>
              <a:t> 2026</a:t>
            </a:r>
          </a:p>
        </p:txBody>
      </p:sp>
      <p:sp>
        <p:nvSpPr>
          <p:cNvPr id="9" name="Text Placeholder 8">
            <a:extLst>
              <a:ext uri="{FF2B5EF4-FFF2-40B4-BE49-F238E27FC236}">
                <a16:creationId xmlns:a16="http://schemas.microsoft.com/office/drawing/2014/main" id="{E634A229-CBA8-AEB4-7105-CF2510AD9A0E}"/>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8B44676C-B2A0-D3A7-8DD0-15479E916525}"/>
              </a:ext>
            </a:extLst>
          </p:cNvPr>
          <p:cNvSpPr>
            <a:spLocks noGrp="1"/>
          </p:cNvSpPr>
          <p:nvPr>
            <p:ph type="dt" sz="half" idx="2"/>
          </p:nvPr>
        </p:nvSpPr>
        <p:spPr/>
        <p:txBody>
          <a:bodyPr/>
          <a:lstStyle/>
          <a:p>
            <a:fld id="{0AD01827-9A36-4138-95B8-B0189D2D0C96}" type="datetime4">
              <a:rPr lang="en-US" smtClean="0"/>
              <a:pPr/>
              <a:t>August 11, 2026</a:t>
            </a:fld>
            <a:endParaRPr lang="en-US"/>
          </a:p>
        </p:txBody>
      </p:sp>
      <p:sp>
        <p:nvSpPr>
          <p:cNvPr id="3" name="Text Placeholder 7">
            <a:extLst>
              <a:ext uri="{FF2B5EF4-FFF2-40B4-BE49-F238E27FC236}">
                <a16:creationId xmlns:a16="http://schemas.microsoft.com/office/drawing/2014/main" id="{BEC4AF43-7DBB-2588-FE08-62ACF6E49275}"/>
              </a:ext>
            </a:extLst>
          </p:cNvPr>
          <p:cNvSpPr>
            <a:spLocks noGrp="1"/>
          </p:cNvSpPr>
          <p:nvPr>
            <p:ph type="body" sz="quarter" idx="17"/>
          </p:nvPr>
        </p:nvSpPr>
        <p:spPr>
          <a:xfrm>
            <a:off x="390154" y="1119209"/>
            <a:ext cx="6099545" cy="304570"/>
          </a:xfrm>
        </p:spPr>
        <p:txBody>
          <a:bodyPr/>
          <a:lstStyle/>
          <a:p>
            <a:pPr algn="just"/>
            <a:r>
              <a:rPr lang="pt-BR" dirty="0">
                <a:solidFill>
                  <a:srgbClr val="18191A"/>
                </a:solidFill>
              </a:rPr>
              <a:t>Banks &amp; Non-Bank </a:t>
            </a:r>
            <a:r>
              <a:rPr lang="pt-BR" dirty="0" err="1">
                <a:solidFill>
                  <a:srgbClr val="18191A"/>
                </a:solidFill>
              </a:rPr>
              <a:t>Financials</a:t>
            </a:r>
            <a:endParaRPr lang="pt-BR" dirty="0">
              <a:solidFill>
                <a:srgbClr val="18191A"/>
              </a:solidFill>
            </a:endParaRPr>
          </a:p>
        </p:txBody>
      </p:sp>
    </p:spTree>
    <p:extLst>
      <p:ext uri="{BB962C8B-B14F-4D97-AF65-F5344CB8AC3E}">
        <p14:creationId xmlns:p14="http://schemas.microsoft.com/office/powerpoint/2010/main" val="9263972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E8BDC-BFD0-A168-63D7-6C3A97143CC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9A9935F-B52B-ACB2-6F37-337C023631B6}"/>
              </a:ext>
            </a:extLst>
          </p:cNvPr>
          <p:cNvSpPr>
            <a:spLocks noGrp="1"/>
          </p:cNvSpPr>
          <p:nvPr>
            <p:ph type="body" sz="quarter" idx="20"/>
          </p:nvPr>
        </p:nvSpPr>
        <p:spPr>
          <a:xfrm>
            <a:off x="382828" y="1497015"/>
            <a:ext cx="6106871" cy="7956548"/>
          </a:xfrm>
          <a:noFill/>
        </p:spPr>
        <p:txBody>
          <a:bodyPr/>
          <a:lstStyle/>
          <a:p>
            <a:r>
              <a:rPr lang="en-US" sz="1300" b="1" u="sng" dirty="0"/>
              <a:t>Capital Markets</a:t>
            </a:r>
          </a:p>
          <a:p>
            <a:r>
              <a:rPr lang="en-US" sz="1200" b="1" u="sng" dirty="0"/>
              <a:t>Theme #1: Capital Markets Activity, M&amp;A and Capital Solutions</a:t>
            </a:r>
            <a:endParaRPr lang="pt-BR" sz="1200" u="sng" dirty="0"/>
          </a:p>
          <a:p>
            <a:r>
              <a:rPr lang="en-US" b="1" dirty="0" i="0" u="none"/>
              <a:t>Our view:</a:t>
            </a:r>
            <a:r>
              <a:rPr lang="en-US" dirty="0" b="0" i="0" u="none"/>
              <a:t> While elevated interest rates and macro uncertainty continue to limit a broader recovery in capital markets activity, M&amp;A momentum has improved throughout 2026, supported by strategic consolidations across several sectors. The key question is whether the recent pickup represents the beginning of a more sustainable transaction cycle or remains concentrated in specific opportunities. At the same time, Capital Solutions, liability management and restructuring activities have become increasingly relevant earnings drivers for advisory firms. Years of elevated borrowing costs continue to pressure corporate balance sheets, supporting strong demand for restructuring-related mandates. Investors should therefore focus on both the visibility of traditional M&amp;A pipelines and the sustainability of restructuring revenues as firms navigate a still-challenging corporate environment.</a:t>
            </a:r>
            <a:endParaRPr lang="pt-BR" dirty="0"/>
          </a:p>
          <a:p>
            <a:endParaRPr lang="pt-BR" dirty="0"/>
          </a:p>
          <a:p>
            <a:r>
              <a:rPr lang="en-US" sz="1200" b="1" u="sng" dirty="0"/>
              <a:t>Theme #2: Building Through the Downcycle</a:t>
            </a:r>
            <a:endParaRPr lang="pt-BR" sz="1200" u="sng" dirty="0"/>
          </a:p>
          <a:p>
            <a:r>
              <a:rPr lang="en-US" b="1" dirty="0" i="0" u="none"/>
              <a:t>Our view:</a:t>
            </a:r>
            <a:r>
              <a:rPr lang="en-US" dirty="0" b="0" i="0" u="none"/>
              <a:t> Several capital-markets franchises continue to invest despite subdued activity levels, expanding advisory teams, strengthening client coverage and enhancing distribution capabilities. While these investments can weigh on near-term profitability, they may create meaningful competitive advantages once activity normalizes. The key debate is whether current investments will translate into stronger market positioning and operating leverage when the cycle recovers, and how management teams balance growth initiatives with profitability and capital discipline during a prolonged downturn.</a:t>
            </a:r>
            <a:endParaRPr lang="pt-BR" dirty="0"/>
          </a:p>
        </p:txBody>
      </p:sp>
      <p:sp>
        <p:nvSpPr>
          <p:cNvPr id="7" name="Text Placeholder 6">
            <a:extLst>
              <a:ext uri="{FF2B5EF4-FFF2-40B4-BE49-F238E27FC236}">
                <a16:creationId xmlns:a16="http://schemas.microsoft.com/office/drawing/2014/main" id="{CCE641E4-2C77-7EB1-2C24-001D282864F4}"/>
              </a:ext>
            </a:extLst>
          </p:cNvPr>
          <p:cNvSpPr>
            <a:spLocks noGrp="1"/>
          </p:cNvSpPr>
          <p:nvPr>
            <p:ph type="body" sz="quarter" idx="16"/>
          </p:nvPr>
        </p:nvSpPr>
        <p:spPr/>
        <p:txBody>
          <a:bodyPr/>
          <a:lstStyle/>
          <a:p>
            <a:r>
              <a:rPr lang="pt-BR" dirty="0"/>
              <a:t>XP CEO </a:t>
            </a:r>
            <a:r>
              <a:rPr lang="pt-BR" dirty="0" err="1"/>
              <a:t>Conference</a:t>
            </a:r>
            <a:r>
              <a:rPr lang="pt-BR" dirty="0"/>
              <a:t> 2026</a:t>
            </a:r>
          </a:p>
        </p:txBody>
      </p:sp>
      <p:sp>
        <p:nvSpPr>
          <p:cNvPr id="8" name="Text Placeholder 7">
            <a:extLst>
              <a:ext uri="{FF2B5EF4-FFF2-40B4-BE49-F238E27FC236}">
                <a16:creationId xmlns:a16="http://schemas.microsoft.com/office/drawing/2014/main" id="{4C985046-3534-AEA3-027B-2AC5200ADC02}"/>
              </a:ext>
            </a:extLst>
          </p:cNvPr>
          <p:cNvSpPr>
            <a:spLocks noGrp="1"/>
          </p:cNvSpPr>
          <p:nvPr>
            <p:ph type="body" sz="quarter" idx="17"/>
          </p:nvPr>
        </p:nvSpPr>
        <p:spPr/>
        <p:txBody>
          <a:bodyPr/>
          <a:lstStyle/>
          <a:p>
            <a:pPr algn="just"/>
            <a:r>
              <a:rPr lang="pt-BR" dirty="0">
                <a:solidFill>
                  <a:srgbClr val="18191A"/>
                </a:solidFill>
              </a:rPr>
              <a:t>Banks &amp; Non-Bank </a:t>
            </a:r>
            <a:r>
              <a:rPr lang="pt-BR" dirty="0" err="1">
                <a:solidFill>
                  <a:srgbClr val="18191A"/>
                </a:solidFill>
              </a:rPr>
              <a:t>Financials</a:t>
            </a:r>
            <a:endParaRPr lang="pt-BR" dirty="0">
              <a:solidFill>
                <a:srgbClr val="18191A"/>
              </a:solidFill>
            </a:endParaRPr>
          </a:p>
        </p:txBody>
      </p:sp>
      <p:sp>
        <p:nvSpPr>
          <p:cNvPr id="9" name="Text Placeholder 8">
            <a:extLst>
              <a:ext uri="{FF2B5EF4-FFF2-40B4-BE49-F238E27FC236}">
                <a16:creationId xmlns:a16="http://schemas.microsoft.com/office/drawing/2014/main" id="{276DCE94-A0CA-989D-280A-BFFA6FF98154}"/>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6777120F-4B3A-8295-FD11-397F9258DAF0}"/>
              </a:ext>
            </a:extLst>
          </p:cNvPr>
          <p:cNvSpPr>
            <a:spLocks noGrp="1"/>
          </p:cNvSpPr>
          <p:nvPr>
            <p:ph type="dt" sz="half" idx="2"/>
          </p:nvPr>
        </p:nvSpPr>
        <p:spPr/>
        <p:txBody>
          <a:bodyPr/>
          <a:lstStyle/>
          <a:p>
            <a:fld id="{0AD01827-9A36-4138-95B8-B0189D2D0C96}" type="datetime4">
              <a:rPr lang="en-US" smtClean="0"/>
              <a:pPr/>
              <a:t>August 11, 2026</a:t>
            </a:fld>
            <a:endParaRPr lang="en-US"/>
          </a:p>
        </p:txBody>
      </p:sp>
    </p:spTree>
    <p:extLst>
      <p:ext uri="{BB962C8B-B14F-4D97-AF65-F5344CB8AC3E}">
        <p14:creationId xmlns:p14="http://schemas.microsoft.com/office/powerpoint/2010/main" val="1242791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E8BDC-BFD0-A168-63D7-6C3A97143CC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9A9935F-B52B-ACB2-6F37-337C023631B6}"/>
              </a:ext>
            </a:extLst>
          </p:cNvPr>
          <p:cNvSpPr>
            <a:spLocks noGrp="1"/>
          </p:cNvSpPr>
          <p:nvPr>
            <p:ph type="body" sz="quarter" idx="20"/>
          </p:nvPr>
        </p:nvSpPr>
        <p:spPr>
          <a:xfrm>
            <a:off x="382828" y="1497015"/>
            <a:ext cx="6106871" cy="7956548"/>
          </a:xfrm>
          <a:noFill/>
        </p:spPr>
        <p:txBody>
          <a:bodyPr/>
          <a:lstStyle/>
          <a:p>
            <a:r>
              <a:rPr lang="en-US" sz="1300" b="1" u="sng" dirty="0"/>
              <a:t>Payments</a:t>
            </a:r>
          </a:p>
          <a:p>
            <a:r>
              <a:rPr lang="en-US" sz="1200" b="1" u="sng" dirty="0"/>
              <a:t>Theme #1: Pricing Discipline in a Lower-Rate Environment</a:t>
            </a:r>
            <a:endParaRPr lang="pt-BR" sz="1200" u="sng" dirty="0"/>
          </a:p>
          <a:p>
            <a:r>
              <a:rPr lang="en-US" b="1" dirty="0" i="0" u="none"/>
              <a:t>Our view:</a:t>
            </a:r>
            <a:r>
              <a:rPr lang="en-US" dirty="0" b="0" i="0" u="none"/>
              <a:t> After years of intense competition, the payments sector has shown greater pricing discipline and a stronger focus on profitability. The next phase of the cycle will test whether this improved rationality can be maintained as interest rates decline. Lower funding costs should provide a natural tailwind to margins and cash generation, but they could also reignite competitive pressures if players choose to pass those benefits on to merchants in pursuit of market share. Investors should focus on whether the industry prioritizes margin expansion and operating leverage or whether competition once again becomes a headwind to profitability.</a:t>
            </a:r>
            <a:endParaRPr lang="pt-BR" dirty="0"/>
          </a:p>
          <a:p>
            <a:endParaRPr lang="pt-BR" dirty="0"/>
          </a:p>
          <a:p>
            <a:r>
              <a:rPr lang="en-US" sz="1200" b="1" u="sng" dirty="0"/>
              <a:t>Theme #2: Banking Expansion, Credit and Funding Advantages</a:t>
            </a:r>
            <a:endParaRPr lang="pt-BR" sz="1200" u="sng" dirty="0"/>
          </a:p>
          <a:p>
            <a:r>
              <a:rPr lang="en-US" b="1" dirty="0" i="0" u="none"/>
              <a:t>Our view:</a:t>
            </a:r>
            <a:r>
              <a:rPr lang="en-US" dirty="0" b="0" i="0" u="none"/>
              <a:t> The expansion into banking services continues to be one of the most important strategic priorities for payment companies. Deposits, accounts, cards and broader financial offerings not only diversify revenues but also improve funding costs and deepen customer engagement. At the same time, credit has become a key monetization opportunity as acquiring businesses mature. Merchant lending, working-capital solutions and receivables-backed products can support growth and retention, but also introduce greater balance-sheet and execution risks. Investors should focus on which players can successfully expand their financial ecosystems while maintaining underwriting discipline, controlling credit losses and preserving attractive unit economics.</a:t>
            </a:r>
            <a:endParaRPr lang="pt-BR" dirty="0"/>
          </a:p>
          <a:p>
            <a:endParaRPr lang="pt-BR" dirty="0"/>
          </a:p>
          <a:p>
            <a:r>
              <a:rPr lang="en-US" sz="1300" b="1" u="sng" dirty="0"/>
              <a:t>Insurance</a:t>
            </a:r>
          </a:p>
          <a:p>
            <a:r>
              <a:rPr lang="en-US" sz="1200" b="1" u="sng" dirty="0"/>
              <a:t>Theme #1: Sustaining Profitability Beyond the Interest-Rate Tailwind</a:t>
            </a:r>
            <a:endParaRPr lang="pt-BR" sz="1200" u="sng" dirty="0"/>
          </a:p>
          <a:p>
            <a:r>
              <a:rPr lang="en-US" b="1" dirty="0" i="0" u="none"/>
              <a:t>Our view:</a:t>
            </a:r>
            <a:r>
              <a:rPr lang="en-US" dirty="0" b="0" i="0" u="none"/>
              <a:t> The insurance sector has benefited significantly from elevated interest rates over recent years, but investor focus is gradually shifting toward the sustainability of underlying operating earnings. As rates move lower, the debate should increasingly center on the strength of distribution platforms, underwriting quality and the ability to deepen customer penetration across life, pension, credit life, capitalization and rural insurance products. Bancassurance franchises remain particularly attractive given their proprietary distribution networks, large customer bases and significant cross-selling opportunities. The key question is whether insurers can maintain industry-leading profitability as financial income becomes a less important earnings contributor.</a:t>
            </a:r>
            <a:endParaRPr lang="pt-BR" dirty="0"/>
          </a:p>
          <a:p>
            <a:endParaRPr lang="pt-BR" dirty="0"/>
          </a:p>
          <a:p>
            <a:r>
              <a:rPr lang="en-US" sz="1200" b="1" u="sng" dirty="0"/>
              <a:t>Theme #2: Capital Allocation and Dividend Sustainability</a:t>
            </a:r>
            <a:endParaRPr lang="pt-BR" sz="1200" u="sng" dirty="0"/>
          </a:p>
          <a:p>
            <a:r>
              <a:rPr lang="en-US" b="1" dirty="0" i="0" u="none"/>
              <a:t>Our view:</a:t>
            </a:r>
            <a:r>
              <a:rPr lang="en-US" dirty="0" b="0" i="0" u="none"/>
              <a:t> Strong capital generation has supported attractive shareholder remuneration across the sector, making capital allocation an increasingly important discussion point. Investors should focus on payout sustainability, excess capital utilization and management teams' willingness to balance dividends with investments in technology, distribution capabilities and product innovation. In a lower-rate environment, recurring cash generation and capital discipline are likely to become even more important differentiators.</a:t>
            </a:r>
            <a:endParaRPr lang="pt-BR" dirty="0"/>
          </a:p>
        </p:txBody>
      </p:sp>
      <p:sp>
        <p:nvSpPr>
          <p:cNvPr id="7" name="Text Placeholder 6">
            <a:extLst>
              <a:ext uri="{FF2B5EF4-FFF2-40B4-BE49-F238E27FC236}">
                <a16:creationId xmlns:a16="http://schemas.microsoft.com/office/drawing/2014/main" id="{CCE641E4-2C77-7EB1-2C24-001D282864F4}"/>
              </a:ext>
            </a:extLst>
          </p:cNvPr>
          <p:cNvSpPr>
            <a:spLocks noGrp="1"/>
          </p:cNvSpPr>
          <p:nvPr>
            <p:ph type="body" sz="quarter" idx="16"/>
          </p:nvPr>
        </p:nvSpPr>
        <p:spPr/>
        <p:txBody>
          <a:bodyPr/>
          <a:lstStyle/>
          <a:p>
            <a:r>
              <a:rPr lang="pt-BR" dirty="0"/>
              <a:t>XP CEO </a:t>
            </a:r>
            <a:r>
              <a:rPr lang="pt-BR" dirty="0" err="1"/>
              <a:t>Conference</a:t>
            </a:r>
            <a:r>
              <a:rPr lang="pt-BR" dirty="0"/>
              <a:t> 2026</a:t>
            </a:r>
          </a:p>
        </p:txBody>
      </p:sp>
      <p:sp>
        <p:nvSpPr>
          <p:cNvPr id="8" name="Text Placeholder 7">
            <a:extLst>
              <a:ext uri="{FF2B5EF4-FFF2-40B4-BE49-F238E27FC236}">
                <a16:creationId xmlns:a16="http://schemas.microsoft.com/office/drawing/2014/main" id="{4C985046-3534-AEA3-027B-2AC5200ADC02}"/>
              </a:ext>
            </a:extLst>
          </p:cNvPr>
          <p:cNvSpPr>
            <a:spLocks noGrp="1"/>
          </p:cNvSpPr>
          <p:nvPr>
            <p:ph type="body" sz="quarter" idx="17"/>
          </p:nvPr>
        </p:nvSpPr>
        <p:spPr/>
        <p:txBody>
          <a:bodyPr/>
          <a:lstStyle/>
          <a:p>
            <a:pPr algn="just"/>
            <a:r>
              <a:rPr lang="pt-BR" dirty="0">
                <a:solidFill>
                  <a:srgbClr val="18191A"/>
                </a:solidFill>
              </a:rPr>
              <a:t>Banks &amp; Non-Bank </a:t>
            </a:r>
            <a:r>
              <a:rPr lang="pt-BR" dirty="0" err="1">
                <a:solidFill>
                  <a:srgbClr val="18191A"/>
                </a:solidFill>
              </a:rPr>
              <a:t>Financials</a:t>
            </a:r>
            <a:endParaRPr lang="pt-BR" dirty="0">
              <a:solidFill>
                <a:srgbClr val="18191A"/>
              </a:solidFill>
            </a:endParaRPr>
          </a:p>
        </p:txBody>
      </p:sp>
      <p:sp>
        <p:nvSpPr>
          <p:cNvPr id="9" name="Text Placeholder 8">
            <a:extLst>
              <a:ext uri="{FF2B5EF4-FFF2-40B4-BE49-F238E27FC236}">
                <a16:creationId xmlns:a16="http://schemas.microsoft.com/office/drawing/2014/main" id="{276DCE94-A0CA-989D-280A-BFFA6FF98154}"/>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6777120F-4B3A-8295-FD11-397F9258DAF0}"/>
              </a:ext>
            </a:extLst>
          </p:cNvPr>
          <p:cNvSpPr>
            <a:spLocks noGrp="1"/>
          </p:cNvSpPr>
          <p:nvPr>
            <p:ph type="dt" sz="half" idx="2"/>
          </p:nvPr>
        </p:nvSpPr>
        <p:spPr/>
        <p:txBody>
          <a:bodyPr/>
          <a:lstStyle/>
          <a:p>
            <a:fld id="{0AD01827-9A36-4138-95B8-B0189D2D0C96}" type="datetime4">
              <a:rPr lang="en-US" smtClean="0"/>
              <a:pPr/>
              <a:t>August 11, 2026</a:t>
            </a:fld>
            <a:endParaRPr lang="en-US"/>
          </a:p>
        </p:txBody>
      </p:sp>
    </p:spTree>
    <p:extLst>
      <p:ext uri="{BB962C8B-B14F-4D97-AF65-F5344CB8AC3E}">
        <p14:creationId xmlns:p14="http://schemas.microsoft.com/office/powerpoint/2010/main" val="1242791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F3A99-220C-1FAC-3E74-4058EFA598B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E37572D-825D-9F6A-D92B-60DDFECF2CCD}"/>
              </a:ext>
            </a:extLst>
          </p:cNvPr>
          <p:cNvSpPr>
            <a:spLocks noGrp="1"/>
          </p:cNvSpPr>
          <p:nvPr>
            <p:ph type="body" sz="quarter" idx="20"/>
          </p:nvPr>
        </p:nvSpPr>
        <p:spPr>
          <a:xfrm>
            <a:off x="382828" y="1497015"/>
            <a:ext cx="6106871" cy="7956548"/>
          </a:xfrm>
          <a:noFill/>
        </p:spPr>
        <p:txBody>
          <a:bodyPr/>
          <a:lstStyle/>
          <a:p>
            <a:r>
              <a:rPr lang="en-US" sz="1200" b="1" u="sng" dirty="0"/>
              <a:t>Theme #1: Power grid expansion and electrification driving a new infrastructure investment cycle</a:t>
            </a:r>
            <a:endParaRPr lang="pt-BR" sz="1200" u="sng" dirty="0"/>
          </a:p>
          <a:p>
            <a:r>
              <a:rPr lang="en-US" b="1" dirty="0" i="0" u="none"/>
              <a:t>Our view:</a:t>
            </a:r>
            <a:r>
              <a:rPr lang="en-US" dirty="0" b="0" i="0" u="none"/>
              <a:t> Rising power demand from electrification trends, renewable energy deployment and AI-related data center investments is accelerating the need for grid expansion and modernization globally. With power infrastructure becoming a key bottleneck, investment in transmission, distribution and critical equipment is increasing across regions. We expect this multi-year cycle to continue supporting demand for electrical equipment and industrial automation solutions.</a:t>
            </a:r>
            <a:endParaRPr lang="pt-BR" dirty="0"/>
          </a:p>
          <a:p>
            <a:endParaRPr lang="pt-BR" dirty="0"/>
          </a:p>
          <a:p>
            <a:r>
              <a:rPr lang="en-US" sz="1200" b="1" u="sng" dirty="0"/>
              <a:t>Theme #2: Navigating an increasingly uncertain U.S. tariff environment</a:t>
            </a:r>
            <a:endParaRPr lang="pt-BR" sz="1200" u="sng" dirty="0"/>
          </a:p>
          <a:p>
            <a:r>
              <a:rPr lang="en-US" b="1" dirty="0" i="0" u="none"/>
              <a:t>Our view:</a:t>
            </a:r>
            <a:r>
              <a:rPr lang="en-US" dirty="0" b="0" i="0" u="none"/>
              <a:t> The evolving U.S. tariff landscape has increased uncertainty across industrial supply chains, potentially affecting trade flows, investment decisions and manufacturing footprints. While direct impacts vary by company and end-market exposure, prolonged trade tensions could delay capital allocation and industrial activity. Companies with localized production, diversified supply chains and strong competitive positioning should be better equipped to navigate this environment.</a:t>
            </a:r>
            <a:endParaRPr lang="pt-BR" dirty="0"/>
          </a:p>
          <a:p>
            <a:endParaRPr lang="pt-BR" dirty="0"/>
          </a:p>
          <a:p>
            <a:r>
              <a:rPr lang="en-US" sz="1200" b="1" u="sng" dirty="0"/>
              <a:t>Theme #3: Global capital investment remains a key driver for industrial demand</a:t>
            </a:r>
            <a:endParaRPr lang="pt-BR" sz="1200" u="sng" dirty="0"/>
          </a:p>
          <a:p>
            <a:r>
              <a:rPr lang="en-US" b="1" dirty="0" i="0" u="none"/>
              <a:t>Our view:</a:t>
            </a:r>
            <a:r>
              <a:rPr lang="en-US" dirty="0" b="0" i="0" u="none"/>
              <a:t> Demand for industrial equipment remains closely linked to global capital investment trends across sectors such as mining, energy, utilities and manufacturing. Despite a more uncertain macro backdrop, structural drivers including resource security, energy transition and industrial reshoring continue to support large-scale investment projects. As a result, we expect demand for capital goods to remain underpinned by a healthy pipeline of long-cycle investments.</a:t>
            </a:r>
            <a:endParaRPr lang="pt-BR" dirty="0"/>
          </a:p>
        </p:txBody>
      </p:sp>
      <p:sp>
        <p:nvSpPr>
          <p:cNvPr id="7" name="Text Placeholder 6">
            <a:extLst>
              <a:ext uri="{FF2B5EF4-FFF2-40B4-BE49-F238E27FC236}">
                <a16:creationId xmlns:a16="http://schemas.microsoft.com/office/drawing/2014/main" id="{2314217F-0D01-B894-A55A-CBD38C45B7FD}"/>
              </a:ext>
            </a:extLst>
          </p:cNvPr>
          <p:cNvSpPr>
            <a:spLocks noGrp="1"/>
          </p:cNvSpPr>
          <p:nvPr>
            <p:ph type="body" sz="quarter" idx="16"/>
          </p:nvPr>
        </p:nvSpPr>
        <p:spPr/>
        <p:txBody>
          <a:bodyPr/>
          <a:lstStyle/>
          <a:p>
            <a:r>
              <a:rPr lang="pt-BR" dirty="0"/>
              <a:t>XP CEO </a:t>
            </a:r>
            <a:r>
              <a:rPr lang="pt-BR" dirty="0" err="1"/>
              <a:t>Conference</a:t>
            </a:r>
            <a:r>
              <a:rPr lang="pt-BR" dirty="0"/>
              <a:t> 2026</a:t>
            </a:r>
          </a:p>
        </p:txBody>
      </p:sp>
      <p:sp>
        <p:nvSpPr>
          <p:cNvPr id="8" name="Text Placeholder 7">
            <a:extLst>
              <a:ext uri="{FF2B5EF4-FFF2-40B4-BE49-F238E27FC236}">
                <a16:creationId xmlns:a16="http://schemas.microsoft.com/office/drawing/2014/main" id="{2109FC52-71FB-E7EF-675B-41335E8C10F7}"/>
              </a:ext>
            </a:extLst>
          </p:cNvPr>
          <p:cNvSpPr>
            <a:spLocks noGrp="1"/>
          </p:cNvSpPr>
          <p:nvPr>
            <p:ph type="body" sz="quarter" idx="17"/>
          </p:nvPr>
        </p:nvSpPr>
        <p:spPr/>
        <p:txBody>
          <a:bodyPr/>
          <a:lstStyle/>
          <a:p>
            <a:r>
              <a:rPr lang="pt-BR" dirty="0"/>
              <a:t>Capital </a:t>
            </a:r>
            <a:r>
              <a:rPr lang="pt-BR" dirty="0" err="1"/>
              <a:t>Goods</a:t>
            </a:r>
            <a:endParaRPr lang="pt-BR" dirty="0"/>
          </a:p>
        </p:txBody>
      </p:sp>
      <p:sp>
        <p:nvSpPr>
          <p:cNvPr id="9" name="Text Placeholder 8">
            <a:extLst>
              <a:ext uri="{FF2B5EF4-FFF2-40B4-BE49-F238E27FC236}">
                <a16:creationId xmlns:a16="http://schemas.microsoft.com/office/drawing/2014/main" id="{51AC0844-F4BF-9F87-A7A1-DB08FACC353B}"/>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A90401D7-052F-52C7-8745-F6BD53DC5A3B}"/>
              </a:ext>
            </a:extLst>
          </p:cNvPr>
          <p:cNvSpPr>
            <a:spLocks noGrp="1"/>
          </p:cNvSpPr>
          <p:nvPr>
            <p:ph type="dt" sz="half" idx="2"/>
          </p:nvPr>
        </p:nvSpPr>
        <p:spPr/>
        <p:txBody>
          <a:bodyPr/>
          <a:lstStyle/>
          <a:p>
            <a:fld id="{0AD01827-9A36-4138-95B8-B0189D2D0C96}" type="datetime4">
              <a:rPr lang="en-US" smtClean="0"/>
              <a:pPr/>
              <a:t>August 11, 2026</a:t>
            </a:fld>
            <a:endParaRPr lang="en-US"/>
          </a:p>
        </p:txBody>
      </p:sp>
    </p:spTree>
    <p:extLst>
      <p:ext uri="{BB962C8B-B14F-4D97-AF65-F5344CB8AC3E}">
        <p14:creationId xmlns:p14="http://schemas.microsoft.com/office/powerpoint/2010/main" val="1919915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FA584-AF30-5702-1178-B35DA8A15FC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76620D3-E8CA-89A1-895E-3A8074E5E4C9}"/>
              </a:ext>
            </a:extLst>
          </p:cNvPr>
          <p:cNvSpPr>
            <a:spLocks noGrp="1"/>
          </p:cNvSpPr>
          <p:nvPr>
            <p:ph type="body" sz="quarter" idx="20"/>
          </p:nvPr>
        </p:nvSpPr>
        <p:spPr>
          <a:xfrm>
            <a:off x="382828" y="1497015"/>
            <a:ext cx="6106871" cy="7956548"/>
          </a:xfrm>
          <a:noFill/>
        </p:spPr>
        <p:txBody>
          <a:bodyPr/>
          <a:lstStyle/>
          <a:p>
            <a:r>
              <a:rPr lang="en-US" sz="1200" b="1" u="sng" dirty="0"/>
              <a:t>Theme #1: New regulatory framework</a:t>
            </a:r>
            <a:endParaRPr lang="pt-BR" sz="1200" u="sng" dirty="0"/>
          </a:p>
          <a:p>
            <a:r>
              <a:rPr lang="en-US" b="1" dirty="0" i="0" u="none"/>
              <a:t>Our view:</a:t>
            </a:r>
            <a:r>
              <a:rPr lang="en-US" dirty="0" b="0" i="0" u="none"/>
              <a:t> A major topic of discussion in the education sector is the new regulatory framework for distance learning, which introduces stricter requirements for online and hybrid programs, including higher mandatory in-person workloads, enhanced infrastructure and faculty requirements, and restrictions on the delivery format of certain programs, particularly in healthcare. The impact should vary across companies depending on their exposure to digital learning, course mix, and existing physical infrastructure. As the sector transitions to the new rules, we expect companies to discuss their adaptation strategies regarding portfolio adjustments, investments </a:t>
            </a:r>
            <a:r>
              <a:rPr lang="en-US" dirty="0" b="0" i="0" u="none"/>
              <a:t>required to upgrade their physical footprint, and initiatives to mitigate pressure on profitability and cash generation.</a:t>
            </a:r>
            <a:endParaRPr lang="pt-BR" dirty="0"/>
          </a:p>
          <a:p>
            <a:endParaRPr lang="pt-BR" dirty="0"/>
          </a:p>
          <a:p>
            <a:r>
              <a:rPr lang="en-US" sz="1200" b="1" u="sng" dirty="0"/>
              <a:t>Theme #2: Student intake, price competition, and enrollment trends</a:t>
            </a:r>
            <a:endParaRPr lang="pt-BR" sz="1200" u="sng" dirty="0"/>
          </a:p>
          <a:p>
            <a:r>
              <a:rPr lang="en-US" b="1" dirty="0" i="0" u="none"/>
              <a:t>Our view:</a:t>
            </a:r>
            <a:r>
              <a:rPr lang="en-US" dirty="0" b="0" i="0" u="none"/>
              <a:t> With student intake remaining a key earnings driver, we expect discussions to focus on the intake outlook across on-campus, hybrid, and distance-learning programs, as well as pricing dynamics, marketing expenses, and companies’ ability to balance volume growth with ticket increases and student retention. Course and modality mix should also remain relevant, particularly as healthcare programs and hybrid offerings gain importance across the sector.</a:t>
            </a:r>
            <a:endParaRPr lang="pt-BR" dirty="0"/>
          </a:p>
          <a:p>
            <a:endParaRPr lang="pt-BR" dirty="0"/>
          </a:p>
          <a:p>
            <a:r>
              <a:rPr lang="en-US" sz="1200" b="1" u="sng" dirty="0"/>
              <a:t>Theme #3: Cash Generation</a:t>
            </a:r>
            <a:endParaRPr lang="pt-BR" sz="1200" u="sng" dirty="0"/>
          </a:p>
          <a:p>
            <a:r>
              <a:rPr lang="en-US" b="1" dirty="0" i="0" u="none"/>
              <a:t>Our view:</a:t>
            </a:r>
            <a:r>
              <a:rPr lang="en-US" dirty="0" b="0" i="0" u="none"/>
              <a:t> The education sector is transitioning toward a stronger cash-generation profile, making cash conversion a key theme across companies. We expect discussions to focus on the sustainability of cash generation going forward and companies’ capital allocation priorities.</a:t>
            </a:r>
            <a:endParaRPr lang="pt-BR" dirty="0"/>
          </a:p>
        </p:txBody>
      </p:sp>
      <p:sp>
        <p:nvSpPr>
          <p:cNvPr id="7" name="Text Placeholder 6">
            <a:extLst>
              <a:ext uri="{FF2B5EF4-FFF2-40B4-BE49-F238E27FC236}">
                <a16:creationId xmlns:a16="http://schemas.microsoft.com/office/drawing/2014/main" id="{ED4B4045-E5A0-D7D3-E4ED-594253BBC4D3}"/>
              </a:ext>
            </a:extLst>
          </p:cNvPr>
          <p:cNvSpPr>
            <a:spLocks noGrp="1"/>
          </p:cNvSpPr>
          <p:nvPr>
            <p:ph type="body" sz="quarter" idx="16"/>
          </p:nvPr>
        </p:nvSpPr>
        <p:spPr/>
        <p:txBody>
          <a:bodyPr/>
          <a:lstStyle/>
          <a:p>
            <a:r>
              <a:rPr lang="pt-BR" dirty="0"/>
              <a:t>XP CEO </a:t>
            </a:r>
            <a:r>
              <a:rPr lang="pt-BR" dirty="0" err="1"/>
              <a:t>Conference</a:t>
            </a:r>
            <a:r>
              <a:rPr lang="pt-BR" dirty="0"/>
              <a:t> 2026</a:t>
            </a:r>
          </a:p>
        </p:txBody>
      </p:sp>
      <p:sp>
        <p:nvSpPr>
          <p:cNvPr id="8" name="Text Placeholder 7">
            <a:extLst>
              <a:ext uri="{FF2B5EF4-FFF2-40B4-BE49-F238E27FC236}">
                <a16:creationId xmlns:a16="http://schemas.microsoft.com/office/drawing/2014/main" id="{D48235F6-239C-2ACD-C523-883D7AC44A99}"/>
              </a:ext>
            </a:extLst>
          </p:cNvPr>
          <p:cNvSpPr>
            <a:spLocks noGrp="1"/>
          </p:cNvSpPr>
          <p:nvPr>
            <p:ph type="body" sz="quarter" idx="17"/>
          </p:nvPr>
        </p:nvSpPr>
        <p:spPr/>
        <p:txBody>
          <a:bodyPr/>
          <a:lstStyle/>
          <a:p>
            <a:pPr algn="just" rtl="0"/>
            <a:r>
              <a:rPr lang="pt-BR" sz="1600" i="0" strike="noStrike" baseline="0" dirty="0" err="1">
                <a:solidFill>
                  <a:srgbClr val="18191A"/>
                </a:solidFill>
                <a:latin typeface="Roboto Light" panose="02000000000000000000" pitchFamily="2" charset="0"/>
              </a:rPr>
              <a:t>Education</a:t>
            </a:r>
            <a:endParaRPr lang="pt-BR" sz="1600" i="0" strike="noStrike" baseline="0" dirty="0">
              <a:solidFill>
                <a:srgbClr val="18191A"/>
              </a:solidFill>
              <a:latin typeface="Roboto Light" panose="02000000000000000000" pitchFamily="2" charset="0"/>
            </a:endParaRPr>
          </a:p>
        </p:txBody>
      </p:sp>
      <p:sp>
        <p:nvSpPr>
          <p:cNvPr id="9" name="Text Placeholder 8">
            <a:extLst>
              <a:ext uri="{FF2B5EF4-FFF2-40B4-BE49-F238E27FC236}">
                <a16:creationId xmlns:a16="http://schemas.microsoft.com/office/drawing/2014/main" id="{CC8E10DD-A817-43EE-2227-30D7FC150899}"/>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95C801F6-238F-9151-A313-D58D48477AF8}"/>
              </a:ext>
            </a:extLst>
          </p:cNvPr>
          <p:cNvSpPr>
            <a:spLocks noGrp="1"/>
          </p:cNvSpPr>
          <p:nvPr>
            <p:ph type="dt" sz="half" idx="2"/>
          </p:nvPr>
        </p:nvSpPr>
        <p:spPr/>
        <p:txBody>
          <a:bodyPr/>
          <a:lstStyle/>
          <a:p>
            <a:fld id="{0AD01827-9A36-4138-95B8-B0189D2D0C96}" type="datetime4">
              <a:rPr lang="en-US" smtClean="0"/>
              <a:pPr/>
              <a:t>August 11, 2026</a:t>
            </a:fld>
            <a:endParaRPr lang="en-US"/>
          </a:p>
        </p:txBody>
      </p:sp>
    </p:spTree>
    <p:extLst>
      <p:ext uri="{BB962C8B-B14F-4D97-AF65-F5344CB8AC3E}">
        <p14:creationId xmlns:p14="http://schemas.microsoft.com/office/powerpoint/2010/main" val="1787310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31DF5-429E-6016-753E-4139C4DD7FB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AA10DA0-C111-AE0F-A357-9AA520DDEF9A}"/>
              </a:ext>
            </a:extLst>
          </p:cNvPr>
          <p:cNvSpPr>
            <a:spLocks noGrp="1"/>
          </p:cNvSpPr>
          <p:nvPr>
            <p:ph type="body" sz="quarter" idx="20"/>
          </p:nvPr>
        </p:nvSpPr>
        <p:spPr>
          <a:xfrm>
            <a:off x="382828" y="1497015"/>
            <a:ext cx="6106871" cy="7956548"/>
          </a:xfrm>
          <a:noFill/>
        </p:spPr>
        <p:txBody>
          <a:bodyPr/>
          <a:lstStyle/>
          <a:p>
            <a:r>
              <a:rPr lang="en-US" sz="1200" b="1" u="sng" dirty="0"/>
              <a:t>Theme #1: Price competition and potential implications for MLR</a:t>
            </a:r>
            <a:endParaRPr lang="pt-BR" sz="1200" u="sng" dirty="0"/>
          </a:p>
          <a:p>
            <a:r>
              <a:rPr lang="en-US" b="1" dirty="0" i="0" u="none"/>
              <a:t>Our view:</a:t>
            </a:r>
            <a:r>
              <a:rPr lang="en-US" dirty="0" b="0" i="0" u="none"/>
              <a:t> With healthcare costs continuing to grow at a faster pace than premium adjustments, implications for MLR remain a key discussion for the sector. While costs have historically increased by 8–12% per year, premium adjustments are currently running at around 2%. Looking ahead, the key concern is that this gap between cost inflation and pricing could lead to rising MLRs.</a:t>
            </a:r>
            <a:endParaRPr lang="pt-BR" dirty="0"/>
          </a:p>
          <a:p>
            <a:endParaRPr lang="pt-BR" dirty="0"/>
          </a:p>
          <a:p>
            <a:r>
              <a:rPr lang="en-US" sz="1200" b="1" u="sng" dirty="0"/>
              <a:t>Theme #2: GLP-1s and Semavy’s launch</a:t>
            </a:r>
            <a:endParaRPr lang="pt-BR" sz="1200" u="sng" dirty="0"/>
          </a:p>
          <a:p>
            <a:r>
              <a:rPr lang="en-US" b="1" dirty="0" i="0" u="none"/>
              <a:t>Our view:</a:t>
            </a:r>
            <a:r>
              <a:rPr lang="en-US" dirty="0" b="0" i="0" u="none"/>
              <a:t> Given the size of the GLP-1 market and semaglutide’s patent expiration in Brazil, the market has been assessing the potential revenue impact on several players, including </a:t>
            </a:r>
            <a:r>
              <a:rPr lang="en-US" dirty="0" b="0" i="0" u="none"/>
              <a:t>Hypera</a:t>
            </a:r>
            <a:r>
              <a:rPr lang="en-US" dirty="0" b="0" i="0" u="none"/>
              <a:t>. EMS was the first mover and has been capturing share; however, the discussion is now increasingly centered on </a:t>
            </a:r>
            <a:r>
              <a:rPr lang="en-US" dirty="0" b="0" i="0" u="none"/>
              <a:t>Hypera’s</a:t>
            </a:r>
            <a:r>
              <a:rPr lang="en-US" dirty="0" b="0" i="0" u="none"/>
              <a:t>Semavy</a:t>
            </a:r>
            <a:r>
              <a:rPr lang="en-US" dirty="0" b="0" i="0" u="none"/>
              <a:t>, expected to reach the market in September, and its potential to capture a portion of the official GLP-1 market, currently estimated at ~R$13bn.</a:t>
            </a:r>
            <a:endParaRPr lang="pt-BR" dirty="0"/>
          </a:p>
          <a:p>
            <a:endParaRPr lang="pt-BR" dirty="0"/>
          </a:p>
          <a:p>
            <a:r>
              <a:rPr lang="en-US" sz="1200" b="1" u="sng" dirty="0"/>
              <a:t>Theme #3: Hospital bed expansion and implications for Rede D’Or and BradSaúde</a:t>
            </a:r>
            <a:endParaRPr lang="pt-BR" sz="1200" u="sng" dirty="0"/>
          </a:p>
          <a:p>
            <a:r>
              <a:rPr lang="en-US" b="1" dirty="0" i="0" u="none"/>
              <a:t>Our view:</a:t>
            </a:r>
            <a:r>
              <a:rPr lang="en-US" dirty="0" b="0" i="0" u="none"/>
              <a:t> Hospital margins have remained volatile, making the ramp-up of new hospitals a central topic for the sector. This is especially relevant for Rede D’Or and </a:t>
            </a:r>
            <a:r>
              <a:rPr lang="en-US" dirty="0" b="0" i="0" u="none"/>
              <a:t>Atlântica</a:t>
            </a:r>
            <a:r>
              <a:rPr lang="en-US" dirty="0" b="0" i="0" u="none"/>
              <a:t> D’Or – the joint venture between Bradesco </a:t>
            </a:r>
            <a:r>
              <a:rPr lang="en-US" dirty="0" b="0" i="0" u="none"/>
              <a:t>Saúde</a:t>
            </a:r>
            <a:r>
              <a:rPr lang="en-US" dirty="0" b="0" i="0" u="none"/>
              <a:t> and Rede D’Or – as the market assesses the potential impact of new capacity on their operations.</a:t>
            </a:r>
            <a:endParaRPr lang="pt-BR" dirty="0"/>
          </a:p>
        </p:txBody>
      </p:sp>
      <p:sp>
        <p:nvSpPr>
          <p:cNvPr id="7" name="Text Placeholder 6">
            <a:extLst>
              <a:ext uri="{FF2B5EF4-FFF2-40B4-BE49-F238E27FC236}">
                <a16:creationId xmlns:a16="http://schemas.microsoft.com/office/drawing/2014/main" id="{6D18CA88-505E-BC7A-AF5C-BCDC0F2B96AF}"/>
              </a:ext>
            </a:extLst>
          </p:cNvPr>
          <p:cNvSpPr>
            <a:spLocks noGrp="1"/>
          </p:cNvSpPr>
          <p:nvPr>
            <p:ph type="body" sz="quarter" idx="16"/>
          </p:nvPr>
        </p:nvSpPr>
        <p:spPr/>
        <p:txBody>
          <a:bodyPr/>
          <a:lstStyle/>
          <a:p>
            <a:r>
              <a:rPr lang="pt-BR" dirty="0"/>
              <a:t>XP CEO </a:t>
            </a:r>
            <a:r>
              <a:rPr lang="pt-BR" dirty="0" err="1"/>
              <a:t>Conference</a:t>
            </a:r>
            <a:r>
              <a:rPr lang="pt-BR" dirty="0"/>
              <a:t> 2026</a:t>
            </a:r>
          </a:p>
        </p:txBody>
      </p:sp>
      <p:sp>
        <p:nvSpPr>
          <p:cNvPr id="8" name="Text Placeholder 7">
            <a:extLst>
              <a:ext uri="{FF2B5EF4-FFF2-40B4-BE49-F238E27FC236}">
                <a16:creationId xmlns:a16="http://schemas.microsoft.com/office/drawing/2014/main" id="{1704631B-A7CF-E9A2-2929-2975A58B22A8}"/>
              </a:ext>
            </a:extLst>
          </p:cNvPr>
          <p:cNvSpPr>
            <a:spLocks noGrp="1"/>
          </p:cNvSpPr>
          <p:nvPr>
            <p:ph type="body" sz="quarter" idx="17"/>
          </p:nvPr>
        </p:nvSpPr>
        <p:spPr/>
        <p:txBody>
          <a:bodyPr/>
          <a:lstStyle/>
          <a:p>
            <a:r>
              <a:rPr lang="pt-BR" dirty="0"/>
              <a:t>Healthcare</a:t>
            </a:r>
          </a:p>
        </p:txBody>
      </p:sp>
      <p:sp>
        <p:nvSpPr>
          <p:cNvPr id="9" name="Text Placeholder 8">
            <a:extLst>
              <a:ext uri="{FF2B5EF4-FFF2-40B4-BE49-F238E27FC236}">
                <a16:creationId xmlns:a16="http://schemas.microsoft.com/office/drawing/2014/main" id="{D3D19F49-6AAF-6289-7085-60D5E047B245}"/>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DB76E4F0-754A-E71F-25B9-9C58E18D8419}"/>
              </a:ext>
            </a:extLst>
          </p:cNvPr>
          <p:cNvSpPr>
            <a:spLocks noGrp="1"/>
          </p:cNvSpPr>
          <p:nvPr>
            <p:ph type="dt" sz="half" idx="2"/>
          </p:nvPr>
        </p:nvSpPr>
        <p:spPr/>
        <p:txBody>
          <a:bodyPr/>
          <a:lstStyle/>
          <a:p>
            <a:fld id="{0AD01827-9A36-4138-95B8-B0189D2D0C96}" type="datetime4">
              <a:rPr lang="en-US" smtClean="0"/>
              <a:pPr/>
              <a:t>August 11, 2026</a:t>
            </a:fld>
            <a:endParaRPr lang="en-US"/>
          </a:p>
        </p:txBody>
      </p:sp>
    </p:spTree>
    <p:extLst>
      <p:ext uri="{BB962C8B-B14F-4D97-AF65-F5344CB8AC3E}">
        <p14:creationId xmlns:p14="http://schemas.microsoft.com/office/powerpoint/2010/main" val="1332582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EECA9-CF26-08F2-6A40-D604BBD9145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4DACA05-8A12-6F91-0DF3-D9420FAE8820}"/>
              </a:ext>
            </a:extLst>
          </p:cNvPr>
          <p:cNvSpPr>
            <a:spLocks noGrp="1"/>
          </p:cNvSpPr>
          <p:nvPr>
            <p:ph type="body" sz="quarter" idx="20"/>
          </p:nvPr>
        </p:nvSpPr>
        <p:spPr>
          <a:xfrm>
            <a:off x="382828" y="1497015"/>
            <a:ext cx="6106871" cy="7956548"/>
          </a:xfrm>
          <a:noFill/>
        </p:spPr>
        <p:txBody>
          <a:bodyPr/>
          <a:lstStyle/>
          <a:p>
            <a:r>
              <a:rPr lang="en-US" sz="1200" b="1" u="sng" dirty="0"/>
              <a:t>Theme #1: China’s economic policies and anti-involution campaigns</a:t>
            </a:r>
            <a:endParaRPr lang="pt-BR" sz="1200" u="sng" dirty="0"/>
          </a:p>
          <a:p>
            <a:r>
              <a:rPr lang="en-US" b="1" dirty="0" i="0" u="none"/>
              <a:t>Our view:</a:t>
            </a:r>
            <a:r>
              <a:rPr lang="en-US" dirty="0" b="0" i="0" u="none"/>
              <a:t> We believe China’s anti-involution campaign should curb irrational price competition and improve discipline across sectors facing overcapacity. In steel, however, we do not expect significant closures, as the measures appear focused on discouraging net capacity additions, promoting consolidation and upgrading existing facilities. Therefore, while industry profitability could gradually improve, the impact on China’s overall steel supply should remain limited.</a:t>
            </a:r>
            <a:endParaRPr lang="pt-BR" dirty="0"/>
          </a:p>
          <a:p>
            <a:endParaRPr lang="pt-BR" dirty="0"/>
          </a:p>
          <a:p>
            <a:r>
              <a:rPr lang="en-US" sz="1200" b="1" u="sng" dirty="0"/>
              <a:t>Theme #2: Steel and iron ore supply and demand balances</a:t>
            </a:r>
            <a:endParaRPr lang="pt-BR" sz="1200" u="sng" dirty="0"/>
          </a:p>
          <a:p>
            <a:r>
              <a:rPr lang="en-US" b="1" dirty="0" i="0" u="none"/>
              <a:t>Our view:</a:t>
            </a:r>
            <a:r>
              <a:rPr lang="en-US" dirty="0" b="0" i="0" u="none"/>
              <a:t> For steel, we see demand in China as more resilient than the property downturn would suggest, supported by manufacturing and indirect exports. While rising trade barriers may constrain direct steel exports, indirect exports should remain an important outlet for Chinese production, supporting steel output and iron ore demand. For iron ore, </a:t>
            </a:r>
            <a:r>
              <a:rPr lang="en-US" dirty="0" b="0" i="0" u="none"/>
              <a:t>Simandou’s</a:t>
            </a:r>
            <a:r>
              <a:rPr lang="en-US" dirty="0" b="0" i="0" u="none"/>
              <a:t> ramp-up remains the key supply risk, with shipments reaching a ~25-30Mtpa run-rate in May’26.</a:t>
            </a:r>
            <a:endParaRPr lang="pt-BR" dirty="0"/>
          </a:p>
          <a:p>
            <a:endParaRPr lang="pt-BR" dirty="0"/>
          </a:p>
          <a:p>
            <a:r>
              <a:rPr lang="en-US" sz="1200" b="1" u="sng" dirty="0"/>
              <a:t>Theme #3: Gold pricing performance with ongoing U.S.-Iran conflict</a:t>
            </a:r>
            <a:endParaRPr lang="pt-BR" sz="1200" u="sng" dirty="0"/>
          </a:p>
          <a:p>
            <a:r>
              <a:rPr lang="en-US" b="1" dirty="0" i="0" u="none"/>
              <a:t>Our view:</a:t>
            </a:r>
            <a:r>
              <a:rPr lang="en-US" dirty="0" b="0" i="0" u="none"/>
              <a:t> We believe gold’s recent correction reflects the inflationary impact of the U.S.-Iran conflict, as higher oil prices led markets to reassess the path for U.S. interest rates and increased liquidity pressures. However, we see this as temporary rather than a structural change in gold demand. As the conflict de-escalates, or its impact on oil </a:t>
            </a:r>
            <a:r>
              <a:rPr lang="en-US" dirty="0" b="0" i="0" u="none"/>
              <a:t>proves less persistent, rate expectations should normalize and support a recovery in gold prices, underpinned by central bank purchases and portfolio diversification.</a:t>
            </a:r>
            <a:endParaRPr lang="pt-BR" dirty="0"/>
          </a:p>
        </p:txBody>
      </p:sp>
      <p:sp>
        <p:nvSpPr>
          <p:cNvPr id="7" name="Text Placeholder 6">
            <a:extLst>
              <a:ext uri="{FF2B5EF4-FFF2-40B4-BE49-F238E27FC236}">
                <a16:creationId xmlns:a16="http://schemas.microsoft.com/office/drawing/2014/main" id="{7479473E-1E0E-B137-F4C8-05F71B80DB33}"/>
              </a:ext>
            </a:extLst>
          </p:cNvPr>
          <p:cNvSpPr>
            <a:spLocks noGrp="1"/>
          </p:cNvSpPr>
          <p:nvPr>
            <p:ph type="body" sz="quarter" idx="16"/>
          </p:nvPr>
        </p:nvSpPr>
        <p:spPr/>
        <p:txBody>
          <a:bodyPr/>
          <a:lstStyle/>
          <a:p>
            <a:r>
              <a:rPr lang="pt-BR" dirty="0"/>
              <a:t>XP CEO </a:t>
            </a:r>
            <a:r>
              <a:rPr lang="pt-BR" dirty="0" err="1"/>
              <a:t>Conference</a:t>
            </a:r>
            <a:r>
              <a:rPr lang="pt-BR" dirty="0"/>
              <a:t> 2026</a:t>
            </a:r>
          </a:p>
        </p:txBody>
      </p:sp>
      <p:sp>
        <p:nvSpPr>
          <p:cNvPr id="8" name="Text Placeholder 7">
            <a:extLst>
              <a:ext uri="{FF2B5EF4-FFF2-40B4-BE49-F238E27FC236}">
                <a16:creationId xmlns:a16="http://schemas.microsoft.com/office/drawing/2014/main" id="{ADC2B5B5-2F16-1E19-CCCE-A56DA1F97E75}"/>
              </a:ext>
            </a:extLst>
          </p:cNvPr>
          <p:cNvSpPr>
            <a:spLocks noGrp="1"/>
          </p:cNvSpPr>
          <p:nvPr>
            <p:ph type="body" sz="quarter" idx="17"/>
          </p:nvPr>
        </p:nvSpPr>
        <p:spPr/>
        <p:txBody>
          <a:bodyPr/>
          <a:lstStyle/>
          <a:p>
            <a:r>
              <a:rPr lang="pt-BR" dirty="0" err="1"/>
              <a:t>Metals</a:t>
            </a:r>
            <a:r>
              <a:rPr lang="pt-BR" dirty="0"/>
              <a:t> &amp; Mining</a:t>
            </a:r>
          </a:p>
        </p:txBody>
      </p:sp>
      <p:sp>
        <p:nvSpPr>
          <p:cNvPr id="9" name="Text Placeholder 8">
            <a:extLst>
              <a:ext uri="{FF2B5EF4-FFF2-40B4-BE49-F238E27FC236}">
                <a16:creationId xmlns:a16="http://schemas.microsoft.com/office/drawing/2014/main" id="{04A3A495-003C-2A76-429C-4A5B5A551007}"/>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3201DA15-B221-401C-99E5-5A499B59B8EE}"/>
              </a:ext>
            </a:extLst>
          </p:cNvPr>
          <p:cNvSpPr>
            <a:spLocks noGrp="1"/>
          </p:cNvSpPr>
          <p:nvPr>
            <p:ph type="dt" sz="half" idx="2"/>
          </p:nvPr>
        </p:nvSpPr>
        <p:spPr/>
        <p:txBody>
          <a:bodyPr/>
          <a:lstStyle/>
          <a:p>
            <a:fld id="{0AD01827-9A36-4138-95B8-B0189D2D0C96}" type="datetime4">
              <a:rPr lang="en-US" smtClean="0"/>
              <a:pPr/>
              <a:t>August 11, 2026</a:t>
            </a:fld>
            <a:endParaRPr lang="en-US"/>
          </a:p>
        </p:txBody>
      </p:sp>
    </p:spTree>
    <p:extLst>
      <p:ext uri="{BB962C8B-B14F-4D97-AF65-F5344CB8AC3E}">
        <p14:creationId xmlns:p14="http://schemas.microsoft.com/office/powerpoint/2010/main" val="58704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EECA9-CF26-08F2-6A40-D604BBD9145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4DACA05-8A12-6F91-0DF3-D9420FAE8820}"/>
              </a:ext>
            </a:extLst>
          </p:cNvPr>
          <p:cNvSpPr>
            <a:spLocks noGrp="1"/>
          </p:cNvSpPr>
          <p:nvPr>
            <p:ph type="body" sz="quarter" idx="20"/>
          </p:nvPr>
        </p:nvSpPr>
        <p:spPr>
          <a:xfrm>
            <a:off x="382828" y="1497015"/>
            <a:ext cx="6106871" cy="7956548"/>
          </a:xfrm>
          <a:noFill/>
        </p:spPr>
        <p:txBody>
          <a:bodyPr/>
          <a:lstStyle/>
          <a:p>
            <a:r>
              <a:rPr lang="en-US" sz="1200" b="1" u="sng" dirty="0"/>
              <a:t>Theme #4: U.S. trade dynamics and potential agreement with Mexico and Canada (USMCA)</a:t>
            </a:r>
            <a:endParaRPr lang="pt-BR" sz="1200" u="sng" dirty="0"/>
          </a:p>
          <a:p>
            <a:r>
              <a:rPr lang="en-US" b="1" dirty="0" i="0" u="none"/>
              <a:t>Our view:</a:t>
            </a:r>
            <a:r>
              <a:rPr lang="en-US" dirty="0" b="0" i="0" u="none"/>
              <a:t> We see a potential USMCA-related agreement as the main risk to Gerdau’s earnings outlook, as the ~50% Section 232 tariff has sharply reduced U.S. steel imports, supporting domestic prices and margins. Therefore, a broader agreement could accelerate the return of imports, adding pressure on U.S. steel prices and Gerdau’s North American profitability.</a:t>
            </a:r>
            <a:endParaRPr lang="pt-BR" dirty="0"/>
          </a:p>
          <a:p>
            <a:endParaRPr lang="pt-BR" dirty="0"/>
          </a:p>
          <a:p>
            <a:r>
              <a:rPr lang="en-US" sz="1200" b="1" u="sng" dirty="0"/>
              <a:t>Theme #5: Domestic steel pricing environment in the context of antidumping measures/lower imports/declining demand</a:t>
            </a:r>
            <a:endParaRPr lang="pt-BR" sz="1200" u="sng" dirty="0"/>
          </a:p>
          <a:p>
            <a:r>
              <a:rPr lang="en-US" b="1" dirty="0" i="0" u="none"/>
              <a:t>Our view:</a:t>
            </a:r>
            <a:r>
              <a:rPr lang="en-US" dirty="0" b="0" i="0" u="none"/>
              <a:t> We believe antidumping measures have supported Brazil’s flat steel prices by reducing import penetration from ~33% of apparent demand in May’25 to ~20% in Jun’26, allowing domestic producers to regain market share and implement price increases. However, with imports already closer to normalized levels, we see limited incremental support from additional trade defense measures. Therefore, elevated interest rates and weakening domestic demand should become the main constraints on further price increases, increasing downside risks to steel margins.</a:t>
            </a:r>
            <a:endParaRPr lang="pt-BR" dirty="0"/>
          </a:p>
        </p:txBody>
      </p:sp>
      <p:sp>
        <p:nvSpPr>
          <p:cNvPr id="7" name="Text Placeholder 6">
            <a:extLst>
              <a:ext uri="{FF2B5EF4-FFF2-40B4-BE49-F238E27FC236}">
                <a16:creationId xmlns:a16="http://schemas.microsoft.com/office/drawing/2014/main" id="{7479473E-1E0E-B137-F4C8-05F71B80DB33}"/>
              </a:ext>
            </a:extLst>
          </p:cNvPr>
          <p:cNvSpPr>
            <a:spLocks noGrp="1"/>
          </p:cNvSpPr>
          <p:nvPr>
            <p:ph type="body" sz="quarter" idx="16"/>
          </p:nvPr>
        </p:nvSpPr>
        <p:spPr/>
        <p:txBody>
          <a:bodyPr/>
          <a:lstStyle/>
          <a:p>
            <a:r>
              <a:rPr lang="pt-BR" dirty="0"/>
              <a:t>XP CEO </a:t>
            </a:r>
            <a:r>
              <a:rPr lang="pt-BR" dirty="0" err="1"/>
              <a:t>Conference</a:t>
            </a:r>
            <a:r>
              <a:rPr lang="pt-BR" dirty="0"/>
              <a:t> 2026</a:t>
            </a:r>
          </a:p>
        </p:txBody>
      </p:sp>
      <p:sp>
        <p:nvSpPr>
          <p:cNvPr id="8" name="Text Placeholder 7">
            <a:extLst>
              <a:ext uri="{FF2B5EF4-FFF2-40B4-BE49-F238E27FC236}">
                <a16:creationId xmlns:a16="http://schemas.microsoft.com/office/drawing/2014/main" id="{ADC2B5B5-2F16-1E19-CCCE-A56DA1F97E75}"/>
              </a:ext>
            </a:extLst>
          </p:cNvPr>
          <p:cNvSpPr>
            <a:spLocks noGrp="1"/>
          </p:cNvSpPr>
          <p:nvPr>
            <p:ph type="body" sz="quarter" idx="17"/>
          </p:nvPr>
        </p:nvSpPr>
        <p:spPr/>
        <p:txBody>
          <a:bodyPr/>
          <a:lstStyle/>
          <a:p>
            <a:r>
              <a:rPr lang="pt-BR" dirty="0" err="1"/>
              <a:t>Metals</a:t>
            </a:r>
            <a:r>
              <a:rPr lang="pt-BR" dirty="0"/>
              <a:t> &amp; Mining</a:t>
            </a:r>
          </a:p>
        </p:txBody>
      </p:sp>
      <p:sp>
        <p:nvSpPr>
          <p:cNvPr id="9" name="Text Placeholder 8">
            <a:extLst>
              <a:ext uri="{FF2B5EF4-FFF2-40B4-BE49-F238E27FC236}">
                <a16:creationId xmlns:a16="http://schemas.microsoft.com/office/drawing/2014/main" id="{04A3A495-003C-2A76-429C-4A5B5A551007}"/>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3201DA15-B221-401C-99E5-5A499B59B8EE}"/>
              </a:ext>
            </a:extLst>
          </p:cNvPr>
          <p:cNvSpPr>
            <a:spLocks noGrp="1"/>
          </p:cNvSpPr>
          <p:nvPr>
            <p:ph type="dt" sz="half" idx="2"/>
          </p:nvPr>
        </p:nvSpPr>
        <p:spPr/>
        <p:txBody>
          <a:bodyPr/>
          <a:lstStyle/>
          <a:p>
            <a:fld id="{0AD01827-9A36-4138-95B8-B0189D2D0C96}" type="datetime4">
              <a:rPr lang="en-US" smtClean="0"/>
              <a:pPr/>
              <a:t>August 11, 2026</a:t>
            </a:fld>
            <a:endParaRPr lang="en-US"/>
          </a:p>
        </p:txBody>
      </p:sp>
    </p:spTree>
    <p:extLst>
      <p:ext uri="{BB962C8B-B14F-4D97-AF65-F5344CB8AC3E}">
        <p14:creationId xmlns:p14="http://schemas.microsoft.com/office/powerpoint/2010/main" val="587045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5D0DB9-E370-33CC-AA90-1962539AA018}"/>
              </a:ext>
            </a:extLst>
          </p:cNvPr>
          <p:cNvSpPr>
            <a:spLocks noGrp="1"/>
          </p:cNvSpPr>
          <p:nvPr>
            <p:ph type="body" sz="quarter" idx="20"/>
          </p:nvPr>
        </p:nvSpPr>
        <p:spPr>
          <a:xfrm>
            <a:off x="382828" y="1497015"/>
            <a:ext cx="6106871" cy="7956548"/>
          </a:xfrm>
          <a:noFill/>
        </p:spPr>
        <p:txBody>
          <a:bodyPr/>
          <a:lstStyle/>
          <a:p>
            <a:r>
              <a:rPr lang="en-US" sz="1200" b="1" u="sng" dirty="0"/>
              <a:t>Theme #1: Capital allocation in the E&amp;P sector amid higher oil prices</a:t>
            </a:r>
            <a:endParaRPr lang="pt-BR" sz="1200" u="sng" dirty="0"/>
          </a:p>
          <a:p>
            <a:r>
              <a:rPr lang="en-US" b="1" dirty="0" i="0" u="none"/>
              <a:t>Our view:</a:t>
            </a:r>
            <a:r>
              <a:rPr lang="en-US" dirty="0" b="0" i="0" u="none"/>
              <a:t> Since the escalation of the US-Iran conflict, oil prices have risen sharply and have since held at elevated levels. Higher prices have sustained additional cash generation for E&amp;P names under our coverage. Against this backdrop, we expect discussions to center on how capital allocation strategies may change, including (</a:t>
            </a:r>
            <a:r>
              <a:rPr lang="en-US" dirty="0" b="0" i="0" u="none"/>
              <a:t>i</a:t>
            </a:r>
            <a:r>
              <a:rPr lang="en-US" dirty="0" b="0" i="0" u="none"/>
              <a:t>) potential guidance revisions and accelerated investments, (ii) room to expand shareholder remuneration, and (iii) M&amp;A opportunities.</a:t>
            </a:r>
            <a:endParaRPr lang="pt-BR" dirty="0"/>
          </a:p>
          <a:p>
            <a:endParaRPr lang="pt-BR" dirty="0"/>
          </a:p>
          <a:p>
            <a:r>
              <a:rPr lang="en-US" sz="1200" b="1" u="sng" dirty="0"/>
              <a:t>Theme #2: New fuel distribution margin levels and market share evolution</a:t>
            </a:r>
            <a:endParaRPr lang="pt-BR" sz="1200" u="sng" dirty="0"/>
          </a:p>
          <a:p>
            <a:r>
              <a:rPr lang="en-US" b="1" dirty="0" i="0" u="none"/>
              <a:t>Our view:</a:t>
            </a:r>
            <a:r>
              <a:rPr lang="en-US" dirty="0" b="0" i="0" u="none"/>
              <a:t> So far in 2026, the competitive environment has favored the major fuel distributors. Domestic fuel prices have remained relatively stable despite heightened volatility in international markets, trading mostly at a discount to import parity. This backdrop has sustained strong distribution margins and attractive opportunities for station branding and market share expansion. We expect Vibra’s and </a:t>
            </a:r>
            <a:r>
              <a:rPr lang="en-US" dirty="0" b="0" i="0" u="none"/>
              <a:t>Ultrapar’s</a:t>
            </a:r>
            <a:r>
              <a:rPr lang="en-US" dirty="0" b="0" i="0" u="none"/>
              <a:t> CFOs to discuss the market’s structural changes and how these can support a higher level of recurring margins.</a:t>
            </a:r>
            <a:endParaRPr lang="pt-BR" dirty="0"/>
          </a:p>
          <a:p>
            <a:endParaRPr lang="pt-BR" dirty="0"/>
          </a:p>
          <a:p>
            <a:r>
              <a:rPr lang="en-US" sz="1200" b="1" u="sng" dirty="0"/>
              <a:t>Theme #3: PRIO’s new shareholder remuneration policy</a:t>
            </a:r>
            <a:endParaRPr lang="pt-BR" sz="1200" u="sng" dirty="0"/>
          </a:p>
          <a:p>
            <a:r>
              <a:rPr lang="en-US" b="1" dirty="0" i="0" u="none"/>
              <a:t>Our view:</a:t>
            </a:r>
            <a:r>
              <a:rPr lang="en-US" dirty="0" b="0" i="0" u="none"/>
              <a:t> A key focus in PRIO discussions today is the formal shareholder remuneration policy that management has previously committed to establish. Investors are keen to hear about the policy’s format, the timing of the announcement, and the size of the payout – an event that could, in our view, trigger a re-rating of PRIO shares. Of note, we expect cash generation to accelerate as production continues to ramp up (July output came in +23kbpd above the 2Q26 average), while capex gradually moderates and Brent remains elevated (averaging above USD80/</a:t>
            </a:r>
            <a:r>
              <a:rPr lang="en-US" dirty="0" b="0" i="0" u="none"/>
              <a:t>bbl</a:t>
            </a:r>
            <a:r>
              <a:rPr lang="en-US" dirty="0" b="0" i="0" u="none"/>
              <a:t> so far in 3Q26).</a:t>
            </a:r>
            <a:endParaRPr lang="pt-BR" dirty="0"/>
          </a:p>
          <a:p>
            <a:endParaRPr lang="pt-BR" dirty="0"/>
          </a:p>
          <a:p>
            <a:r>
              <a:rPr lang="en-US" sz="1200" b="1" u="sng" dirty="0"/>
              <a:t>Theme #4: Brava’s business plan under new controlling shareholder Ecopetrol</a:t>
            </a:r>
            <a:endParaRPr lang="pt-BR" sz="1200" u="sng" dirty="0"/>
          </a:p>
          <a:p>
            <a:r>
              <a:rPr lang="en-US" b="1" dirty="0" i="0" u="none"/>
              <a:t>Our view:</a:t>
            </a:r>
            <a:r>
              <a:rPr lang="en-US" dirty="0" b="0" i="0" u="none"/>
              <a:t> Brava Energia’s investment case is at an important turning point. Ecopetrol has recently acquired control of the company. Although the transition period has yet to begin and the go-forward strategy has not been laid out, we expect investors to focus on the next steps and the opportunities ahead. Ecopetrol is a Colombian state-owned entity (SOE) seeking to add production and grow reserves; </a:t>
            </a:r>
            <a:r>
              <a:rPr lang="en-US" dirty="0" b="0" i="0" u="none"/>
              <a:t>the company is vertically integrated across upstream, midstream, and downstream, with expertise primarily in onshore operations.</a:t>
            </a:r>
            <a:endParaRPr lang="pt-BR" dirty="0"/>
          </a:p>
        </p:txBody>
      </p:sp>
      <p:sp>
        <p:nvSpPr>
          <p:cNvPr id="7" name="Text Placeholder 6">
            <a:extLst>
              <a:ext uri="{FF2B5EF4-FFF2-40B4-BE49-F238E27FC236}">
                <a16:creationId xmlns:a16="http://schemas.microsoft.com/office/drawing/2014/main" id="{A535F394-AE43-5597-C158-EB6E17A2AB3F}"/>
              </a:ext>
            </a:extLst>
          </p:cNvPr>
          <p:cNvSpPr>
            <a:spLocks noGrp="1"/>
          </p:cNvSpPr>
          <p:nvPr>
            <p:ph type="body" sz="quarter" idx="16"/>
          </p:nvPr>
        </p:nvSpPr>
        <p:spPr/>
        <p:txBody>
          <a:bodyPr/>
          <a:lstStyle/>
          <a:p>
            <a:r>
              <a:rPr lang="pt-BR" dirty="0"/>
              <a:t>XP CEO </a:t>
            </a:r>
            <a:r>
              <a:rPr lang="pt-BR" dirty="0" err="1"/>
              <a:t>Conference</a:t>
            </a:r>
            <a:r>
              <a:rPr lang="pt-BR" dirty="0"/>
              <a:t> 2026</a:t>
            </a:r>
          </a:p>
        </p:txBody>
      </p:sp>
      <p:sp>
        <p:nvSpPr>
          <p:cNvPr id="8" name="Text Placeholder 7">
            <a:extLst>
              <a:ext uri="{FF2B5EF4-FFF2-40B4-BE49-F238E27FC236}">
                <a16:creationId xmlns:a16="http://schemas.microsoft.com/office/drawing/2014/main" id="{78A4EB2B-E414-B4F2-AA2D-4BF6DD517EE9}"/>
              </a:ext>
            </a:extLst>
          </p:cNvPr>
          <p:cNvSpPr>
            <a:spLocks noGrp="1"/>
          </p:cNvSpPr>
          <p:nvPr>
            <p:ph type="body" sz="quarter" idx="17"/>
          </p:nvPr>
        </p:nvSpPr>
        <p:spPr/>
        <p:txBody>
          <a:bodyPr/>
          <a:lstStyle/>
          <a:p>
            <a:r>
              <a:rPr lang="pt-BR" dirty="0" err="1"/>
              <a:t>Oil</a:t>
            </a:r>
            <a:r>
              <a:rPr lang="pt-BR" dirty="0"/>
              <a:t>, </a:t>
            </a:r>
            <a:r>
              <a:rPr lang="pt-BR" dirty="0" err="1"/>
              <a:t>Gas</a:t>
            </a:r>
            <a:r>
              <a:rPr lang="pt-BR" dirty="0"/>
              <a:t> &amp; </a:t>
            </a:r>
            <a:r>
              <a:rPr lang="pt-BR" dirty="0" err="1"/>
              <a:t>Petrochemicals</a:t>
            </a:r>
            <a:endParaRPr lang="pt-BR" dirty="0"/>
          </a:p>
        </p:txBody>
      </p:sp>
      <p:sp>
        <p:nvSpPr>
          <p:cNvPr id="9" name="Text Placeholder 8">
            <a:extLst>
              <a:ext uri="{FF2B5EF4-FFF2-40B4-BE49-F238E27FC236}">
                <a16:creationId xmlns:a16="http://schemas.microsoft.com/office/drawing/2014/main" id="{48117103-FB91-09D0-3B6C-EC6C2E460084}"/>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AA0581A2-46AB-C3EC-1738-E1B9D1463A3A}"/>
              </a:ext>
            </a:extLst>
          </p:cNvPr>
          <p:cNvSpPr>
            <a:spLocks noGrp="1"/>
          </p:cNvSpPr>
          <p:nvPr>
            <p:ph type="dt" sz="half" idx="2"/>
          </p:nvPr>
        </p:nvSpPr>
        <p:spPr/>
        <p:txBody>
          <a:bodyPr/>
          <a:lstStyle/>
          <a:p>
            <a:fld id="{0AD01827-9A36-4138-95B8-B0189D2D0C96}" type="datetime4">
              <a:rPr lang="en-US" smtClean="0"/>
              <a:pPr/>
              <a:t>August 11, 2026</a:t>
            </a:fld>
            <a:endParaRPr lang="en-US"/>
          </a:p>
        </p:txBody>
      </p:sp>
    </p:spTree>
    <p:extLst>
      <p:ext uri="{BB962C8B-B14F-4D97-AF65-F5344CB8AC3E}">
        <p14:creationId xmlns:p14="http://schemas.microsoft.com/office/powerpoint/2010/main" val="36191135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0E39A-B727-EF12-56A9-B3E74048660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2492490-F7C0-1CA6-F508-491B422705BD}"/>
              </a:ext>
            </a:extLst>
          </p:cNvPr>
          <p:cNvSpPr>
            <a:spLocks noGrp="1"/>
          </p:cNvSpPr>
          <p:nvPr>
            <p:ph type="body" sz="quarter" idx="20"/>
          </p:nvPr>
        </p:nvSpPr>
        <p:spPr>
          <a:xfrm>
            <a:off x="382828" y="1497015"/>
            <a:ext cx="6106871" cy="7956548"/>
          </a:xfrm>
          <a:noFill/>
        </p:spPr>
        <p:txBody>
          <a:bodyPr/>
          <a:lstStyle/>
          <a:p>
            <a:r>
              <a:rPr lang="en-US" sz="1200" b="1" u="sng" dirty="0"/>
              <a:t>Theme #1: China’s economic policies and anti-involution campaigns</a:t>
            </a:r>
            <a:endParaRPr lang="pt-BR" sz="1200" u="sng" dirty="0"/>
          </a:p>
          <a:p>
            <a:r>
              <a:rPr lang="en-US" b="1" dirty="0" i="0" u="none"/>
              <a:t>Our view:</a:t>
            </a:r>
            <a:r>
              <a:rPr lang="en-US" dirty="0" b="0" i="0" u="none"/>
              <a:t> We believe the pulp and paper markets are not currently a focus of China’s anti-involution campaigns, given the significant volume of new capacity ramping up in the market- over 12Mt of paper &amp; board added in the past year- and additional pulp capacity expected to enter the Chinese market.</a:t>
            </a:r>
            <a:endParaRPr lang="pt-BR" dirty="0"/>
          </a:p>
          <a:p>
            <a:endParaRPr lang="pt-BR" dirty="0"/>
          </a:p>
          <a:p>
            <a:r>
              <a:rPr lang="en-US" sz="1200" b="1" u="sng" dirty="0"/>
              <a:t>Theme #2: Ramp-up of integrated capacity in China relying on domestic and imported wood, with cost normalization and impacts on the pulp cost curve</a:t>
            </a:r>
            <a:endParaRPr lang="pt-BR" sz="1200" u="sng" dirty="0"/>
          </a:p>
          <a:p>
            <a:r>
              <a:rPr lang="en-US" b="1" dirty="0" i="0" u="none"/>
              <a:t>Our view:</a:t>
            </a:r>
            <a:r>
              <a:rPr lang="en-US" dirty="0" b="0" i="0" u="none"/>
              <a:t> We believe China’s growing integrated capacity is structurally weakening the traditional cost support for market pulp prices. Access to competitive domestic wood allows integrated producers to sustain output even when pulp prices fall below the marginal costs of market pulp producers, reducing the effectiveness of supply curtailments. Therefore, despite recent tightness in imported fiber, continued capacity </a:t>
            </a:r>
            <a:r>
              <a:rPr lang="en-US" dirty="0" b="0" i="0" u="none"/>
              <a:t>additions and competitive domestic wood costs should limit the potential for a sustained pulp price recovery.</a:t>
            </a:r>
            <a:endParaRPr lang="pt-BR" dirty="0"/>
          </a:p>
          <a:p>
            <a:endParaRPr lang="pt-BR" dirty="0"/>
          </a:p>
          <a:p>
            <a:r>
              <a:rPr lang="en-US" sz="1200" b="1" u="sng" dirty="0"/>
              <a:t>Theme #3: Impacts of costs related to the Middle East conflict – Brent-related (fiber, chemicals and others)</a:t>
            </a:r>
            <a:endParaRPr lang="pt-BR" sz="1200" u="sng" dirty="0"/>
          </a:p>
          <a:p>
            <a:r>
              <a:rPr lang="en-US" b="1" dirty="0" i="0" u="none"/>
              <a:t>Our view:</a:t>
            </a:r>
            <a:r>
              <a:rPr lang="en-US" dirty="0" b="0" i="0" u="none"/>
              <a:t> We believe a prolonged Middle East conflict could pressure Pulp &amp; Paper margins through higher oil-related input costs. Higher Brent prices raise diesel and freight expenses directly, while also increasing chemical costs and indirectly affecting fiber costs through harvesting and transportation. Therefore, the impact should depend on whether the oil shock proves structural or temporary, with a de-escalation of the conflict likely easing cost pressures across the sector.</a:t>
            </a:r>
            <a:endParaRPr lang="pt-BR" dirty="0"/>
          </a:p>
        </p:txBody>
      </p:sp>
      <p:sp>
        <p:nvSpPr>
          <p:cNvPr id="7" name="Text Placeholder 6">
            <a:extLst>
              <a:ext uri="{FF2B5EF4-FFF2-40B4-BE49-F238E27FC236}">
                <a16:creationId xmlns:a16="http://schemas.microsoft.com/office/drawing/2014/main" id="{8CBA6CF5-8437-18E6-FA38-7B865C2D08EC}"/>
              </a:ext>
            </a:extLst>
          </p:cNvPr>
          <p:cNvSpPr>
            <a:spLocks noGrp="1"/>
          </p:cNvSpPr>
          <p:nvPr>
            <p:ph type="body" sz="quarter" idx="16"/>
          </p:nvPr>
        </p:nvSpPr>
        <p:spPr/>
        <p:txBody>
          <a:bodyPr/>
          <a:lstStyle/>
          <a:p>
            <a:r>
              <a:rPr lang="pt-BR" dirty="0"/>
              <a:t>XP CEO </a:t>
            </a:r>
            <a:r>
              <a:rPr lang="pt-BR" dirty="0" err="1"/>
              <a:t>Conference</a:t>
            </a:r>
            <a:r>
              <a:rPr lang="pt-BR" dirty="0"/>
              <a:t> 2026</a:t>
            </a:r>
          </a:p>
        </p:txBody>
      </p:sp>
      <p:sp>
        <p:nvSpPr>
          <p:cNvPr id="8" name="Text Placeholder 7">
            <a:extLst>
              <a:ext uri="{FF2B5EF4-FFF2-40B4-BE49-F238E27FC236}">
                <a16:creationId xmlns:a16="http://schemas.microsoft.com/office/drawing/2014/main" id="{3B04557F-2423-ACB2-72D5-BE4E28CA0811}"/>
              </a:ext>
            </a:extLst>
          </p:cNvPr>
          <p:cNvSpPr>
            <a:spLocks noGrp="1"/>
          </p:cNvSpPr>
          <p:nvPr>
            <p:ph type="body" sz="quarter" idx="17"/>
          </p:nvPr>
        </p:nvSpPr>
        <p:spPr/>
        <p:txBody>
          <a:bodyPr/>
          <a:lstStyle/>
          <a:p>
            <a:r>
              <a:rPr lang="pt-BR" dirty="0"/>
              <a:t>Pulp &amp; </a:t>
            </a:r>
            <a:r>
              <a:rPr lang="pt-BR" dirty="0" err="1"/>
              <a:t>Paper</a:t>
            </a:r>
            <a:endParaRPr lang="pt-BR" dirty="0"/>
          </a:p>
        </p:txBody>
      </p:sp>
      <p:sp>
        <p:nvSpPr>
          <p:cNvPr id="9" name="Text Placeholder 8">
            <a:extLst>
              <a:ext uri="{FF2B5EF4-FFF2-40B4-BE49-F238E27FC236}">
                <a16:creationId xmlns:a16="http://schemas.microsoft.com/office/drawing/2014/main" id="{204A99D6-2354-6404-8119-96685D4DBEFB}"/>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23CBE6CD-AE80-A5FD-192F-E02E52E6BAE1}"/>
              </a:ext>
            </a:extLst>
          </p:cNvPr>
          <p:cNvSpPr>
            <a:spLocks noGrp="1"/>
          </p:cNvSpPr>
          <p:nvPr>
            <p:ph type="dt" sz="half" idx="2"/>
          </p:nvPr>
        </p:nvSpPr>
        <p:spPr/>
        <p:txBody>
          <a:bodyPr/>
          <a:lstStyle/>
          <a:p>
            <a:fld id="{0AD01827-9A36-4138-95B8-B0189D2D0C96}" type="datetime4">
              <a:rPr lang="en-US" smtClean="0"/>
              <a:pPr/>
              <a:t>August 11, 2026</a:t>
            </a:fld>
            <a:endParaRPr lang="en-US"/>
          </a:p>
        </p:txBody>
      </p:sp>
    </p:spTree>
    <p:extLst>
      <p:ext uri="{BB962C8B-B14F-4D97-AF65-F5344CB8AC3E}">
        <p14:creationId xmlns:p14="http://schemas.microsoft.com/office/powerpoint/2010/main" val="34465296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011D4-DDD9-0ABF-0DCA-8E7AB146994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8098578-D7B1-B3D7-0AB6-EACD91BB2FA8}"/>
              </a:ext>
            </a:extLst>
          </p:cNvPr>
          <p:cNvSpPr>
            <a:spLocks noGrp="1"/>
          </p:cNvSpPr>
          <p:nvPr>
            <p:ph type="body" sz="quarter" idx="20"/>
          </p:nvPr>
        </p:nvSpPr>
        <p:spPr>
          <a:xfrm>
            <a:off x="382828" y="1497015"/>
            <a:ext cx="6106871" cy="7956548"/>
          </a:xfrm>
          <a:noFill/>
        </p:spPr>
        <p:txBody>
          <a:bodyPr/>
          <a:lstStyle/>
          <a:p>
            <a:r>
              <a:rPr lang="en-US" sz="1200" b="1" u="sng" dirty="0"/>
              <a:t>Theme #1: Families’ indebtedness levels and reflections on Caixa’s delinquency levels.</a:t>
            </a:r>
            <a:endParaRPr lang="pt-BR" sz="1200" u="sng" dirty="0"/>
          </a:p>
          <a:p>
            <a:r>
              <a:rPr lang="en-US" b="1" dirty="0" i="0" u="none"/>
              <a:t>Our view:</a:t>
            </a:r>
            <a:r>
              <a:rPr lang="en-US" dirty="0" b="0" i="0" u="none"/>
              <a:t> Brazilian families are currently at a historical high indebtedness level and there are signs of decelerating economic activity, which has recently driven Caixa to reduce </a:t>
            </a:r>
            <a:r>
              <a:rPr lang="en-US" dirty="0" b="0" i="0" u="none"/>
              <a:t>momentaneously</a:t>
            </a:r>
            <a:r>
              <a:rPr lang="en-US" dirty="0" b="0" i="0" u="none"/>
              <a:t> its credit concessions, worried with an increase in delinquency levels. Our channel checks point that mortgage concessions were normalized, but the industry may start debating long lasting solutions that could involve the reduction of pro-</a:t>
            </a:r>
            <a:r>
              <a:rPr lang="en-US" dirty="0" b="0" i="0" u="none"/>
              <a:t>soluto</a:t>
            </a:r>
            <a:r>
              <a:rPr lang="en-US" dirty="0" b="0" i="0" u="none"/>
              <a:t> concessions from the companies and an increase in income commitment by Caixa and a higher LTV. If implemented, these changes could increase Caixa’s control of families’ indebtedness levels and delinquency rates and potentially reduce systemic risk, although it could be a challenge to the homebuilders’ commercial teams.</a:t>
            </a:r>
            <a:endParaRPr lang="pt-BR" dirty="0"/>
          </a:p>
          <a:p>
            <a:endParaRPr lang="pt-BR" dirty="0"/>
          </a:p>
          <a:p>
            <a:r>
              <a:rPr lang="en-US" sz="1200" b="1" u="sng" dirty="0"/>
              <a:t>Theme #2: The scarcer and costlier funding for mid/high income and the greatest MCMV program conditions</a:t>
            </a:r>
            <a:endParaRPr lang="pt-BR" sz="1200" u="sng" dirty="0"/>
          </a:p>
          <a:p>
            <a:r>
              <a:rPr lang="en-US" b="1" dirty="0" i="0" u="none"/>
              <a:t>Our view:</a:t>
            </a:r>
            <a:r>
              <a:rPr lang="en-US" dirty="0" b="0" i="0" u="none"/>
              <a:t> Although MCMV has currently access to abundant funding, with MCMV budget at R$145bn from FGTS to mortgage concessions, R$13bn to subsidies and additional R$40bn coming from the Social Fund (supplied by oil royalties), the mid/high income segment has been dealing with a flattish or declining SBPE balance, higher interest rates and no subsidies. This difference has motivated originally high-income companies to start low-income operations, to assure credit access. Recently, local news have published that the use of FGTS could be expanded to apartments costing up to R$1.2mn and to income as large as R$21k. We believe that these funding discussions are detrimental to the low-income segment, which could, if implemented, see higher competition for funding. On the other hand, the funding for high-income segment is currently a problem to be resolved. In our opinion, the solution could come from the higher use of the Social Fund to housing projects and from a more benign fiscal scenario, which could drive interest rates lower.</a:t>
            </a:r>
            <a:endParaRPr lang="pt-BR" dirty="0"/>
          </a:p>
          <a:p>
            <a:endParaRPr lang="pt-BR" dirty="0"/>
          </a:p>
          <a:p>
            <a:r>
              <a:rPr lang="en-US" sz="1200" b="1" u="sng" dirty="0"/>
              <a:t>Theme #3: The commercial and legal challenges of VAT reform for shopping malls.</a:t>
            </a:r>
            <a:endParaRPr lang="pt-BR" sz="1200" u="sng" dirty="0"/>
          </a:p>
          <a:p>
            <a:r>
              <a:rPr lang="en-US" b="1" dirty="0" i="0" u="none"/>
              <a:t>Our view:</a:t>
            </a:r>
            <a:r>
              <a:rPr lang="en-US" dirty="0" b="0" i="0" u="none"/>
              <a:t> The VAT reform starts its implementation in 2027, when the PIS/COFINS taxes will cease to exist and the gradual transition of other taxes will start, ending in 2032, with the phasing in of IBS and CBS and the phasing out of ICMS, ISS and IPI. We believe the companies are legally protected to charge the VAT taxes outside of the rental prices, as predicted by the rental clauses, that started to be added to the contracts as early as 2020. Most of the companies have at least 70% of current contracts with clauses that specifically predict the new charge. Nevertheless, we believe the companies might face tough negotiations with tenants, specifically those in the Simples regime. As for now, malls do not share with investors </a:t>
            </a:r>
            <a:r>
              <a:rPr lang="en-US" dirty="0" b="0" i="0" u="none"/>
              <a:t>significant planning from tenants, which could translate into commercial challenges in 2027. Although we believe contracts will be enforced by malls operators, we believe higher delinquency rates, discounts and/or vacancies could be seen because of commercial negotiations.</a:t>
            </a:r>
            <a:endParaRPr lang="pt-BR" dirty="0"/>
          </a:p>
        </p:txBody>
      </p:sp>
      <p:sp>
        <p:nvSpPr>
          <p:cNvPr id="7" name="Text Placeholder 6">
            <a:extLst>
              <a:ext uri="{FF2B5EF4-FFF2-40B4-BE49-F238E27FC236}">
                <a16:creationId xmlns:a16="http://schemas.microsoft.com/office/drawing/2014/main" id="{9A739FF9-F97F-033D-E49F-BE309A8BE205}"/>
              </a:ext>
            </a:extLst>
          </p:cNvPr>
          <p:cNvSpPr>
            <a:spLocks noGrp="1"/>
          </p:cNvSpPr>
          <p:nvPr>
            <p:ph type="body" sz="quarter" idx="16"/>
          </p:nvPr>
        </p:nvSpPr>
        <p:spPr/>
        <p:txBody>
          <a:bodyPr/>
          <a:lstStyle/>
          <a:p>
            <a:r>
              <a:rPr lang="pt-BR" dirty="0"/>
              <a:t>XP CEO </a:t>
            </a:r>
            <a:r>
              <a:rPr lang="pt-BR" dirty="0" err="1"/>
              <a:t>Conference</a:t>
            </a:r>
            <a:r>
              <a:rPr lang="pt-BR" dirty="0"/>
              <a:t> 2026</a:t>
            </a:r>
          </a:p>
        </p:txBody>
      </p:sp>
      <p:sp>
        <p:nvSpPr>
          <p:cNvPr id="8" name="Text Placeholder 7">
            <a:extLst>
              <a:ext uri="{FF2B5EF4-FFF2-40B4-BE49-F238E27FC236}">
                <a16:creationId xmlns:a16="http://schemas.microsoft.com/office/drawing/2014/main" id="{A6C69D68-47A9-D4B1-103A-DDB2FCC0A0B2}"/>
              </a:ext>
            </a:extLst>
          </p:cNvPr>
          <p:cNvSpPr>
            <a:spLocks noGrp="1"/>
          </p:cNvSpPr>
          <p:nvPr>
            <p:ph type="body" sz="quarter" idx="17"/>
          </p:nvPr>
        </p:nvSpPr>
        <p:spPr/>
        <p:txBody>
          <a:bodyPr/>
          <a:lstStyle/>
          <a:p>
            <a:r>
              <a:rPr lang="pt-BR" dirty="0"/>
              <a:t>Real </a:t>
            </a:r>
            <a:r>
              <a:rPr lang="pt-BR" dirty="0" err="1"/>
              <a:t>Estate</a:t>
            </a:r>
            <a:endParaRPr lang="pt-BR" dirty="0"/>
          </a:p>
        </p:txBody>
      </p:sp>
      <p:sp>
        <p:nvSpPr>
          <p:cNvPr id="9" name="Text Placeholder 8">
            <a:extLst>
              <a:ext uri="{FF2B5EF4-FFF2-40B4-BE49-F238E27FC236}">
                <a16:creationId xmlns:a16="http://schemas.microsoft.com/office/drawing/2014/main" id="{90275A83-CECD-65C3-B97F-B95D01298772}"/>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54D091D4-1C6B-DD4C-1665-3192BDA34929}"/>
              </a:ext>
            </a:extLst>
          </p:cNvPr>
          <p:cNvSpPr>
            <a:spLocks noGrp="1"/>
          </p:cNvSpPr>
          <p:nvPr>
            <p:ph type="dt" sz="half" idx="2"/>
          </p:nvPr>
        </p:nvSpPr>
        <p:spPr/>
        <p:txBody>
          <a:bodyPr/>
          <a:lstStyle/>
          <a:p>
            <a:fld id="{0AD01827-9A36-4138-95B8-B0189D2D0C96}" type="datetime4">
              <a:rPr lang="en-US" smtClean="0"/>
              <a:pPr/>
              <a:t>August 11, 2026</a:t>
            </a:fld>
            <a:endParaRPr lang="en-US"/>
          </a:p>
        </p:txBody>
      </p:sp>
    </p:spTree>
    <p:extLst>
      <p:ext uri="{BB962C8B-B14F-4D97-AF65-F5344CB8AC3E}">
        <p14:creationId xmlns:p14="http://schemas.microsoft.com/office/powerpoint/2010/main" val="27431969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F8E97-9774-8C5B-2D71-2992F5E7F4D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619FE07-E50E-D0FE-3A53-D3A76B83FC2B}"/>
              </a:ext>
            </a:extLst>
          </p:cNvPr>
          <p:cNvSpPr>
            <a:spLocks noGrp="1"/>
          </p:cNvSpPr>
          <p:nvPr>
            <p:ph type="body" sz="quarter" idx="20"/>
          </p:nvPr>
        </p:nvSpPr>
        <p:spPr>
          <a:xfrm>
            <a:off x="382828" y="1497015"/>
            <a:ext cx="6106871" cy="7956548"/>
          </a:xfrm>
          <a:noFill/>
        </p:spPr>
        <p:txBody>
          <a:bodyPr/>
          <a:lstStyle/>
          <a:p>
            <a:r>
              <a:rPr lang="en-US" sz="1200" b="1" u="sng" dirty="0"/>
              <a:t>Theme #1: A still challenging (and uncertain) macro setup ahead</a:t>
            </a:r>
            <a:endParaRPr lang="pt-BR" sz="1200" u="sng" dirty="0"/>
          </a:p>
          <a:p>
            <a:r>
              <a:rPr lang="en-US" b="1" dirty="0" i="0" u="none"/>
              <a:t>Our view:</a:t>
            </a:r>
            <a:r>
              <a:rPr lang="en-US" dirty="0" b="0" i="0" u="none"/>
              <a:t> Our macro team's latest read (</a:t>
            </a:r>
            <a:r>
              <a:rPr lang="en-US" dirty="0" b="0" i="0" u="sng">
                <a:hlinkClick r:id="rId2"/>
              </a:rPr>
              <a:t>link</a:t>
            </a:r>
            <a:r>
              <a:rPr lang="en-US" dirty="0" b="0" i="0" u="none"/>
              <a:t>) points to 2026 GDP growth of 2.0%, but the upside bias has faded, as virtually every Q2 indicator, including retail sales, came in below expectations. For 2027, growth is expected to slow sharply to 1.0% as fiscal/quasi-fiscal stimulus is withdrawn, creating a tougher demand backdrop just as comps become more challenging. On rates, our base case assumes the Selic remains at 14.00% through YE26, with gradual 25bp cuts possible if inflation stays subdued. A more meaningful easing cycle, taking rates to 11.50%, is only expected in 2027. For consumption, this means credit should remain a headwind for longer, with household debt service and delinquency rates still near peak levels, weighing on credit-sensitive categories. The team also highlights a near-term inflation "truce", with food-at-home deflation and headline deflation expected in Jul/Aug supporting real incomes and volumes. Still, this relief should prove temporary, as El Niño is expected to reheat food inflation in 4Q26, squeezing consumers ahead of the holiday season, while IPCA at 5.1% should continue to erode purchasing power. As mitigators, the labor market remains tight, real incomes are rising, and ~R$200bn in government stimulus should add 40-50bps to growth in 2H26, supporting near-term demand. Finally, October elections and Middle East tensions add further uncertainty, particularly around FX volatility, the 2027 fiscal path and consumer confidence.</a:t>
            </a:r>
            <a:endParaRPr lang="pt-BR" dirty="0"/>
          </a:p>
          <a:p>
            <a:endParaRPr lang="pt-BR" dirty="0"/>
          </a:p>
          <a:p>
            <a:r>
              <a:rPr lang="en-US" sz="1200" b="1" u="sng" dirty="0"/>
              <a:t>Theme #2: A loaded political agenda</a:t>
            </a:r>
            <a:endParaRPr lang="pt-BR" sz="1200" u="sng" dirty="0"/>
          </a:p>
          <a:p>
            <a:r>
              <a:rPr lang="en-US" b="1" dirty="0" i="0" u="none"/>
              <a:t>Our view:</a:t>
            </a:r>
            <a:r>
              <a:rPr lang="en-US" dirty="0" b="0" i="0" u="none"/>
              <a:t> with last year's legislative debates now settled, namely import tax on sub-US$50 purchases zeroed in May, a confirmed headwind for apparel; medicines in supermarkets approved but in a restrictive pharmacy-in-store format, with ASAI with first operations already on (link); the R$5k income tax exemption in workers' pockets since January, three new fronts take center stage. First, October elections adds a layer of uncertainty, especially around the 2027 fiscal outlook and general political noise. Second, the end of the 6x1 workweek, which now sits in the Senate, after being approved by the Chamber, which would be particularly relevant for retail, a labor-intensive sector built on weekend traffic and extended hours, implying structurally higher headcount needs. Third, Tax Reform moves from thesis to P&amp;L: in 2027 the CBS is implemented and PIS/</a:t>
            </a:r>
            <a:r>
              <a:rPr lang="en-US" dirty="0" b="0" i="0" u="none"/>
              <a:t>Cofins</a:t>
            </a:r>
            <a:r>
              <a:rPr lang="en-US" dirty="0" b="0" i="0" u="none"/>
              <a:t> are extinguished, while IBS will start its transition phase, gradually being implemented from 2029-32. For companies, the CBS implementation will require systems’ adequations, which we believe will be a key concern on investors’ side.</a:t>
            </a:r>
            <a:endParaRPr lang="pt-BR" dirty="0"/>
          </a:p>
          <a:p>
            <a:endParaRPr lang="pt-BR" dirty="0"/>
          </a:p>
          <a:p>
            <a:r>
              <a:rPr lang="en-US" sz="1200" b="1" u="sng" dirty="0"/>
              <a:t>Theme #3: Company-specific discussions</a:t>
            </a:r>
            <a:endParaRPr lang="pt-BR" sz="1200" u="sng" dirty="0"/>
          </a:p>
          <a:p>
            <a:r>
              <a:rPr lang="en-US" b="1" dirty="0" i="0" u="none"/>
              <a:t>Our view:</a:t>
            </a:r>
            <a:r>
              <a:rPr lang="en-US" dirty="0" b="0" i="0" u="none"/>
              <a:t> as retail is a very diverse space, we highlight a few key company-specific topics, namely: </a:t>
            </a:r>
            <a:r>
              <a:rPr lang="en-US" dirty="0" b="0" i="0" u="none"/>
              <a:t>i</a:t>
            </a:r>
            <a:r>
              <a:rPr lang="en-US" dirty="0" b="0" i="0" u="none"/>
              <a:t>) </a:t>
            </a:r>
            <a:r>
              <a:rPr lang="en-US" dirty="0" b="0" i="0" u="sng"/>
              <a:t>ALPA: </a:t>
            </a:r>
            <a:r>
              <a:rPr lang="en-US" dirty="0" b="0" i="0" u="none"/>
              <a:t>intl. operation recovery, US new model, oil prices; ii) </a:t>
            </a:r>
            <a:r>
              <a:rPr lang="en-US" dirty="0" b="0" i="0" u="sng"/>
              <a:t>ASAI: </a:t>
            </a:r>
            <a:r>
              <a:rPr lang="en-US" dirty="0" b="0" i="0" u="none"/>
              <a:t>volume dynamics, </a:t>
            </a:r>
            <a:r>
              <a:rPr lang="en-US" dirty="0" b="0" i="0" u="none"/>
              <a:t>competition and new pharma operation; iii) </a:t>
            </a:r>
            <a:r>
              <a:rPr lang="en-US" dirty="0" b="0" i="0" u="sng"/>
              <a:t>AUAU:</a:t>
            </a:r>
            <a:r>
              <a:rPr lang="en-US" dirty="0" b="0" i="0" u="none"/>
              <a:t> synergies and growth levers; iv) </a:t>
            </a:r>
            <a:r>
              <a:rPr lang="en-US" dirty="0" b="0" i="0" u="sng"/>
              <a:t>AZZA: </a:t>
            </a:r>
            <a:r>
              <a:rPr lang="en-US" dirty="0" b="0" i="0" u="none"/>
              <a:t>operational turnaround, Farm’s sale; v) </a:t>
            </a:r>
            <a:r>
              <a:rPr lang="en-US" dirty="0" b="0" i="0" u="sng"/>
              <a:t>CEAB:</a:t>
            </a:r>
            <a:r>
              <a:rPr lang="en-US" dirty="0" b="0" i="0" u="none"/>
              <a:t> inventory levels; vi) </a:t>
            </a:r>
            <a:r>
              <a:rPr lang="en-US" dirty="0" b="0" i="0" u="sng"/>
              <a:t>MELI/MGLU:</a:t>
            </a:r>
            <a:r>
              <a:rPr lang="en-US" dirty="0" b="0" i="0" u="none"/>
              <a:t> competition and margin dynamics; vi) </a:t>
            </a:r>
            <a:r>
              <a:rPr lang="en-US" dirty="0" b="0" i="0" u="sng"/>
              <a:t>SBFG/VULC:</a:t>
            </a:r>
            <a:r>
              <a:rPr lang="en-US" dirty="0" b="0" i="0" u="none"/>
              <a:t> new avenues of growth, competition and margin levers; vii) </a:t>
            </a:r>
            <a:r>
              <a:rPr lang="en-US" dirty="0" b="0" i="0" u="sng"/>
              <a:t>SMFT: </a:t>
            </a:r>
            <a:r>
              <a:rPr lang="en-US" dirty="0" b="0" i="0" u="none"/>
              <a:t>fitness aggregators, competitive landscape in Brazil and Mexico dynamics; viii) </a:t>
            </a:r>
            <a:r>
              <a:rPr lang="en-US" dirty="0" b="0" i="0" u="sng"/>
              <a:t>VIVA:</a:t>
            </a:r>
            <a:r>
              <a:rPr lang="en-US" dirty="0" b="0" i="0" u="none"/>
              <a:t> WK dynamics, growth and mg levers; ix) </a:t>
            </a:r>
            <a:r>
              <a:rPr lang="en-US" dirty="0" b="0" i="0" u="sng"/>
              <a:t>Mid-income apparel</a:t>
            </a:r>
            <a:r>
              <a:rPr lang="en-US" dirty="0" b="0" i="0" u="none"/>
              <a:t>: pricing strategy and internal levers; and x) </a:t>
            </a:r>
            <a:r>
              <a:rPr lang="en-US" dirty="0" b="0" i="0" u="sng"/>
              <a:t>Pharmacies:</a:t>
            </a:r>
            <a:r>
              <a:rPr lang="en-US" dirty="0" b="0" i="0" u="none"/>
              <a:t> GLP-1, competition risks (marketplaces and supermarkets) and margin levers ahead.</a:t>
            </a:r>
            <a:endParaRPr lang="pt-BR" dirty="0"/>
          </a:p>
        </p:txBody>
      </p:sp>
      <p:sp>
        <p:nvSpPr>
          <p:cNvPr id="7" name="Text Placeholder 6">
            <a:extLst>
              <a:ext uri="{FF2B5EF4-FFF2-40B4-BE49-F238E27FC236}">
                <a16:creationId xmlns:a16="http://schemas.microsoft.com/office/drawing/2014/main" id="{C54915F3-A611-A003-BDB6-F4B40EA3A1EA}"/>
              </a:ext>
            </a:extLst>
          </p:cNvPr>
          <p:cNvSpPr>
            <a:spLocks noGrp="1"/>
          </p:cNvSpPr>
          <p:nvPr>
            <p:ph type="body" sz="quarter" idx="16"/>
          </p:nvPr>
        </p:nvSpPr>
        <p:spPr/>
        <p:txBody>
          <a:bodyPr/>
          <a:lstStyle/>
          <a:p>
            <a:r>
              <a:rPr lang="pt-BR" dirty="0"/>
              <a:t>XP CEO </a:t>
            </a:r>
            <a:r>
              <a:rPr lang="pt-BR" dirty="0" err="1"/>
              <a:t>Conference</a:t>
            </a:r>
            <a:r>
              <a:rPr lang="pt-BR" dirty="0"/>
              <a:t> 2026</a:t>
            </a:r>
          </a:p>
        </p:txBody>
      </p:sp>
      <p:sp>
        <p:nvSpPr>
          <p:cNvPr id="8" name="Text Placeholder 7">
            <a:extLst>
              <a:ext uri="{FF2B5EF4-FFF2-40B4-BE49-F238E27FC236}">
                <a16:creationId xmlns:a16="http://schemas.microsoft.com/office/drawing/2014/main" id="{BDD797B8-41BA-D878-BF95-F0994000E009}"/>
              </a:ext>
            </a:extLst>
          </p:cNvPr>
          <p:cNvSpPr>
            <a:spLocks noGrp="1"/>
          </p:cNvSpPr>
          <p:nvPr>
            <p:ph type="body" sz="quarter" idx="17"/>
          </p:nvPr>
        </p:nvSpPr>
        <p:spPr/>
        <p:txBody>
          <a:bodyPr/>
          <a:lstStyle/>
          <a:p>
            <a:r>
              <a:rPr lang="pt-BR" dirty="0" err="1"/>
              <a:t>Retail</a:t>
            </a:r>
            <a:endParaRPr lang="pt-BR" dirty="0"/>
          </a:p>
        </p:txBody>
      </p:sp>
      <p:sp>
        <p:nvSpPr>
          <p:cNvPr id="9" name="Text Placeholder 8">
            <a:extLst>
              <a:ext uri="{FF2B5EF4-FFF2-40B4-BE49-F238E27FC236}">
                <a16:creationId xmlns:a16="http://schemas.microsoft.com/office/drawing/2014/main" id="{181DE5CD-BDEC-65D6-9659-7232175338E5}"/>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55DAFDF7-B3D0-7298-C81A-708C18417C77}"/>
              </a:ext>
            </a:extLst>
          </p:cNvPr>
          <p:cNvSpPr>
            <a:spLocks noGrp="1"/>
          </p:cNvSpPr>
          <p:nvPr>
            <p:ph type="dt" sz="half" idx="2"/>
          </p:nvPr>
        </p:nvSpPr>
        <p:spPr/>
        <p:txBody>
          <a:bodyPr/>
          <a:lstStyle/>
          <a:p>
            <a:fld id="{0AD01827-9A36-4138-95B8-B0189D2D0C96}" type="datetime4">
              <a:rPr lang="en-US" smtClean="0"/>
              <a:pPr/>
              <a:t>August 11, 2026</a:t>
            </a:fld>
            <a:endParaRPr lang="en-US"/>
          </a:p>
        </p:txBody>
      </p:sp>
    </p:spTree>
    <p:extLst>
      <p:ext uri="{BB962C8B-B14F-4D97-AF65-F5344CB8AC3E}">
        <p14:creationId xmlns:p14="http://schemas.microsoft.com/office/powerpoint/2010/main" val="10473851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B7645-8128-43BC-8FDD-1AEA665D857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58E426C-96A4-B6F5-A9FA-65BA96854771}"/>
              </a:ext>
            </a:extLst>
          </p:cNvPr>
          <p:cNvSpPr>
            <a:spLocks noGrp="1"/>
          </p:cNvSpPr>
          <p:nvPr>
            <p:ph type="body" sz="quarter" idx="20"/>
          </p:nvPr>
        </p:nvSpPr>
        <p:spPr>
          <a:xfrm>
            <a:off x="382828" y="1497015"/>
            <a:ext cx="6106871" cy="7956548"/>
          </a:xfrm>
          <a:noFill/>
        </p:spPr>
        <p:txBody>
          <a:bodyPr/>
          <a:lstStyle/>
          <a:p>
            <a:r>
              <a:rPr lang="en-US" sz="1200" b="1" u="sng" dirty="0"/>
              <a:t>Theme #1: Competitive Intensity in Mobile and Fixed Markets</a:t>
            </a:r>
            <a:endParaRPr lang="pt-BR" sz="1200" u="sng" dirty="0"/>
          </a:p>
          <a:p>
            <a:r>
              <a:rPr lang="en-US" b="1" dirty="0" i="0" u="none"/>
              <a:t>Our view:</a:t>
            </a:r>
            <a:r>
              <a:rPr lang="en-US" dirty="0" b="0" i="0" u="none"/>
              <a:t> The competitive environment has grown increasingly competitive over the past quarters, with operators highlighting a more promotional environment in entry-level segments, particularly around prepaid-to-control migrations, driven by the broader availability of below-the-line offers and new digital plan formats. Convergence continues to be a key competitive differentiator, with big operators reinforcing bundled mobile + fiber offerings to enhance loyalty and support long-term monetization. In fixed broadband, competition remains intense, but operators continue to see convergence, network quality and service differentiation as their main advantages versus regional ISPs.</a:t>
            </a:r>
            <a:endParaRPr lang="pt-BR" dirty="0"/>
          </a:p>
          <a:p>
            <a:endParaRPr lang="pt-BR" dirty="0"/>
          </a:p>
          <a:p>
            <a:r>
              <a:rPr lang="en-US" sz="1200" b="1" u="sng" dirty="0"/>
              <a:t>Theme #2: Revenue Growth and Pricing Adjustment Potential</a:t>
            </a:r>
            <a:endParaRPr lang="pt-BR" sz="1200" u="sng" dirty="0"/>
          </a:p>
          <a:p>
            <a:r>
              <a:rPr lang="en-US" b="1" dirty="0" i="0" u="none"/>
              <a:t>Our view:</a:t>
            </a:r>
            <a:r>
              <a:rPr lang="en-US" dirty="0" b="0" i="0" u="none"/>
              <a:t> With the current macro scenario and competitive landscape, revenue growth above inflation has become a central topic of discussion among investors. We see three main levers: (</a:t>
            </a:r>
            <a:r>
              <a:rPr lang="en-US" dirty="0" b="0" i="0" u="none"/>
              <a:t>i</a:t>
            </a:r>
            <a:r>
              <a:rPr lang="en-US" dirty="0" b="0" i="0" u="none"/>
              <a:t>) plan migration from lower-value prepaid/control plans to higher-ARPU postpaid and convergent bundles; (ii) selective price increases in segments with lower elasticity; and (iii) retention strategies that reduce churn and extend customer lifetime value. The key question is whether operators can execute on these levers without triggering a price war that offsets the gains.</a:t>
            </a:r>
            <a:endParaRPr lang="pt-BR" dirty="0"/>
          </a:p>
          <a:p>
            <a:endParaRPr lang="pt-BR" dirty="0"/>
          </a:p>
          <a:p>
            <a:r>
              <a:rPr lang="en-US" sz="1200" b="1" u="sng" dirty="0"/>
              <a:t>Theme #3: Efficiency Agenda and Capital Discipline</a:t>
            </a:r>
            <a:endParaRPr lang="pt-BR" sz="1200" u="sng" dirty="0"/>
          </a:p>
          <a:p>
            <a:r>
              <a:rPr lang="en-US" b="1" dirty="0" i="0" u="none"/>
              <a:t>Our view:</a:t>
            </a:r>
            <a:r>
              <a:rPr lang="en-US" dirty="0" b="0" i="0" u="none"/>
              <a:t> Capital allocation remains a key discussion point across the sector. In Telecom, the discussion lies on balancing growth with current shareholder remuneration. As operators seek growth, the capital allocation agenda includes organic and inorganic opportunities, with the latter gaining relevance as companies remain open to analyzing deals in Fiber, as well as smaller B2B M&amp;A. For tech companies, M&amp;A remains a relevant topic as some of them are integrating recently acquired companies (e.g. TOTVS and Linx) and others are pursuing M&amp;A to complement their portfolio (e.g. </a:t>
            </a:r>
            <a:r>
              <a:rPr lang="en-US" dirty="0" b="0" i="0" u="none"/>
              <a:t>Bemobi</a:t>
            </a:r>
            <a:r>
              <a:rPr lang="en-US" dirty="0" b="0" i="0" u="none"/>
              <a:t> and Senior Sistemas). </a:t>
            </a:r>
            <a:r>
              <a:rPr lang="en-US" dirty="0" b="0" i="0" u="none"/>
              <a:t>Moreover, the tradeoff between dividends and share buybacks has become increasingly important due to the recent tech de-rating.</a:t>
            </a:r>
            <a:endParaRPr lang="pt-BR" dirty="0"/>
          </a:p>
          <a:p>
            <a:endParaRPr lang="pt-BR" dirty="0"/>
          </a:p>
          <a:p>
            <a:r>
              <a:rPr lang="en-US" sz="1200" b="1" u="sng" dirty="0"/>
              <a:t>Theme #4: AI Adoption and Monetization Potential</a:t>
            </a:r>
            <a:endParaRPr lang="pt-BR" sz="1200" u="sng" dirty="0"/>
          </a:p>
          <a:p>
            <a:r>
              <a:rPr lang="en-US" b="1" dirty="0" i="0" u="none"/>
              <a:t>Our view:</a:t>
            </a:r>
            <a:r>
              <a:rPr lang="en-US" dirty="0" b="0" i="0" u="none"/>
              <a:t> The AI debate differs across Telecom and Technology companies. In Telecom, the discussion is much more focused on the efficiency levers AI brings and the level of adoption operators currently have, as they are increasingly moving from pilot projects to scaled deployment, with the most mature use cases concentrated in customer service, collections, network management and IT operations. For Technology companies, however, AI is becoming an increasingly structural driver of business-model evolution. Beyond productivity gains and potential reductions in overhead costs, the key debate is likely to shift toward the extent to which AI can accelerate revenue growth, reshape software pricing models and drive structural improvements in margins and competitive positioning.</a:t>
            </a:r>
            <a:endParaRPr lang="pt-BR" dirty="0"/>
          </a:p>
        </p:txBody>
      </p:sp>
      <p:sp>
        <p:nvSpPr>
          <p:cNvPr id="7" name="Text Placeholder 6">
            <a:extLst>
              <a:ext uri="{FF2B5EF4-FFF2-40B4-BE49-F238E27FC236}">
                <a16:creationId xmlns:a16="http://schemas.microsoft.com/office/drawing/2014/main" id="{F422B904-11C7-1929-94F4-110AAE629BA1}"/>
              </a:ext>
            </a:extLst>
          </p:cNvPr>
          <p:cNvSpPr>
            <a:spLocks noGrp="1"/>
          </p:cNvSpPr>
          <p:nvPr>
            <p:ph type="body" sz="quarter" idx="16"/>
          </p:nvPr>
        </p:nvSpPr>
        <p:spPr/>
        <p:txBody>
          <a:bodyPr/>
          <a:lstStyle/>
          <a:p>
            <a:r>
              <a:rPr lang="pt-BR" dirty="0"/>
              <a:t>XP CEO </a:t>
            </a:r>
            <a:r>
              <a:rPr lang="pt-BR" dirty="0" err="1"/>
              <a:t>Conference</a:t>
            </a:r>
            <a:r>
              <a:rPr lang="pt-BR" dirty="0"/>
              <a:t> 2026</a:t>
            </a:r>
          </a:p>
        </p:txBody>
      </p:sp>
      <p:sp>
        <p:nvSpPr>
          <p:cNvPr id="8" name="Text Placeholder 7">
            <a:extLst>
              <a:ext uri="{FF2B5EF4-FFF2-40B4-BE49-F238E27FC236}">
                <a16:creationId xmlns:a16="http://schemas.microsoft.com/office/drawing/2014/main" id="{9F4A4CCD-93A9-D611-14DC-CB78D4019B4C}"/>
              </a:ext>
            </a:extLst>
          </p:cNvPr>
          <p:cNvSpPr>
            <a:spLocks noGrp="1"/>
          </p:cNvSpPr>
          <p:nvPr>
            <p:ph type="body" sz="quarter" idx="17"/>
          </p:nvPr>
        </p:nvSpPr>
        <p:spPr/>
        <p:txBody>
          <a:bodyPr/>
          <a:lstStyle/>
          <a:p>
            <a:r>
              <a:rPr lang="pt-BR" dirty="0"/>
              <a:t>TMT</a:t>
            </a:r>
          </a:p>
        </p:txBody>
      </p:sp>
      <p:sp>
        <p:nvSpPr>
          <p:cNvPr id="9" name="Text Placeholder 8">
            <a:extLst>
              <a:ext uri="{FF2B5EF4-FFF2-40B4-BE49-F238E27FC236}">
                <a16:creationId xmlns:a16="http://schemas.microsoft.com/office/drawing/2014/main" id="{C3C01812-5B21-5798-9F1C-2000144E6C1B}"/>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5727F521-0973-ECFC-7E75-977C9C931F66}"/>
              </a:ext>
            </a:extLst>
          </p:cNvPr>
          <p:cNvSpPr>
            <a:spLocks noGrp="1"/>
          </p:cNvSpPr>
          <p:nvPr>
            <p:ph type="dt" sz="half" idx="2"/>
          </p:nvPr>
        </p:nvSpPr>
        <p:spPr/>
        <p:txBody>
          <a:bodyPr/>
          <a:lstStyle/>
          <a:p>
            <a:fld id="{0AD01827-9A36-4138-95B8-B0189D2D0C96}" type="datetime4">
              <a:rPr lang="en-US" smtClean="0"/>
              <a:pPr/>
              <a:t>August 11, 2026</a:t>
            </a:fld>
            <a:endParaRPr lang="en-US"/>
          </a:p>
        </p:txBody>
      </p:sp>
    </p:spTree>
    <p:extLst>
      <p:ext uri="{BB962C8B-B14F-4D97-AF65-F5344CB8AC3E}">
        <p14:creationId xmlns:p14="http://schemas.microsoft.com/office/powerpoint/2010/main" val="31347233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860BF-F19D-9D28-5236-E1CFB5F852A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B9756EE-6A9D-B495-6FAE-AA37A5467419}"/>
              </a:ext>
            </a:extLst>
          </p:cNvPr>
          <p:cNvSpPr>
            <a:spLocks noGrp="1"/>
          </p:cNvSpPr>
          <p:nvPr>
            <p:ph type="body" sz="quarter" idx="20"/>
          </p:nvPr>
        </p:nvSpPr>
        <p:spPr>
          <a:xfrm>
            <a:off x="382828" y="1497015"/>
            <a:ext cx="6106871" cy="7956548"/>
          </a:xfrm>
          <a:noFill/>
        </p:spPr>
        <p:txBody>
          <a:bodyPr/>
          <a:lstStyle/>
          <a:p>
            <a:r>
              <a:rPr lang="en-US" sz="1200" b="1" u="sng" dirty="0"/>
              <a:t>Theme #1: Car Rental (RENT/MOVI) – A Favorable Rental Outlook; Seminovos Trends Remain Supportive, Though Risks Persist</a:t>
            </a:r>
            <a:endParaRPr lang="pt-BR" sz="1200" u="sng" dirty="0"/>
          </a:p>
          <a:p>
            <a:r>
              <a:rPr lang="en-US" b="1" dirty="0" i="0" u="none"/>
              <a:t>Our view:</a:t>
            </a:r>
            <a:r>
              <a:rPr lang="en-US" dirty="0" b="0" i="0" u="none"/>
              <a:t> Recent </a:t>
            </a:r>
            <a:r>
              <a:rPr lang="en-US" dirty="0" b="0" i="0" u="none"/>
              <a:t>RaC</a:t>
            </a:r>
            <a:r>
              <a:rPr lang="en-US" dirty="0" b="0" i="0" u="none"/>
              <a:t> results have been surprisingly strong, with operators delivering solid profitability through cost-efficiency initiatives while demand remains resilient despite continued pricing increases (see our 2Q26 earnings reviews for </a:t>
            </a:r>
            <a:r>
              <a:rPr lang="en-US" dirty="0" b="0" i="0" u="sng">
                <a:hlinkClick r:id="rId6"/>
              </a:rPr>
              <a:t>RENT</a:t>
            </a:r>
            <a:r>
              <a:rPr lang="en-US" dirty="0" b="0" i="0" u="none"/>
              <a:t> and </a:t>
            </a:r>
            <a:r>
              <a:rPr lang="en-US" dirty="0" b="0" i="0" u="sng">
                <a:hlinkClick r:id="rId7"/>
              </a:rPr>
              <a:t>MOVI</a:t>
            </a:r>
            <a:r>
              <a:rPr lang="en-US" dirty="0" b="0" i="0" u="none"/>
              <a:t>). Although pricing should remain a key focus in the near term, we see upside risk over the medium term, as car rental companies move closer to their target return levels and gain greater flexibility to shift their focus toward volume growth, supporting a stronger growth outlook amid resilient demand. We believe that this combination of a supportive operating environment and relatively stable used-car prices since the latest IPI tax reduction reduces the risk of earnings revisions, increasing our confidence in the sector. However, we acknowledge that </a:t>
            </a:r>
            <a:r>
              <a:rPr lang="en-US" dirty="0" b="0" i="1" u="none"/>
              <a:t>Seminovos</a:t>
            </a:r>
            <a:r>
              <a:rPr lang="en-US" dirty="0" b="0" i="0" u="none"/>
              <a:t> remains the key investor concern. Chinese OEMs should continue expanding their presence in Brazil, intensifying competition among automakers and increasing pricing pressure, which is currently concentrated in the mid-to-upper vehicle segments. Thus, while the impact on car rental companies has been limited so far, in our view, given their greater exposure to entry-level vehicles, continued competition and the gradual expansion of Chinese OEM offerings across price points may sustain concerns around residual values and vehicle depreciation going forward.</a:t>
            </a:r>
            <a:endParaRPr lang="pt-BR" dirty="0"/>
          </a:p>
          <a:p>
            <a:endParaRPr lang="pt-BR" dirty="0"/>
          </a:p>
          <a:p>
            <a:r>
              <a:rPr lang="en-US" sz="1200" b="1" u="sng" dirty="0"/>
              <a:t>Theme #2: Toll Roads (MOTV/ECOR) – Rebalancing and Amendments Agenda Gain Importance After a Strong Auction Cycle; High Capex Commitments as a Concern in a Volatile Input Price Environment</a:t>
            </a:r>
            <a:endParaRPr lang="pt-BR" sz="1200" u="sng" dirty="0"/>
          </a:p>
          <a:p>
            <a:r>
              <a:rPr lang="en-US" b="1" dirty="0" i="0" u="none"/>
              <a:t>Our view:</a:t>
            </a:r>
            <a:r>
              <a:rPr lang="en-US" dirty="0" b="0" i="0" u="none"/>
              <a:t> Contract amendments and economic rebalancing has become a relevant topic among toll road operators, driven by (</a:t>
            </a:r>
            <a:r>
              <a:rPr lang="en-US" dirty="0" b="0" i="0" u="none"/>
              <a:t>i</a:t>
            </a:r>
            <a:r>
              <a:rPr lang="en-US" dirty="0" b="0" i="0" u="none"/>
              <a:t>) a thinner flagship auction pipeline ahead, and (ii) an acceleration in rebalancing and amendment announcements in recent months (MOTV: </a:t>
            </a:r>
            <a:r>
              <a:rPr lang="en-US" dirty="0" b="0" i="0" u="sng">
                <a:hlinkClick r:id="rId8"/>
              </a:rPr>
              <a:t>link</a:t>
            </a:r>
            <a:r>
              <a:rPr lang="en-US" dirty="0" b="0" i="0" u="none"/>
              <a:t>; ECOR: </a:t>
            </a:r>
            <a:r>
              <a:rPr lang="en-US" dirty="0" b="0" i="0" u="sng">
                <a:hlinkClick r:id="rId9"/>
              </a:rPr>
              <a:t>link</a:t>
            </a:r>
            <a:r>
              <a:rPr lang="en-US" dirty="0" b="0" i="0" u="none"/>
              <a:t>). We see these processes as a meaningful source of NPV creation for listed operators, particularly in </a:t>
            </a:r>
            <a:r>
              <a:rPr lang="en-US" dirty="0" b="0" i="0" u="none"/>
              <a:t>key assets currently under negotiation (</a:t>
            </a:r>
            <a:r>
              <a:rPr lang="en-US" dirty="0" b="0" i="0" u="none"/>
              <a:t>Imigrantes</a:t>
            </a:r>
            <a:r>
              <a:rPr lang="en-US" dirty="0" b="0" i="0" u="none"/>
              <a:t>, Leste Paulista, </a:t>
            </a:r>
            <a:r>
              <a:rPr lang="en-US" dirty="0" b="0" i="0" u="none"/>
              <a:t>Autoban</a:t>
            </a:r>
            <a:r>
              <a:rPr lang="en-US" dirty="0" b="0" i="0" u="none"/>
              <a:t>, and </a:t>
            </a:r>
            <a:r>
              <a:rPr lang="en-US" dirty="0" b="0" i="0" u="none"/>
              <a:t>SPVias</a:t>
            </a:r>
            <a:r>
              <a:rPr lang="en-US" dirty="0" b="0" i="0" u="none"/>
              <a:t>; see </a:t>
            </a:r>
            <a:r>
              <a:rPr lang="en-US" dirty="0" b="0" i="0" u="sng">
                <a:hlinkClick r:id="rId10"/>
              </a:rPr>
              <a:t>link</a:t>
            </a:r>
            <a:r>
              <a:rPr lang="en-US" dirty="0" b="0" i="0" u="none"/>
              <a:t>), offering attractive returns with lower execution risk given (</a:t>
            </a:r>
            <a:r>
              <a:rPr lang="en-US" dirty="0" b="0" i="0" u="none"/>
              <a:t>i</a:t>
            </a:r>
            <a:r>
              <a:rPr lang="en-US" dirty="0" b="0" i="0" u="none"/>
              <a:t>) their direct negotiation with granting authorities, and (ii) known capex profile. We also believe the electoral cycle increases the relevance of the theme, as the pace of negotiations should be a key determinant of how much of this value can be crystallized in the valuations. On capex, commitments increased materially following the 2024-25 auction cycle (Motiva at 4.0x and </a:t>
            </a:r>
            <a:r>
              <a:rPr lang="en-US" dirty="0" b="0" i="0" u="none"/>
              <a:t>Ecorodovias</a:t>
            </a:r>
            <a:r>
              <a:rPr lang="en-US" dirty="0" b="0" i="0" u="none"/>
              <a:t> at 8.1x capex commitments/revenue). While volatile prices for oil derivatives (particularly diesel and CAP) have raised concerns around cost overruns, we see meaningful mitigants and believe the impact looks overpriced in the shares (see our </a:t>
            </a:r>
            <a:r>
              <a:rPr lang="en-US" dirty="0" b="0" i="0" u="sng">
                <a:hlinkClick r:id="rId11"/>
              </a:rPr>
              <a:t>detailed analysis</a:t>
            </a:r>
            <a:r>
              <a:rPr lang="en-US" dirty="0" b="0" i="0" u="none"/>
              <a:t>).</a:t>
            </a:r>
            <a:endParaRPr lang="pt-BR" dirty="0"/>
          </a:p>
        </p:txBody>
      </p:sp>
      <p:sp>
        <p:nvSpPr>
          <p:cNvPr id="7" name="Text Placeholder 6">
            <a:extLst>
              <a:ext uri="{FF2B5EF4-FFF2-40B4-BE49-F238E27FC236}">
                <a16:creationId xmlns:a16="http://schemas.microsoft.com/office/drawing/2014/main" id="{8D4BAA96-E00D-A51C-3506-D6058289D6A4}"/>
              </a:ext>
            </a:extLst>
          </p:cNvPr>
          <p:cNvSpPr>
            <a:spLocks noGrp="1"/>
          </p:cNvSpPr>
          <p:nvPr>
            <p:ph type="body" sz="quarter" idx="16"/>
          </p:nvPr>
        </p:nvSpPr>
        <p:spPr/>
        <p:txBody>
          <a:bodyPr/>
          <a:lstStyle/>
          <a:p>
            <a:r>
              <a:rPr lang="pt-BR" dirty="0"/>
              <a:t>XP CEO </a:t>
            </a:r>
            <a:r>
              <a:rPr lang="pt-BR" dirty="0" err="1"/>
              <a:t>Conference</a:t>
            </a:r>
            <a:r>
              <a:rPr lang="pt-BR" dirty="0"/>
              <a:t> 2026</a:t>
            </a:r>
          </a:p>
        </p:txBody>
      </p:sp>
      <p:sp>
        <p:nvSpPr>
          <p:cNvPr id="8" name="Text Placeholder 7">
            <a:extLst>
              <a:ext uri="{FF2B5EF4-FFF2-40B4-BE49-F238E27FC236}">
                <a16:creationId xmlns:a16="http://schemas.microsoft.com/office/drawing/2014/main" id="{D137A5D4-1EE0-D3FC-568D-96FA6801391D}"/>
              </a:ext>
            </a:extLst>
          </p:cNvPr>
          <p:cNvSpPr>
            <a:spLocks noGrp="1"/>
          </p:cNvSpPr>
          <p:nvPr>
            <p:ph type="body" sz="quarter" idx="17"/>
          </p:nvPr>
        </p:nvSpPr>
        <p:spPr/>
        <p:txBody>
          <a:bodyPr/>
          <a:lstStyle/>
          <a:p>
            <a:r>
              <a:rPr lang="pt-BR" dirty="0"/>
              <a:t>Transportation</a:t>
            </a:r>
          </a:p>
        </p:txBody>
      </p:sp>
      <p:sp>
        <p:nvSpPr>
          <p:cNvPr id="9" name="Text Placeholder 8">
            <a:extLst>
              <a:ext uri="{FF2B5EF4-FFF2-40B4-BE49-F238E27FC236}">
                <a16:creationId xmlns:a16="http://schemas.microsoft.com/office/drawing/2014/main" id="{7C34E3A0-6CD7-659D-67FC-1B461C027BA3}"/>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F55B71DB-4E09-98E7-A603-712E7069F1D5}"/>
              </a:ext>
            </a:extLst>
          </p:cNvPr>
          <p:cNvSpPr>
            <a:spLocks noGrp="1"/>
          </p:cNvSpPr>
          <p:nvPr>
            <p:ph type="dt" sz="half" idx="2"/>
          </p:nvPr>
        </p:nvSpPr>
        <p:spPr/>
        <p:txBody>
          <a:bodyPr/>
          <a:lstStyle/>
          <a:p>
            <a:fld id="{0AD01827-9A36-4138-95B8-B0189D2D0C96}" type="datetime4">
              <a:rPr lang="en-US" smtClean="0"/>
              <a:pPr/>
              <a:t>August 11, 2026</a:t>
            </a:fld>
            <a:endParaRPr lang="en-US"/>
          </a:p>
        </p:txBody>
      </p:sp>
    </p:spTree>
    <p:extLst>
      <p:ext uri="{BB962C8B-B14F-4D97-AF65-F5344CB8AC3E}">
        <p14:creationId xmlns:p14="http://schemas.microsoft.com/office/powerpoint/2010/main" val="4279125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B71A0-02E0-023C-01AA-C23B5A2AFD7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4D8A622-9ED3-D85C-0F4A-127A62089EBC}"/>
              </a:ext>
            </a:extLst>
          </p:cNvPr>
          <p:cNvSpPr>
            <a:spLocks noGrp="1"/>
          </p:cNvSpPr>
          <p:nvPr>
            <p:ph type="body" sz="quarter" idx="20"/>
          </p:nvPr>
        </p:nvSpPr>
        <p:spPr>
          <a:xfrm>
            <a:off x="382828" y="1497015"/>
            <a:ext cx="6106871" cy="7956548"/>
          </a:xfrm>
          <a:noFill/>
        </p:spPr>
        <p:txBody>
          <a:bodyPr/>
          <a:lstStyle/>
          <a:p>
            <a:r>
              <a:rPr lang="en-US" sz="1200" b="1" u="sng" dirty="0"/>
              <a:t>Theme #3: Grain Logistics (RAIL/HBSA) – Export Conditions Seems Supportive in 2026, but El Niño Adds Uncertainty</a:t>
            </a:r>
            <a:endParaRPr lang="pt-BR" sz="1200" u="sng" dirty="0"/>
          </a:p>
          <a:p>
            <a:r>
              <a:rPr lang="en-US" b="1" dirty="0" i="0" u="none"/>
              <a:t>Our view:</a:t>
            </a:r>
            <a:r>
              <a:rPr lang="en-US" dirty="0" b="0" i="0" u="none"/>
              <a:t> Demand conditions remain constructive, supported by a strong soybean crop in Brazil and a corn season that has progressed well so far, while the global backdrop also appears constructive, with potential production shortfalls in Europe and lower corn exports from Ukraine. However, El Niño brings another layer of uncertainty. We note that: (</a:t>
            </a:r>
            <a:r>
              <a:rPr lang="en-US" dirty="0" b="0" i="0" u="none"/>
              <a:t>i</a:t>
            </a:r>
            <a:r>
              <a:rPr lang="en-US" dirty="0" b="0" i="0" u="none"/>
              <a:t>) in 2H26, drier conditions in Northern Brazil could reduce river levels and constrain barge navigation, creating potential headwinds for HBSA while supporting alternative export corridors such as Rumo; and (ii) in 2027, weather impacts could extend to crop production, as irregular rainfall may affect crop yields. While soybean production could also be affected, we see greater downside risk for corn, given its higher dependence on timely rainfall during the second-crop cycle and lower exportable surplus. In a downside scenario, weaker corn production would likely translate more directly into lower exports, creating volume headwinds for both Rumo and HBSA. See XP Strategy's detailed report on the topic </a:t>
            </a:r>
            <a:r>
              <a:rPr lang="en-US" dirty="0" b="0" i="0" u="sng">
                <a:hlinkClick r:id="rId2"/>
              </a:rPr>
              <a:t>here</a:t>
            </a:r>
            <a:r>
              <a:rPr lang="en-US" dirty="0" b="0" i="0" u="none"/>
              <a:t>.</a:t>
            </a:r>
            <a:endParaRPr lang="pt-BR" dirty="0"/>
          </a:p>
          <a:p>
            <a:endParaRPr lang="pt-BR" dirty="0"/>
          </a:p>
          <a:p>
            <a:r>
              <a:rPr lang="en-US" sz="1200" b="1" u="sng" dirty="0"/>
              <a:t>Theme #4: Heavy Rental (VAMO/ARML) – Early Signs of Improvement, Though Execution Challenges Remain</a:t>
            </a:r>
            <a:endParaRPr lang="pt-BR" sz="1200" u="sng" dirty="0"/>
          </a:p>
          <a:p>
            <a:r>
              <a:rPr lang="en-US" b="1" dirty="0" i="0" u="none"/>
              <a:t>Our view:</a:t>
            </a:r>
            <a:r>
              <a:rPr lang="en-US" dirty="0" b="0" i="0" u="none"/>
              <a:t> After an accelerated investment and contract-origination cycle during the low-cost-of-capital environment of 2020-22, heavy-rental companies faced significant challenges in fleet and contract management. While recent developments suggest a more favorable backdrop for the sector, we continue to see divergent dynamics between </a:t>
            </a:r>
            <a:r>
              <a:rPr lang="en-US" dirty="0" b="0" i="0" u="none"/>
              <a:t>Armac</a:t>
            </a:r>
            <a:r>
              <a:rPr lang="en-US" dirty="0" b="0" i="0" u="none"/>
              <a:t> and Vamos. For Armac, we see a more supportive environment, underpinned by a more normalized operating backdrop and improving cash generation, although investors remain focused on whether the company can translate the recent operational improvements into a more sustained growth trajectory (see our </a:t>
            </a:r>
            <a:r>
              <a:rPr lang="en-US" dirty="0" b="0" i="0" u="sng">
                <a:hlinkClick r:id="rId3"/>
              </a:rPr>
              <a:t>latest update</a:t>
            </a:r>
            <a:r>
              <a:rPr lang="en-US" dirty="0" b="0" i="0" u="none"/>
              <a:t>). For Vamos, earnings momentum remains pressured, particularly given its high indebtedness and elevated level of idle assets. However, recent quarters have shown some improvement, with the company delivering stronger contracted capex, higher asset sales and lower asset repossessions. Should these trends prove sustainable, they could meaningfully support Vamos' deleveraging trajectory and improve earnings visibility, which we believe remains the key debate for the stock (see our </a:t>
            </a:r>
            <a:r>
              <a:rPr lang="en-US" dirty="0" b="0" i="0" u="sng">
                <a:hlinkClick r:id="rId4"/>
              </a:rPr>
              <a:t>2Q26 operational review report</a:t>
            </a:r>
            <a:r>
              <a:rPr lang="en-US" dirty="0" b="0" i="0" u="none"/>
              <a:t>).</a:t>
            </a:r>
            <a:endParaRPr lang="pt-BR" dirty="0"/>
          </a:p>
        </p:txBody>
      </p:sp>
      <p:sp>
        <p:nvSpPr>
          <p:cNvPr id="7" name="Text Placeholder 6">
            <a:extLst>
              <a:ext uri="{FF2B5EF4-FFF2-40B4-BE49-F238E27FC236}">
                <a16:creationId xmlns:a16="http://schemas.microsoft.com/office/drawing/2014/main" id="{9C17037B-4FF0-F749-B332-512AF6C92158}"/>
              </a:ext>
            </a:extLst>
          </p:cNvPr>
          <p:cNvSpPr>
            <a:spLocks noGrp="1"/>
          </p:cNvSpPr>
          <p:nvPr>
            <p:ph type="body" sz="quarter" idx="16"/>
          </p:nvPr>
        </p:nvSpPr>
        <p:spPr/>
        <p:txBody>
          <a:bodyPr/>
          <a:lstStyle/>
          <a:p>
            <a:r>
              <a:rPr lang="pt-BR" dirty="0"/>
              <a:t>XP CEO </a:t>
            </a:r>
            <a:r>
              <a:rPr lang="pt-BR" dirty="0" err="1"/>
              <a:t>Conference</a:t>
            </a:r>
            <a:r>
              <a:rPr lang="pt-BR" dirty="0"/>
              <a:t> 2026</a:t>
            </a:r>
          </a:p>
        </p:txBody>
      </p:sp>
      <p:sp>
        <p:nvSpPr>
          <p:cNvPr id="8" name="Text Placeholder 7">
            <a:extLst>
              <a:ext uri="{FF2B5EF4-FFF2-40B4-BE49-F238E27FC236}">
                <a16:creationId xmlns:a16="http://schemas.microsoft.com/office/drawing/2014/main" id="{E4531C4C-EA57-8624-3B0B-BE345ECD2882}"/>
              </a:ext>
            </a:extLst>
          </p:cNvPr>
          <p:cNvSpPr>
            <a:spLocks noGrp="1"/>
          </p:cNvSpPr>
          <p:nvPr>
            <p:ph type="body" sz="quarter" idx="17"/>
          </p:nvPr>
        </p:nvSpPr>
        <p:spPr/>
        <p:txBody>
          <a:bodyPr/>
          <a:lstStyle/>
          <a:p>
            <a:r>
              <a:rPr lang="pt-BR" dirty="0"/>
              <a:t>Transportation</a:t>
            </a:r>
          </a:p>
        </p:txBody>
      </p:sp>
      <p:sp>
        <p:nvSpPr>
          <p:cNvPr id="9" name="Text Placeholder 8">
            <a:extLst>
              <a:ext uri="{FF2B5EF4-FFF2-40B4-BE49-F238E27FC236}">
                <a16:creationId xmlns:a16="http://schemas.microsoft.com/office/drawing/2014/main" id="{52BAF3FC-FC28-D08D-2F34-54972DC022F9}"/>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7233F54B-E65B-6D45-C39E-62C79F021851}"/>
              </a:ext>
            </a:extLst>
          </p:cNvPr>
          <p:cNvSpPr>
            <a:spLocks noGrp="1"/>
          </p:cNvSpPr>
          <p:nvPr>
            <p:ph type="dt" sz="half" idx="2"/>
          </p:nvPr>
        </p:nvSpPr>
        <p:spPr/>
        <p:txBody>
          <a:bodyPr/>
          <a:lstStyle/>
          <a:p>
            <a:fld id="{0AD01827-9A36-4138-95B8-B0189D2D0C96}" type="datetime4">
              <a:rPr lang="en-US" smtClean="0"/>
              <a:pPr/>
              <a:t>August 11, 2026</a:t>
            </a:fld>
            <a:endParaRPr lang="en-US"/>
          </a:p>
        </p:txBody>
      </p:sp>
    </p:spTree>
    <p:extLst>
      <p:ext uri="{BB962C8B-B14F-4D97-AF65-F5344CB8AC3E}">
        <p14:creationId xmlns:p14="http://schemas.microsoft.com/office/powerpoint/2010/main" val="37925057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B71A0-02E0-023C-01AA-C23B5A2AFD7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4D8A622-9ED3-D85C-0F4A-127A62089EBC}"/>
              </a:ext>
            </a:extLst>
          </p:cNvPr>
          <p:cNvSpPr>
            <a:spLocks noGrp="1"/>
          </p:cNvSpPr>
          <p:nvPr>
            <p:ph type="body" sz="quarter" idx="20"/>
          </p:nvPr>
        </p:nvSpPr>
        <p:spPr>
          <a:xfrm>
            <a:off x="382828" y="1497015"/>
            <a:ext cx="6106871" cy="7956548"/>
          </a:xfrm>
          <a:noFill/>
        </p:spPr>
        <p:txBody>
          <a:bodyPr/>
          <a:lstStyle/>
          <a:p>
            <a:r>
              <a:rPr lang="en-US" sz="1200" b="1" u="sng" dirty="0"/>
              <a:t>Theme #5: Industrial Services (GGPS/PRNR) – Is the Operating Recovery Finally Taking Shape?</a:t>
            </a:r>
            <a:endParaRPr lang="pt-BR" sz="1200" u="sng" dirty="0"/>
          </a:p>
          <a:p>
            <a:r>
              <a:rPr lang="en-US" b="1" dirty="0" i="0" u="none"/>
              <a:t>Our view:</a:t>
            </a:r>
            <a:r>
              <a:rPr lang="en-US" dirty="0" b="0" i="0" u="none"/>
              <a:t> For GPS, while we view the company as one of the highest-quality operators in the sector, with significant consolidation potential, earnings momentum has been somewhat muted following the GRSA acquisition (see our </a:t>
            </a:r>
            <a:r>
              <a:rPr lang="en-US" dirty="0" b="0" i="0" u="sng">
                <a:hlinkClick r:id="rId2"/>
              </a:rPr>
              <a:t>detailed report</a:t>
            </a:r>
            <a:r>
              <a:rPr lang="en-US" dirty="0" b="0" i="0" u="none"/>
              <a:t>). Although we believe the integration is nearing completion, growth should remain softer than historical levels, reflecting both tougher organic comparisons and a more disciplined M&amp;A pace in 2026. Margins are also likely to remain below historical standards in the short term, as GRSA's operations are inherently more exposed to cost inflation and timing mismatches in contractual pass-throughs than GPS's traditional labor-intensive facilities-management business, delaying a full normalization of profitability. For Priner, the 2025 revenue deceleration, driven by weaker conditions in the recently consolidated Industrial Assembly operations, raised questions around growth sustainability. However, attention is increasingly shifting toward potential recovery avenues in these businesses, supported by cross-selling within the broader mining platform, a more supportive backdrop for new projects following Brazil’s expected natural-cavities decree, and the company’s ongoing expansion into off-road hauling (see our </a:t>
            </a:r>
            <a:r>
              <a:rPr lang="en-US" dirty="0" b="0" i="0" u="sng">
                <a:hlinkClick r:id="rId3"/>
              </a:rPr>
              <a:t>detailed report</a:t>
            </a:r>
            <a:r>
              <a:rPr lang="en-US" dirty="0" b="0" i="0" u="none"/>
              <a:t>).</a:t>
            </a:r>
            <a:endParaRPr lang="pt-BR" dirty="0"/>
          </a:p>
        </p:txBody>
      </p:sp>
      <p:sp>
        <p:nvSpPr>
          <p:cNvPr id="7" name="Text Placeholder 6">
            <a:extLst>
              <a:ext uri="{FF2B5EF4-FFF2-40B4-BE49-F238E27FC236}">
                <a16:creationId xmlns:a16="http://schemas.microsoft.com/office/drawing/2014/main" id="{9C17037B-4FF0-F749-B332-512AF6C92158}"/>
              </a:ext>
            </a:extLst>
          </p:cNvPr>
          <p:cNvSpPr>
            <a:spLocks noGrp="1"/>
          </p:cNvSpPr>
          <p:nvPr>
            <p:ph type="body" sz="quarter" idx="16"/>
          </p:nvPr>
        </p:nvSpPr>
        <p:spPr/>
        <p:txBody>
          <a:bodyPr/>
          <a:lstStyle/>
          <a:p>
            <a:r>
              <a:rPr lang="pt-BR" dirty="0"/>
              <a:t>XP CEO </a:t>
            </a:r>
            <a:r>
              <a:rPr lang="pt-BR" dirty="0" err="1"/>
              <a:t>Conference</a:t>
            </a:r>
            <a:r>
              <a:rPr lang="pt-BR" dirty="0"/>
              <a:t> 2026</a:t>
            </a:r>
          </a:p>
        </p:txBody>
      </p:sp>
      <p:sp>
        <p:nvSpPr>
          <p:cNvPr id="8" name="Text Placeholder 7">
            <a:extLst>
              <a:ext uri="{FF2B5EF4-FFF2-40B4-BE49-F238E27FC236}">
                <a16:creationId xmlns:a16="http://schemas.microsoft.com/office/drawing/2014/main" id="{E4531C4C-EA57-8624-3B0B-BE345ECD2882}"/>
              </a:ext>
            </a:extLst>
          </p:cNvPr>
          <p:cNvSpPr>
            <a:spLocks noGrp="1"/>
          </p:cNvSpPr>
          <p:nvPr>
            <p:ph type="body" sz="quarter" idx="17"/>
          </p:nvPr>
        </p:nvSpPr>
        <p:spPr/>
        <p:txBody>
          <a:bodyPr/>
          <a:lstStyle/>
          <a:p>
            <a:r>
              <a:rPr lang="pt-BR" dirty="0"/>
              <a:t>Transportation</a:t>
            </a:r>
          </a:p>
        </p:txBody>
      </p:sp>
      <p:sp>
        <p:nvSpPr>
          <p:cNvPr id="9" name="Text Placeholder 8">
            <a:extLst>
              <a:ext uri="{FF2B5EF4-FFF2-40B4-BE49-F238E27FC236}">
                <a16:creationId xmlns:a16="http://schemas.microsoft.com/office/drawing/2014/main" id="{52BAF3FC-FC28-D08D-2F34-54972DC022F9}"/>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7233F54B-E65B-6D45-C39E-62C79F021851}"/>
              </a:ext>
            </a:extLst>
          </p:cNvPr>
          <p:cNvSpPr>
            <a:spLocks noGrp="1"/>
          </p:cNvSpPr>
          <p:nvPr>
            <p:ph type="dt" sz="half" idx="2"/>
          </p:nvPr>
        </p:nvSpPr>
        <p:spPr/>
        <p:txBody>
          <a:bodyPr/>
          <a:lstStyle/>
          <a:p>
            <a:fld id="{0AD01827-9A36-4138-95B8-B0189D2D0C96}" type="datetime4">
              <a:rPr lang="en-US" smtClean="0"/>
              <a:pPr/>
              <a:t>August 11, 2026</a:t>
            </a:fld>
            <a:endParaRPr lang="en-US"/>
          </a:p>
        </p:txBody>
      </p:sp>
    </p:spTree>
    <p:extLst>
      <p:ext uri="{BB962C8B-B14F-4D97-AF65-F5344CB8AC3E}">
        <p14:creationId xmlns:p14="http://schemas.microsoft.com/office/powerpoint/2010/main" val="37925057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894FB-5068-42F6-4376-03D4DC4D66C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3B30775-C7A3-2383-7552-655A67294B13}"/>
              </a:ext>
            </a:extLst>
          </p:cNvPr>
          <p:cNvSpPr>
            <a:spLocks noGrp="1"/>
          </p:cNvSpPr>
          <p:nvPr>
            <p:ph type="body" sz="quarter" idx="20"/>
          </p:nvPr>
        </p:nvSpPr>
        <p:spPr>
          <a:xfrm>
            <a:off x="382828" y="1497015"/>
            <a:ext cx="6106871" cy="7956548"/>
          </a:xfrm>
          <a:noFill/>
        </p:spPr>
        <p:txBody>
          <a:bodyPr/>
          <a:lstStyle/>
          <a:p>
            <a:r>
              <a:rPr lang="en-US" sz="1200" b="1" u="sng" dirty="0"/>
              <a:t>Theme #1: Potential Solutions Under Discussion for Curtailment Effects</a:t>
            </a:r>
            <a:endParaRPr lang="pt-BR" sz="1200" u="sng" dirty="0"/>
          </a:p>
          <a:p>
            <a:r>
              <a:rPr lang="en-US" b="1" dirty="0" i="0" u="none"/>
              <a:t>Our view:</a:t>
            </a:r>
            <a:r>
              <a:rPr lang="en-US" dirty="0" b="0" i="0" u="none"/>
              <a:t> Curtailment has become a structural challenge for intermittent renewable sources (wind and solar), making it one of the most relevant issues for the GenCos under our coverage. Regulatory discussions have gained momentum as policymakers advance measures aimed at addressing the problem. Among the key developments currently under debate, we would highlight: (i) the methodology to be adopted for compensating future curtailment losses, as well as the reimbursement of historical curtailments (already defined on MME’s Ordinance No. 140/2026); (ii) the criteria and methodology used to classify curtailment events as stemming from energetic, reliability, or electrical constraints; and (iii) ANEEL's Public Consultation No. 45/2019, which is expected to establish the framework for allocating curtailment-related impacts among market participants going forward. These discussions are particularly relevant for Auren and Engie, given their significant exposure to intermittent generation assets.</a:t>
            </a:r>
            <a:endParaRPr lang="pt-BR" dirty="0"/>
          </a:p>
          <a:p>
            <a:endParaRPr lang="pt-BR" dirty="0"/>
          </a:p>
          <a:p>
            <a:r>
              <a:rPr lang="en-US" sz="1200" b="1" u="sng" dirty="0"/>
              <a:t>Theme #2: Short- and Long-Term Trends in Energy Prices</a:t>
            </a:r>
            <a:endParaRPr lang="pt-BR" sz="1200" u="sng" dirty="0"/>
          </a:p>
          <a:p>
            <a:r>
              <a:rPr lang="en-US" b="1" dirty="0" i="0" u="none"/>
              <a:t>Our view:</a:t>
            </a:r>
            <a:r>
              <a:rPr lang="en-US" dirty="0" b="0" i="0" u="none"/>
              <a:t> Energy prices remain a key theme for the sector, especially as El Niño adds another layer of uncertainty to hydrological conditions and to the outlook for the coming wet season. Beyond weather, there are several elements currently reshaping price expectations that we believe deserve attention: i) load growth; ii) peak and off-peak power prices (and therefore modulation dynamics); iii) the upcoming BESS auction and how it impacts prices going forward and iv) potential submarket spreads that could arise again. This is particularly relevant for players with relevant exposure to the generation segment, such as AXIA, Auren, Engie, Copel and Cemig.</a:t>
            </a:r>
            <a:endParaRPr lang="pt-BR" dirty="0"/>
          </a:p>
          <a:p>
            <a:endParaRPr lang="pt-BR" dirty="0"/>
          </a:p>
          <a:p>
            <a:r>
              <a:rPr lang="en-US" sz="1200" b="1" u="sng" dirty="0"/>
              <a:t>Theme #3: Distribution Regulatory Agenda and Enel Assets Potentially Coming to Market</a:t>
            </a:r>
            <a:endParaRPr lang="pt-BR" sz="1200" u="sng" dirty="0"/>
          </a:p>
          <a:p>
            <a:r>
              <a:rPr lang="en-US" b="1" dirty="0" i="0" u="none"/>
              <a:t>Our view:</a:t>
            </a:r>
            <a:r>
              <a:rPr lang="en-US" dirty="0" b="0" i="0" u="none"/>
              <a:t> The intense regulatory agenda set for the distribution segment this year continues to evolve. Aneel should conclude the ongoing Public Consultation on the X Factor and its productivity component (Pd) by year-end, while the Public Consultations on regulatory losses and delinquency are expected for the second half of the year, with the update of the database and the treatment of operational risk areas representing a potential upside for DisCos (particularly relevant for Light). Discussions around the regulatory WACC, in turn, should only return to the agenda in 2027. A potential forfeiture of Enel SP's concession remains one of the key themes for the sector, with a potential dispute among the companies under our coverage (such as Equatorial, Energisa, CPFL and Copel) if the asset comes to market.</a:t>
            </a:r>
            <a:endParaRPr lang="pt-BR" dirty="0"/>
          </a:p>
        </p:txBody>
      </p:sp>
      <p:sp>
        <p:nvSpPr>
          <p:cNvPr id="7" name="Text Placeholder 6">
            <a:extLst>
              <a:ext uri="{FF2B5EF4-FFF2-40B4-BE49-F238E27FC236}">
                <a16:creationId xmlns:a16="http://schemas.microsoft.com/office/drawing/2014/main" id="{885DCE62-1430-465E-4173-F714FB025E32}"/>
              </a:ext>
            </a:extLst>
          </p:cNvPr>
          <p:cNvSpPr>
            <a:spLocks noGrp="1"/>
          </p:cNvSpPr>
          <p:nvPr>
            <p:ph type="body" sz="quarter" idx="16"/>
          </p:nvPr>
        </p:nvSpPr>
        <p:spPr/>
        <p:txBody>
          <a:bodyPr/>
          <a:lstStyle/>
          <a:p>
            <a:r>
              <a:rPr lang="pt-BR" dirty="0"/>
              <a:t>XP CEO </a:t>
            </a:r>
            <a:r>
              <a:rPr lang="pt-BR" dirty="0" err="1"/>
              <a:t>Conference</a:t>
            </a:r>
            <a:r>
              <a:rPr lang="pt-BR" dirty="0"/>
              <a:t> 2026</a:t>
            </a:r>
          </a:p>
        </p:txBody>
      </p:sp>
      <p:sp>
        <p:nvSpPr>
          <p:cNvPr id="8" name="Text Placeholder 7">
            <a:extLst>
              <a:ext uri="{FF2B5EF4-FFF2-40B4-BE49-F238E27FC236}">
                <a16:creationId xmlns:a16="http://schemas.microsoft.com/office/drawing/2014/main" id="{6E29CC40-59C0-352A-785B-2EE813B7D7DD}"/>
              </a:ext>
            </a:extLst>
          </p:cNvPr>
          <p:cNvSpPr>
            <a:spLocks noGrp="1"/>
          </p:cNvSpPr>
          <p:nvPr>
            <p:ph type="body" sz="quarter" idx="17"/>
          </p:nvPr>
        </p:nvSpPr>
        <p:spPr/>
        <p:txBody>
          <a:bodyPr/>
          <a:lstStyle/>
          <a:p>
            <a:r>
              <a:rPr lang="pt-BR" dirty="0" err="1"/>
              <a:t>Utilities</a:t>
            </a:r>
            <a:endParaRPr lang="pt-BR" dirty="0"/>
          </a:p>
        </p:txBody>
      </p:sp>
      <p:sp>
        <p:nvSpPr>
          <p:cNvPr id="9" name="Text Placeholder 8">
            <a:extLst>
              <a:ext uri="{FF2B5EF4-FFF2-40B4-BE49-F238E27FC236}">
                <a16:creationId xmlns:a16="http://schemas.microsoft.com/office/drawing/2014/main" id="{D903DB4C-8406-DBDA-D9B6-6CDD8BA09862}"/>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2BE1FAD7-BC4A-03A1-D42C-5ED45CD40125}"/>
              </a:ext>
            </a:extLst>
          </p:cNvPr>
          <p:cNvSpPr>
            <a:spLocks noGrp="1"/>
          </p:cNvSpPr>
          <p:nvPr>
            <p:ph type="dt" sz="half" idx="2"/>
          </p:nvPr>
        </p:nvSpPr>
        <p:spPr/>
        <p:txBody>
          <a:bodyPr/>
          <a:lstStyle/>
          <a:p>
            <a:fld id="{0AD01827-9A36-4138-95B8-B0189D2D0C96}" type="datetime4">
              <a:rPr lang="en-US" smtClean="0"/>
              <a:pPr/>
              <a:t>August 11, 2026</a:t>
            </a:fld>
            <a:endParaRPr lang="en-US"/>
          </a:p>
        </p:txBody>
      </p:sp>
    </p:spTree>
    <p:extLst>
      <p:ext uri="{BB962C8B-B14F-4D97-AF65-F5344CB8AC3E}">
        <p14:creationId xmlns:p14="http://schemas.microsoft.com/office/powerpoint/2010/main" val="22869840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894FB-5068-42F6-4376-03D4DC4D66C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3B30775-C7A3-2383-7552-655A67294B13}"/>
              </a:ext>
            </a:extLst>
          </p:cNvPr>
          <p:cNvSpPr>
            <a:spLocks noGrp="1"/>
          </p:cNvSpPr>
          <p:nvPr>
            <p:ph type="body" sz="quarter" idx="20"/>
          </p:nvPr>
        </p:nvSpPr>
        <p:spPr>
          <a:xfrm>
            <a:off x="382828" y="1497015"/>
            <a:ext cx="6106871" cy="7956548"/>
          </a:xfrm>
          <a:noFill/>
        </p:spPr>
        <p:txBody>
          <a:bodyPr/>
          <a:lstStyle/>
          <a:p>
            <a:r>
              <a:rPr lang="en-US" sz="1200" b="1" u="sng" dirty="0"/>
              <a:t>Theme #4: Additional Capital Allocation Opportunities</a:t>
            </a:r>
            <a:endParaRPr lang="pt-BR" sz="1200" u="sng" dirty="0"/>
          </a:p>
          <a:p>
            <a:r>
              <a:rPr lang="en-US" b="1" dirty="0" i="0" u="none"/>
              <a:t>Our view:</a:t>
            </a:r>
            <a:r>
              <a:rPr lang="en-US" dirty="0" b="0" i="0" u="none"/>
              <a:t> With the thermal/hydro LRCAP behind us, the BESS auctions scheduled for Dec'26 become the most relevant event ahead for the year. In our view, the debate revolves less around demand and more around design, with cost allocation still undefined, performance risk falling on the developer under a fixed-revenue and centrally dispatched model, and the locational signal potentially too weak to prevent storage from being contracted where the system doesn't need it. In transmission, this year's discounts raise expectations for strong competition in the auction already scheduled for Oct'26. Regarding hydro concession renewals, we believe it should only advance after the elections, while new privatizations in the sanitation and gas distribution sectors should remain a key focus for the market.</a:t>
            </a:r>
            <a:endParaRPr lang="pt-BR" dirty="0"/>
          </a:p>
          <a:p>
            <a:endParaRPr lang="pt-BR" dirty="0"/>
          </a:p>
          <a:p>
            <a:r>
              <a:rPr lang="en-US" sz="1200" b="1" u="sng" dirty="0"/>
              <a:t>Theme #5: Other Company-Specific Discussions</a:t>
            </a:r>
            <a:endParaRPr lang="pt-BR" sz="1200" u="sng" dirty="0"/>
          </a:p>
          <a:p>
            <a:r>
              <a:rPr lang="en-US" b="1" dirty="0" i="0" u="none"/>
              <a:t>Our view:</a:t>
            </a:r>
            <a:r>
              <a:rPr lang="en-US" dirty="0" b="0" i="0" u="none"/>
              <a:t> Beyond the power sector, discussions should center on company-specific topics. For Equatorial, in addition to the DisCos themes already mapped, we would highlight the conclusion of Copasa's privatization, where the company holds a reference stake, moving the debate to execution, capex and tariffs. For Orizon, key topics include not only short-term debates around new biomethane contracts, margin expectations post-2Q26 and updates on the Vital integration, but also structural themes such as the pace of biomethane market growth and carbon credit monetization, announcements on the pricing of the “CGOB” – green attribute for Biomethane in the regulated market. For Compass, focus should be on the outlook for the gas market, growth in the industrial off-grid and mobility segments, and LNG price expectations following the escalation of the Middle East conflict.</a:t>
            </a:r>
            <a:endParaRPr lang="pt-BR" dirty="0"/>
          </a:p>
        </p:txBody>
      </p:sp>
      <p:sp>
        <p:nvSpPr>
          <p:cNvPr id="7" name="Text Placeholder 6">
            <a:extLst>
              <a:ext uri="{FF2B5EF4-FFF2-40B4-BE49-F238E27FC236}">
                <a16:creationId xmlns:a16="http://schemas.microsoft.com/office/drawing/2014/main" id="{885DCE62-1430-465E-4173-F714FB025E32}"/>
              </a:ext>
            </a:extLst>
          </p:cNvPr>
          <p:cNvSpPr>
            <a:spLocks noGrp="1"/>
          </p:cNvSpPr>
          <p:nvPr>
            <p:ph type="body" sz="quarter" idx="16"/>
          </p:nvPr>
        </p:nvSpPr>
        <p:spPr/>
        <p:txBody>
          <a:bodyPr/>
          <a:lstStyle/>
          <a:p>
            <a:r>
              <a:rPr lang="pt-BR" dirty="0"/>
              <a:t>XP CEO </a:t>
            </a:r>
            <a:r>
              <a:rPr lang="pt-BR" dirty="0" err="1"/>
              <a:t>Conference</a:t>
            </a:r>
            <a:r>
              <a:rPr lang="pt-BR" dirty="0"/>
              <a:t> 2026</a:t>
            </a:r>
          </a:p>
        </p:txBody>
      </p:sp>
      <p:sp>
        <p:nvSpPr>
          <p:cNvPr id="8" name="Text Placeholder 7">
            <a:extLst>
              <a:ext uri="{FF2B5EF4-FFF2-40B4-BE49-F238E27FC236}">
                <a16:creationId xmlns:a16="http://schemas.microsoft.com/office/drawing/2014/main" id="{6E29CC40-59C0-352A-785B-2EE813B7D7DD}"/>
              </a:ext>
            </a:extLst>
          </p:cNvPr>
          <p:cNvSpPr>
            <a:spLocks noGrp="1"/>
          </p:cNvSpPr>
          <p:nvPr>
            <p:ph type="body" sz="quarter" idx="17"/>
          </p:nvPr>
        </p:nvSpPr>
        <p:spPr/>
        <p:txBody>
          <a:bodyPr/>
          <a:lstStyle/>
          <a:p>
            <a:r>
              <a:rPr lang="pt-BR" dirty="0" err="1"/>
              <a:t>Utilities</a:t>
            </a:r>
            <a:endParaRPr lang="pt-BR" dirty="0"/>
          </a:p>
        </p:txBody>
      </p:sp>
      <p:sp>
        <p:nvSpPr>
          <p:cNvPr id="9" name="Text Placeholder 8">
            <a:extLst>
              <a:ext uri="{FF2B5EF4-FFF2-40B4-BE49-F238E27FC236}">
                <a16:creationId xmlns:a16="http://schemas.microsoft.com/office/drawing/2014/main" id="{D903DB4C-8406-DBDA-D9B6-6CDD8BA09862}"/>
              </a:ext>
            </a:extLst>
          </p:cNvPr>
          <p:cNvSpPr>
            <a:spLocks noGrp="1"/>
          </p:cNvSpPr>
          <p:nvPr>
            <p:ph type="body" sz="quarter" idx="26"/>
          </p:nvPr>
        </p:nvSpPr>
        <p:spPr/>
        <p:txBody>
          <a:bodyPr/>
          <a:lstStyle/>
          <a:p>
            <a:r>
              <a:rPr lang="pt-BR" dirty="0" err="1"/>
              <a:t>Source</a:t>
            </a:r>
            <a:r>
              <a:rPr lang="pt-BR" dirty="0"/>
              <a:t>: XP Research.</a:t>
            </a:r>
          </a:p>
        </p:txBody>
      </p:sp>
      <p:sp>
        <p:nvSpPr>
          <p:cNvPr id="10" name="Date Placeholder 9">
            <a:extLst>
              <a:ext uri="{FF2B5EF4-FFF2-40B4-BE49-F238E27FC236}">
                <a16:creationId xmlns:a16="http://schemas.microsoft.com/office/drawing/2014/main" id="{2BE1FAD7-BC4A-03A1-D42C-5ED45CD40125}"/>
              </a:ext>
            </a:extLst>
          </p:cNvPr>
          <p:cNvSpPr>
            <a:spLocks noGrp="1"/>
          </p:cNvSpPr>
          <p:nvPr>
            <p:ph type="dt" sz="half" idx="2"/>
          </p:nvPr>
        </p:nvSpPr>
        <p:spPr/>
        <p:txBody>
          <a:bodyPr/>
          <a:lstStyle/>
          <a:p>
            <a:fld id="{0AD01827-9A36-4138-95B8-B0189D2D0C96}" type="datetime4">
              <a:rPr lang="en-US" smtClean="0"/>
              <a:pPr/>
              <a:t>August 11, 2026</a:t>
            </a:fld>
            <a:endParaRPr lang="en-US"/>
          </a:p>
        </p:txBody>
      </p:sp>
    </p:spTree>
    <p:extLst>
      <p:ext uri="{BB962C8B-B14F-4D97-AF65-F5344CB8AC3E}">
        <p14:creationId xmlns:p14="http://schemas.microsoft.com/office/powerpoint/2010/main" val="22869840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A85D475-4F41-4C99-9502-0E6FD8F73EFD}"/>
              </a:ext>
            </a:extLst>
          </p:cNvPr>
          <p:cNvSpPr>
            <a:spLocks noGrp="1"/>
          </p:cNvSpPr>
          <p:nvPr>
            <p:ph type="body" sz="quarter" idx="26"/>
          </p:nvPr>
        </p:nvSpPr>
        <p:spPr/>
        <p:txBody>
          <a:bodyPr/>
          <a:lstStyle/>
          <a:p>
            <a:endParaRPr lang="en-US"/>
          </a:p>
        </p:txBody>
      </p:sp>
      <p:sp>
        <p:nvSpPr>
          <p:cNvPr id="3" name="Date Placeholder 9">
            <a:extLst>
              <a:ext uri="{FF2B5EF4-FFF2-40B4-BE49-F238E27FC236}">
                <a16:creationId xmlns:a16="http://schemas.microsoft.com/office/drawing/2014/main" id="{5EFEB00F-997A-E04E-AA4F-79C850D6AB2A}"/>
              </a:ext>
            </a:extLst>
          </p:cNvPr>
          <p:cNvSpPr>
            <a:spLocks noGrp="1"/>
          </p:cNvSpPr>
          <p:nvPr>
            <p:ph type="dt" sz="half" idx="2"/>
          </p:nvPr>
        </p:nvSpPr>
        <p:spPr>
          <a:xfrm>
            <a:off x="3971925" y="438763"/>
            <a:ext cx="2517775" cy="184666"/>
          </a:xfrm>
        </p:spPr>
        <p:txBody>
          <a:bodyPr/>
          <a:lstStyle/>
          <a:p>
            <a:fld id="{0AD01827-9A36-4138-95B8-B0189D2D0C96}" type="datetime4">
              <a:rPr lang="en-US" smtClean="0"/>
              <a:pPr/>
              <a:t>August 11, 2026</a:t>
            </a:fld>
            <a:endParaRPr lang="en-US"/>
          </a:p>
        </p:txBody>
      </p:sp>
    </p:spTree>
    <p:extLst>
      <p:ext uri="{BB962C8B-B14F-4D97-AF65-F5344CB8AC3E}">
        <p14:creationId xmlns:p14="http://schemas.microsoft.com/office/powerpoint/2010/main" val="14350632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42008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MM_SLIDE_TYPE" val="6"/>
</p:tagLst>
</file>

<file path=ppt/tags/tag21.xml><?xml version="1.0" encoding="utf-8"?>
<p:tagLst xmlns:a="http://schemas.openxmlformats.org/drawingml/2006/main" xmlns:r="http://schemas.openxmlformats.org/officeDocument/2006/relationships" xmlns:p="http://schemas.openxmlformats.org/presentationml/2006/main">
  <p:tag name="MM_SLIDE_TYPE" val="6"/>
</p:tagLst>
</file>

<file path=ppt/tags/tag22.xml><?xml version="1.0" encoding="utf-8"?>
<p:tagLst xmlns:a="http://schemas.openxmlformats.org/drawingml/2006/main" xmlns:r="http://schemas.openxmlformats.org/officeDocument/2006/relationships" xmlns:p="http://schemas.openxmlformats.org/presentationml/2006/main">
  <p:tag name="MM_SLIDE_TYPE" val="6"/>
</p:tagLst>
</file>

<file path=ppt/tags/tag23.xml><?xml version="1.0" encoding="utf-8"?>
<p:tagLst xmlns:a="http://schemas.openxmlformats.org/drawingml/2006/main" xmlns:r="http://schemas.openxmlformats.org/officeDocument/2006/relationships" xmlns:p="http://schemas.openxmlformats.org/presentationml/2006/main">
  <p:tag name="MM_SLIDE_TYPE" val="6"/>
</p:tagLst>
</file>

<file path=ppt/tags/tag24.xml><?xml version="1.0" encoding="utf-8"?>
<p:tagLst xmlns:a="http://schemas.openxmlformats.org/drawingml/2006/main" xmlns:r="http://schemas.openxmlformats.org/officeDocument/2006/relationships" xmlns:p="http://schemas.openxmlformats.org/presentationml/2006/main">
  <p:tag name="MM_SLIDE_TYPE" val="6"/>
</p:tagLst>
</file>

<file path=ppt/tags/tag25.xml><?xml version="1.0" encoding="utf-8"?>
<p:tagLst xmlns:a="http://schemas.openxmlformats.org/drawingml/2006/main" xmlns:r="http://schemas.openxmlformats.org/officeDocument/2006/relationships" xmlns:p="http://schemas.openxmlformats.org/presentationml/2006/main">
  <p:tag name="MM_SLIDE_TYPE" val="6"/>
</p:tagLst>
</file>

<file path=ppt/tags/tag26.xml><?xml version="1.0" encoding="utf-8"?>
<p:tagLst xmlns:a="http://schemas.openxmlformats.org/drawingml/2006/main" xmlns:r="http://schemas.openxmlformats.org/officeDocument/2006/relationships" xmlns:p="http://schemas.openxmlformats.org/presentationml/2006/main">
  <p:tag name="MM_SLIDE_TYPE" val="6"/>
</p:tagLst>
</file>

<file path=ppt/tags/tag27.xml><?xml version="1.0" encoding="utf-8"?>
<p:tagLst xmlns:a="http://schemas.openxmlformats.org/drawingml/2006/main" xmlns:r="http://schemas.openxmlformats.org/officeDocument/2006/relationships" xmlns:p="http://schemas.openxmlformats.org/presentationml/2006/main">
  <p:tag name="MM_SLIDE_TYPE" val="6"/>
</p:tagLst>
</file>

<file path=ppt/tags/tag28.xml><?xml version="1.0" encoding="utf-8"?>
<p:tagLst xmlns:a="http://schemas.openxmlformats.org/drawingml/2006/main" xmlns:r="http://schemas.openxmlformats.org/officeDocument/2006/relationships" xmlns:p="http://schemas.openxmlformats.org/presentationml/2006/main">
  <p:tag name="MM_SLIDE_TYPE" val="6"/>
</p:tagLst>
</file>

<file path=ppt/tags/tag29.xml><?xml version="1.0" encoding="utf-8"?>
<p:tagLst xmlns:a="http://schemas.openxmlformats.org/drawingml/2006/main" xmlns:r="http://schemas.openxmlformats.org/officeDocument/2006/relationships" xmlns:p="http://schemas.openxmlformats.org/presentationml/2006/main">
  <p:tag name="MM_SLIDE_TYPE" val="6"/>
</p:tagLst>
</file>

<file path=ppt/tags/tag30.xml><?xml version="1.0" encoding="utf-8"?>
<p:tagLst xmlns:a="http://schemas.openxmlformats.org/drawingml/2006/main" xmlns:r="http://schemas.openxmlformats.org/officeDocument/2006/relationships" xmlns:p="http://schemas.openxmlformats.org/presentationml/2006/main">
  <p:tag name="MM_SLIDE_TYPE" val="6"/>
</p:tagLst>
</file>

<file path=ppt/tags/tag31.xml><?xml version="1.0" encoding="utf-8"?>
<p:tagLst xmlns:a="http://schemas.openxmlformats.org/drawingml/2006/main" xmlns:r="http://schemas.openxmlformats.org/officeDocument/2006/relationships" xmlns:p="http://schemas.openxmlformats.org/presentationml/2006/main">
  <p:tag name="MM_SLIDE_TYPE" val="6"/>
</p:tagLst>
</file>

<file path=ppt/tags/tag32.xml><?xml version="1.0" encoding="utf-8"?>
<p:tagLst xmlns:a="http://schemas.openxmlformats.org/drawingml/2006/main" xmlns:r="http://schemas.openxmlformats.org/officeDocument/2006/relationships" xmlns:p="http://schemas.openxmlformats.org/presentationml/2006/main">
  <p:tag name="MM_SLIDE_TYPE" val="6"/>
</p:tagLst>
</file>

<file path=ppt/tags/tag33.xml><?xml version="1.0" encoding="utf-8"?>
<p:tagLst xmlns:a="http://schemas.openxmlformats.org/drawingml/2006/main" xmlns:r="http://schemas.openxmlformats.org/officeDocument/2006/relationships" xmlns:p="http://schemas.openxmlformats.org/presentationml/2006/main">
  <p:tag name="MM_SLIDE_TYPE" val="6"/>
</p:tagLst>
</file>

<file path=ppt/tags/tag34.xml><?xml version="1.0" encoding="utf-8"?>
<p:tagLst xmlns:a="http://schemas.openxmlformats.org/drawingml/2006/main" xmlns:r="http://schemas.openxmlformats.org/officeDocument/2006/relationships" xmlns:p="http://schemas.openxmlformats.org/presentationml/2006/main">
  <p:tag name="MM_SLIDE_TYPE" val="6"/>
</p:tagLst>
</file>

<file path=ppt/tags/tag35.xml><?xml version="1.0" encoding="utf-8"?>
<p:tagLst xmlns:a="http://schemas.openxmlformats.org/drawingml/2006/main" xmlns:r="http://schemas.openxmlformats.org/officeDocument/2006/relationships" xmlns:p="http://schemas.openxmlformats.org/presentationml/2006/main">
  <p:tag name="MM_SLIDE_TYPE" val="6"/>
</p:tagLst>
</file>

<file path=ppt/tags/tag36.xml><?xml version="1.0" encoding="utf-8"?>
<p:tagLst xmlns:a="http://schemas.openxmlformats.org/drawingml/2006/main" xmlns:r="http://schemas.openxmlformats.org/officeDocument/2006/relationships" xmlns:p="http://schemas.openxmlformats.org/presentationml/2006/main">
  <p:tag name="MM_SLIDE_TYPE" val="6"/>
</p:tagLst>
</file>

<file path=ppt/tags/tag37.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2.xml><?xml version="1.0" encoding="utf-8"?>
<a:theme xmlns:a="http://schemas.openxmlformats.org/drawingml/2006/main" name="1_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d5bef5af-bbc1-4d24-bb43-47a55a90f763}" enabled="1" method="Standard" siteId="{cf56e405-d2b0-4266-b210-aa04636b6161}" contentBits="2" removed="0"/>
</clbl:labelList>
</file>

<file path=docProps/app.xml><?xml version="1.0" encoding="utf-8"?>
<Properties xmlns="http://schemas.openxmlformats.org/officeDocument/2006/extended-properties" xmlns:vt="http://schemas.openxmlformats.org/officeDocument/2006/docPropsVTypes">
  <Template/>
  <TotalTime>3288</TotalTime>
  <Words>8945</Words>
  <Application>Microsoft Office PowerPoint</Application>
  <PresentationFormat>A4 Paper (210x297 mm)</PresentationFormat>
  <Paragraphs>560</Paragraphs>
  <Slides>26</Slides>
  <Notes>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26</vt:i4>
      </vt:variant>
    </vt:vector>
  </HeadingPairs>
  <TitlesOfParts>
    <vt:vector size="32" baseType="lpstr">
      <vt:lpstr>Arial</vt:lpstr>
      <vt:lpstr>Calibri</vt:lpstr>
      <vt:lpstr>Roboto</vt:lpstr>
      <vt:lpstr>Roboto Light</vt:lpstr>
      <vt:lpstr>Tema IB 2021</vt:lpstr>
      <vt:lpstr>1_Tema IB 2021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Amanda Augusti</dc:creator>
  <cp:lastModifiedBy>Caio Souza</cp:lastModifiedBy>
  <cp:revision>214</cp:revision>
  <dcterms:created xsi:type="dcterms:W3CDTF">2022-03-20T14:16:37Z</dcterms:created>
  <dcterms:modified xsi:type="dcterms:W3CDTF">2026-08-11T13:35:41Z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a9157b-bcf3-4eac-b03e-7cf007ba9fdf_Enabled">
    <vt:lpwstr>true</vt:lpwstr>
  </property>
  <property fmtid="{D5CDD505-2E9C-101B-9397-08002B2CF9AE}" pid="3" name="MSIP_Label_e6a9157b-bcf3-4eac-b03e-7cf007ba9fdf_SetDate">
    <vt:lpwstr>2024-08-07T13:35:27Z</vt:lpwstr>
  </property>
  <property fmtid="{D5CDD505-2E9C-101B-9397-08002B2CF9AE}" pid="4" name="MSIP_Label_e6a9157b-bcf3-4eac-b03e-7cf007ba9fdf_Method">
    <vt:lpwstr>Standard</vt:lpwstr>
  </property>
  <property fmtid="{D5CDD505-2E9C-101B-9397-08002B2CF9AE}" pid="5" name="MSIP_Label_e6a9157b-bcf3-4eac-b03e-7cf007ba9fdf_Name">
    <vt:lpwstr>Publica</vt:lpwstr>
  </property>
  <property fmtid="{D5CDD505-2E9C-101B-9397-08002B2CF9AE}" pid="6" name="MSIP_Label_e6a9157b-bcf3-4eac-b03e-7cf007ba9fdf_SiteId">
    <vt:lpwstr>cf56e405-d2b0-4266-b210-aa04636b6161</vt:lpwstr>
  </property>
  <property fmtid="{D5CDD505-2E9C-101B-9397-08002B2CF9AE}" pid="7" name="MSIP_Label_e6a9157b-bcf3-4eac-b03e-7cf007ba9fdf_ActionId">
    <vt:lpwstr>b571ecd3-3a44-4687-ba08-7c2c7e9aba13</vt:lpwstr>
  </property>
  <property fmtid="{D5CDD505-2E9C-101B-9397-08002B2CF9AE}" pid="8" name="MSIP_Label_e6a9157b-bcf3-4eac-b03e-7cf007ba9fdf_ContentBits">
    <vt:lpwstr>2</vt:lpwstr>
  </property>
  <property fmtid="{D5CDD505-2E9C-101B-9397-08002B2CF9AE}" pid="9" name="ClassificationContentMarkingFooterLocations">
    <vt:lpwstr>Tema IB 2021:5</vt:lpwstr>
  </property>
  <property fmtid="{D5CDD505-2E9C-101B-9397-08002B2CF9AE}" pid="10" name="ClassificationContentMarkingFooterText">
    <vt:lpwstr>[ CLASSIFICAÇÃO: PÚBLICA ]</vt:lpwstr>
  </property>
</Properties>
</file>