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6" r:id="rId7"/>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114"/>
    <a:srgbClr val="000000"/>
    <a:srgbClr val="222324"/>
    <a:srgbClr val="7E7E7E"/>
    <a:srgbClr val="00D2C5"/>
    <a:srgbClr val="141515"/>
    <a:srgbClr val="151616"/>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39" autoAdjust="0"/>
    <p:restoredTop sz="94660"/>
  </p:normalViewPr>
  <p:slideViewPr>
    <p:cSldViewPr snapToGrid="0">
      <p:cViewPr>
        <p:scale>
          <a:sx n="157" d="100"/>
          <a:sy n="157" d="100"/>
        </p:scale>
        <p:origin x="2360" y="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xpdocs\Research\Equities\Estrategia\Raio-XP%20da%20Bolsa\Ibovespa%20PE%20and%20ERP.xlsx" TargetMode="Externa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39940373637506E-2"/>
          <c:y val="4.554088405972239E-2"/>
          <c:w val="0.83365555021276538"/>
          <c:h val="0.87248552463277729"/>
        </c:manualLayout>
      </c:layout>
      <c:lineChart>
        <c:grouping val="standard"/>
        <c:varyColors val="0"/>
        <c:ser>
          <c:idx val="0"/>
          <c:order val="0"/>
          <c:tx>
            <c:strRef>
              <c:f>'Real rates'!$M$8</c:f>
              <c:strCache>
                <c:ptCount val="1"/>
                <c:pt idx="0">
                  <c:v>Ibovespa ERP</c:v>
                </c:pt>
              </c:strCache>
            </c:strRef>
          </c:tx>
          <c:spPr>
            <a:ln w="28575" cap="rnd">
              <a:solidFill>
                <a:schemeClr val="bg2"/>
              </a:solidFill>
              <a:round/>
            </a:ln>
            <a:effectLst/>
          </c:spPr>
          <c:marker>
            <c:symbol val="none"/>
          </c:marker>
          <c:cat>
            <c:numRef>
              <c:f>'Real rates'!$J$9:$J$69</c:f>
              <c:numCache>
                <c:formatCode>m/d/yyyy</c:formatCode>
                <c:ptCount val="61"/>
                <c:pt idx="0">
                  <c:v>44439</c:v>
                </c:pt>
                <c:pt idx="1">
                  <c:v>44469</c:v>
                </c:pt>
                <c:pt idx="2">
                  <c:v>44498</c:v>
                </c:pt>
                <c:pt idx="3">
                  <c:v>44530</c:v>
                </c:pt>
                <c:pt idx="4">
                  <c:v>44561</c:v>
                </c:pt>
                <c:pt idx="5">
                  <c:v>44592</c:v>
                </c:pt>
                <c:pt idx="6">
                  <c:v>44620</c:v>
                </c:pt>
                <c:pt idx="7">
                  <c:v>44651</c:v>
                </c:pt>
                <c:pt idx="8">
                  <c:v>44680</c:v>
                </c:pt>
                <c:pt idx="9">
                  <c:v>44712</c:v>
                </c:pt>
                <c:pt idx="10">
                  <c:v>44742</c:v>
                </c:pt>
                <c:pt idx="11">
                  <c:v>44771</c:v>
                </c:pt>
                <c:pt idx="12">
                  <c:v>44804</c:v>
                </c:pt>
                <c:pt idx="13">
                  <c:v>44834</c:v>
                </c:pt>
                <c:pt idx="14">
                  <c:v>44865</c:v>
                </c:pt>
                <c:pt idx="15">
                  <c:v>44895</c:v>
                </c:pt>
                <c:pt idx="16">
                  <c:v>44925</c:v>
                </c:pt>
                <c:pt idx="17">
                  <c:v>44957</c:v>
                </c:pt>
                <c:pt idx="18">
                  <c:v>44985</c:v>
                </c:pt>
                <c:pt idx="19">
                  <c:v>45016</c:v>
                </c:pt>
                <c:pt idx="20">
                  <c:v>45044</c:v>
                </c:pt>
                <c:pt idx="21">
                  <c:v>45077</c:v>
                </c:pt>
                <c:pt idx="22">
                  <c:v>45107</c:v>
                </c:pt>
                <c:pt idx="23">
                  <c:v>45138</c:v>
                </c:pt>
                <c:pt idx="24">
                  <c:v>45169</c:v>
                </c:pt>
                <c:pt idx="25">
                  <c:v>45198</c:v>
                </c:pt>
                <c:pt idx="26">
                  <c:v>45230</c:v>
                </c:pt>
                <c:pt idx="27">
                  <c:v>45260</c:v>
                </c:pt>
                <c:pt idx="28">
                  <c:v>45289</c:v>
                </c:pt>
                <c:pt idx="29">
                  <c:v>45322</c:v>
                </c:pt>
                <c:pt idx="30">
                  <c:v>45351</c:v>
                </c:pt>
                <c:pt idx="31">
                  <c:v>45380</c:v>
                </c:pt>
                <c:pt idx="32">
                  <c:v>45412</c:v>
                </c:pt>
                <c:pt idx="33">
                  <c:v>45443</c:v>
                </c:pt>
                <c:pt idx="34">
                  <c:v>45471</c:v>
                </c:pt>
                <c:pt idx="35">
                  <c:v>45504</c:v>
                </c:pt>
                <c:pt idx="36">
                  <c:v>45534</c:v>
                </c:pt>
                <c:pt idx="37">
                  <c:v>45565</c:v>
                </c:pt>
                <c:pt idx="38">
                  <c:v>45596</c:v>
                </c:pt>
                <c:pt idx="39">
                  <c:v>45625</c:v>
                </c:pt>
                <c:pt idx="40">
                  <c:v>45657</c:v>
                </c:pt>
                <c:pt idx="41">
                  <c:v>45688</c:v>
                </c:pt>
                <c:pt idx="42">
                  <c:v>45716</c:v>
                </c:pt>
                <c:pt idx="43">
                  <c:v>45747</c:v>
                </c:pt>
                <c:pt idx="44">
                  <c:v>45777</c:v>
                </c:pt>
                <c:pt idx="45">
                  <c:v>45807</c:v>
                </c:pt>
                <c:pt idx="46">
                  <c:v>45838</c:v>
                </c:pt>
                <c:pt idx="47">
                  <c:v>45869</c:v>
                </c:pt>
                <c:pt idx="48">
                  <c:v>45898</c:v>
                </c:pt>
                <c:pt idx="49">
                  <c:v>45930</c:v>
                </c:pt>
                <c:pt idx="50">
                  <c:v>45961</c:v>
                </c:pt>
                <c:pt idx="51">
                  <c:v>45989</c:v>
                </c:pt>
                <c:pt idx="52">
                  <c:v>46022</c:v>
                </c:pt>
                <c:pt idx="53">
                  <c:v>46052</c:v>
                </c:pt>
                <c:pt idx="54">
                  <c:v>46080</c:v>
                </c:pt>
                <c:pt idx="55">
                  <c:v>46112</c:v>
                </c:pt>
                <c:pt idx="56">
                  <c:v>46142</c:v>
                </c:pt>
                <c:pt idx="57">
                  <c:v>46171</c:v>
                </c:pt>
                <c:pt idx="58">
                  <c:v>46203</c:v>
                </c:pt>
                <c:pt idx="59">
                  <c:v>46233</c:v>
                </c:pt>
              </c:numCache>
            </c:numRef>
          </c:cat>
          <c:val>
            <c:numRef>
              <c:f>'Real rates'!$M$9:$M$69</c:f>
              <c:numCache>
                <c:formatCode>#,#00%</c:formatCode>
                <c:ptCount val="61"/>
                <c:pt idx="0">
                  <c:v>6.5541461024448591E-2</c:v>
                </c:pt>
                <c:pt idx="1">
                  <c:v>7.2633483712497116E-2</c:v>
                </c:pt>
                <c:pt idx="2">
                  <c:v>7.2198642155305026E-2</c:v>
                </c:pt>
                <c:pt idx="3">
                  <c:v>7.6819909536714415E-2</c:v>
                </c:pt>
                <c:pt idx="4">
                  <c:v>6.9611911957432132E-2</c:v>
                </c:pt>
                <c:pt idx="5">
                  <c:v>6.1636045265937391E-2</c:v>
                </c:pt>
                <c:pt idx="6">
                  <c:v>6.0670118449949226E-2</c:v>
                </c:pt>
                <c:pt idx="7">
                  <c:v>6.4775770643966724E-2</c:v>
                </c:pt>
                <c:pt idx="8">
                  <c:v>8.3205192784604171E-2</c:v>
                </c:pt>
                <c:pt idx="9">
                  <c:v>8.2910554158715899E-2</c:v>
                </c:pt>
                <c:pt idx="10">
                  <c:v>0.10235824999191279</c:v>
                </c:pt>
                <c:pt idx="11">
                  <c:v>9.0261064251714623E-2</c:v>
                </c:pt>
                <c:pt idx="12">
                  <c:v>8.7805862629355386E-2</c:v>
                </c:pt>
                <c:pt idx="13">
                  <c:v>8.6402328676956686E-2</c:v>
                </c:pt>
                <c:pt idx="14">
                  <c:v>7.7504800990205569E-2</c:v>
                </c:pt>
                <c:pt idx="15">
                  <c:v>7.8675348292251576E-2</c:v>
                </c:pt>
                <c:pt idx="16">
                  <c:v>7.1584796677404749E-2</c:v>
                </c:pt>
                <c:pt idx="17">
                  <c:v>6.3442442334390503E-2</c:v>
                </c:pt>
                <c:pt idx="18">
                  <c:v>7.8459819835180453E-2</c:v>
                </c:pt>
                <c:pt idx="19">
                  <c:v>8.4451738242799834E-2</c:v>
                </c:pt>
                <c:pt idx="20">
                  <c:v>8.1868049985879709E-2</c:v>
                </c:pt>
                <c:pt idx="21">
                  <c:v>8.0429109303883112E-2</c:v>
                </c:pt>
                <c:pt idx="22">
                  <c:v>6.9640901251122544E-2</c:v>
                </c:pt>
                <c:pt idx="23">
                  <c:v>6.4616371329980798E-2</c:v>
                </c:pt>
                <c:pt idx="24">
                  <c:v>7.0973601101157843E-2</c:v>
                </c:pt>
                <c:pt idx="25">
                  <c:v>6.8416127642409674E-2</c:v>
                </c:pt>
                <c:pt idx="26">
                  <c:v>7.5357688844557055E-2</c:v>
                </c:pt>
                <c:pt idx="27">
                  <c:v>6.5976479456089532E-2</c:v>
                </c:pt>
                <c:pt idx="28">
                  <c:v>6.547262514632457E-2</c:v>
                </c:pt>
                <c:pt idx="29">
                  <c:v>6.7717951645541341E-2</c:v>
                </c:pt>
                <c:pt idx="30">
                  <c:v>6.5481028493097018E-2</c:v>
                </c:pt>
                <c:pt idx="31">
                  <c:v>6.5985042923477205E-2</c:v>
                </c:pt>
                <c:pt idx="32">
                  <c:v>6.5032270684917542E-2</c:v>
                </c:pt>
                <c:pt idx="33">
                  <c:v>7.2698796921568096E-2</c:v>
                </c:pt>
                <c:pt idx="34">
                  <c:v>6.9614234209386477E-2</c:v>
                </c:pt>
                <c:pt idx="35">
                  <c:v>7.2299487104848389E-2</c:v>
                </c:pt>
                <c:pt idx="36">
                  <c:v>6.2535941207154999E-2</c:v>
                </c:pt>
                <c:pt idx="37">
                  <c:v>6.2139612532504607E-2</c:v>
                </c:pt>
                <c:pt idx="38">
                  <c:v>6.3164002392357005E-2</c:v>
                </c:pt>
                <c:pt idx="39">
                  <c:v>6.9422761006830438E-2</c:v>
                </c:pt>
                <c:pt idx="40">
                  <c:v>7.0481282940490081E-2</c:v>
                </c:pt>
                <c:pt idx="41">
                  <c:v>6.133499478111705E-2</c:v>
                </c:pt>
                <c:pt idx="42">
                  <c:v>6.591604982160483E-2</c:v>
                </c:pt>
                <c:pt idx="43">
                  <c:v>6.0681017940554624E-2</c:v>
                </c:pt>
                <c:pt idx="44">
                  <c:v>5.3570330926787604E-2</c:v>
                </c:pt>
                <c:pt idx="45">
                  <c:v>5.2366126993050613E-2</c:v>
                </c:pt>
                <c:pt idx="46">
                  <c:v>5.1664472083932225E-2</c:v>
                </c:pt>
                <c:pt idx="47">
                  <c:v>5.1456643903357371E-2</c:v>
                </c:pt>
                <c:pt idx="48">
                  <c:v>4.3877075707562135E-2</c:v>
                </c:pt>
                <c:pt idx="49">
                  <c:v>4.0174673460464272E-2</c:v>
                </c:pt>
                <c:pt idx="50">
                  <c:v>4.0622000478710577E-2</c:v>
                </c:pt>
                <c:pt idx="51">
                  <c:v>3.5472075898596245E-2</c:v>
                </c:pt>
                <c:pt idx="52">
                  <c:v>3.6504697681565459E-2</c:v>
                </c:pt>
                <c:pt idx="53">
                  <c:v>2.4079884991254324E-2</c:v>
                </c:pt>
                <c:pt idx="54">
                  <c:v>2.4077008085761853E-2</c:v>
                </c:pt>
                <c:pt idx="55">
                  <c:v>3.2841459447260898E-2</c:v>
                </c:pt>
                <c:pt idx="56">
                  <c:v>3.7312965816975394E-2</c:v>
                </c:pt>
                <c:pt idx="57">
                  <c:v>4.4726715652449456E-2</c:v>
                </c:pt>
                <c:pt idx="58">
                  <c:v>4.3174405343883143E-2</c:v>
                </c:pt>
                <c:pt idx="59">
                  <c:v>3.9064991200957855E-2</c:v>
                </c:pt>
              </c:numCache>
            </c:numRef>
          </c:val>
          <c:smooth val="0"/>
          <c:extLst>
            <c:ext xmlns:c16="http://schemas.microsoft.com/office/drawing/2014/chart" uri="{C3380CC4-5D6E-409C-BE32-E72D297353CC}">
              <c16:uniqueId val="{00000000-81D7-48C7-AB29-19249EA90DFF}"/>
            </c:ext>
          </c:extLst>
        </c:ser>
        <c:ser>
          <c:idx val="1"/>
          <c:order val="1"/>
          <c:tx>
            <c:strRef>
              <c:f>'Real rates'!$N$8</c:f>
              <c:strCache>
                <c:ptCount val="1"/>
                <c:pt idx="0">
                  <c:v>Méd.</c:v>
                </c:pt>
              </c:strCache>
            </c:strRef>
          </c:tx>
          <c:spPr>
            <a:ln w="22225" cap="rnd">
              <a:solidFill>
                <a:schemeClr val="accent3"/>
              </a:solidFill>
              <a:prstDash val="dash"/>
              <a:round/>
            </a:ln>
            <a:effectLst/>
          </c:spPr>
          <c:marker>
            <c:symbol val="none"/>
          </c:marker>
          <c:cat>
            <c:numRef>
              <c:f>'Real rates'!$J$9:$J$69</c:f>
              <c:numCache>
                <c:formatCode>m/d/yyyy</c:formatCode>
                <c:ptCount val="61"/>
                <c:pt idx="0">
                  <c:v>44439</c:v>
                </c:pt>
                <c:pt idx="1">
                  <c:v>44469</c:v>
                </c:pt>
                <c:pt idx="2">
                  <c:v>44498</c:v>
                </c:pt>
                <c:pt idx="3">
                  <c:v>44530</c:v>
                </c:pt>
                <c:pt idx="4">
                  <c:v>44561</c:v>
                </c:pt>
                <c:pt idx="5">
                  <c:v>44592</c:v>
                </c:pt>
                <c:pt idx="6">
                  <c:v>44620</c:v>
                </c:pt>
                <c:pt idx="7">
                  <c:v>44651</c:v>
                </c:pt>
                <c:pt idx="8">
                  <c:v>44680</c:v>
                </c:pt>
                <c:pt idx="9">
                  <c:v>44712</c:v>
                </c:pt>
                <c:pt idx="10">
                  <c:v>44742</c:v>
                </c:pt>
                <c:pt idx="11">
                  <c:v>44771</c:v>
                </c:pt>
                <c:pt idx="12">
                  <c:v>44804</c:v>
                </c:pt>
                <c:pt idx="13">
                  <c:v>44834</c:v>
                </c:pt>
                <c:pt idx="14">
                  <c:v>44865</c:v>
                </c:pt>
                <c:pt idx="15">
                  <c:v>44895</c:v>
                </c:pt>
                <c:pt idx="16">
                  <c:v>44925</c:v>
                </c:pt>
                <c:pt idx="17">
                  <c:v>44957</c:v>
                </c:pt>
                <c:pt idx="18">
                  <c:v>44985</c:v>
                </c:pt>
                <c:pt idx="19">
                  <c:v>45016</c:v>
                </c:pt>
                <c:pt idx="20">
                  <c:v>45044</c:v>
                </c:pt>
                <c:pt idx="21">
                  <c:v>45077</c:v>
                </c:pt>
                <c:pt idx="22">
                  <c:v>45107</c:v>
                </c:pt>
                <c:pt idx="23">
                  <c:v>45138</c:v>
                </c:pt>
                <c:pt idx="24">
                  <c:v>45169</c:v>
                </c:pt>
                <c:pt idx="25">
                  <c:v>45198</c:v>
                </c:pt>
                <c:pt idx="26">
                  <c:v>45230</c:v>
                </c:pt>
                <c:pt idx="27">
                  <c:v>45260</c:v>
                </c:pt>
                <c:pt idx="28">
                  <c:v>45289</c:v>
                </c:pt>
                <c:pt idx="29">
                  <c:v>45322</c:v>
                </c:pt>
                <c:pt idx="30">
                  <c:v>45351</c:v>
                </c:pt>
                <c:pt idx="31">
                  <c:v>45380</c:v>
                </c:pt>
                <c:pt idx="32">
                  <c:v>45412</c:v>
                </c:pt>
                <c:pt idx="33">
                  <c:v>45443</c:v>
                </c:pt>
                <c:pt idx="34">
                  <c:v>45471</c:v>
                </c:pt>
                <c:pt idx="35">
                  <c:v>45504</c:v>
                </c:pt>
                <c:pt idx="36">
                  <c:v>45534</c:v>
                </c:pt>
                <c:pt idx="37">
                  <c:v>45565</c:v>
                </c:pt>
                <c:pt idx="38">
                  <c:v>45596</c:v>
                </c:pt>
                <c:pt idx="39">
                  <c:v>45625</c:v>
                </c:pt>
                <c:pt idx="40">
                  <c:v>45657</c:v>
                </c:pt>
                <c:pt idx="41">
                  <c:v>45688</c:v>
                </c:pt>
                <c:pt idx="42">
                  <c:v>45716</c:v>
                </c:pt>
                <c:pt idx="43">
                  <c:v>45747</c:v>
                </c:pt>
                <c:pt idx="44">
                  <c:v>45777</c:v>
                </c:pt>
                <c:pt idx="45">
                  <c:v>45807</c:v>
                </c:pt>
                <c:pt idx="46">
                  <c:v>45838</c:v>
                </c:pt>
                <c:pt idx="47">
                  <c:v>45869</c:v>
                </c:pt>
                <c:pt idx="48">
                  <c:v>45898</c:v>
                </c:pt>
                <c:pt idx="49">
                  <c:v>45930</c:v>
                </c:pt>
                <c:pt idx="50">
                  <c:v>45961</c:v>
                </c:pt>
                <c:pt idx="51">
                  <c:v>45989</c:v>
                </c:pt>
                <c:pt idx="52">
                  <c:v>46022</c:v>
                </c:pt>
                <c:pt idx="53">
                  <c:v>46052</c:v>
                </c:pt>
                <c:pt idx="54">
                  <c:v>46080</c:v>
                </c:pt>
                <c:pt idx="55">
                  <c:v>46112</c:v>
                </c:pt>
                <c:pt idx="56">
                  <c:v>46142</c:v>
                </c:pt>
                <c:pt idx="57">
                  <c:v>46171</c:v>
                </c:pt>
                <c:pt idx="58">
                  <c:v>46203</c:v>
                </c:pt>
                <c:pt idx="59">
                  <c:v>46233</c:v>
                </c:pt>
              </c:numCache>
            </c:numRef>
          </c:cat>
          <c:val>
            <c:numRef>
              <c:f>'Real rates'!$N$9:$N$69</c:f>
              <c:numCache>
                <c:formatCode>#,#00%</c:formatCode>
                <c:ptCount val="61"/>
                <c:pt idx="0">
                  <c:v>6.365317496585278E-2</c:v>
                </c:pt>
                <c:pt idx="1">
                  <c:v>6.365317496585278E-2</c:v>
                </c:pt>
                <c:pt idx="2">
                  <c:v>6.365317496585278E-2</c:v>
                </c:pt>
                <c:pt idx="3">
                  <c:v>6.365317496585278E-2</c:v>
                </c:pt>
                <c:pt idx="4">
                  <c:v>6.365317496585278E-2</c:v>
                </c:pt>
                <c:pt idx="5">
                  <c:v>6.365317496585278E-2</c:v>
                </c:pt>
                <c:pt idx="6">
                  <c:v>6.365317496585278E-2</c:v>
                </c:pt>
                <c:pt idx="7">
                  <c:v>6.365317496585278E-2</c:v>
                </c:pt>
                <c:pt idx="8">
                  <c:v>6.365317496585278E-2</c:v>
                </c:pt>
                <c:pt idx="9">
                  <c:v>6.365317496585278E-2</c:v>
                </c:pt>
                <c:pt idx="10">
                  <c:v>6.365317496585278E-2</c:v>
                </c:pt>
                <c:pt idx="11">
                  <c:v>6.365317496585278E-2</c:v>
                </c:pt>
                <c:pt idx="12">
                  <c:v>6.365317496585278E-2</c:v>
                </c:pt>
                <c:pt idx="13">
                  <c:v>6.365317496585278E-2</c:v>
                </c:pt>
                <c:pt idx="14">
                  <c:v>6.365317496585278E-2</c:v>
                </c:pt>
                <c:pt idx="15">
                  <c:v>6.365317496585278E-2</c:v>
                </c:pt>
                <c:pt idx="16">
                  <c:v>6.365317496585278E-2</c:v>
                </c:pt>
                <c:pt idx="17">
                  <c:v>6.365317496585278E-2</c:v>
                </c:pt>
                <c:pt idx="18">
                  <c:v>6.365317496585278E-2</c:v>
                </c:pt>
                <c:pt idx="19">
                  <c:v>6.365317496585278E-2</c:v>
                </c:pt>
                <c:pt idx="20">
                  <c:v>6.365317496585278E-2</c:v>
                </c:pt>
                <c:pt idx="21">
                  <c:v>6.365317496585278E-2</c:v>
                </c:pt>
                <c:pt idx="22">
                  <c:v>6.365317496585278E-2</c:v>
                </c:pt>
                <c:pt idx="23">
                  <c:v>6.365317496585278E-2</c:v>
                </c:pt>
                <c:pt idx="24">
                  <c:v>6.365317496585278E-2</c:v>
                </c:pt>
                <c:pt idx="25">
                  <c:v>6.365317496585278E-2</c:v>
                </c:pt>
                <c:pt idx="26">
                  <c:v>6.365317496585278E-2</c:v>
                </c:pt>
                <c:pt idx="27">
                  <c:v>6.365317496585278E-2</c:v>
                </c:pt>
                <c:pt idx="28">
                  <c:v>6.365317496585278E-2</c:v>
                </c:pt>
                <c:pt idx="29">
                  <c:v>6.365317496585278E-2</c:v>
                </c:pt>
                <c:pt idx="30">
                  <c:v>6.365317496585278E-2</c:v>
                </c:pt>
                <c:pt idx="31">
                  <c:v>6.365317496585278E-2</c:v>
                </c:pt>
                <c:pt idx="32">
                  <c:v>6.365317496585278E-2</c:v>
                </c:pt>
                <c:pt idx="33">
                  <c:v>6.365317496585278E-2</c:v>
                </c:pt>
                <c:pt idx="34">
                  <c:v>6.365317496585278E-2</c:v>
                </c:pt>
                <c:pt idx="35">
                  <c:v>6.365317496585278E-2</c:v>
                </c:pt>
                <c:pt idx="36">
                  <c:v>6.365317496585278E-2</c:v>
                </c:pt>
                <c:pt idx="37">
                  <c:v>6.365317496585278E-2</c:v>
                </c:pt>
                <c:pt idx="38">
                  <c:v>6.365317496585278E-2</c:v>
                </c:pt>
                <c:pt idx="39">
                  <c:v>6.365317496585278E-2</c:v>
                </c:pt>
                <c:pt idx="40">
                  <c:v>6.365317496585278E-2</c:v>
                </c:pt>
                <c:pt idx="41">
                  <c:v>6.365317496585278E-2</c:v>
                </c:pt>
                <c:pt idx="42">
                  <c:v>6.365317496585278E-2</c:v>
                </c:pt>
                <c:pt idx="43">
                  <c:v>6.365317496585278E-2</c:v>
                </c:pt>
                <c:pt idx="44">
                  <c:v>6.365317496585278E-2</c:v>
                </c:pt>
                <c:pt idx="45">
                  <c:v>6.365317496585278E-2</c:v>
                </c:pt>
                <c:pt idx="46">
                  <c:v>6.365317496585278E-2</c:v>
                </c:pt>
                <c:pt idx="47">
                  <c:v>6.365317496585278E-2</c:v>
                </c:pt>
                <c:pt idx="48">
                  <c:v>6.365317496585278E-2</c:v>
                </c:pt>
                <c:pt idx="49">
                  <c:v>6.365317496585278E-2</c:v>
                </c:pt>
                <c:pt idx="50">
                  <c:v>6.365317496585278E-2</c:v>
                </c:pt>
                <c:pt idx="51">
                  <c:v>6.365317496585278E-2</c:v>
                </c:pt>
                <c:pt idx="52">
                  <c:v>6.365317496585278E-2</c:v>
                </c:pt>
                <c:pt idx="53">
                  <c:v>6.365317496585278E-2</c:v>
                </c:pt>
                <c:pt idx="54">
                  <c:v>6.365317496585278E-2</c:v>
                </c:pt>
                <c:pt idx="55">
                  <c:v>6.365317496585278E-2</c:v>
                </c:pt>
                <c:pt idx="56">
                  <c:v>6.365317496585278E-2</c:v>
                </c:pt>
                <c:pt idx="57">
                  <c:v>6.365317496585278E-2</c:v>
                </c:pt>
                <c:pt idx="58">
                  <c:v>6.365317496585278E-2</c:v>
                </c:pt>
                <c:pt idx="59">
                  <c:v>6.365317496585278E-2</c:v>
                </c:pt>
              </c:numCache>
            </c:numRef>
          </c:val>
          <c:smooth val="0"/>
          <c:extLst>
            <c:ext xmlns:c16="http://schemas.microsoft.com/office/drawing/2014/chart" uri="{C3380CC4-5D6E-409C-BE32-E72D297353CC}">
              <c16:uniqueId val="{00000001-81D7-48C7-AB29-19249EA90DFF}"/>
            </c:ext>
          </c:extLst>
        </c:ser>
        <c:dLbls>
          <c:showLegendKey val="0"/>
          <c:showVal val="0"/>
          <c:showCatName val="0"/>
          <c:showSerName val="0"/>
          <c:showPercent val="0"/>
          <c:showBubbleSize val="0"/>
        </c:dLbls>
        <c:smooth val="0"/>
        <c:axId val="1271295855"/>
        <c:axId val="1271289135"/>
      </c:lineChart>
      <c:dateAx>
        <c:axId val="1271295855"/>
        <c:scaling>
          <c:orientation val="minMax"/>
        </c:scaling>
        <c:delete val="0"/>
        <c:axPos val="b"/>
        <c:numFmt formatCode="\'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71289135"/>
        <c:crosses val="autoZero"/>
        <c:auto val="0"/>
        <c:lblOffset val="100"/>
        <c:baseTimeUnit val="days"/>
        <c:majorUnit val="1"/>
        <c:majorTimeUnit val="years"/>
      </c:dateAx>
      <c:valAx>
        <c:axId val="1271289135"/>
        <c:scaling>
          <c:orientation val="minMax"/>
          <c:min val="1.5000000000000003E-2"/>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712958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0.67405</cdr:x>
      <cdr:y>0.34778</cdr:y>
    </cdr:from>
    <cdr:to>
      <cdr:x>1</cdr:x>
      <cdr:y>0.56285</cdr:y>
    </cdr:to>
    <cdr:sp macro="" textlink="">
      <cdr:nvSpPr>
        <cdr:cNvPr id="2" name="TextBox 1">
          <a:extLst xmlns:a="http://schemas.openxmlformats.org/drawingml/2006/main">
            <a:ext uri="{FF2B5EF4-FFF2-40B4-BE49-F238E27FC236}">
              <a16:creationId xmlns:a16="http://schemas.microsoft.com/office/drawing/2014/main" id="{6FBE1DD9-6FA4-6C47-E4D4-D16B134C571C}"/>
            </a:ext>
          </a:extLst>
        </cdr:cNvPr>
        <cdr:cNvSpPr txBox="1"/>
      </cdr:nvSpPr>
      <cdr:spPr>
        <a:xfrm xmlns:a="http://schemas.openxmlformats.org/drawingml/2006/main">
          <a:off x="1455348" y="512003"/>
          <a:ext cx="703759" cy="31662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pt-BR" sz="700" b="1" kern="1200" dirty="0" err="1">
              <a:solidFill>
                <a:schemeClr val="tx1"/>
              </a:solidFill>
              <a:latin typeface="Roboto Light" panose="02000000000000000000" pitchFamily="2" charset="0"/>
              <a:ea typeface="Roboto Light" panose="02000000000000000000" pitchFamily="2" charset="0"/>
              <a:cs typeface="Roboto Light" panose="02000000000000000000" pitchFamily="2" charset="0"/>
            </a:rPr>
            <a:t>Média</a:t>
          </a:r>
          <a:r>
            <a:rPr lang="pt-BR" sz="7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 </a:t>
          </a:r>
          <a:r>
            <a:rPr lang="pt-BR" sz="700" b="1" kern="1200" dirty="0">
              <a:solidFill>
                <a:schemeClr val="tx1"/>
              </a:solidFill>
              <a:latin typeface="Roboto Light" panose="02000000000000000000" pitchFamily="2" charset="0"/>
              <a:ea typeface="Roboto Light"/>
              <a:cs typeface="Roboto Light"/>
            </a:rPr>
            <a:t>6,4%</a:t>
          </a:r>
          <a:r>
            <a:rPr lang="pt-BR" sz="7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a:t>
          </a:r>
        </a:p>
      </cdr:txBody>
    </cdr:sp>
  </cdr:relSizeAnchor>
  <cdr:relSizeAnchor xmlns:cdr="http://schemas.openxmlformats.org/drawingml/2006/chartDrawing">
    <cdr:from>
      <cdr:x>0.70864</cdr:x>
      <cdr:y>0.33764</cdr:y>
    </cdr:from>
    <cdr:to>
      <cdr:x>1</cdr:x>
      <cdr:y>0.5527</cdr:y>
    </cdr:to>
    <cdr:sp macro="" textlink="">
      <cdr:nvSpPr>
        <cdr:cNvPr id="3" name="TextBox 2">
          <a:extLst xmlns:a="http://schemas.openxmlformats.org/drawingml/2006/main">
            <a:ext uri="{FF2B5EF4-FFF2-40B4-BE49-F238E27FC236}">
              <a16:creationId xmlns:a16="http://schemas.microsoft.com/office/drawing/2014/main" id="{4A72576C-7F2E-DDD7-EF49-AF4A1F69D65D}"/>
            </a:ext>
          </a:extLst>
        </cdr:cNvPr>
        <cdr:cNvSpPr txBox="1"/>
      </cdr:nvSpPr>
      <cdr:spPr>
        <a:xfrm xmlns:a="http://schemas.openxmlformats.org/drawingml/2006/main">
          <a:off x="1530026" y="497063"/>
          <a:ext cx="629081" cy="31662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pt-BR" sz="7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C49D1B-E909-44D7-AE07-475F731D1327}" type="datetimeFigureOut">
              <a:rPr lang="en-US" smtClean="0"/>
              <a:t>6/16/25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34217-4D54-4655-9730-DDABE530927F}" type="slidenum">
              <a:rPr lang="en-US" smtClean="0"/>
              <a:t>‹#›</a:t>
            </a:fld>
            <a:endParaRPr lang="en-US"/>
          </a:p>
        </p:txBody>
      </p:sp>
    </p:spTree>
    <p:extLst>
      <p:ext uri="{BB962C8B-B14F-4D97-AF65-F5344CB8AC3E}">
        <p14:creationId xmlns:p14="http://schemas.microsoft.com/office/powerpoint/2010/main" val="181856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27" name="Date Placeholder 20">
            <a:extLst>
              <a:ext uri="{FF2B5EF4-FFF2-40B4-BE49-F238E27FC236}">
                <a16:creationId xmlns:a16="http://schemas.microsoft.com/office/drawing/2014/main" id="{3CFE2718-552D-4895-B7F5-1F81E5DEF09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16 de junho de 2025</a:t>
            </a:fld>
            <a:endParaRPr lang="pt-BR" dirty="0"/>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3" y="988484"/>
            <a:ext cx="6112355"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3" y="2150952"/>
            <a:ext cx="6113677"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4" y="4060055"/>
            <a:ext cx="6099546" cy="3349806"/>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422"/>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Texto 6">
            <a:extLst>
              <a:ext uri="{FF2B5EF4-FFF2-40B4-BE49-F238E27FC236}">
                <a16:creationId xmlns:a16="http://schemas.microsoft.com/office/drawing/2014/main" id="{B54F2371-4029-49C8-9052-6B6BC6F10604}"/>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6" name="Espaço Reservado para Texto 6">
            <a:extLst>
              <a:ext uri="{FF2B5EF4-FFF2-40B4-BE49-F238E27FC236}">
                <a16:creationId xmlns:a16="http://schemas.microsoft.com/office/drawing/2014/main" id="{429C2E0A-5D74-471B-9FCE-9C25B248818E}"/>
              </a:ext>
            </a:extLst>
          </p:cNvPr>
          <p:cNvSpPr>
            <a:spLocks noGrp="1"/>
          </p:cNvSpPr>
          <p:nvPr>
            <p:ph type="body" sz="quarter" idx="2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C8553583-CA95-4D8E-AFB1-B92DC71C9BE5}"/>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371ED426-3533-4F3A-BE72-C7EFA5829CB3}" type="datetime4">
              <a:rPr lang="pt-BR" smtClean="0"/>
              <a:pPr/>
              <a:t>16 de junho de 2025</a:t>
            </a:fld>
            <a:endParaRPr lang="pt-BR"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951973" y="2150952"/>
            <a:ext cx="0" cy="177276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6BA2B197-504D-4D14-9FFE-83CCFB68CF27}"/>
              </a:ext>
            </a:extLst>
          </p:cNvPr>
          <p:cNvSpPr>
            <a:spLocks noGrp="1"/>
          </p:cNvSpPr>
          <p:nvPr>
            <p:ph type="body" sz="quarter" idx="26" hasCustomPrompt="1"/>
          </p:nvPr>
        </p:nvSpPr>
        <p:spPr>
          <a:xfrm>
            <a:off x="822325"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7" name="Espaço Reservado para Texto 6">
            <a:extLst>
              <a:ext uri="{FF2B5EF4-FFF2-40B4-BE49-F238E27FC236}">
                <a16:creationId xmlns:a16="http://schemas.microsoft.com/office/drawing/2014/main" id="{86EF7019-8945-4B32-85D1-9979F8FCD2E4}"/>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277550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9ACC90CF-0157-4B63-8DBF-AAD268A4BA64}" type="datetime4">
              <a:rPr lang="pt-BR" smtClean="0"/>
              <a:pPr/>
              <a:t>16 de junho de 2025</a:t>
            </a:fld>
            <a:endParaRPr lang="pt-BR"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userDrawn="1">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userDrawn="1">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27740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DC264199-65F3-45B7-A679-6FDC932AC7D0}"/>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8" name="Espaço Reservado para Texto 6">
            <a:extLst>
              <a:ext uri="{FF2B5EF4-FFF2-40B4-BE49-F238E27FC236}">
                <a16:creationId xmlns:a16="http://schemas.microsoft.com/office/drawing/2014/main" id="{9DCB93D0-E61E-430D-9F36-5F0D26015B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55445898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Date Placeholder 20">
            <a:extLst>
              <a:ext uri="{FF2B5EF4-FFF2-40B4-BE49-F238E27FC236}">
                <a16:creationId xmlns:a16="http://schemas.microsoft.com/office/drawing/2014/main" id="{B077F716-3648-4986-B642-EBB8EACA0CA3}"/>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16 de junho de 2025</a:t>
            </a:fld>
            <a:endParaRPr lang="pt-BR" dirty="0"/>
          </a:p>
        </p:txBody>
      </p:sp>
      <p:sp>
        <p:nvSpPr>
          <p:cNvPr id="37" name="Espaço Reservado para Texto 6">
            <a:extLst>
              <a:ext uri="{FF2B5EF4-FFF2-40B4-BE49-F238E27FC236}">
                <a16:creationId xmlns:a16="http://schemas.microsoft.com/office/drawing/2014/main" id="{D486432B-6611-4D66-9BE0-78F2DF17D3B9}"/>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6" name="Espaço Reservado para Texto 6">
            <a:extLst>
              <a:ext uri="{FF2B5EF4-FFF2-40B4-BE49-F238E27FC236}">
                <a16:creationId xmlns:a16="http://schemas.microsoft.com/office/drawing/2014/main" id="{AF036FFC-BAB5-47BE-A9DB-8B1C65BD75B2}"/>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4D1590AF-1353-4F4C-B98C-05C375BBBA92}"/>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1595778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userDrawn="1">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userDrawn="1">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userDrawn="1">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userDrawn="1">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Date Placeholder 20">
            <a:extLst>
              <a:ext uri="{FF2B5EF4-FFF2-40B4-BE49-F238E27FC236}">
                <a16:creationId xmlns:a16="http://schemas.microsoft.com/office/drawing/2014/main" id="{293DBD93-4868-4A4F-968E-94E04CD6E42E}"/>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16 de junho de 2025</a:t>
            </a:fld>
            <a:endParaRPr lang="pt-BR" dirty="0"/>
          </a:p>
        </p:txBody>
      </p:sp>
      <p:sp>
        <p:nvSpPr>
          <p:cNvPr id="54" name="Espaço Reservado para Texto 6">
            <a:extLst>
              <a:ext uri="{FF2B5EF4-FFF2-40B4-BE49-F238E27FC236}">
                <a16:creationId xmlns:a16="http://schemas.microsoft.com/office/drawing/2014/main" id="{B7FF09E0-DBB2-4C05-980D-A1B9EC23C136}"/>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9" name="Espaço Reservado para Texto 6">
            <a:extLst>
              <a:ext uri="{FF2B5EF4-FFF2-40B4-BE49-F238E27FC236}">
                <a16:creationId xmlns:a16="http://schemas.microsoft.com/office/drawing/2014/main" id="{A830B891-E0B8-4D1D-BB9C-EE29C18F0F6B}"/>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60" name="Espaço Reservado para Texto 6">
            <a:extLst>
              <a:ext uri="{FF2B5EF4-FFF2-40B4-BE49-F238E27FC236}">
                <a16:creationId xmlns:a16="http://schemas.microsoft.com/office/drawing/2014/main" id="{972B702A-4B13-46BF-832E-0E0CA6D10D39}"/>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8362739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BE40CF6C-74CA-4119-8657-718B3FCF708A}"/>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16 de junho de 2025</a:t>
            </a:fld>
            <a:endParaRPr lang="pt-BR" dirty="0"/>
          </a:p>
        </p:txBody>
      </p:sp>
      <p:sp>
        <p:nvSpPr>
          <p:cNvPr id="35" name="Espaço Reservado para Texto 6">
            <a:extLst>
              <a:ext uri="{FF2B5EF4-FFF2-40B4-BE49-F238E27FC236}">
                <a16:creationId xmlns:a16="http://schemas.microsoft.com/office/drawing/2014/main" id="{1E6F56E5-318E-4118-8DDA-A5CA45A77597}"/>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1E73CCC6-0687-4130-B81B-BB5AE9569FAF}"/>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0A23ECE4-9B2D-4440-AF9B-8D400D9C8385}"/>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0622421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pt-BR"/>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1317ACB7-2FA3-4A8F-B41F-00E0C34F3D4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16 de junho de 2025</a:t>
            </a:fld>
            <a:endParaRPr lang="pt-BR" dirty="0"/>
          </a:p>
        </p:txBody>
      </p:sp>
      <p:sp>
        <p:nvSpPr>
          <p:cNvPr id="35" name="Espaço Reservado para Texto 6">
            <a:extLst>
              <a:ext uri="{FF2B5EF4-FFF2-40B4-BE49-F238E27FC236}">
                <a16:creationId xmlns:a16="http://schemas.microsoft.com/office/drawing/2014/main" id="{D9E4FCAE-0E04-40BA-9535-EEA6DC6588AA}"/>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C6BEEAFD-6517-4B3A-98C6-5CE200725C9A}"/>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CFD8B131-5708-4896-A463-986532CD0997}"/>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468801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a:solidFill>
                  <a:srgbClr val="242424"/>
                </a:solidFill>
                <a:latin typeface="+mj-lt"/>
                <a:ea typeface="XP Light Lighthouse" pitchFamily="50" charset="0"/>
              </a:rPr>
              <a:t>Índice</a:t>
            </a: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pt-BR"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pt-BR"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pt-BR"/>
          </a:p>
        </p:txBody>
      </p:sp>
    </p:spTree>
    <p:extLst>
      <p:ext uri="{BB962C8B-B14F-4D97-AF65-F5344CB8AC3E}">
        <p14:creationId xmlns:p14="http://schemas.microsoft.com/office/powerpoint/2010/main" val="122859542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Freeform: Shape 52">
            <a:extLst>
              <a:ext uri="{FF2B5EF4-FFF2-40B4-BE49-F238E27FC236}">
                <a16:creationId xmlns:a16="http://schemas.microsoft.com/office/drawing/2014/main" id="{C0D7674D-49E8-4FD1-8EE6-775A8BFD963D}"/>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1"/>
          </a:solidFill>
          <a:ln w="6350" cap="flat">
            <a:noFill/>
            <a:prstDash val="solid"/>
            <a:miter/>
          </a:ln>
        </p:spPr>
        <p:txBody>
          <a:bodyPr rtlCol="0" anchor="ctr"/>
          <a:lstStyle/>
          <a:p>
            <a:endParaRPr lang="pt-B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pt-BR"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pt-BR"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pt-BR"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pt-BR" sz="1800" b="0" i="0" dirty="0">
                <a:solidFill>
                  <a:schemeClr val="accent3"/>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76642793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836973"/>
            <a:ext cx="6105737" cy="7630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48355"/>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22AA90C-E900-4ED3-BFA9-BB805E20C8AA}"/>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20">
            <a:extLst>
              <a:ext uri="{FF2B5EF4-FFF2-40B4-BE49-F238E27FC236}">
                <a16:creationId xmlns:a16="http://schemas.microsoft.com/office/drawing/2014/main" id="{D3568A36-7D9D-4213-A2B6-805717509389}"/>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1BA6855-24E8-4B4A-9C31-FF8C10D7C01B}" type="datetime4">
              <a:rPr lang="pt-BR" smtClean="0"/>
              <a:pPr/>
              <a:t>16 de junho de 2025</a:t>
            </a:fld>
            <a:endParaRPr lang="pt-BR"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3" name="Espaço Reservado para Texto 6">
            <a:extLst>
              <a:ext uri="{FF2B5EF4-FFF2-40B4-BE49-F238E27FC236}">
                <a16:creationId xmlns:a16="http://schemas.microsoft.com/office/drawing/2014/main" id="{0B9E0035-3D29-4A50-87B9-CF1CCFAD2098}"/>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4" name="Date Placeholder 20">
            <a:extLst>
              <a:ext uri="{FF2B5EF4-FFF2-40B4-BE49-F238E27FC236}">
                <a16:creationId xmlns:a16="http://schemas.microsoft.com/office/drawing/2014/main" id="{1B783E2F-C70B-4B03-9D46-E871E069EA4E}"/>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C69E3CE-6C4A-4EA7-A688-53F3CD4F78F4}" type="datetime4">
              <a:rPr lang="pt-BR" smtClean="0"/>
              <a:pPr/>
              <a:t>16 de junho de 2025</a:t>
            </a:fld>
            <a:endParaRPr lang="pt-BR" dirty="0"/>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6" name="Espaço Reservado para Texto 6">
            <a:extLst>
              <a:ext uri="{FF2B5EF4-FFF2-40B4-BE49-F238E27FC236}">
                <a16:creationId xmlns:a16="http://schemas.microsoft.com/office/drawing/2014/main" id="{A42CB95F-345D-4DC7-8B91-57C326B11796}"/>
              </a:ext>
            </a:extLst>
          </p:cNvPr>
          <p:cNvSpPr>
            <a:spLocks noGrp="1"/>
          </p:cNvSpPr>
          <p:nvPr>
            <p:ph type="body" sz="quarter" idx="32"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9" name="Date Placeholder 20">
            <a:extLst>
              <a:ext uri="{FF2B5EF4-FFF2-40B4-BE49-F238E27FC236}">
                <a16:creationId xmlns:a16="http://schemas.microsoft.com/office/drawing/2014/main" id="{6BFE4986-E532-49BD-986A-23436161932A}"/>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FA75AFD-5FD1-4113-9E66-2CB673635291}" type="datetime4">
              <a:rPr lang="pt-BR" smtClean="0"/>
              <a:pPr/>
              <a:t>16 de junho de 2025</a:t>
            </a:fld>
            <a:endParaRPr lang="pt-BR" dirty="0"/>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51610" y="1821656"/>
            <a:ext cx="2950898" cy="37548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9446A3E0-D20A-4444-A6E6-9A289C2BDEB5}"/>
              </a:ext>
            </a:extLst>
          </p:cNvPr>
          <p:cNvSpPr>
            <a:spLocks noGrp="1"/>
          </p:cNvSpPr>
          <p:nvPr>
            <p:ph type="body" sz="quarter" idx="29"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20">
            <a:extLst>
              <a:ext uri="{FF2B5EF4-FFF2-40B4-BE49-F238E27FC236}">
                <a16:creationId xmlns:a16="http://schemas.microsoft.com/office/drawing/2014/main" id="{192EE3E3-9B37-40F8-A8BE-C0FA7BB86A5D}"/>
              </a:ext>
            </a:extLst>
          </p:cNvPr>
          <p:cNvSpPr>
            <a:spLocks noGrp="1"/>
          </p:cNvSpPr>
          <p:nvPr>
            <p:ph type="dt" sz="half" idx="2"/>
          </p:nvPr>
        </p:nvSpPr>
        <p:spPr>
          <a:xfrm>
            <a:off x="3975100" y="438763"/>
            <a:ext cx="251460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834ECF4-E3A7-4EE5-B75E-4A8E0D61D7AD}" type="datetime4">
              <a:rPr lang="pt-BR" smtClean="0"/>
              <a:pPr/>
              <a:t>16 de junho de 2025</a:t>
            </a:fld>
            <a:endParaRPr lang="pt-BR"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CB23BCCF-FEC6-458A-A4DC-98116231E5FD}"/>
              </a:ext>
            </a:extLst>
          </p:cNvPr>
          <p:cNvSpPr>
            <a:spLocks noGrp="1"/>
          </p:cNvSpPr>
          <p:nvPr>
            <p:ph type="body" sz="quarter" idx="31" hasCustomPrompt="1"/>
          </p:nvPr>
        </p:nvSpPr>
        <p:spPr>
          <a:xfrm>
            <a:off x="1000126" y="9548813"/>
            <a:ext cx="52736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2" name="Date Placeholder 20">
            <a:extLst>
              <a:ext uri="{FF2B5EF4-FFF2-40B4-BE49-F238E27FC236}">
                <a16:creationId xmlns:a16="http://schemas.microsoft.com/office/drawing/2014/main" id="{3F0710D4-8EE9-42DA-9DB8-7CAFDD337A6F}"/>
              </a:ext>
            </a:extLst>
          </p:cNvPr>
          <p:cNvSpPr>
            <a:spLocks noGrp="1"/>
          </p:cNvSpPr>
          <p:nvPr>
            <p:ph type="dt" sz="half" idx="2"/>
          </p:nvPr>
        </p:nvSpPr>
        <p:spPr>
          <a:xfrm>
            <a:off x="3968750" y="438763"/>
            <a:ext cx="252095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A529EE4-38FC-4E0A-A4DD-0BE4B8620C13}" type="datetime4">
              <a:rPr lang="pt-BR" smtClean="0"/>
              <a:pPr/>
              <a:t>16 de junho de 2025</a:t>
            </a:fld>
            <a:endParaRPr lang="pt-BR"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pt-BR"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1947"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31947"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31947"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36387CD8-F6C2-4025-8B4E-17000CA026F2}"/>
              </a:ext>
            </a:extLst>
          </p:cNvPr>
          <p:cNvSpPr>
            <a:spLocks noGrp="1"/>
          </p:cNvSpPr>
          <p:nvPr>
            <p:ph type="body" sz="quarter" idx="31" hasCustomPrompt="1"/>
          </p:nvPr>
        </p:nvSpPr>
        <p:spPr>
          <a:xfrm>
            <a:off x="822325" y="9548813"/>
            <a:ext cx="5451475"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3" name="Date Placeholder 20">
            <a:extLst>
              <a:ext uri="{FF2B5EF4-FFF2-40B4-BE49-F238E27FC236}">
                <a16:creationId xmlns:a16="http://schemas.microsoft.com/office/drawing/2014/main" id="{5521EB93-43B9-4EE7-8C2B-E35F08C08B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B38B582-F58B-4949-B935-0554DCABA3BB}" type="datetime4">
              <a:rPr lang="pt-BR" smtClean="0"/>
              <a:pPr/>
              <a:t>16 de junho de 2025</a:t>
            </a:fld>
            <a:endParaRPr lang="pt-BR" dirty="0"/>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pt-BR" smtClean="0"/>
              <a:pPr/>
              <a:t>16 de junho de 2025</a:t>
            </a:fld>
            <a:endParaRPr lang="pt-BR"/>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796249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lstStyle>
            <a:lvl1pPr lvl="0" indent="0" defTabSz="385767">
              <a:lnSpc>
                <a:spcPct val="90000"/>
              </a:lnSpc>
              <a:spcBef>
                <a:spcPts val="422"/>
              </a:spcBef>
              <a:buFont typeface="Arial" panose="020B0604020202020204" pitchFamily="34" charset="0"/>
              <a:buNone/>
              <a:defRPr sz="1900" b="1" spc="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pt-BR"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E07D0A2-1A20-49BB-8914-BD089A02E581}" type="datetime4">
              <a:rPr lang="pt-BR" smtClean="0"/>
              <a:pPr/>
              <a:t>16 de junho de 2025</a:t>
            </a:fld>
            <a:endParaRPr lang="pt-BR" dirty="0"/>
          </a:p>
        </p:txBody>
      </p:sp>
      <p:sp>
        <p:nvSpPr>
          <p:cNvPr id="6" name="TextBox 5">
            <a:extLst>
              <a:ext uri="{FF2B5EF4-FFF2-40B4-BE49-F238E27FC236}">
                <a16:creationId xmlns:a16="http://schemas.microsoft.com/office/drawing/2014/main" id="{672EAF91-E2AF-77BA-3219-F0BA27ACC983}"/>
              </a:ext>
            </a:extLst>
          </p:cNvPr>
          <p:cNvSpPr txBox="1"/>
          <p:nvPr userDrawn="1"/>
        </p:nvSpPr>
        <p:spPr>
          <a:xfrm>
            <a:off x="390153" y="1099025"/>
            <a:ext cx="6099546" cy="829714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foi elaborado considerando a classificação de risco dos produtos de modo a gerar resultados de alocação para cada perfil de investidor.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signatário(</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remuneração(es) é(são) indiretamente influenciada por receitas provenientes dos negócios e operações financeiras realizadas pela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Suitability</a:t>
            </a:r>
            <a:r>
              <a:rPr lang="pt-BR" sz="700" b="0" kern="1200" spc="-10" baseline="0" dirty="0">
                <a:solidFill>
                  <a:schemeClr val="tx2"/>
                </a:solidFill>
                <a:effectLst/>
                <a:latin typeface="XP" pitchFamily="2" charset="77"/>
                <a:ea typeface="XP" pitchFamily="2" charset="77"/>
                <a:cs typeface="Roboto Light" panose="02000000000000000000" pitchFamily="2"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custo da operação e a política de cobrança estão definidos nas tabelas de custos operacionais disponibilizadas no site da XP Investimentos: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www.xpi.com.br</a:t>
            </a:r>
            <a:r>
              <a:rPr lang="pt-BR" sz="700" b="0" kern="1200" spc="-10" baseline="0" dirty="0">
                <a:solidFill>
                  <a:schemeClr val="tx2"/>
                </a:solidFill>
                <a:effectLst/>
                <a:latin typeface="XP" pitchFamily="2" charset="77"/>
                <a:ea typeface="XP" pitchFamily="2" charset="77"/>
                <a:cs typeface="Roboto Light" panose="02000000000000000000" pitchFamily="2" charset="0"/>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XP Investimentos se exime de qualquer responsabilidade por quaisquer prejuízos, diretos ou indiretos, que venham a decorrer da utilização deste relatório ou seu conteúdo.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Avaliação Técnica e a Avaliação de Fundamentos seguem diferentes metodologias de análise. A Análise Técnica é executada seguindo conceitos como tendência, suporte, resistência,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candles</a:t>
            </a:r>
            <a:r>
              <a:rPr lang="pt-BR" sz="700" b="0" kern="1200" spc="-10" baseline="0" dirty="0">
                <a:solidFill>
                  <a:schemeClr val="tx2"/>
                </a:solidFill>
                <a:effectLst/>
                <a:latin typeface="XP" pitchFamily="2" charset="77"/>
                <a:ea typeface="XP" pitchFamily="2" charset="77"/>
                <a:cs typeface="Roboto Light" panose="02000000000000000000" pitchFamily="2"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stops</a:t>
            </a:r>
            <a:r>
              <a:rPr lang="pt-BR" sz="700" b="0" kern="1200" spc="-10" baseline="0" dirty="0">
                <a:solidFill>
                  <a:schemeClr val="tx2"/>
                </a:solidFill>
                <a:effectLst/>
                <a:latin typeface="XP" pitchFamily="2" charset="77"/>
                <a:ea typeface="XP" pitchFamily="2" charset="77"/>
                <a:cs typeface="Roboto Light" panose="02000000000000000000" pitchFamily="2" charset="0"/>
              </a:rPr>
              <a:t>” para limitar as possíveis perdas.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opções é preferencialmente indicado para investidores de perfil agressivo, de acordo com a política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suitability</a:t>
            </a:r>
            <a:r>
              <a:rPr lang="pt-BR" sz="700" b="0" kern="1200" spc="-10" baseline="0" dirty="0">
                <a:solidFill>
                  <a:schemeClr val="tx2"/>
                </a:solidFill>
                <a:effectLst/>
                <a:latin typeface="XP" pitchFamily="2" charset="77"/>
                <a:ea typeface="XP" pitchFamily="2" charset="77"/>
                <a:cs typeface="Roboto Light" panose="02000000000000000000" pitchFamily="2"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ESTA INSTITUIÇÃO É ADERENTE AO CÓDIGO ANBIMA DE DISTRIBUIÇÃO DE PRODUTOS DE INVESTIMENTO.</a:t>
            </a:r>
          </a:p>
        </p:txBody>
      </p:sp>
    </p:spTree>
    <p:extLst>
      <p:ext uri="{BB962C8B-B14F-4D97-AF65-F5344CB8AC3E}">
        <p14:creationId xmlns:p14="http://schemas.microsoft.com/office/powerpoint/2010/main" val="222149002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438" y="0"/>
            <a:ext cx="6858438"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p:nvPr/>
        </p:nvSpPr>
        <p:spPr>
          <a:xfrm>
            <a:off x="3073401" y="4632236"/>
            <a:ext cx="711200" cy="64152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pt-BR"/>
          </a:p>
        </p:txBody>
      </p:sp>
    </p:spTree>
    <p:extLst>
      <p:ext uri="{BB962C8B-B14F-4D97-AF65-F5344CB8AC3E}">
        <p14:creationId xmlns:p14="http://schemas.microsoft.com/office/powerpoint/2010/main" val="21208047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aixaDeTexto 9">
            <a:extLst>
              <a:ext uri="{FF2B5EF4-FFF2-40B4-BE49-F238E27FC236}">
                <a16:creationId xmlns:a16="http://schemas.microsoft.com/office/drawing/2014/main" id="{121B26EB-04F5-4040-8B99-4DC605D90FD8}"/>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pt-BR"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pt-BR"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3" name="Conector Reto 170">
            <a:extLst>
              <a:ext uri="{FF2B5EF4-FFF2-40B4-BE49-F238E27FC236}">
                <a16:creationId xmlns:a16="http://schemas.microsoft.com/office/drawing/2014/main" id="{E445F333-EB7A-43BD-A623-5BA87BD7F471}"/>
              </a:ext>
            </a:extLst>
          </p:cNvPr>
          <p:cNvCxnSpPr>
            <a:cxnSpLocks/>
          </p:cNvCxnSpPr>
          <p:nvPr userDrawn="1"/>
        </p:nvCxnSpPr>
        <p:spPr>
          <a:xfrm flipV="1">
            <a:off x="741267" y="9547232"/>
            <a:ext cx="0" cy="20203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15"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16"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17"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18"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19"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20"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21" name="Date Placeholder 20">
            <a:extLst>
              <a:ext uri="{FF2B5EF4-FFF2-40B4-BE49-F238E27FC236}">
                <a16:creationId xmlns:a16="http://schemas.microsoft.com/office/drawing/2014/main" id="{D02AA3C6-718F-40AC-B743-9453A37CCCB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F059C5C-FEA4-4F79-9512-148D8D019B43}" type="datetime4">
              <a:rPr lang="pt-BR" smtClean="0"/>
              <a:pPr/>
              <a:t>16 de junho de 2025</a:t>
            </a:fld>
            <a:endParaRPr lang="pt-BR" dirty="0"/>
          </a:p>
        </p:txBody>
      </p:sp>
      <p:sp>
        <p:nvSpPr>
          <p:cNvPr id="13" name="Freeform: Shape 12">
            <a:extLst>
              <a:ext uri="{FF2B5EF4-FFF2-40B4-BE49-F238E27FC236}">
                <a16:creationId xmlns:a16="http://schemas.microsoft.com/office/drawing/2014/main" id="{C152CD96-C8C5-4BC7-9D4B-F321374D8EF1}"/>
              </a:ext>
            </a:extLst>
          </p:cNvPr>
          <p:cNvSpPr/>
          <p:nvPr userDrawn="1"/>
        </p:nvSpPr>
        <p:spPr>
          <a:xfrm>
            <a:off x="3683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pt-BR"/>
          </a:p>
        </p:txBody>
      </p:sp>
      <p:sp>
        <p:nvSpPr>
          <p:cNvPr id="14" name="Espaço Reservado para Texto 6">
            <a:extLst>
              <a:ext uri="{FF2B5EF4-FFF2-40B4-BE49-F238E27FC236}">
                <a16:creationId xmlns:a16="http://schemas.microsoft.com/office/drawing/2014/main" id="{0552A19C-3391-421C-B347-93E860D45439}"/>
              </a:ext>
            </a:extLst>
          </p:cNvPr>
          <p:cNvSpPr txBox="1">
            <a:spLocks/>
          </p:cNvSpPr>
          <p:nvPr userDrawn="1"/>
        </p:nvSpPr>
        <p:spPr>
          <a:xfrm>
            <a:off x="390154" y="438763"/>
            <a:ext cx="2916238"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solidFill>
                  <a:schemeClr val="tx2"/>
                </a:solidFill>
              </a:rPr>
              <a:t>Equity Research / WEG</a:t>
            </a:r>
          </a:p>
        </p:txBody>
      </p:sp>
      <p:sp>
        <p:nvSpPr>
          <p:cNvPr id="5" name="TextBox 4">
            <a:extLst>
              <a:ext uri="{FF2B5EF4-FFF2-40B4-BE49-F238E27FC236}">
                <a16:creationId xmlns:a16="http://schemas.microsoft.com/office/drawing/2014/main" id="{8A105788-A4BB-6CE3-333E-CB597FB1F880}"/>
              </a:ext>
            </a:extLst>
          </p:cNvPr>
          <p:cNvSpPr txBox="1"/>
          <p:nvPr>
            <p:extLst>
              <p:ext uri="{1162E1C5-73C7-4A58-AE30-91384D911F3F}">
                <p184:classification xmlns:p184="http://schemas.microsoft.com/office/powerpoint/2018/4/main" val="ftr"/>
              </p:ext>
            </p:extLst>
          </p:nvPr>
        </p:nvSpPr>
        <p:spPr>
          <a:xfrm>
            <a:off x="5351463" y="9690100"/>
            <a:ext cx="1471612" cy="152400"/>
          </a:xfrm>
          <a:prstGeom prst="rect">
            <a:avLst/>
          </a:prstGeom>
        </p:spPr>
        <p:txBody>
          <a:bodyPr horzOverflow="overflow" lIns="0" tIns="0" rIns="0" bIns="0">
            <a:spAutoFit/>
          </a:bodyPr>
          <a:lstStyle/>
          <a:p>
            <a:pPr algn="l"/>
            <a:r>
              <a:rPr lang="pt-BR" sz="1000">
                <a:solidFill>
                  <a:srgbClr val="008000">
                    <a:alpha val="50000"/>
                  </a:srgbClr>
                </a:solidFill>
                <a:latin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676" r:id="rId1"/>
    <p:sldLayoutId id="2147483700" r:id="rId2"/>
    <p:sldLayoutId id="2147483701" r:id="rId3"/>
    <p:sldLayoutId id="2147483721" r:id="rId4"/>
    <p:sldLayoutId id="2147483722" r:id="rId5"/>
    <p:sldLayoutId id="2147483723" r:id="rId6"/>
    <p:sldLayoutId id="2147483724" r:id="rId7"/>
    <p:sldLayoutId id="2147483719" r:id="rId8"/>
    <p:sldLayoutId id="2147483720" r:id="rId9"/>
    <p:sldLayoutId id="2147483699" r:id="rId10"/>
    <p:sldLayoutId id="2147483697" r:id="rId11"/>
    <p:sldLayoutId id="2147483695" r:id="rId12"/>
    <p:sldLayoutId id="2147483696" r:id="rId13"/>
    <p:sldLayoutId id="2147483694" r:id="rId14"/>
    <p:sldLayoutId id="2147483698" r:id="rId15"/>
    <p:sldLayoutId id="2147483725" r:id="rId16"/>
    <p:sldLayoutId id="2147483703" r:id="rId17"/>
    <p:sldLayoutId id="2147483702" r:id="rId18"/>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Raio-XP</a:t>
            </a:r>
          </a:p>
        </p:txBody>
      </p:sp>
      <p:sp>
        <p:nvSpPr>
          <p:cNvPr id="3" name="Text Placeholder 2"/>
          <p:cNvSpPr>
            <a:spLocks noGrp="1"/>
          </p:cNvSpPr>
          <p:nvPr>
            <p:ph type="body" idx="19" sz="quarter"/>
          </p:nvPr>
        </p:nvSpPr>
        <p:spPr/>
        <p:txBody>
          <a:bodyPr/>
          <a:lstStyle/>
          <a:p>
            <a:r>
              <a:t>Estratégia</a:t>
            </a:r>
          </a:p>
        </p:txBody>
      </p:sp>
      <p:sp>
        <p:nvSpPr>
          <p:cNvPr id="4" name="Text Placeholder 3"/>
          <p:cNvSpPr>
            <a:spLocks noGrp="1"/>
          </p:cNvSpPr>
          <p:nvPr>
            <p:ph type="body" idx="20" sz="quarter"/>
          </p:nvPr>
        </p:nvSpPr>
        <p:spPr>
          <a:xfrm>
            <a:off x="390154" y="2150951"/>
            <a:ext cx="6099546" cy="1600200"/>
          </a:xfrm>
        </p:spPr>
        <p:txBody>
          <a:bodyPr/>
          <a:lstStyle/>
          <a:p>
            <a:r>
              <a:rPr lang="pt-BR" sz="880" dirty="0"/>
              <a:t>Em julho, as bolsas globais voltaram a cair (ACWI -</a:t>
            </a:r>
            <a:r>
              <a:rPr lang="pt-BR" sz="880" dirty="0">
                <a:highlight>
                  <a:srgbClr val="FFFF00"/>
                </a:highlight>
              </a:rPr>
              <a:t>XX</a:t>
            </a:r>
            <a:r>
              <a:rPr lang="pt-BR" sz="880" dirty="0"/>
              <a:t>%), com o trade de IA seguindo em perda de momentum. A Bolsa brasileira teve desempenho superior, +</a:t>
            </a:r>
            <a:r>
              <a:rPr lang="pt-BR" sz="880" dirty="0">
                <a:highlight>
                  <a:srgbClr val="FFFF00"/>
                </a:highlight>
              </a:rPr>
              <a:t>XX</a:t>
            </a:r>
            <a:r>
              <a:rPr lang="pt-BR" sz="880" dirty="0"/>
              <a:t>% (EWZ), com leituras melhores de inflação aumentando as chances de uma Selic mais baixa à frente, e o fluxo estrangeiro voltando a entrar, após 2 meses de saídas. Neste Raio-XP, discutimos dois temas: 1) Vale a pena investir em Bolsa no Brasil, com os juros reais longos perto ou acima de 8%? 2) Destrinchamos as tendências de desempenho, lucros e valuation dos principais subcomponentes do índice, e mostramos os Cíclicos Domésticos ficando para trás. Apesar do cenário macro/político desafiador, seguimos construtivos, dados os níveis atrativos de valuation e os technicals, com nosso indicador de sentimento ainda perto do território de “Extreme Bearish”. Mantemos nosso valor justo do IBOV para o fim de 2026 em 200 mil pontos e vemos uma boa assimetria à frente. Também atualizamos nossas carteiras XP.</a:t>
            </a:r>
            <a:endParaRPr lang="pt-BR" sz="880" noProof="0" dirty="0">
              <a:latin typeface="Roboto Light"/>
              <a:ea typeface="Roboto Light"/>
              <a:cs typeface="Roboto Light"/>
            </a:endParaRPr>
          </a:p>
        </p:txBody>
      </p:sp>
      <p:sp>
        <p:nvSpPr>
          <p:cNvPr id="5" name="Text Placeholder 4"/>
          <p:cNvSpPr>
            <a:spLocks noGrp="1"/>
          </p:cNvSpPr>
          <p:nvPr>
            <p:ph type="body" idx="23" sz="quarter"/>
          </p:nvPr>
        </p:nvSpPr>
        <p:spPr>
          <a:xfrm>
            <a:off x="390154" y="3840480"/>
            <a:ext cx="3730752" cy="5615342"/>
          </a:xfrm>
        </p:spPr>
        <p:txBody>
          <a:bodyPr/>
          <a:lstStyle/>
          <a:p>
            <a:pPr>
              <a:lnSpc>
                <a:spcPct val="122000"/>
              </a:lnSpc>
            </a:pPr>
            <a:r>
              <a:rPr lang="pt-BR" sz="800" b="1" noProof="0" dirty="0">
                <a:latin typeface="+mj-lt"/>
              </a:rPr>
              <a:t>O Brasil se recupera com a volta do fluxo estrangeiro.</a:t>
            </a:r>
            <a:r>
              <a:rPr lang="pt-BR" sz="800" noProof="0" dirty="0">
                <a:latin typeface="+mj-lt"/>
              </a:rPr>
              <a:t> Como já escrevemos, o Brasil perdeu momentum – e fluxo – desde abril, com o trade de IA retomando o centro do palco globalmente e a cadeia de fornecimento do capex de IA (memória, semicondutores, energia) colhendo os ganhos. Em julho, vimos várias </a:t>
            </a:r>
            <a:r>
              <a:rPr lang="pt-BR" sz="800" noProof="0" dirty="0" err="1">
                <a:latin typeface="+mj-lt"/>
              </a:rPr>
              <a:t/>
            </a:r>
            <a:r>
              <a:rPr lang="pt-BR" sz="800" dirty="0">
                <a:latin typeface="+mj-lt"/>
              </a:rPr>
              <a:t>dessas ações caindo forte, incluindo os ETFs alavancados na Coreia do Sul. Com isso, as bolsas globais recuaram modestamente em julho (-</a:t>
            </a:r>
            <a:r>
              <a:rPr lang="pt-BR" sz="800" dirty="0">
                <a:highlight>
                  <a:srgbClr val="FFFF00"/>
                </a:highlight>
                <a:latin typeface="+mj-lt"/>
              </a:rPr>
              <a:t>XX</a:t>
            </a:r>
            <a:r>
              <a:rPr lang="pt-BR" sz="800" dirty="0">
                <a:latin typeface="+mj-lt"/>
              </a:rPr>
              <a:t>%). A Bolsa brasileira, por outro lado, subiu </a:t>
            </a:r>
            <a:r>
              <a:rPr lang="pt-BR" sz="800" dirty="0">
                <a:highlight>
                  <a:srgbClr val="FFFF00"/>
                </a:highlight>
                <a:latin typeface="+mj-lt"/>
              </a:rPr>
              <a:t>XX</a:t>
            </a:r>
            <a:r>
              <a:rPr lang="pt-BR" sz="800" dirty="0">
                <a:latin typeface="+mj-lt"/>
              </a:rPr>
              <a:t>% em julho, e o fluxo estrangeiro voltou a ser positivo (+R$3,3 bi), revertendo dois meses de forte pressão vendedora. No cenário doméstico, as leituras de inflação ao consumidor melhores que o esperado também ajudaram a aumentar as chances de o Copom seguir cortando a Selic nas próximas duas reuniões. </a:t>
            </a:r>
            <a:endParaRPr lang="pt-BR" sz="800" dirty="0">
              <a:solidFill>
                <a:srgbClr val="FF0000"/>
              </a:solidFill>
              <a:latin typeface="+mj-lt"/>
            </a:endParaRPr>
          </a:p>
          <a:p>
            <a:pPr>
              <a:lnSpc>
                <a:spcPct val="122000"/>
              </a:lnSpc>
            </a:pPr>
            <a:r>
              <a:rPr lang="pt-BR" sz="800" b="1" dirty="0">
                <a:latin typeface="+mj-lt"/>
              </a:rPr>
              <a:t>Faz sentido ter Bolsa no Brasil, com o juro real acima de 8%? </a:t>
            </a:r>
            <a:r>
              <a:rPr lang="pt-BR" sz="800" dirty="0">
                <a:latin typeface="+mj-lt"/>
              </a:rPr>
              <a:t>Essa é uma pergunta recorrente que ouvimos dos investidores, especialmente com o juro real longo hoje em 3% nos EUA e perto de 8% no Brasil, uma máxima histórica. Embora isso seja claramente um desafio para o potencial de alta no médio prazo, argumentamos que boa parte desse cenário de “higher for longer” já está no preço da Bolsa brasileira, uma vez que o prêmio de risco (ERP) melhorou recentemente, com as ações caindo mais do que a alta dos juros. Também abrimos o ERP pelos principais setores e mostramos que os Cíclicos Domésticos aparecem como os mais atrativos frente ao juro real, enquanto Defensivos e Financeiro, os menos. </a:t>
            </a:r>
          </a:p>
          <a:p>
            <a:pPr>
              <a:lnSpc>
                <a:spcPct val="122000"/>
              </a:lnSpc>
            </a:pPr>
            <a:r>
              <a:rPr lang="pt-BR" sz="800" b="1" dirty="0">
                <a:latin typeface="+mj-lt"/>
                <a:ea typeface="Roboto Light"/>
                <a:cs typeface="Roboto Light"/>
              </a:rPr>
              <a:t>Mais volatilidade à frente, mas a assimetria de preço segue positiva</a:t>
            </a:r>
            <a:r>
              <a:rPr lang="pt-BR" sz="800" dirty="0">
                <a:latin typeface="+mj-lt"/>
                <a:ea typeface="Roboto Light"/>
                <a:cs typeface="Roboto Light"/>
              </a:rPr>
              <a:t>. Com o Brasil entrando no período do “trade eleitoral”, a volatilidade deve seguir acima do normal, e o mercado parece carecer de um catalisador para uma alta relevante no curto prazo, antes das eleições. Por outro lado, também vemos um risco de baixa limitado, já que o valuation se comprimiu e nosso índice proprietário de sentimento segue perto das mínimas, sugerindo technicals favoráveis. Mantemos nossa estimativa de valor justo do Ibovespa para o fim de 2026 em 200 mil pontos. Nos níveis atuais, acreditamos que a Bolsa brasileira já precifica um cenário mais próximo do nosso cenário pessimista, oferecendo uma boa assimetria.</a:t>
            </a:r>
          </a:p>
          <a:p>
            <a:pPr>
              <a:lnSpc>
                <a:spcPct val="122000"/>
              </a:lnSpc>
            </a:pPr>
            <a:r>
              <a:rPr lang="pt-BR" sz="800" b="1" noProof="0" dirty="0">
                <a:latin typeface="+mj-lt"/>
                <a:ea typeface="Calibri"/>
                <a:cs typeface="Arial"/>
              </a:rPr>
              <a:t>Atualizando </a:t>
            </a:r>
            <a:r>
              <a:rPr lang="pt-BR" sz="800" b="1" noProof="0" dirty="0">
                <a:effectLst/>
                <a:latin typeface="+mj-lt"/>
                <a:ea typeface="Calibri"/>
                <a:cs typeface="Arial"/>
              </a:rPr>
              <a:t>nossas Carteiras XP.</a:t>
            </a:r>
            <a:r>
              <a:rPr lang="pt-BR" sz="800" noProof="0" dirty="0">
                <a:effectLst/>
                <a:latin typeface="+mj-lt"/>
                <a:ea typeface="Calibri"/>
                <a:cs typeface="Arial"/>
              </a:rPr>
              <a:t> Atualizamos nossas carteiras bottom-up </a:t>
            </a:r>
            <a:r>
              <a:rPr lang="pt-BR" sz="800" b="1" noProof="0" dirty="0">
                <a:effectLst/>
                <a:latin typeface="+mj-lt"/>
                <a:ea typeface="Calibri"/>
                <a:cs typeface="Arial"/>
              </a:rPr>
              <a:t>1) Top Ideas</a:t>
            </a:r>
            <a:r>
              <a:rPr lang="pt-BR" sz="800" noProof="0" dirty="0">
                <a:effectLst/>
                <a:latin typeface="+mj-lt"/>
                <a:ea typeface="Calibri"/>
                <a:cs typeface="Arial"/>
              </a:rPr>
              <a:t>: Aumentando EMBJ3, GGBR4, PETR4, SBSP3, ROXO34; removendo B3SA3, RENT3; reduzindo IGTI11. </a:t>
            </a:r>
            <a:r>
              <a:rPr lang="pt-BR" sz="800" b="1" dirty="0">
                <a:latin typeface="+mj-lt"/>
                <a:ea typeface="Calibri"/>
                <a:cs typeface="Arial"/>
              </a:rPr>
              <a:t>2)</a:t>
            </a:r>
            <a:r>
              <a:rPr lang="pt-BR" sz="800" dirty="0">
                <a:latin typeface="+mj-lt"/>
                <a:ea typeface="Calibri"/>
                <a:cs typeface="Arial"/>
              </a:rPr>
              <a:t> </a:t>
            </a:r>
            <a:r>
              <a:rPr lang="pt-BR" sz="800" b="1" dirty="0">
                <a:latin typeface="+mj-lt"/>
                <a:ea typeface="Calibri"/>
                <a:cs typeface="Arial"/>
              </a:rPr>
              <a:t>Dividendos</a:t>
            </a:r>
            <a:r>
              <a:rPr lang="pt-BR" sz="800" dirty="0">
                <a:latin typeface="+mj-lt"/>
                <a:ea typeface="Calibri"/>
                <a:cs typeface="Arial"/>
              </a:rPr>
              <a:t>: Adicionando CSMG3; reduzindo CXSE3, CPLE3. </a:t>
            </a:r>
            <a:r>
              <a:rPr lang="pt-BR" sz="800" b="1" dirty="0">
                <a:latin typeface="+mj-lt"/>
                <a:ea typeface="Calibri"/>
                <a:cs typeface="Arial"/>
              </a:rPr>
              <a:t>3) Small Caps:</a:t>
            </a:r>
            <a:r>
              <a:rPr lang="pt-BR" sz="800" dirty="0">
                <a:latin typeface="+mj-lt"/>
                <a:ea typeface="Calibri"/>
                <a:cs typeface="Arial"/>
              </a:rPr>
              <a:t> Adicionando TUPY3, SLCE3; aumentando ALUP11; removendo POMO4; reduzindo VIVA3, TTEN3. </a:t>
            </a:r>
            <a:r>
              <a:rPr lang="pt-BR" sz="800" b="1" dirty="0">
                <a:latin typeface="+mj-lt"/>
                <a:ea typeface="Calibri"/>
                <a:cs typeface="Arial"/>
              </a:rPr>
              <a:t>4)  ESG: </a:t>
            </a:r>
            <a:r>
              <a:rPr lang="pt-BR" sz="800" dirty="0">
                <a:latin typeface="+mj-lt"/>
                <a:ea typeface="Calibri"/>
                <a:cs typeface="Arial"/>
              </a:rPr>
              <a:t>Adicionando RDOR3; reduzindo RENT3. </a:t>
            </a:r>
            <a:endParaRPr lang="pt-BR" sz="800" noProof="0" dirty="0">
              <a:effectLst/>
              <a:latin typeface="+mj-lt"/>
              <a:ea typeface="Calibri"/>
              <a:cs typeface="Arial"/>
            </a:endParaRPr>
          </a:p>
        </p:txBody>
      </p:sp>
      <p:sp>
        <p:nvSpPr>
          <p:cNvPr id="6" name="Text Placeholder 5"/>
          <p:cNvSpPr>
            <a:spLocks noGrp="1"/>
          </p:cNvSpPr>
          <p:nvPr>
            <p:ph type="body" idx="27" sz="quarter"/>
          </p:nvPr>
        </p:nvSpPr>
        <p:spPr/>
        <p:txBody>
          <a:bodyPr/>
          <a:lstStyle/>
          <a:p>
            <a:r>
              <a:t>Fernando Ferreira, CFA</a:t>
            </a:r>
          </a:p>
        </p:txBody>
      </p:sp>
      <p:sp>
        <p:nvSpPr>
          <p:cNvPr id="7" name="Text Placeholder 6"/>
          <p:cNvSpPr>
            <a:spLocks noGrp="1"/>
          </p:cNvSpPr>
          <p:nvPr>
            <p:ph type="body" idx="28" sz="quarter"/>
          </p:nvPr>
        </p:nvSpPr>
        <p:spPr/>
        <p:txBody>
          <a:bodyPr/>
          <a:lstStyle/>
          <a:p>
            <a:r>
              <a:t>Estrategista-Chefe e Head de Research</a:t>
            </a:r>
          </a:p>
        </p:txBody>
      </p:sp>
      <p:sp>
        <p:nvSpPr>
          <p:cNvPr id="8" name="Text Placeholder 7"/>
          <p:cNvSpPr>
            <a:spLocks noGrp="1"/>
          </p:cNvSpPr>
          <p:nvPr>
            <p:ph type="body" idx="29" sz="quarter"/>
          </p:nvPr>
        </p:nvSpPr>
        <p:spPr/>
        <p:txBody>
          <a:bodyPr/>
          <a:lstStyle/>
          <a:p>
            <a:r>
              <a:t>fernando.f.ferreira@xpi.com.br</a:t>
            </a:r>
          </a:p>
        </p:txBody>
      </p:sp>
      <p:sp>
        <p:nvSpPr>
          <p:cNvPr id="9" name="Text Placeholder 8"/>
          <p:cNvSpPr>
            <a:spLocks noGrp="1"/>
          </p:cNvSpPr>
          <p:nvPr>
            <p:ph type="body" idx="30" sz="quarter"/>
          </p:nvPr>
        </p:nvSpPr>
        <p:spPr/>
        <p:txBody>
          <a:bodyPr/>
          <a:lstStyle/>
          <a:p>
            <a:r>
              <a:t>Raphael Figueredo</a:t>
            </a:r>
          </a:p>
        </p:txBody>
      </p:sp>
      <p:sp>
        <p:nvSpPr>
          <p:cNvPr id="10" name="Text Placeholder 9"/>
          <p:cNvSpPr>
            <a:spLocks noGrp="1"/>
          </p:cNvSpPr>
          <p:nvPr>
            <p:ph type="body" idx="31" sz="quarter"/>
          </p:nvPr>
        </p:nvSpPr>
        <p:spPr/>
        <p:txBody>
          <a:bodyPr/>
          <a:lstStyle/>
          <a:p>
            <a:r>
              <a:t>Estrategista de Ações</a:t>
            </a:r>
          </a:p>
        </p:txBody>
      </p:sp>
      <p:sp>
        <p:nvSpPr>
          <p:cNvPr id="11" name="Text Placeholder 10"/>
          <p:cNvSpPr>
            <a:spLocks noGrp="1"/>
          </p:cNvSpPr>
          <p:nvPr>
            <p:ph type="body" idx="32" sz="quarter"/>
          </p:nvPr>
        </p:nvSpPr>
        <p:spPr/>
        <p:txBody>
          <a:bodyPr/>
          <a:lstStyle/>
          <a:p>
            <a:r>
              <a:t>raphael.sfigueredo@xpi.com.br</a:t>
            </a:r>
          </a:p>
        </p:txBody>
      </p:sp>
      <p:sp>
        <p:nvSpPr>
          <p:cNvPr id="12" name="Text Placeholder 11"/>
          <p:cNvSpPr>
            <a:spLocks noGrp="1"/>
          </p:cNvSpPr>
          <p:nvPr>
            <p:ph type="body" idx="33" sz="quarter"/>
          </p:nvPr>
        </p:nvSpPr>
        <p:spPr/>
        <p:txBody>
          <a:bodyPr/>
          <a:lstStyle/>
          <a:p>
            <a:r>
              <a:t>Caio Souza</a:t>
            </a:r>
          </a:p>
        </p:txBody>
      </p:sp>
      <p:sp>
        <p:nvSpPr>
          <p:cNvPr id="13" name="Text Placeholder 12"/>
          <p:cNvSpPr>
            <a:spLocks noGrp="1"/>
          </p:cNvSpPr>
          <p:nvPr>
            <p:ph type="body" idx="34" sz="quarter"/>
          </p:nvPr>
        </p:nvSpPr>
        <p:spPr/>
        <p:txBody>
          <a:bodyPr/>
          <a:lstStyle/>
          <a:p>
            <a:r>
              <a:t>Estrategista de Ações</a:t>
            </a:r>
          </a:p>
        </p:txBody>
      </p:sp>
      <p:sp>
        <p:nvSpPr>
          <p:cNvPr id="14" name="Text Placeholder 13"/>
          <p:cNvSpPr>
            <a:spLocks noGrp="1"/>
          </p:cNvSpPr>
          <p:nvPr>
            <p:ph type="body" idx="35" sz="quarter"/>
          </p:nvPr>
        </p:nvSpPr>
        <p:spPr/>
        <p:txBody>
          <a:bodyPr/>
          <a:lstStyle/>
          <a:p>
            <a:r>
              <a:t>caio.lsouza@xpi.com.br</a:t>
            </a:r>
          </a:p>
        </p:txBody>
      </p:sp>
      <p:sp>
        <p:nvSpPr>
          <p:cNvPr id="16" name="Content Placeholder 15"/>
          <p:cNvSpPr>
            <a:spLocks noGrp="1"/>
          </p:cNvSpPr>
          <p:nvPr>
            <p:ph idx="24" sz="quarter"/>
          </p:nvPr>
        </p:nvSpPr>
        <p:spPr>
          <a:xfrm>
            <a:off x="4330594" y="5760000"/>
            <a:ext cx="2159107" cy="400110"/>
          </a:xfrm>
        </p:spPr>
        <p:txBody>
          <a:bodyPr/>
          <a:lstStyle/>
          <a:p>
            <a:r>
              <a:t>Gráfico 1: Prêmio de Risco (ERP) do Ibovespa</a:t>
            </a:r>
          </a:p>
        </p:txBody>
      </p:sp>
      <p:sp>
        <p:nvSpPr>
          <p:cNvPr id="17" name="Text Placeholder 16"/>
          <p:cNvSpPr>
            <a:spLocks noGrp="1"/>
          </p:cNvSpPr>
          <p:nvPr>
            <p:ph type="body" idx="26" sz="quarter"/>
          </p:nvPr>
        </p:nvSpPr>
        <p:spPr/>
        <p:txBody>
          <a:bodyPr/>
          <a:lstStyle/>
          <a:p>
            <a:r>
              <a:t>Fonte: B3, Bloomberg, XP Research.</a:t>
            </a:r>
          </a:p>
        </p:txBody>
      </p:sp>
      <p:sp>
        <p:nvSpPr>
          <p:cNvPr id="18" name="Text Placeholder 17"/>
          <p:cNvSpPr>
            <a:spLocks noGrp="1"/>
          </p:cNvSpPr>
          <p:nvPr>
            <p:ph type="body" idx="17" sz="quarter"/>
          </p:nvPr>
        </p:nvSpPr>
        <p:spPr/>
        <p:txBody>
          <a:bodyPr/>
          <a:lstStyle/>
          <a:p>
            <a:r>
              <a:t>Os juros reais seguem subindo no Brasil</a:t>
            </a:r>
          </a:p>
        </p:txBody>
      </p:sp>
      <p:sp>
        <p:nvSpPr>
          <p:cNvPr id="19" name="Text Placeholder 18"/>
          <p:cNvSpPr>
            <a:spLocks noGrp="1"/>
          </p:cNvSpPr>
          <p:nvPr>
            <p:ph type="body" idx="38" sz="quarter"/>
          </p:nvPr>
        </p:nvSpPr>
        <p:spPr/>
        <p:txBody>
          <a:bodyPr/>
          <a:lstStyle/>
          <a:p>
            <a:r>
              <a:t>Faz sentido ter Bolsa nesse cenário? Achamos que sim, e explicamos por quê</a:t>
            </a:r>
          </a:p>
        </p:txBody>
      </p:sp>
      <p:sp>
        <p:nvSpPr>
          <p:cNvPr id="900" name="Autor 4 linha 1">
            <a:extLst>
              <a:ext uri="{FF2B5EF4-FFF2-40B4-BE49-F238E27FC236}">
                <a16:creationId xmlns:a16="http://schemas.microsoft.com/office/drawing/2014/main" id="{1D859181-1847-4696-BA25-3FB32D816724}"/>
              </a:ext>
            </a:extLst>
          </p:cNvPr>
          <p:cNvSpPr>
            <a:spLocks noGrp="1"/>
          </p:cNvSpPr>
          <p:nvPr/>
        </p:nvSpPr>
        <p:spPr>
          <a:xfrm>
            <a:off x="4330594" y="5084179"/>
            <a:ext cx="2159107"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Antonio Mello</a:t>
            </a:r>
          </a:p>
        </p:txBody>
      </p:sp>
      <p:sp>
        <p:nvSpPr>
          <p:cNvPr id="901" name="Autor 4 linha 2">
            <a:extLst>
              <a:ext uri="{FF2B5EF4-FFF2-40B4-BE49-F238E27FC236}">
                <a16:creationId xmlns:a16="http://schemas.microsoft.com/office/drawing/2014/main" id="{FC9ED1A2-35DE-4D1D-9CE5-8E2AD672F2D0}"/>
              </a:ext>
            </a:extLst>
          </p:cNvPr>
          <p:cNvSpPr>
            <a:spLocks noGrp="1"/>
          </p:cNvSpPr>
          <p:nvPr/>
        </p:nvSpPr>
        <p:spPr>
          <a:xfrm>
            <a:off x="4330594" y="5245976"/>
            <a:ext cx="2159107"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Estrategista Quantitativo de Ações</a:t>
            </a:r>
          </a:p>
        </p:txBody>
      </p:sp>
      <p:sp>
        <p:nvSpPr>
          <p:cNvPr id="902" name="Autor 4 linha 3">
            <a:extLst>
              <a:ext uri="{FF2B5EF4-FFF2-40B4-BE49-F238E27FC236}">
                <a16:creationId xmlns:a16="http://schemas.microsoft.com/office/drawing/2014/main" id="{69327E6A-F08C-45E9-819D-C34C53A10A06}"/>
              </a:ext>
            </a:extLst>
          </p:cNvPr>
          <p:cNvSpPr>
            <a:spLocks noGrp="1"/>
          </p:cNvSpPr>
          <p:nvPr/>
        </p:nvSpPr>
        <p:spPr>
          <a:xfrm>
            <a:off x="4330594" y="5372848"/>
            <a:ext cx="2159107"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antonio.mello@xpi.com.br</a:t>
            </a:r>
          </a:p>
        </p:txBody>
      </p:sp>
      <p:sp>
        <p:nvSpPr>
          <p:cNvPr id="910" name="Nota ERP">
            <a:extLst>
              <a:ext uri="{FF2B5EF4-FFF2-40B4-BE49-F238E27FC236}">
                <a16:creationId xmlns:a16="http://schemas.microsoft.com/office/drawing/2014/main" id="{69327E6A-F08C-45E9-819D-C34C53A10A06}"/>
              </a:ext>
            </a:extLst>
          </p:cNvPr>
          <p:cNvSpPr>
            <a:spLocks noGrp="1"/>
          </p:cNvSpPr>
          <p:nvPr/>
        </p:nvSpPr>
        <p:spPr>
          <a:xfrm>
            <a:off x="4330594" y="6190110"/>
            <a:ext cx="2159107" cy="190500"/>
          </a:xfrm>
          <a:prstGeom prst="rect">
            <a:avLst/>
          </a:prstGeom>
          <a:noFill/>
        </p:spPr>
        <p:txBody>
          <a:bodyPr wrap="square" lIns="0" tIns="0" rIns="0" bIns="0" rtlCol="0">
            <a:spAutoFit/>
          </a:bodyPr>
          <a:lstStyle>
            <a:lvl1pPr marL="0" marR="0" indent="0" algn="l" defTabSz="914400" rtl="0" eaLnBrk="1" fontAlgn="auto" latinLnBrk="0" hangingPunct="1">
              <a:lnSpc>
                <a:spcPct val="90000"/>
              </a:lnSpc>
              <a:spcBef>
                <a:spcPts val="422"/>
              </a:spcBef>
              <a:spcAft>
                <a:spcPts val="0"/>
              </a:spcAft>
              <a:buClrTx/>
              <a:buSzTx/>
              <a:buFont typeface="Arial" panose="020B0604020202020204" pitchFamily="34" charset="0"/>
              <a:buNone/>
              <a:tabLst/>
              <a:defRPr lang="pt-BR" sz="750" smtClean="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vl2pPr>
              <a:defRPr lang="pt-BR" sz="1800" smtClean="0">
                <a:solidFill>
                  <a:schemeClr val="tx1"/>
                </a:solidFill>
              </a:defRPr>
            </a:lvl2pPr>
            <a:lvl3pPr>
              <a:defRPr lang="pt-BR" sz="1800" smtClean="0">
                <a:solidFill>
                  <a:schemeClr val="tx1"/>
                </a:solidFill>
              </a:defRPr>
            </a:lvl3pPr>
            <a:lvl4pPr>
              <a:defRPr lang="pt-BR" sz="1800" smtClean="0">
                <a:solidFill>
                  <a:schemeClr val="tx1"/>
                </a:solidFill>
              </a:defRPr>
            </a:lvl4pPr>
            <a:lvl5pPr>
              <a:defRPr lang="pt-BR" sz="1800">
                <a:solidFill>
                  <a:schemeClr val="tx1"/>
                </a:solidFill>
              </a:defRPr>
            </a:lvl5pPr>
          </a:lstStyle>
          <a:p>
            <a:pPr lvl="0" defTabSz="914400"/>
            <a:r>
              <a:rPr lang="pt-BR" dirty="0"/>
              <a:t>ERP = Juro real % – Earnings Yield % (L/P)</a:t>
            </a:r>
          </a:p>
        </p:txBody>
      </p:sp>
      <p:sp>
        <p:nvSpPr>
          <p:cNvPr id="920" name="Date Placeholder 20">
            <a:extLst>
              <a:ext uri="{FF2B5EF4-FFF2-40B4-BE49-F238E27FC236}">
                <a16:creationId xmlns:a16="http://schemas.microsoft.com/office/drawing/2014/main" id="{BE40CF6C-74CA-4119-8657-718B3FCF708A}"/>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31 de julho de 2026</a:t>
            </a:fld>
            <a:endParaRPr lang="pt-BR" dirty="0"/>
          </a:p>
        </p:txBody>
      </p:sp>
      <p:graphicFrame>
        <p:nvGraphicFramePr>
          <p:cNvPr id="930" name="Gráfico 1">
            <a:extLst>
              <a:ext uri="{FF2B5EF4-FFF2-40B4-BE49-F238E27FC236}">
                <a16:creationId xmlns:a16="http://schemas.microsoft.com/office/drawing/2014/main" id="{4D223C46-1D9F-44D9-98BA-0A7E1CB2B4E2}"/>
              </a:ext>
            </a:extLst>
          </p:cNvPr>
          <p:cNvGraphicFramePr>
            <a:graphicFrameLocks/>
          </p:cNvGraphicFramePr>
          <p:nvPr/>
        </p:nvGraphicFramePr>
        <p:xfrm>
          <a:off x="4330594" y="6410610"/>
          <a:ext cx="2159107" cy="1472184"/>
        </p:xfrm>
        <a:graphic>
          <a:graphicData uri="http://schemas.openxmlformats.org/drawingml/2006/chart">
            <c:chart xmlns:c="http://schemas.openxmlformats.org/drawingml/2006/chart" r:id="rId2"/>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Custom 80">
      <a:dk1>
        <a:srgbClr val="18191A"/>
      </a:dk1>
      <a:lt1>
        <a:srgbClr val="FFFFFF"/>
      </a:lt1>
      <a:dk2>
        <a:srgbClr val="3F3F3F"/>
      </a:dk2>
      <a:lt2>
        <a:srgbClr val="74797C"/>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8">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Tema IB 2021</Template>
  <TotalTime>2066</TotalTime>
  <Words>9</Words>
  <Application>Microsoft Macintosh PowerPoint</Application>
  <PresentationFormat>A4 Paper (210x297 mm)</PresentationFormat>
  <Paragraphs>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Roboto</vt:lpstr>
      <vt:lpstr>Roboto Light</vt:lpstr>
      <vt:lpstr>XP</vt:lpstr>
      <vt:lpstr>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Leonardo Oliveira</cp:lastModifiedBy>
  <cp:revision>125</cp:revision>
  <dcterms:created xsi:type="dcterms:W3CDTF">2022-03-20T14:16:37Z</dcterms:created>
  <dcterms:modified xsi:type="dcterms:W3CDTF">2025-06-16T13:25:41Z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2025-06-11T19:33:55Z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5ea51067-6aa0-458f-9b24-08187b3c238a</vt:lpwstr>
  </property>
  <property fmtid="{D5CDD505-2E9C-101B-9397-08002B2CF9AE}" pid="8" name="MSIP_Label_e6a9157b-bcf3-4eac-b03e-7cf007ba9fdf_ContentBits">
    <vt:lpwstr>2</vt:lpwstr>
  </property>
  <property fmtid="{D5CDD505-2E9C-101B-9397-08002B2CF9AE}" pid="9" name="MSIP_Label_e6a9157b-bcf3-4eac-b03e-7cf007ba9fdf_Tag">
    <vt:lpwstr>50, 3, 0, 1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