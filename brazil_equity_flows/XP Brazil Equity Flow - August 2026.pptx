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4.svg" ContentType="image/svg+xml"/>
  <Override PartName="/ppt/media/image18.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5"/>
    <p:sldMasterId id="2147483977" r:id="rId6"/>
    <p:sldMasterId id="2147483989" r:id="rId7"/>
    <p:sldMasterId id="2147484007" r:id="rId8"/>
    <p:sldMasterId id="2147484025" r:id="rId9"/>
  </p:sldMasterIdLst>
  <p:notesMasterIdLst>
    <p:notesMasterId r:id="rId22"/>
  </p:notesMasterIdLst>
  <p:handoutMasterIdLst>
    <p:handoutMasterId r:id="rId23"/>
  </p:handoutMasterIdLst>
  <p:sldIdLst>
    <p:sldId id="2134961551" r:id="rId10"/>
    <p:sldId id="262" r:id="rId11"/>
    <p:sldId id="2134961563" r:id="rId12"/>
    <p:sldId id="2134961566" r:id="rId13"/>
    <p:sldId id="2134961565" r:id="rId14"/>
    <p:sldId id="2134961555" r:id="rId15"/>
    <p:sldId id="2134961556" r:id="rId16"/>
    <p:sldId id="2134961561" r:id="rId17"/>
    <p:sldId id="2134961562" r:id="rId18"/>
    <p:sldId id="2134961559" r:id="rId19"/>
    <p:sldId id="270" r:id="rId20"/>
    <p:sldId id="275" r:id="rId21"/>
  </p:sldIdLst>
  <p:sldSz cx="12192000" cy="6858000"/>
  <p:notesSz cx="6950075" cy="9236075"/>
  <p:custDataLst>
    <p:tags r:id="rId24"/>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2512C6-6DAB-44EA-ACDB-90E204C7AE43}">
          <p14:sldIdLst>
            <p14:sldId id="2134961551"/>
            <p14:sldId id="262"/>
            <p14:sldId id="2134961563"/>
            <p14:sldId id="2134961566"/>
            <p14:sldId id="2134961565"/>
            <p14:sldId id="2134961555"/>
            <p14:sldId id="2134961556"/>
            <p14:sldId id="2134961561"/>
            <p14:sldId id="2134961562"/>
            <p14:sldId id="2134961559"/>
            <p14:sldId id="270"/>
            <p14:sldId id="275"/>
          </p14:sldIdLst>
        </p14:section>
      </p14:sectionLst>
    </p:ext>
    <p:ext uri="{EFAFB233-063F-42B5-8137-9DF3F51BA10A}">
      <p15:sldGuideLst xmlns:p15="http://schemas.microsoft.com/office/powerpoint/2012/main">
        <p15:guide id="3" pos="7628" userDrawn="1">
          <p15:clr>
            <a:srgbClr val="A4A3A4"/>
          </p15:clr>
        </p15:guide>
        <p15:guide id="6" orient="horz" pos="238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L" userId="S::caio.lsouza@xpi.com.br::3c9a17a9-6dee-4d8b-b93c-2a0cbe4083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B3DF"/>
    <a:srgbClr val="92D050"/>
    <a:srgbClr val="4F5356"/>
    <a:srgbClr val="74797C"/>
    <a:srgbClr val="FEF3D0"/>
    <a:srgbClr val="EDF1F7"/>
    <a:srgbClr val="FBFBFB"/>
    <a:srgbClr val="B8B8B8"/>
    <a:srgbClr val="BBD1EC"/>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E5403-0326-41D8-B5DE-EB3E334D980A}" v="15432" dt="2024-12-01T17:12:25.514"/>
    <p1510:client id="{A47A9084-3B55-4C6E-83C4-BEA49CE4F0BE}" v="13797" dt="2024-12-01T17:49:40.996"/>
    <p1510:client id="{FF3226D0-F3CA-1284-6CCA-405AF52798F1}" v="2" dt="2024-12-01T15:24:58.961"/>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8" autoAdjust="0"/>
    <p:restoredTop sz="94759" autoAdjust="0"/>
  </p:normalViewPr>
  <p:slideViewPr>
    <p:cSldViewPr snapToGrid="0" showGuides="1">
      <p:cViewPr>
        <p:scale>
          <a:sx n="90" d="100"/>
          <a:sy n="90" d="100"/>
        </p:scale>
        <p:origin x="595" y="-398"/>
      </p:cViewPr>
      <p:guideLst>
        <p:guide pos="7628"/>
        <p:guide orient="horz" pos="2387"/>
      </p:guideLst>
    </p:cSldViewPr>
  </p:slideViewPr>
  <p:outlineViewPr>
    <p:cViewPr>
      <p:scale>
        <a:sx n="33" d="100"/>
        <a:sy n="33" d="100"/>
      </p:scale>
      <p:origin x="0" y="-5386"/>
    </p:cViewPr>
  </p:outlineViewPr>
  <p:notesTextViewPr>
    <p:cViewPr>
      <p:scale>
        <a:sx n="3" d="2"/>
        <a:sy n="3" d="2"/>
      </p:scale>
      <p:origin x="0" y="-29"/>
    </p:cViewPr>
  </p:notesTextViewPr>
  <p:sorterViewPr>
    <p:cViewPr>
      <p:scale>
        <a:sx n="100" d="100"/>
        <a:sy n="100" d="100"/>
      </p:scale>
      <p:origin x="0" y="0"/>
    </p:cViewPr>
  </p:sorterViewPr>
  <p:notesViewPr>
    <p:cSldViewPr snapToGrid="0" showGuides="1">
      <p:cViewPr varScale="1">
        <p:scale>
          <a:sx n="79" d="100"/>
          <a:sy n="79" d="100"/>
        </p:scale>
        <p:origin x="2082"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slideMaster" Target="slideMasters/slideMaster5.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tags" Target="tags/tag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10/08/2026</a:t>
            </a:fld>
            <a:endParaRPr lang="pt-BR">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10/08/2026</a:t>
            </a:fld>
            <a:endParaRPr lang="pt-BR"/>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3CA231-F0FC-4F9B-BA71-B3112EA6E8D1}" type="slidenum">
              <a:rPr kumimoji="0" lang="pt-BR"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94838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419C4-0AA8-2BF2-140E-5CC6819E1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D7E3D-3F06-B62A-6661-281B523BD8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F28E4-B4BE-F382-9C86-AF87A7579962}"/>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DC4DA023-3C92-67D5-7470-03CDC07B400C}"/>
              </a:ext>
            </a:extLst>
          </p:cNvPr>
          <p:cNvSpPr>
            <a:spLocks noGrp="1"/>
          </p:cNvSpPr>
          <p:nvPr>
            <p:ph type="sldNum" sz="quarter" idx="5"/>
          </p:nvPr>
        </p:nvSpPr>
        <p:spPr/>
        <p:txBody>
          <a:bodyPr/>
          <a:lstStyle/>
          <a:p>
            <a:fld id="{313CA231-F0FC-4F9B-BA71-B3112EA6E8D1}" type="slidenum">
              <a:rPr lang="pt-BR" smtClean="0"/>
              <a:pPr/>
              <a:t>3</a:t>
            </a:fld>
            <a:endParaRPr lang="pt-BR"/>
          </a:p>
        </p:txBody>
      </p:sp>
    </p:spTree>
    <p:extLst>
      <p:ext uri="{BB962C8B-B14F-4D97-AF65-F5344CB8AC3E}">
        <p14:creationId xmlns:p14="http://schemas.microsoft.com/office/powerpoint/2010/main" val="2478004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EB27-5AE9-4AE7-F077-68E86DF64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754EA-0764-D8B5-168A-E9EFB3F76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EA0C4-AC41-400B-5907-F7B6C43E7CB1}"/>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E271CD93-32D5-82FD-C9EE-3D4CECF46572}"/>
              </a:ext>
            </a:extLst>
          </p:cNvPr>
          <p:cNvSpPr>
            <a:spLocks noGrp="1"/>
          </p:cNvSpPr>
          <p:nvPr>
            <p:ph type="sldNum" sz="quarter" idx="5"/>
          </p:nvPr>
        </p:nvSpPr>
        <p:spPr/>
        <p:txBody>
          <a:bodyPr/>
          <a:lstStyle/>
          <a:p>
            <a:fld id="{313CA231-F0FC-4F9B-BA71-B3112EA6E8D1}" type="slidenum">
              <a:rPr lang="pt-BR" smtClean="0"/>
              <a:pPr/>
              <a:t>4</a:t>
            </a:fld>
            <a:endParaRPr lang="pt-BR"/>
          </a:p>
        </p:txBody>
      </p:sp>
    </p:spTree>
    <p:extLst>
      <p:ext uri="{BB962C8B-B14F-4D97-AF65-F5344CB8AC3E}">
        <p14:creationId xmlns:p14="http://schemas.microsoft.com/office/powerpoint/2010/main" val="2914004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C6685-7EFD-8B24-D48D-9891C2205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866EA-5806-4B8E-1E0A-4E36BB7532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6FA42-5DF7-3FC9-68A1-CB140DD82E2C}"/>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9BC77FC8-7896-D49B-C22E-770256D645CE}"/>
              </a:ext>
            </a:extLst>
          </p:cNvPr>
          <p:cNvSpPr>
            <a:spLocks noGrp="1"/>
          </p:cNvSpPr>
          <p:nvPr>
            <p:ph type="sldNum" sz="quarter" idx="5"/>
          </p:nvPr>
        </p:nvSpPr>
        <p:spPr/>
        <p:txBody>
          <a:bodyPr/>
          <a:lstStyle/>
          <a:p>
            <a:fld id="{313CA231-F0FC-4F9B-BA71-B3112EA6E8D1}" type="slidenum">
              <a:rPr lang="pt-BR" smtClean="0"/>
              <a:pPr/>
              <a:t>5</a:t>
            </a:fld>
            <a:endParaRPr lang="pt-BR"/>
          </a:p>
        </p:txBody>
      </p:sp>
    </p:spTree>
    <p:extLst>
      <p:ext uri="{BB962C8B-B14F-4D97-AF65-F5344CB8AC3E}">
        <p14:creationId xmlns:p14="http://schemas.microsoft.com/office/powerpoint/2010/main" val="39314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6</a:t>
            </a:fld>
            <a:endParaRPr lang="pt-BR"/>
          </a:p>
        </p:txBody>
      </p:sp>
    </p:spTree>
    <p:extLst>
      <p:ext uri="{BB962C8B-B14F-4D97-AF65-F5344CB8AC3E}">
        <p14:creationId xmlns:p14="http://schemas.microsoft.com/office/powerpoint/2010/main" val="3421878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7</a:t>
            </a:fld>
            <a:endParaRPr lang="pt-BR"/>
          </a:p>
        </p:txBody>
      </p:sp>
    </p:spTree>
    <p:extLst>
      <p:ext uri="{BB962C8B-B14F-4D97-AF65-F5344CB8AC3E}">
        <p14:creationId xmlns:p14="http://schemas.microsoft.com/office/powerpoint/2010/main" val="2927706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8</a:t>
            </a:fld>
            <a:endParaRPr lang="pt-BR"/>
          </a:p>
        </p:txBody>
      </p:sp>
    </p:spTree>
    <p:extLst>
      <p:ext uri="{BB962C8B-B14F-4D97-AF65-F5344CB8AC3E}">
        <p14:creationId xmlns:p14="http://schemas.microsoft.com/office/powerpoint/2010/main" val="3456297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9</a:t>
            </a:fld>
            <a:endParaRPr lang="pt-BR"/>
          </a:p>
        </p:txBody>
      </p:sp>
    </p:spTree>
    <p:extLst>
      <p:ext uri="{BB962C8B-B14F-4D97-AF65-F5344CB8AC3E}">
        <p14:creationId xmlns:p14="http://schemas.microsoft.com/office/powerpoint/2010/main" val="1157954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10</a:t>
            </a:fld>
            <a:endParaRPr lang="pt-BR"/>
          </a:p>
        </p:txBody>
      </p:sp>
    </p:spTree>
    <p:extLst>
      <p:ext uri="{BB962C8B-B14F-4D97-AF65-F5344CB8AC3E}">
        <p14:creationId xmlns:p14="http://schemas.microsoft.com/office/powerpoint/2010/main" val="214736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3.xml"/><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1.wdp"/><Relationship Id="rId7" Type="http://schemas.openxmlformats.org/officeDocument/2006/relationships/image" Target="../media/image7.pn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3.xml"/><Relationship Id="rId3" Type="http://schemas.openxmlformats.org/officeDocument/2006/relationships/image" Target="../media/image8.png"/><Relationship Id="rId4" Type="http://schemas.openxmlformats.org/officeDocument/2006/relationships/image" Target="../media/image4.svg"/><Relationship Id="rId5" Type="http://schemas.openxmlformats.org/officeDocument/2006/relationships/image" Target="../media/image9.png"/><Relationship Id="rId6" Type="http://schemas.microsoft.com/office/2007/relationships/hdphoto" Target="../media/hdphoto2.wdp"/><Relationship Id="rId7"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3.xml"/><Relationship Id="rId3"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 Id="rId3"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 Id="rId3"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 Id="rId3" Type="http://schemas.openxmlformats.org/officeDocument/2006/relationships/image" Target="../media/image11.png"/><Relationship Id="rId4" Type="http://schemas.microsoft.com/office/2007/relationships/hdphoto" Target="../media/hdphoto3.wdp"/><Relationship Id="rId5" Type="http://schemas.openxmlformats.org/officeDocument/2006/relationships/image" Target="../media/image2.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12.png"/><Relationship Id="rId5" Type="http://schemas.microsoft.com/office/2007/relationships/hdphoto" Target="../media/hdphoto4.wdp"/></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Master" Target="../slideMasters/slideMaster3.xml"/><Relationship Id="rId3" Type="http://schemas.openxmlformats.org/officeDocument/2006/relationships/hyperlink" Target="http://www.xpi.com.br/" TargetMode="Externa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 Id="rId3" Type="http://schemas.openxmlformats.org/officeDocument/2006/relationships/image" Target="../media/image13.png"/><Relationship Id="rId4" Type="http://schemas.microsoft.com/office/2007/relationships/hdphoto" Target="../media/hdphoto5.wdp"/><Relationship Id="rId5" Type="http://schemas.openxmlformats.org/officeDocument/2006/relationships/image" Target="../media/image2.svg"/><Relationship Id="rId6" Type="http://schemas.openxmlformats.org/officeDocument/2006/relationships/image" Target="../media/image14.svg"/><Relationship Id="rId7" Type="http://schemas.openxmlformats.org/officeDocument/2006/relationships/image" Target="../media/image15.png"/><Relationship Id="rId8" Type="http://schemas.openxmlformats.org/officeDocument/2006/relationships/image" Target="../media/image16.png"/><Relationship Id="rId9" Type="http://schemas.microsoft.com/office/2007/relationships/hdphoto" Target="../media/hdphoto6.wdp"/></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Master" Target="../slideMasters/slideMaster4.xml"/><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1.wdp"/><Relationship Id="rId7" Type="http://schemas.openxmlformats.org/officeDocument/2006/relationships/image" Target="../media/image7.png"/></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Master" Target="../slideMasters/slideMaster4.xml"/><Relationship Id="rId3" Type="http://schemas.openxmlformats.org/officeDocument/2006/relationships/image" Target="../media/image8.png"/><Relationship Id="rId4" Type="http://schemas.openxmlformats.org/officeDocument/2006/relationships/image" Target="../media/image4.svg"/><Relationship Id="rId5" Type="http://schemas.openxmlformats.org/officeDocument/2006/relationships/image" Target="../media/image9.png"/><Relationship Id="rId6" Type="http://schemas.microsoft.com/office/2007/relationships/hdphoto" Target="../media/hdphoto2.wdp"/><Relationship Id="rId7" Type="http://schemas.openxmlformats.org/officeDocument/2006/relationships/image" Target="../media/image2.svg"/><Relationship Id="rId8" Type="http://schemas.openxmlformats.org/officeDocument/2006/relationships/hyperlink" Target="https://www.extelinsights.com/" TargetMode="External"/></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Master" Target="../slideMasters/slideMaster4.xml"/><Relationship Id="rId3"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Master" Target="../slideMasters/slideMaster4.xml"/><Relationship Id="rId3"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Master" Target="../slideMasters/slideMaster4.xml"/><Relationship Id="rId3" Type="http://schemas.openxmlformats.org/officeDocument/2006/relationships/image" Target="../media/image10.png"/></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Master" Target="../slideMasters/slideMaster4.xml"/><Relationship Id="rId3" Type="http://schemas.openxmlformats.org/officeDocument/2006/relationships/image" Target="../media/image10.png"/></Relationships>
</file>

<file path=ppt/slideLayouts/_rels/slideLayout70.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4.xml"/><Relationship Id="rId3" Type="http://schemas.openxmlformats.org/officeDocument/2006/relationships/image" Target="../media/image1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svg"/><Relationship Id="rId3" Type="http://schemas.openxmlformats.org/officeDocument/2006/relationships/image" Target="../media/image11.png"/><Relationship Id="rId4" Type="http://schemas.microsoft.com/office/2007/relationships/hdphoto" Target="../media/hdphoto3.wdp"/><Relationship Id="rId5" Type="http://schemas.openxmlformats.org/officeDocument/2006/relationships/image" Target="../media/image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12.png"/><Relationship Id="rId5" Type="http://schemas.microsoft.com/office/2007/relationships/hdphoto" Target="../media/hdphoto4.wdp"/></Relationships>
</file>

<file path=ppt/slideLayouts/_rels/slideLayout73.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slideMaster" Target="../slideMasters/slideMaster4.xml"/><Relationship Id="rId3" Type="http://schemas.openxmlformats.org/officeDocument/2006/relationships/hyperlink" Target="http://www.xpi.com.br/" TargetMode="Externa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svg"/><Relationship Id="rId3" Type="http://schemas.openxmlformats.org/officeDocument/2006/relationships/image" Target="../media/image13.png"/><Relationship Id="rId4" Type="http://schemas.microsoft.com/office/2007/relationships/hdphoto" Target="../media/hdphoto5.wdp"/><Relationship Id="rId5" Type="http://schemas.openxmlformats.org/officeDocument/2006/relationships/image" Target="../media/image17.png"/><Relationship Id="rId6" Type="http://schemas.openxmlformats.org/officeDocument/2006/relationships/image" Target="../media/image2.svg"/><Relationship Id="rId7" Type="http://schemas.openxmlformats.org/officeDocument/2006/relationships/image" Target="../media/image14.svg"/></Relationships>
</file>

<file path=ppt/slideLayouts/_rels/slideLayout81.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slideMaster" Target="../slideMasters/slideMaster5.xml"/><Relationship Id="rId3" Type="http://schemas.openxmlformats.org/officeDocument/2006/relationships/image" Target="../media/image4.svg"/><Relationship Id="rId4" Type="http://schemas.openxmlformats.org/officeDocument/2006/relationships/image" Target="../media/image18.svg"/><Relationship Id="rId5" Type="http://schemas.openxmlformats.org/officeDocument/2006/relationships/image" Target="../media/image6.png"/><Relationship Id="rId6" Type="http://schemas.microsoft.com/office/2007/relationships/hdphoto" Target="../media/hdphoto1.wdp"/><Relationship Id="rId7" Type="http://schemas.openxmlformats.org/officeDocument/2006/relationships/image" Target="../media/image7.png"/></Relationships>
</file>

<file path=ppt/slideLayouts/_rels/slideLayout82.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slideMaster" Target="../slideMasters/slideMaster5.xml"/><Relationship Id="rId3" Type="http://schemas.openxmlformats.org/officeDocument/2006/relationships/image" Target="../media/image4.svg"/><Relationship Id="rId4" Type="http://schemas.openxmlformats.org/officeDocument/2006/relationships/image" Target="../media/image9.png"/><Relationship Id="rId5" Type="http://schemas.microsoft.com/office/2007/relationships/hdphoto" Target="../media/hdphoto2.wdp"/><Relationship Id="rId6" Type="http://schemas.openxmlformats.org/officeDocument/2006/relationships/image" Target="../media/image2.svg"/></Relationships>
</file>

<file path=ppt/slideLayouts/_rels/slideLayout83.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slideMaster" Target="../slideMasters/slideMaster5.xml"/><Relationship Id="rId3" Type="http://schemas.openxmlformats.org/officeDocument/2006/relationships/image" Target="../media/image10.png"/></Relationships>
</file>

<file path=ppt/slideLayouts/_rels/slideLayout84.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slideMaster" Target="../slideMasters/slideMaster5.xml"/><Relationship Id="rId3" Type="http://schemas.openxmlformats.org/officeDocument/2006/relationships/image" Target="../media/image10.png"/></Relationships>
</file>

<file path=ppt/slideLayouts/_rels/slideLayout85.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slideMaster" Target="../slideMasters/slideMaster5.xml"/><Relationship Id="rId3" Type="http://schemas.openxmlformats.org/officeDocument/2006/relationships/image" Target="../media/image10.png"/></Relationships>
</file>

<file path=ppt/slideLayouts/_rels/slideLayout86.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slideMaster" Target="../slideMasters/slideMaster5.xml"/><Relationship Id="rId3" Type="http://schemas.openxmlformats.org/officeDocument/2006/relationships/image" Target="../media/image10.png"/></Relationships>
</file>

<file path=ppt/slideLayouts/_rels/slideLayout87.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Master" Target="../slideMasters/slideMaster5.xml"/><Relationship Id="rId3" Type="http://schemas.openxmlformats.org/officeDocument/2006/relationships/image" Target="../media/image10.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svg"/><Relationship Id="rId3" Type="http://schemas.openxmlformats.org/officeDocument/2006/relationships/image" Target="../media/image11.png"/><Relationship Id="rId4" Type="http://schemas.microsoft.com/office/2007/relationships/hdphoto" Target="../media/hdphoto3.wdp"/><Relationship Id="rId5" Type="http://schemas.openxmlformats.org/officeDocument/2006/relationships/image" Target="../media/image2.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svg"/><Relationship Id="rId3" Type="http://schemas.openxmlformats.org/officeDocument/2006/relationships/image" Target="../media/image18.svg"/><Relationship Id="rId4" Type="http://schemas.openxmlformats.org/officeDocument/2006/relationships/image" Target="../media/image12.png"/><Relationship Id="rId5" Type="http://schemas.microsoft.com/office/2007/relationships/hdphoto" Target="../media/hdphoto4.wdp"/></Relationships>
</file>

<file path=ppt/slideLayouts/_rels/slideLayout90.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slideMaster" Target="../slideMasters/slideMaster5.xml"/><Relationship Id="rId3" Type="http://schemas.openxmlformats.org/officeDocument/2006/relationships/hyperlink" Target="http://www.xpi.com.br/" TargetMode="Externa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12.png"/><Relationship Id="rId5" Type="http://schemas.microsoft.com/office/2007/relationships/hdphoto" Target="../media/hdphoto4.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DNE_Cove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819843"/>
          </a:xfrm>
          <a:prstGeom prst="rect">
            <a:avLst/>
          </a:prstGeom>
          <a:no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4852417"/>
            <a:ext cx="9131272" cy="116135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541346"/>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 name="Espaço Reservado para Conteúdo 14">
            <a:extLst>
              <a:ext uri="{FF2B5EF4-FFF2-40B4-BE49-F238E27FC236}">
                <a16:creationId xmlns:a16="http://schemas.microsoft.com/office/drawing/2014/main" id="{F46E9C03-2144-3987-0F04-B2E7326D780C}"/>
              </a:ext>
            </a:extLst>
          </p:cNvPr>
          <p:cNvSpPr>
            <a:spLocks noGrp="1"/>
          </p:cNvSpPr>
          <p:nvPr>
            <p:ph sz="quarter" idx="40" hasCustomPrompt="1"/>
          </p:nvPr>
        </p:nvSpPr>
        <p:spPr>
          <a:xfrm>
            <a:off x="9956800" y="3139441"/>
            <a:ext cx="1898650" cy="128016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98F42449-B012-C080-2E88-F06BA9125608}"/>
              </a:ext>
            </a:extLst>
          </p:cNvPr>
          <p:cNvSpPr>
            <a:spLocks noGrp="1"/>
          </p:cNvSpPr>
          <p:nvPr>
            <p:ph sz="quarter" idx="42" hasCustomPrompt="1"/>
          </p:nvPr>
        </p:nvSpPr>
        <p:spPr>
          <a:xfrm>
            <a:off x="9956800" y="4847045"/>
            <a:ext cx="1898650" cy="11743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 name="Espaço Reservado para Conteúdo 14">
            <a:extLst>
              <a:ext uri="{FF2B5EF4-FFF2-40B4-BE49-F238E27FC236}">
                <a16:creationId xmlns:a16="http://schemas.microsoft.com/office/drawing/2014/main" id="{CBFD5A28-D9CD-4456-D565-C18206807C59}"/>
              </a:ext>
            </a:extLst>
          </p:cNvPr>
          <p:cNvSpPr>
            <a:spLocks noGrp="1"/>
          </p:cNvSpPr>
          <p:nvPr>
            <p:ph sz="quarter" idx="43" hasCustomPrompt="1"/>
          </p:nvPr>
        </p:nvSpPr>
        <p:spPr>
          <a:xfrm>
            <a:off x="9956800" y="4535666"/>
            <a:ext cx="189865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7600663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MDNE_Cover">
    <p:bg>
      <p:bgPr>
        <a:solidFill>
          <a:schemeClr val="bg1"/>
        </a:solidFill>
        <a:effectLst/>
      </p:bgPr>
    </p:bg>
    <p:spTree>
      <p:nvGrpSpPr>
        <p:cNvPr id="1" name=""/>
        <p:cNvGrpSpPr/>
        <p:nvPr/>
      </p:nvGrpSpPr>
      <p:grpSpPr>
        <a:xfrm>
          <a:off x="0" y="0"/>
          <a:ext cx="0" cy="0"/>
          <a:chOff x="0" y="0"/>
          <a:chExt cx="0" cy="0"/>
        </a:xfrm>
      </p:grpSpPr>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1317575"/>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3065929"/>
            <a:ext cx="9131272" cy="294784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 name="Espaço Reservado para Conteúdo 14">
            <a:extLst>
              <a:ext uri="{FF2B5EF4-FFF2-40B4-BE49-F238E27FC236}">
                <a16:creationId xmlns:a16="http://schemas.microsoft.com/office/drawing/2014/main" id="{F46E9C03-2144-3987-0F04-B2E7326D780C}"/>
              </a:ext>
            </a:extLst>
          </p:cNvPr>
          <p:cNvSpPr>
            <a:spLocks noGrp="1"/>
          </p:cNvSpPr>
          <p:nvPr>
            <p:ph sz="quarter" idx="40" hasCustomPrompt="1"/>
          </p:nvPr>
        </p:nvSpPr>
        <p:spPr>
          <a:xfrm>
            <a:off x="9956800" y="3139441"/>
            <a:ext cx="1898650" cy="128016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98F42449-B012-C080-2E88-F06BA9125608}"/>
              </a:ext>
            </a:extLst>
          </p:cNvPr>
          <p:cNvSpPr>
            <a:spLocks noGrp="1"/>
          </p:cNvSpPr>
          <p:nvPr>
            <p:ph sz="quarter" idx="42" hasCustomPrompt="1"/>
          </p:nvPr>
        </p:nvSpPr>
        <p:spPr>
          <a:xfrm>
            <a:off x="9956800" y="4847045"/>
            <a:ext cx="1898650" cy="11743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 name="Espaço Reservado para Conteúdo 14">
            <a:extLst>
              <a:ext uri="{FF2B5EF4-FFF2-40B4-BE49-F238E27FC236}">
                <a16:creationId xmlns:a16="http://schemas.microsoft.com/office/drawing/2014/main" id="{CBFD5A28-D9CD-4456-D565-C18206807C59}"/>
              </a:ext>
            </a:extLst>
          </p:cNvPr>
          <p:cNvSpPr>
            <a:spLocks noGrp="1"/>
          </p:cNvSpPr>
          <p:nvPr>
            <p:ph sz="quarter" idx="43" hasCustomPrompt="1"/>
          </p:nvPr>
        </p:nvSpPr>
        <p:spPr>
          <a:xfrm>
            <a:off x="9956800" y="4535666"/>
            <a:ext cx="189865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9" name="Graphic 8">
            <a:extLst>
              <a:ext uri="{FF2B5EF4-FFF2-40B4-BE49-F238E27FC236}">
                <a16:creationId xmlns:a16="http://schemas.microsoft.com/office/drawing/2014/main" id="{EE0DD8AF-287C-A49C-854F-15042CC313E2}"/>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l="53468" t="61870" r="40853" b="-21011"/>
          <a:stretch/>
        </p:blipFill>
        <p:spPr>
          <a:xfrm rot="5400000" flipH="1">
            <a:off x="7902964" y="-2810267"/>
            <a:ext cx="1468025" cy="7088555"/>
          </a:xfrm>
          <a:prstGeom prst="rect">
            <a:avLst/>
          </a:prstGeom>
        </p:spPr>
      </p:pic>
    </p:spTree>
    <p:extLst>
      <p:ext uri="{BB962C8B-B14F-4D97-AF65-F5344CB8AC3E}">
        <p14:creationId xmlns:p14="http://schemas.microsoft.com/office/powerpoint/2010/main" val="2963813319"/>
      </p:ext>
    </p:extLst>
  </p:cSld>
  <p:clrMapOvr>
    <a:masterClrMapping/>
  </p:clrMapOvr>
  <p:extLst>
    <p:ext uri="{DCECCB84-F9BA-43D5-87BE-67443E8EF086}">
      <p15:sldGuideLst xmlns:p15="http://schemas.microsoft.com/office/powerpoint/2012/main">
        <p15:guide id="0" pos="2683" userDrawn="1">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DNE_FinancialsSummary">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607126"/>
            <a:ext cx="7596738" cy="4403873"/>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202" y="4773157"/>
            <a:ext cx="3685636"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202" y="4478542"/>
            <a:ext cx="368563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8159200" y="1492737"/>
            <a:ext cx="3695700"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8159200" y="1274418"/>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8159750" y="3113849"/>
            <a:ext cx="3695700"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8159750" y="2895530"/>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69349607-B8BD-89A1-853E-23F74CBE4D42}"/>
              </a:ext>
            </a:extLst>
          </p:cNvPr>
          <p:cNvSpPr>
            <a:spLocks noGrp="1"/>
          </p:cNvSpPr>
          <p:nvPr>
            <p:ph sz="quarter" idx="32" hasCustomPrompt="1"/>
          </p:nvPr>
        </p:nvSpPr>
        <p:spPr>
          <a:xfrm>
            <a:off x="337181" y="1274418"/>
            <a:ext cx="759783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01760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MDNE_FinancialsSummary">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607127"/>
            <a:ext cx="7596738" cy="183481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202" y="4773157"/>
            <a:ext cx="3685636"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202" y="4478542"/>
            <a:ext cx="368563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8159200" y="1492737"/>
            <a:ext cx="3695700"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8159200" y="1274418"/>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8159750" y="3113849"/>
            <a:ext cx="3695700"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8159750" y="2895530"/>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69349607-B8BD-89A1-853E-23F74CBE4D42}"/>
              </a:ext>
            </a:extLst>
          </p:cNvPr>
          <p:cNvSpPr>
            <a:spLocks noGrp="1"/>
          </p:cNvSpPr>
          <p:nvPr>
            <p:ph sz="quarter" idx="32" hasCustomPrompt="1"/>
          </p:nvPr>
        </p:nvSpPr>
        <p:spPr>
          <a:xfrm>
            <a:off x="337181" y="1274418"/>
            <a:ext cx="759783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 name="Espaço Reservado para Conteúdo 14">
            <a:extLst>
              <a:ext uri="{FF2B5EF4-FFF2-40B4-BE49-F238E27FC236}">
                <a16:creationId xmlns:a16="http://schemas.microsoft.com/office/drawing/2014/main" id="{973CB983-461A-134F-1CCA-0ADAB41ED10F}"/>
              </a:ext>
            </a:extLst>
          </p:cNvPr>
          <p:cNvSpPr>
            <a:spLocks noGrp="1"/>
          </p:cNvSpPr>
          <p:nvPr>
            <p:ph sz="quarter" idx="33" hasCustomPrompt="1"/>
          </p:nvPr>
        </p:nvSpPr>
        <p:spPr>
          <a:xfrm>
            <a:off x="336000" y="3608388"/>
            <a:ext cx="7596738" cy="2413000"/>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111498676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MDNE_FinancialsSummary">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607127"/>
            <a:ext cx="7596738" cy="115332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202" y="4773157"/>
            <a:ext cx="3685636"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202" y="4478542"/>
            <a:ext cx="368563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8159200" y="1492737"/>
            <a:ext cx="3695700"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8159200" y="1274418"/>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8159750" y="3113849"/>
            <a:ext cx="3695700"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8159750" y="2895530"/>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69349607-B8BD-89A1-853E-23F74CBE4D42}"/>
              </a:ext>
            </a:extLst>
          </p:cNvPr>
          <p:cNvSpPr>
            <a:spLocks noGrp="1"/>
          </p:cNvSpPr>
          <p:nvPr>
            <p:ph sz="quarter" idx="32" hasCustomPrompt="1"/>
          </p:nvPr>
        </p:nvSpPr>
        <p:spPr>
          <a:xfrm>
            <a:off x="337181" y="1274418"/>
            <a:ext cx="759783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 name="Espaço Reservado para Conteúdo 14">
            <a:extLst>
              <a:ext uri="{FF2B5EF4-FFF2-40B4-BE49-F238E27FC236}">
                <a16:creationId xmlns:a16="http://schemas.microsoft.com/office/drawing/2014/main" id="{973CB983-461A-134F-1CCA-0ADAB41ED10F}"/>
              </a:ext>
            </a:extLst>
          </p:cNvPr>
          <p:cNvSpPr>
            <a:spLocks noGrp="1"/>
          </p:cNvSpPr>
          <p:nvPr>
            <p:ph sz="quarter" idx="33" hasCustomPrompt="1"/>
          </p:nvPr>
        </p:nvSpPr>
        <p:spPr>
          <a:xfrm>
            <a:off x="336000" y="2875143"/>
            <a:ext cx="7596738" cy="1757242"/>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BB5D6806-DF6A-B848-9E93-228B1D369498}"/>
              </a:ext>
            </a:extLst>
          </p:cNvPr>
          <p:cNvSpPr>
            <a:spLocks noGrp="1"/>
          </p:cNvSpPr>
          <p:nvPr>
            <p:ph sz="quarter" idx="34" hasCustomPrompt="1"/>
          </p:nvPr>
        </p:nvSpPr>
        <p:spPr>
          <a:xfrm>
            <a:off x="336000" y="4744529"/>
            <a:ext cx="7596738" cy="1276860"/>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73115924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268083"/>
            <a:ext cx="6271835" cy="297611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36898" y="4692771"/>
            <a:ext cx="5607940" cy="132068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36898" y="4340519"/>
            <a:ext cx="560794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841297" y="1609969"/>
            <a:ext cx="5014153" cy="26220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841297" y="1274418"/>
            <a:ext cx="501415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4692771"/>
            <a:ext cx="5615676" cy="132068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4349146"/>
            <a:ext cx="561567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73942895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68083"/>
            <a:ext cx="5741528" cy="253729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9965" y="1609968"/>
            <a:ext cx="5565486" cy="441141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9965" y="1274418"/>
            <a:ext cx="556548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4274820"/>
            <a:ext cx="5728970" cy="173863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3924273"/>
            <a:ext cx="572897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58524985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68083"/>
            <a:ext cx="5741528" cy="253729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9965" y="1609969"/>
            <a:ext cx="5565486" cy="220765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9965" y="1274418"/>
            <a:ext cx="556548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4244340"/>
            <a:ext cx="5728970" cy="176911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3924273"/>
            <a:ext cx="572897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 name="Espaço Reservado para Conteúdo 14">
            <a:extLst>
              <a:ext uri="{FF2B5EF4-FFF2-40B4-BE49-F238E27FC236}">
                <a16:creationId xmlns:a16="http://schemas.microsoft.com/office/drawing/2014/main" id="{9C669706-B09A-109F-B1D9-BCEFF1B3B209}"/>
              </a:ext>
            </a:extLst>
          </p:cNvPr>
          <p:cNvSpPr>
            <a:spLocks noGrp="1"/>
          </p:cNvSpPr>
          <p:nvPr>
            <p:ph sz="quarter" idx="34" hasCustomPrompt="1"/>
          </p:nvPr>
        </p:nvSpPr>
        <p:spPr>
          <a:xfrm>
            <a:off x="6318250" y="4244340"/>
            <a:ext cx="2642870" cy="176911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63CA4C1-59E4-E814-53AD-82942F9C8A6D}"/>
              </a:ext>
            </a:extLst>
          </p:cNvPr>
          <p:cNvSpPr>
            <a:spLocks noGrp="1"/>
          </p:cNvSpPr>
          <p:nvPr>
            <p:ph sz="quarter" idx="35" hasCustomPrompt="1"/>
          </p:nvPr>
        </p:nvSpPr>
        <p:spPr>
          <a:xfrm>
            <a:off x="6318250" y="3924273"/>
            <a:ext cx="264287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 name="Espaço Reservado para Conteúdo 14">
            <a:extLst>
              <a:ext uri="{FF2B5EF4-FFF2-40B4-BE49-F238E27FC236}">
                <a16:creationId xmlns:a16="http://schemas.microsoft.com/office/drawing/2014/main" id="{78753126-912C-6937-9FF2-D5A91EFB4DC2}"/>
              </a:ext>
            </a:extLst>
          </p:cNvPr>
          <p:cNvSpPr>
            <a:spLocks noGrp="1"/>
          </p:cNvSpPr>
          <p:nvPr>
            <p:ph sz="quarter" idx="36" hasCustomPrompt="1"/>
          </p:nvPr>
        </p:nvSpPr>
        <p:spPr>
          <a:xfrm>
            <a:off x="9198610" y="4244340"/>
            <a:ext cx="2642870" cy="176911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 name="Espaço Reservado para Conteúdo 14">
            <a:extLst>
              <a:ext uri="{FF2B5EF4-FFF2-40B4-BE49-F238E27FC236}">
                <a16:creationId xmlns:a16="http://schemas.microsoft.com/office/drawing/2014/main" id="{B13933E1-9C3F-F1CE-317F-36B5B734D453}"/>
              </a:ext>
            </a:extLst>
          </p:cNvPr>
          <p:cNvSpPr>
            <a:spLocks noGrp="1"/>
          </p:cNvSpPr>
          <p:nvPr>
            <p:ph sz="quarter" idx="37" hasCustomPrompt="1"/>
          </p:nvPr>
        </p:nvSpPr>
        <p:spPr>
          <a:xfrm>
            <a:off x="9198610" y="3924273"/>
            <a:ext cx="264287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45541930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68083"/>
            <a:ext cx="5741528" cy="222561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9965" y="1609970"/>
            <a:ext cx="5565486" cy="1866476"/>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9965" y="1274418"/>
            <a:ext cx="556548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3916392"/>
            <a:ext cx="11518900" cy="209706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3608388"/>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36841962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268082"/>
            <a:ext cx="11519451" cy="1456263"/>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36898" y="3271102"/>
            <a:ext cx="5607940" cy="274235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36898" y="2898218"/>
            <a:ext cx="560794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3271102"/>
            <a:ext cx="5615676" cy="274235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2906845"/>
            <a:ext cx="561567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5477109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268083"/>
            <a:ext cx="6271835" cy="275210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841297" y="1609969"/>
            <a:ext cx="5014153" cy="242470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841297" y="1274418"/>
            <a:ext cx="501415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4" name="Espaço Reservado para Conteúdo 14">
            <a:extLst>
              <a:ext uri="{FF2B5EF4-FFF2-40B4-BE49-F238E27FC236}">
                <a16:creationId xmlns:a16="http://schemas.microsoft.com/office/drawing/2014/main" id="{9F565A1B-77C3-144C-3E31-F6F1A5BCF019}"/>
              </a:ext>
            </a:extLst>
          </p:cNvPr>
          <p:cNvSpPr>
            <a:spLocks noGrp="1"/>
          </p:cNvSpPr>
          <p:nvPr>
            <p:ph sz="quarter" idx="19" hasCustomPrompt="1"/>
          </p:nvPr>
        </p:nvSpPr>
        <p:spPr>
          <a:xfrm>
            <a:off x="336000" y="4508780"/>
            <a:ext cx="3685087" cy="150498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D0876560-902C-6B19-3E1F-4A6B8F5F647A}"/>
              </a:ext>
            </a:extLst>
          </p:cNvPr>
          <p:cNvSpPr>
            <a:spLocks noGrp="1"/>
          </p:cNvSpPr>
          <p:nvPr>
            <p:ph sz="quarter" idx="25" hasCustomPrompt="1"/>
          </p:nvPr>
        </p:nvSpPr>
        <p:spPr>
          <a:xfrm>
            <a:off x="336000" y="4150847"/>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 name="Espaço Reservado para Conteúdo 14">
            <a:extLst>
              <a:ext uri="{FF2B5EF4-FFF2-40B4-BE49-F238E27FC236}">
                <a16:creationId xmlns:a16="http://schemas.microsoft.com/office/drawing/2014/main" id="{7E6BA393-6C83-6298-A1C6-2FCB7817E91F}"/>
              </a:ext>
            </a:extLst>
          </p:cNvPr>
          <p:cNvSpPr>
            <a:spLocks noGrp="1"/>
          </p:cNvSpPr>
          <p:nvPr>
            <p:ph sz="quarter" idx="26" hasCustomPrompt="1"/>
          </p:nvPr>
        </p:nvSpPr>
        <p:spPr>
          <a:xfrm>
            <a:off x="4253456" y="4509822"/>
            <a:ext cx="3685087" cy="150498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 name="Espaço Reservado para Conteúdo 14">
            <a:extLst>
              <a:ext uri="{FF2B5EF4-FFF2-40B4-BE49-F238E27FC236}">
                <a16:creationId xmlns:a16="http://schemas.microsoft.com/office/drawing/2014/main" id="{0B4E24B3-DF3E-6931-7D5B-283463AC5DC2}"/>
              </a:ext>
            </a:extLst>
          </p:cNvPr>
          <p:cNvSpPr>
            <a:spLocks noGrp="1"/>
          </p:cNvSpPr>
          <p:nvPr>
            <p:ph sz="quarter" idx="27" hasCustomPrompt="1"/>
          </p:nvPr>
        </p:nvSpPr>
        <p:spPr>
          <a:xfrm>
            <a:off x="4253456" y="4151889"/>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8" name="Espaço Reservado para Conteúdo 14">
            <a:extLst>
              <a:ext uri="{FF2B5EF4-FFF2-40B4-BE49-F238E27FC236}">
                <a16:creationId xmlns:a16="http://schemas.microsoft.com/office/drawing/2014/main" id="{275823FD-5B56-27E8-E296-D7293DBC1071}"/>
              </a:ext>
            </a:extLst>
          </p:cNvPr>
          <p:cNvSpPr>
            <a:spLocks noGrp="1"/>
          </p:cNvSpPr>
          <p:nvPr>
            <p:ph sz="quarter" idx="28" hasCustomPrompt="1"/>
          </p:nvPr>
        </p:nvSpPr>
        <p:spPr>
          <a:xfrm>
            <a:off x="8159750" y="4506012"/>
            <a:ext cx="3685087" cy="150498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9" name="Espaço Reservado para Conteúdo 14">
            <a:extLst>
              <a:ext uri="{FF2B5EF4-FFF2-40B4-BE49-F238E27FC236}">
                <a16:creationId xmlns:a16="http://schemas.microsoft.com/office/drawing/2014/main" id="{8B0B9050-7B56-5CC1-C43B-091660263644}"/>
              </a:ext>
            </a:extLst>
          </p:cNvPr>
          <p:cNvSpPr>
            <a:spLocks noGrp="1"/>
          </p:cNvSpPr>
          <p:nvPr>
            <p:ph sz="quarter" idx="29" hasCustomPrompt="1"/>
          </p:nvPr>
        </p:nvSpPr>
        <p:spPr>
          <a:xfrm>
            <a:off x="8159750" y="4148079"/>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68859469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566977" y="1584960"/>
            <a:ext cx="5288473"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566977" y="1274418"/>
            <a:ext cx="528847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1591056"/>
            <a:ext cx="6041390" cy="443033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1267618"/>
            <a:ext cx="604139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 name="Espaço Reservado para Conteúdo 14">
            <a:extLst>
              <a:ext uri="{FF2B5EF4-FFF2-40B4-BE49-F238E27FC236}">
                <a16:creationId xmlns:a16="http://schemas.microsoft.com/office/drawing/2014/main" id="{5D3092EC-482B-2055-B418-6ECC781DD6D8}"/>
              </a:ext>
            </a:extLst>
          </p:cNvPr>
          <p:cNvSpPr>
            <a:spLocks noGrp="1"/>
          </p:cNvSpPr>
          <p:nvPr>
            <p:ph sz="quarter" idx="36" hasCustomPrompt="1"/>
          </p:nvPr>
        </p:nvSpPr>
        <p:spPr>
          <a:xfrm>
            <a:off x="6566977" y="3990340"/>
            <a:ext cx="2508443"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E1C130BA-03F0-34FD-9AA2-518490344E40}"/>
              </a:ext>
            </a:extLst>
          </p:cNvPr>
          <p:cNvSpPr>
            <a:spLocks noGrp="1"/>
          </p:cNvSpPr>
          <p:nvPr>
            <p:ph sz="quarter" idx="37" hasCustomPrompt="1"/>
          </p:nvPr>
        </p:nvSpPr>
        <p:spPr>
          <a:xfrm>
            <a:off x="6566977" y="3679798"/>
            <a:ext cx="250844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 name="Espaço Reservado para Conteúdo 14">
            <a:extLst>
              <a:ext uri="{FF2B5EF4-FFF2-40B4-BE49-F238E27FC236}">
                <a16:creationId xmlns:a16="http://schemas.microsoft.com/office/drawing/2014/main" id="{7F640F0E-A6AD-1386-733A-0C0BB7F34F91}"/>
              </a:ext>
            </a:extLst>
          </p:cNvPr>
          <p:cNvSpPr>
            <a:spLocks noGrp="1"/>
          </p:cNvSpPr>
          <p:nvPr>
            <p:ph sz="quarter" idx="38" hasCustomPrompt="1"/>
          </p:nvPr>
        </p:nvSpPr>
        <p:spPr>
          <a:xfrm>
            <a:off x="9227821" y="3990340"/>
            <a:ext cx="2627630"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8" name="Espaço Reservado para Conteúdo 14">
            <a:extLst>
              <a:ext uri="{FF2B5EF4-FFF2-40B4-BE49-F238E27FC236}">
                <a16:creationId xmlns:a16="http://schemas.microsoft.com/office/drawing/2014/main" id="{6681162B-1E93-C197-CB9E-B0B23E1654CD}"/>
              </a:ext>
            </a:extLst>
          </p:cNvPr>
          <p:cNvSpPr>
            <a:spLocks noGrp="1"/>
          </p:cNvSpPr>
          <p:nvPr>
            <p:ph sz="quarter" idx="39" hasCustomPrompt="1"/>
          </p:nvPr>
        </p:nvSpPr>
        <p:spPr>
          <a:xfrm>
            <a:off x="9227821" y="3679798"/>
            <a:ext cx="262763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42315154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566977" y="1584960"/>
            <a:ext cx="5288473"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566977" y="1274418"/>
            <a:ext cx="528847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3528124"/>
            <a:ext cx="6041390" cy="249326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3204686"/>
            <a:ext cx="604139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 name="Espaço Reservado para Conteúdo 14">
            <a:extLst>
              <a:ext uri="{FF2B5EF4-FFF2-40B4-BE49-F238E27FC236}">
                <a16:creationId xmlns:a16="http://schemas.microsoft.com/office/drawing/2014/main" id="{5D3092EC-482B-2055-B418-6ECC781DD6D8}"/>
              </a:ext>
            </a:extLst>
          </p:cNvPr>
          <p:cNvSpPr>
            <a:spLocks noGrp="1"/>
          </p:cNvSpPr>
          <p:nvPr>
            <p:ph sz="quarter" idx="36" hasCustomPrompt="1"/>
          </p:nvPr>
        </p:nvSpPr>
        <p:spPr>
          <a:xfrm>
            <a:off x="6566977" y="3990340"/>
            <a:ext cx="2508443"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E1C130BA-03F0-34FD-9AA2-518490344E40}"/>
              </a:ext>
            </a:extLst>
          </p:cNvPr>
          <p:cNvSpPr>
            <a:spLocks noGrp="1"/>
          </p:cNvSpPr>
          <p:nvPr>
            <p:ph sz="quarter" idx="37" hasCustomPrompt="1"/>
          </p:nvPr>
        </p:nvSpPr>
        <p:spPr>
          <a:xfrm>
            <a:off x="6566977" y="3679798"/>
            <a:ext cx="250844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 name="Espaço Reservado para Conteúdo 14">
            <a:extLst>
              <a:ext uri="{FF2B5EF4-FFF2-40B4-BE49-F238E27FC236}">
                <a16:creationId xmlns:a16="http://schemas.microsoft.com/office/drawing/2014/main" id="{7F640F0E-A6AD-1386-733A-0C0BB7F34F91}"/>
              </a:ext>
            </a:extLst>
          </p:cNvPr>
          <p:cNvSpPr>
            <a:spLocks noGrp="1"/>
          </p:cNvSpPr>
          <p:nvPr>
            <p:ph sz="quarter" idx="38" hasCustomPrompt="1"/>
          </p:nvPr>
        </p:nvSpPr>
        <p:spPr>
          <a:xfrm>
            <a:off x="9227821" y="3990340"/>
            <a:ext cx="2627630"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8" name="Espaço Reservado para Conteúdo 14">
            <a:extLst>
              <a:ext uri="{FF2B5EF4-FFF2-40B4-BE49-F238E27FC236}">
                <a16:creationId xmlns:a16="http://schemas.microsoft.com/office/drawing/2014/main" id="{6681162B-1E93-C197-CB9E-B0B23E1654CD}"/>
              </a:ext>
            </a:extLst>
          </p:cNvPr>
          <p:cNvSpPr>
            <a:spLocks noGrp="1"/>
          </p:cNvSpPr>
          <p:nvPr>
            <p:ph sz="quarter" idx="39" hasCustomPrompt="1"/>
          </p:nvPr>
        </p:nvSpPr>
        <p:spPr>
          <a:xfrm>
            <a:off x="9227821" y="3679798"/>
            <a:ext cx="262763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3" name="Espaço Reservado para Conteúdo 14">
            <a:extLst>
              <a:ext uri="{FF2B5EF4-FFF2-40B4-BE49-F238E27FC236}">
                <a16:creationId xmlns:a16="http://schemas.microsoft.com/office/drawing/2014/main" id="{A92E08F9-F00A-A907-6EF6-31E3F85C4E31}"/>
              </a:ext>
            </a:extLst>
          </p:cNvPr>
          <p:cNvSpPr>
            <a:spLocks noGrp="1"/>
          </p:cNvSpPr>
          <p:nvPr>
            <p:ph sz="quarter" idx="40" hasCustomPrompt="1"/>
          </p:nvPr>
        </p:nvSpPr>
        <p:spPr>
          <a:xfrm>
            <a:off x="336551" y="1584960"/>
            <a:ext cx="6047740" cy="15240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7" name="Espaço Reservado para Conteúdo 14">
            <a:extLst>
              <a:ext uri="{FF2B5EF4-FFF2-40B4-BE49-F238E27FC236}">
                <a16:creationId xmlns:a16="http://schemas.microsoft.com/office/drawing/2014/main" id="{F0C940AC-03DD-27B2-B4B2-53E1533DCE23}"/>
              </a:ext>
            </a:extLst>
          </p:cNvPr>
          <p:cNvSpPr>
            <a:spLocks noGrp="1"/>
          </p:cNvSpPr>
          <p:nvPr>
            <p:ph sz="quarter" idx="41" hasCustomPrompt="1"/>
          </p:nvPr>
        </p:nvSpPr>
        <p:spPr>
          <a:xfrm>
            <a:off x="336551" y="1274418"/>
            <a:ext cx="604774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39131558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566977" y="1295400"/>
            <a:ext cx="5288473" cy="231298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3223260"/>
            <a:ext cx="6041390" cy="279812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5D3092EC-482B-2055-B418-6ECC781DD6D8}"/>
              </a:ext>
            </a:extLst>
          </p:cNvPr>
          <p:cNvSpPr>
            <a:spLocks noGrp="1"/>
          </p:cNvSpPr>
          <p:nvPr>
            <p:ph sz="quarter" idx="36" hasCustomPrompt="1"/>
          </p:nvPr>
        </p:nvSpPr>
        <p:spPr>
          <a:xfrm>
            <a:off x="6566977" y="3990340"/>
            <a:ext cx="2508443"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E1C130BA-03F0-34FD-9AA2-518490344E40}"/>
              </a:ext>
            </a:extLst>
          </p:cNvPr>
          <p:cNvSpPr>
            <a:spLocks noGrp="1"/>
          </p:cNvSpPr>
          <p:nvPr>
            <p:ph sz="quarter" idx="37" hasCustomPrompt="1"/>
          </p:nvPr>
        </p:nvSpPr>
        <p:spPr>
          <a:xfrm>
            <a:off x="6566977" y="3679798"/>
            <a:ext cx="250844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 name="Espaço Reservado para Conteúdo 14">
            <a:extLst>
              <a:ext uri="{FF2B5EF4-FFF2-40B4-BE49-F238E27FC236}">
                <a16:creationId xmlns:a16="http://schemas.microsoft.com/office/drawing/2014/main" id="{7F640F0E-A6AD-1386-733A-0C0BB7F34F91}"/>
              </a:ext>
            </a:extLst>
          </p:cNvPr>
          <p:cNvSpPr>
            <a:spLocks noGrp="1"/>
          </p:cNvSpPr>
          <p:nvPr>
            <p:ph sz="quarter" idx="38" hasCustomPrompt="1"/>
          </p:nvPr>
        </p:nvSpPr>
        <p:spPr>
          <a:xfrm>
            <a:off x="9227821" y="3990340"/>
            <a:ext cx="2627630" cy="202342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8" name="Espaço Reservado para Conteúdo 14">
            <a:extLst>
              <a:ext uri="{FF2B5EF4-FFF2-40B4-BE49-F238E27FC236}">
                <a16:creationId xmlns:a16="http://schemas.microsoft.com/office/drawing/2014/main" id="{6681162B-1E93-C197-CB9E-B0B23E1654CD}"/>
              </a:ext>
            </a:extLst>
          </p:cNvPr>
          <p:cNvSpPr>
            <a:spLocks noGrp="1"/>
          </p:cNvSpPr>
          <p:nvPr>
            <p:ph sz="quarter" idx="39" hasCustomPrompt="1"/>
          </p:nvPr>
        </p:nvSpPr>
        <p:spPr>
          <a:xfrm>
            <a:off x="9227821" y="3679798"/>
            <a:ext cx="262763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3" name="Espaço Reservado para Conteúdo 14">
            <a:extLst>
              <a:ext uri="{FF2B5EF4-FFF2-40B4-BE49-F238E27FC236}">
                <a16:creationId xmlns:a16="http://schemas.microsoft.com/office/drawing/2014/main" id="{A92E08F9-F00A-A907-6EF6-31E3F85C4E31}"/>
              </a:ext>
            </a:extLst>
          </p:cNvPr>
          <p:cNvSpPr>
            <a:spLocks noGrp="1"/>
          </p:cNvSpPr>
          <p:nvPr>
            <p:ph sz="quarter" idx="40" hasCustomPrompt="1"/>
          </p:nvPr>
        </p:nvSpPr>
        <p:spPr>
          <a:xfrm>
            <a:off x="336551" y="1280160"/>
            <a:ext cx="6047740" cy="18288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428194472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4800601" y="1584960"/>
            <a:ext cx="7054850" cy="132588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4800600" y="1274418"/>
            <a:ext cx="705485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1275081"/>
            <a:ext cx="4250690" cy="474630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5D3092EC-482B-2055-B418-6ECC781DD6D8}"/>
              </a:ext>
            </a:extLst>
          </p:cNvPr>
          <p:cNvSpPr>
            <a:spLocks noGrp="1"/>
          </p:cNvSpPr>
          <p:nvPr>
            <p:ph sz="quarter" idx="36" hasCustomPrompt="1"/>
          </p:nvPr>
        </p:nvSpPr>
        <p:spPr>
          <a:xfrm>
            <a:off x="4814377" y="3352800"/>
            <a:ext cx="3217103" cy="266858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E1C130BA-03F0-34FD-9AA2-518490344E40}"/>
              </a:ext>
            </a:extLst>
          </p:cNvPr>
          <p:cNvSpPr>
            <a:spLocks noGrp="1"/>
          </p:cNvSpPr>
          <p:nvPr>
            <p:ph sz="quarter" idx="37" hasCustomPrompt="1"/>
          </p:nvPr>
        </p:nvSpPr>
        <p:spPr>
          <a:xfrm>
            <a:off x="4814377" y="3016858"/>
            <a:ext cx="322472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 name="Espaço Reservado para Conteúdo 14">
            <a:extLst>
              <a:ext uri="{FF2B5EF4-FFF2-40B4-BE49-F238E27FC236}">
                <a16:creationId xmlns:a16="http://schemas.microsoft.com/office/drawing/2014/main" id="{7F640F0E-A6AD-1386-733A-0C0BB7F34F91}"/>
              </a:ext>
            </a:extLst>
          </p:cNvPr>
          <p:cNvSpPr>
            <a:spLocks noGrp="1"/>
          </p:cNvSpPr>
          <p:nvPr>
            <p:ph sz="quarter" idx="38" hasCustomPrompt="1"/>
          </p:nvPr>
        </p:nvSpPr>
        <p:spPr>
          <a:xfrm>
            <a:off x="8159750" y="3345180"/>
            <a:ext cx="3695701" cy="115062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8" name="Espaço Reservado para Conteúdo 14">
            <a:extLst>
              <a:ext uri="{FF2B5EF4-FFF2-40B4-BE49-F238E27FC236}">
                <a16:creationId xmlns:a16="http://schemas.microsoft.com/office/drawing/2014/main" id="{6681162B-1E93-C197-CB9E-B0B23E1654CD}"/>
              </a:ext>
            </a:extLst>
          </p:cNvPr>
          <p:cNvSpPr>
            <a:spLocks noGrp="1"/>
          </p:cNvSpPr>
          <p:nvPr>
            <p:ph sz="quarter" idx="39" hasCustomPrompt="1"/>
          </p:nvPr>
        </p:nvSpPr>
        <p:spPr>
          <a:xfrm>
            <a:off x="8159750" y="3029268"/>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1" name="Espaço Reservado para Conteúdo 14">
            <a:extLst>
              <a:ext uri="{FF2B5EF4-FFF2-40B4-BE49-F238E27FC236}">
                <a16:creationId xmlns:a16="http://schemas.microsoft.com/office/drawing/2014/main" id="{328ACB55-10AB-CFE6-75F3-6E7EAB0F6548}"/>
              </a:ext>
            </a:extLst>
          </p:cNvPr>
          <p:cNvSpPr>
            <a:spLocks noGrp="1"/>
          </p:cNvSpPr>
          <p:nvPr>
            <p:ph sz="quarter" idx="40" hasCustomPrompt="1"/>
          </p:nvPr>
        </p:nvSpPr>
        <p:spPr>
          <a:xfrm>
            <a:off x="8159750" y="4870768"/>
            <a:ext cx="3695701" cy="115062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2" name="Espaço Reservado para Conteúdo 14">
            <a:extLst>
              <a:ext uri="{FF2B5EF4-FFF2-40B4-BE49-F238E27FC236}">
                <a16:creationId xmlns:a16="http://schemas.microsoft.com/office/drawing/2014/main" id="{E3B7863B-073A-8A41-DB6B-4D6E377A69EF}"/>
              </a:ext>
            </a:extLst>
          </p:cNvPr>
          <p:cNvSpPr>
            <a:spLocks noGrp="1"/>
          </p:cNvSpPr>
          <p:nvPr>
            <p:ph sz="quarter" idx="41" hasCustomPrompt="1"/>
          </p:nvPr>
        </p:nvSpPr>
        <p:spPr>
          <a:xfrm>
            <a:off x="8159750" y="4554856"/>
            <a:ext cx="36957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8528073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1591056"/>
            <a:ext cx="11518900" cy="443033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1267618"/>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18139620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DNE_Summar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227602"/>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err="1">
                <a:solidFill>
                  <a:srgbClr val="242424"/>
                </a:solidFill>
                <a:latin typeface="+mj-lt"/>
                <a:ea typeface="XP Light Lighthouse" pitchFamily="50" charset="0"/>
              </a:rPr>
              <a:t>Summary</a:t>
            </a:r>
            <a:endParaRPr lang="pt-BR" sz="580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09643" y="1178935"/>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09643" y="1509153"/>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1987019"/>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317237"/>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282231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15253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09643" y="36829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09643" y="40131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09643" y="5352616"/>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09643" y="5682834"/>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5" name="Espaço Reservado para Texto 6">
            <a:extLst>
              <a:ext uri="{FF2B5EF4-FFF2-40B4-BE49-F238E27FC236}">
                <a16:creationId xmlns:a16="http://schemas.microsoft.com/office/drawing/2014/main" id="{7FCEFA24-0D06-5356-D016-595C88F5CC95}"/>
              </a:ext>
            </a:extLst>
          </p:cNvPr>
          <p:cNvSpPr>
            <a:spLocks noGrp="1"/>
          </p:cNvSpPr>
          <p:nvPr>
            <p:ph type="body" sz="quarter" idx="27" hasCustomPrompt="1"/>
          </p:nvPr>
        </p:nvSpPr>
        <p:spPr>
          <a:xfrm>
            <a:off x="6609643" y="4511109"/>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6" name="Espaço Reservado para Texto 6">
            <a:extLst>
              <a:ext uri="{FF2B5EF4-FFF2-40B4-BE49-F238E27FC236}">
                <a16:creationId xmlns:a16="http://schemas.microsoft.com/office/drawing/2014/main" id="{9D6ADAC2-4427-C452-99EF-F669331FA9DC}"/>
              </a:ext>
            </a:extLst>
          </p:cNvPr>
          <p:cNvSpPr>
            <a:spLocks noGrp="1"/>
          </p:cNvSpPr>
          <p:nvPr>
            <p:ph type="body" sz="quarter" idx="28" hasCustomPrompt="1"/>
          </p:nvPr>
        </p:nvSpPr>
        <p:spPr>
          <a:xfrm>
            <a:off x="6609643" y="4841327"/>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Tree>
    <p:extLst>
      <p:ext uri="{BB962C8B-B14F-4D97-AF65-F5344CB8AC3E}">
        <p14:creationId xmlns:p14="http://schemas.microsoft.com/office/powerpoint/2010/main" val="18269174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3146097"/>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4902200"/>
            <a:ext cx="9131274" cy="111918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64127496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83850493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6551342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7993416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66328296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err="1">
                <a:solidFill>
                  <a:srgbClr val="242424"/>
                </a:solidFill>
                <a:latin typeface="+mj-lt"/>
                <a:ea typeface="XP Light Lighthouse" pitchFamily="50" charset="0"/>
              </a:rPr>
              <a:t>Summary</a:t>
            </a:r>
            <a:endParaRPr lang="pt-BR" sz="580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tx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6943030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B37B724-EF64-4BE4-A4A8-DD688A529BBA}" type="datetime4">
              <a:rPr lang="en-US" smtClean="0"/>
              <a:pPr/>
              <a:t>August 10, 2026</a:t>
            </a:fld>
            <a:endParaRPr lang="en-US"/>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9EDB1FC-BDC8-4D8B-9200-B40651578453}" type="datetime4">
              <a:rPr lang="en-US" smtClean="0"/>
              <a:pPr/>
              <a:t>August 10, 2026</a:t>
            </a:fld>
            <a:endParaRPr lang="en-US"/>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268083"/>
            <a:ext cx="6271835" cy="297611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36898" y="4692771"/>
            <a:ext cx="5607940" cy="132068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36898" y="4340519"/>
            <a:ext cx="560794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841297" y="1492738"/>
            <a:ext cx="5014153" cy="1146946"/>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841297" y="1274418"/>
            <a:ext cx="501415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4692771"/>
            <a:ext cx="5615676" cy="132068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4349146"/>
            <a:ext cx="561567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 name="Espaço Reservado para Conteúdo 14">
            <a:extLst>
              <a:ext uri="{FF2B5EF4-FFF2-40B4-BE49-F238E27FC236}">
                <a16:creationId xmlns:a16="http://schemas.microsoft.com/office/drawing/2014/main" id="{764E0849-87E7-7937-52DE-B9E2C0FACB4E}"/>
              </a:ext>
            </a:extLst>
          </p:cNvPr>
          <p:cNvSpPr>
            <a:spLocks noGrp="1"/>
          </p:cNvSpPr>
          <p:nvPr>
            <p:ph sz="quarter" idx="34" hasCustomPrompt="1"/>
          </p:nvPr>
        </p:nvSpPr>
        <p:spPr>
          <a:xfrm>
            <a:off x="6841297" y="3095300"/>
            <a:ext cx="5014153" cy="1146946"/>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8" name="Espaço Reservado para Conteúdo 14">
            <a:extLst>
              <a:ext uri="{FF2B5EF4-FFF2-40B4-BE49-F238E27FC236}">
                <a16:creationId xmlns:a16="http://schemas.microsoft.com/office/drawing/2014/main" id="{79E2B4F5-52BE-EF13-7D0B-DF9022CE67A5}"/>
              </a:ext>
            </a:extLst>
          </p:cNvPr>
          <p:cNvSpPr>
            <a:spLocks noGrp="1"/>
          </p:cNvSpPr>
          <p:nvPr>
            <p:ph sz="quarter" idx="35" hasCustomPrompt="1"/>
          </p:nvPr>
        </p:nvSpPr>
        <p:spPr>
          <a:xfrm>
            <a:off x="6841297" y="2876980"/>
            <a:ext cx="501415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2578624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268083"/>
            <a:ext cx="6041941" cy="257239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36898" y="4343400"/>
            <a:ext cx="5607940" cy="167005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36898" y="3967139"/>
            <a:ext cx="560794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566977" y="1584960"/>
            <a:ext cx="2508443" cy="226314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566977" y="1274418"/>
            <a:ext cx="250844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a:p>
        </p:txBody>
      </p:sp>
      <p:sp>
        <p:nvSpPr>
          <p:cNvPr id="2" name="Espaço Reservado para Conteúdo 14">
            <a:extLst>
              <a:ext uri="{FF2B5EF4-FFF2-40B4-BE49-F238E27FC236}">
                <a16:creationId xmlns:a16="http://schemas.microsoft.com/office/drawing/2014/main" id="{F57FA34E-3B2A-3F02-9E90-63CF8D675990}"/>
              </a:ext>
            </a:extLst>
          </p:cNvPr>
          <p:cNvSpPr>
            <a:spLocks noGrp="1"/>
          </p:cNvSpPr>
          <p:nvPr>
            <p:ph sz="quarter" idx="32" hasCustomPrompt="1"/>
          </p:nvPr>
        </p:nvSpPr>
        <p:spPr>
          <a:xfrm>
            <a:off x="336550" y="4343400"/>
            <a:ext cx="5615676" cy="167005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 name="Espaço Reservado para Conteúdo 14">
            <a:extLst>
              <a:ext uri="{FF2B5EF4-FFF2-40B4-BE49-F238E27FC236}">
                <a16:creationId xmlns:a16="http://schemas.microsoft.com/office/drawing/2014/main" id="{390F0F0D-E8AD-BB4B-9140-AC5A4BCD8482}"/>
              </a:ext>
            </a:extLst>
          </p:cNvPr>
          <p:cNvSpPr>
            <a:spLocks noGrp="1"/>
          </p:cNvSpPr>
          <p:nvPr>
            <p:ph sz="quarter" idx="33" hasCustomPrompt="1"/>
          </p:nvPr>
        </p:nvSpPr>
        <p:spPr>
          <a:xfrm>
            <a:off x="336550" y="3968146"/>
            <a:ext cx="561567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 name="Espaço Reservado para Conteúdo 14">
            <a:extLst>
              <a:ext uri="{FF2B5EF4-FFF2-40B4-BE49-F238E27FC236}">
                <a16:creationId xmlns:a16="http://schemas.microsoft.com/office/drawing/2014/main" id="{9B1B9595-74C9-EFDA-562F-19393CDEE1DE}"/>
              </a:ext>
            </a:extLst>
          </p:cNvPr>
          <p:cNvSpPr>
            <a:spLocks noGrp="1"/>
          </p:cNvSpPr>
          <p:nvPr>
            <p:ph sz="quarter" idx="34" hasCustomPrompt="1"/>
          </p:nvPr>
        </p:nvSpPr>
        <p:spPr>
          <a:xfrm>
            <a:off x="9227821" y="1584960"/>
            <a:ext cx="2627630" cy="226314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9" name="Espaço Reservado para Conteúdo 14">
            <a:extLst>
              <a:ext uri="{FF2B5EF4-FFF2-40B4-BE49-F238E27FC236}">
                <a16:creationId xmlns:a16="http://schemas.microsoft.com/office/drawing/2014/main" id="{AFA36AAA-B6C1-ABBB-BB68-0E22A22D065D}"/>
              </a:ext>
            </a:extLst>
          </p:cNvPr>
          <p:cNvSpPr>
            <a:spLocks noGrp="1"/>
          </p:cNvSpPr>
          <p:nvPr>
            <p:ph sz="quarter" idx="35" hasCustomPrompt="1"/>
          </p:nvPr>
        </p:nvSpPr>
        <p:spPr>
          <a:xfrm>
            <a:off x="9227821" y="1274418"/>
            <a:ext cx="262763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62594695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E5FF2B1-13CC-4FD8-A51D-E30001B400D7}" type="datetime4">
              <a:rPr lang="en-US" smtClean="0"/>
              <a:pPr/>
              <a:t>August 10, 2026</a:t>
            </a:fld>
            <a:endParaRPr lang="en-US"/>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B28F01B-1B26-4D5D-9A84-9F181CC0F8B4}" type="datetime4">
              <a:rPr lang="en-US" smtClean="0"/>
              <a:pPr/>
              <a:t>August 10, 2026</a:t>
            </a:fld>
            <a:endParaRPr lang="en-US"/>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August 10, 2026</a:t>
            </a:fld>
            <a:endParaRPr lang="en-US"/>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181080710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E23A8C0B-53FA-405C-9923-9E46C92CE8AC}" type="datetime4">
              <a:rPr lang="en-US" smtClean="0"/>
              <a:pPr/>
              <a:t>August 10, 2026</a:t>
            </a:fld>
            <a:endParaRPr lang="en-US"/>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843254"/>
            <a:ext cx="11519449" cy="553292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228600" lvl="0" indent="-228600" algn="just">
              <a:lnSpc>
                <a:spcPts val="800"/>
              </a:lnSpc>
              <a:buFont typeface="+mj-lt"/>
              <a:buAutoNum type="arabicPeriod"/>
            </a:pPr>
            <a:r>
              <a:rPr lang="en-US" sz="80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80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80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				</a:t>
            </a:r>
          </a:p>
          <a:p>
            <a:pPr marL="228600" lvl="0" indent="-228600" algn="just">
              <a:lnSpc>
                <a:spcPts val="800"/>
              </a:lnSpc>
              <a:buFont typeface="+mj-lt"/>
              <a:buAutoNum type="arabicPeriod"/>
            </a:pPr>
            <a:r>
              <a:rPr lang="en-US" sz="80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80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80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80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80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80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80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80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800" i="0" dirty="0"/>
              <a:t>The cost of the transactions billing policies are defined in the operational cost tables which are made available on XP Investimentos website: www.xpi.com.br.				</a:t>
            </a:r>
          </a:p>
          <a:p>
            <a:pPr marL="228600" lvl="0" indent="-228600" algn="just">
              <a:lnSpc>
                <a:spcPts val="800"/>
              </a:lnSpc>
              <a:buFont typeface="+mj-lt"/>
              <a:buAutoNum type="arabicPeriod"/>
            </a:pPr>
            <a:r>
              <a:rPr lang="en-US" sz="80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80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80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80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80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80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80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80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80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262881845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19" name="Graphic 18">
            <a:extLst>
              <a:ext uri="{FF2B5EF4-FFF2-40B4-BE49-F238E27FC236}">
                <a16:creationId xmlns:a16="http://schemas.microsoft.com/office/drawing/2014/main" id="{345F3351-3BD2-4B9A-BA60-BEB9AA3BB95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grpSp>
        <p:nvGrpSpPr>
          <p:cNvPr id="30" name="Group 29">
            <a:extLst>
              <a:ext uri="{FF2B5EF4-FFF2-40B4-BE49-F238E27FC236}">
                <a16:creationId xmlns:a16="http://schemas.microsoft.com/office/drawing/2014/main" id="{A6D5A3D4-77AA-4FD6-BFD2-DA6CD1AB33EE}"/>
              </a:ext>
            </a:extLst>
          </p:cNvPr>
          <p:cNvGrpSpPr/>
          <p:nvPr userDrawn="1"/>
        </p:nvGrpSpPr>
        <p:grpSpPr>
          <a:xfrm>
            <a:off x="5143500" y="3166424"/>
            <a:ext cx="1905000" cy="525152"/>
            <a:chOff x="2700591" y="2522601"/>
            <a:chExt cx="6428993" cy="1772284"/>
          </a:xfrm>
          <a:solidFill>
            <a:schemeClr val="bg1"/>
          </a:solidFill>
        </p:grpSpPr>
        <p:sp>
          <p:nvSpPr>
            <p:cNvPr id="31" name="Freeform: Shape 30">
              <a:extLst>
                <a:ext uri="{FF2B5EF4-FFF2-40B4-BE49-F238E27FC236}">
                  <a16:creationId xmlns:a16="http://schemas.microsoft.com/office/drawing/2014/main" id="{706D5AD4-4059-42BD-9704-B39FB52AB89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2964FBAC-2D79-4A3C-B87D-5B9EC9554C18}"/>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E1E3A6CE-CBA4-4051-8C21-DDBBF65D34F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E609C8CF-2726-4321-A74F-EF9BE0B737C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D1DCC2-2161-4ED0-AB91-EB55F20B227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CCD9825-0EB9-4C79-9074-059ACF4683B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65E5C0DA-F8CE-475D-8C2B-545C081CBC6C}"/>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540FB329-1FD6-43EB-A5B8-45F76DF8A1A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16E8BD8-423E-4DCF-96B8-EA5AC18C5F4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325F9323-32DB-4053-BC73-25006816CBE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2466231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29CAF-8DB1-4EC1-60DC-4961C0C94C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id="{2CE73E13-5749-6FF1-347D-45006E8976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DDCEEC53-23D7-43DC-018D-3D0F7010F462}"/>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5" name="Footer Placeholder 4">
            <a:extLst>
              <a:ext uri="{FF2B5EF4-FFF2-40B4-BE49-F238E27FC236}">
                <a16:creationId xmlns:a16="http://schemas.microsoft.com/office/drawing/2014/main" id="{539A3B62-9099-2B7C-9265-9F3DE9534E05}"/>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E3F15D13-C6B4-AFDB-57FA-F1ED232D3020}"/>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36859050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A046-FC04-CF0B-713A-452EB3E3C7AD}"/>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4B60AF60-0E04-53F4-4550-D8DDAC835A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41E8AA82-E3B1-6AFD-19E2-CF5CFB341EB3}"/>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5" name="Footer Placeholder 4">
            <a:extLst>
              <a:ext uri="{FF2B5EF4-FFF2-40B4-BE49-F238E27FC236}">
                <a16:creationId xmlns:a16="http://schemas.microsoft.com/office/drawing/2014/main" id="{236D84CA-0ACD-F1CD-0F62-24ABB239DABE}"/>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CE6D69BF-85EC-60BE-AD36-4597B7E8D850}"/>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17940244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D1C8-AAF8-7EA2-8510-3A7BDA103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C3AE5E04-DA87-BD23-E268-C8D94E6CE3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95B0E9-E3AD-A563-B28A-F67E503CBA9F}"/>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5" name="Footer Placeholder 4">
            <a:extLst>
              <a:ext uri="{FF2B5EF4-FFF2-40B4-BE49-F238E27FC236}">
                <a16:creationId xmlns:a16="http://schemas.microsoft.com/office/drawing/2014/main" id="{B09284B7-774E-E601-C5CF-7A9C2EA77542}"/>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8E70A9BB-C367-5D62-0918-2AEF51DCC0E3}"/>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856147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1A948-4B7D-1380-290E-4FB6F0E637B7}"/>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34A34E6B-A632-8DA9-6770-3D562542E7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id="{3DDEF456-C1F4-39FA-C1DE-3E7F26A44F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id="{E75F413C-AEBB-C1F6-9903-73225458170D}"/>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6" name="Footer Placeholder 5">
            <a:extLst>
              <a:ext uri="{FF2B5EF4-FFF2-40B4-BE49-F238E27FC236}">
                <a16:creationId xmlns:a16="http://schemas.microsoft.com/office/drawing/2014/main" id="{E4FC65BA-6FA7-0F78-267F-6978DABDAC69}"/>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D0C37E2D-B8CF-72DD-853C-FE91FE3B887E}"/>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36868736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F686-9C5F-1973-665C-2CC14C14D69D}"/>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id="{3964D9D3-52E9-579F-D0B8-DCB62FA636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A8CE34-894F-27AC-9B6D-5997ACD376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id="{40F611C2-6B65-E34A-8FD7-E748997A5E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62386-542F-BF86-E88D-3B5DE7972A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id="{060B6B26-EAED-5DB1-3829-0E05FA4EAD26}"/>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8" name="Footer Placeholder 7">
            <a:extLst>
              <a:ext uri="{FF2B5EF4-FFF2-40B4-BE49-F238E27FC236}">
                <a16:creationId xmlns:a16="http://schemas.microsoft.com/office/drawing/2014/main" id="{5AD0A24F-5F0F-4FED-8BCE-29025522734C}"/>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D155C26D-4D0B-B363-5224-94590877951B}"/>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8483129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34C9-60AB-4599-DD62-3B6F9F492BF0}"/>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id="{8BC2C601-3C2C-4D26-F797-2C100B9BF881}"/>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4" name="Footer Placeholder 3">
            <a:extLst>
              <a:ext uri="{FF2B5EF4-FFF2-40B4-BE49-F238E27FC236}">
                <a16:creationId xmlns:a16="http://schemas.microsoft.com/office/drawing/2014/main" id="{382549CA-5E62-8A2B-2F8A-3A25461551CC}"/>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F9118FE7-76A7-46F4-E859-1F1278CB0CB8}"/>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3271316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2B78EF-D4D6-3380-4C34-6452A7F53CD3}"/>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3" name="Footer Placeholder 2">
            <a:extLst>
              <a:ext uri="{FF2B5EF4-FFF2-40B4-BE49-F238E27FC236}">
                <a16:creationId xmlns:a16="http://schemas.microsoft.com/office/drawing/2014/main" id="{5381A7C0-49CA-9307-7A2E-E1697E57F869}"/>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07C92507-168C-2A78-D02C-EE03DFE97ECA}"/>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11488614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A9934-E37F-27BF-7D34-18001F2636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id="{CB255313-C5DB-998A-BCFD-6F5BC7C800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id="{5B7E30DE-A8FD-3860-A9E9-ED2BEEF4D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F1282F-198A-A5CC-9BB8-4C6CE2514EDC}"/>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6" name="Footer Placeholder 5">
            <a:extLst>
              <a:ext uri="{FF2B5EF4-FFF2-40B4-BE49-F238E27FC236}">
                <a16:creationId xmlns:a16="http://schemas.microsoft.com/office/drawing/2014/main" id="{F9305CEF-7B48-242C-C915-F72562AC29EE}"/>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0A40414F-7ACD-1769-401D-1A23856EBA59}"/>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30130866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51D61-1E43-7448-3A65-F6903C093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id="{AA3D4784-9572-6D2C-3674-9AD690A190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id="{2725B830-78F3-4E8B-4692-C63330A24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0D36C4-0F62-E13F-51D0-A60BCD15755D}"/>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6" name="Footer Placeholder 5">
            <a:extLst>
              <a:ext uri="{FF2B5EF4-FFF2-40B4-BE49-F238E27FC236}">
                <a16:creationId xmlns:a16="http://schemas.microsoft.com/office/drawing/2014/main" id="{3AF89731-593F-3811-A82D-8F38D195CF5F}"/>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A0434708-8A11-19E9-E312-72204C7A7437}"/>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8545476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555A-ADC7-2607-C899-DB12CE5B50E8}"/>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61CA4548-29CF-7AB4-C0A8-2078BF25F7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567B81F0-0622-F713-B7EC-25631AD660C4}"/>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5" name="Footer Placeholder 4">
            <a:extLst>
              <a:ext uri="{FF2B5EF4-FFF2-40B4-BE49-F238E27FC236}">
                <a16:creationId xmlns:a16="http://schemas.microsoft.com/office/drawing/2014/main" id="{AE309A75-4378-B061-FAFA-D572997C666F}"/>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952295D5-11D3-F443-1E57-AF230AE69B38}"/>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14861103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49B7A3-FE54-4452-B6E0-05D490A5B0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7A614166-CB2F-5C59-B7CF-412892C1A5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6EEAA036-639A-752A-ED38-7679B783D75C}"/>
              </a:ext>
            </a:extLst>
          </p:cNvPr>
          <p:cNvSpPr>
            <a:spLocks noGrp="1"/>
          </p:cNvSpPr>
          <p:nvPr>
            <p:ph type="dt" sz="half" idx="10"/>
          </p:nvPr>
        </p:nvSpPr>
        <p:spPr/>
        <p:txBody>
          <a:bodyPr/>
          <a:lstStyle/>
          <a:p>
            <a:fld id="{C36693EA-FFC3-41DA-8F9A-C49BB81557A5}" type="datetimeFigureOut">
              <a:rPr lang="pt-BR" smtClean="0"/>
              <a:t>10/08/2026</a:t>
            </a:fld>
            <a:endParaRPr lang="pt-BR"/>
          </a:p>
        </p:txBody>
      </p:sp>
      <p:sp>
        <p:nvSpPr>
          <p:cNvPr id="5" name="Footer Placeholder 4">
            <a:extLst>
              <a:ext uri="{FF2B5EF4-FFF2-40B4-BE49-F238E27FC236}">
                <a16:creationId xmlns:a16="http://schemas.microsoft.com/office/drawing/2014/main" id="{964EDB6A-21DA-0305-912F-ED577E8CB25E}"/>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745DD5A4-A72C-8F01-DA2E-40D0AAEC0686}"/>
              </a:ext>
            </a:extLst>
          </p:cNvPr>
          <p:cNvSpPr>
            <a:spLocks noGrp="1"/>
          </p:cNvSpPr>
          <p:nvPr>
            <p:ph type="sldNum" sz="quarter" idx="12"/>
          </p:nvPr>
        </p:nvSpPr>
        <p:spPr/>
        <p:txBody>
          <a:bodyPr/>
          <a:lstStyle/>
          <a:p>
            <a:fld id="{CBAB1A97-5690-4E1C-BEA8-89E81DA3A248}" type="slidenum">
              <a:rPr lang="pt-BR" smtClean="0"/>
              <a:t>‹#›</a:t>
            </a:fld>
            <a:endParaRPr lang="pt-BR"/>
          </a:p>
        </p:txBody>
      </p:sp>
    </p:spTree>
    <p:extLst>
      <p:ext uri="{BB962C8B-B14F-4D97-AF65-F5344CB8AC3E}">
        <p14:creationId xmlns:p14="http://schemas.microsoft.com/office/powerpoint/2010/main" val="21252599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60" name="Picture 59" descr="A black background with white text&#10;&#10;Description automatically generated">
            <a:extLst>
              <a:ext uri="{FF2B5EF4-FFF2-40B4-BE49-F238E27FC236}">
                <a16:creationId xmlns:a16="http://schemas.microsoft.com/office/drawing/2014/main" id="{3947FB2A-59C4-E45A-AD0C-11439241CCE8}"/>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44091" y="1755982"/>
            <a:ext cx="2253138" cy="1021091"/>
          </a:xfrm>
          <a:prstGeom prst="rect">
            <a:avLst/>
          </a:prstGeom>
        </p:spPr>
      </p:pic>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Tree>
    <p:extLst>
      <p:ext uri="{BB962C8B-B14F-4D97-AF65-F5344CB8AC3E}">
        <p14:creationId xmlns:p14="http://schemas.microsoft.com/office/powerpoint/2010/main" val="356177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9" name="Picture 8" descr="A white text on a black background&#10;&#10;AI-generated content may be incorrect.">
            <a:extLst>
              <a:ext uri="{FF2B5EF4-FFF2-40B4-BE49-F238E27FC236}">
                <a16:creationId xmlns:a16="http://schemas.microsoft.com/office/drawing/2014/main" id="{D84F9E62-71B2-64DA-8722-EB9303C217E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9"/>
          <a:stretch/>
        </p:blipFill>
        <p:spPr>
          <a:xfrm>
            <a:off x="335998" y="5420832"/>
            <a:ext cx="9131259" cy="767564"/>
          </a:xfrm>
          <a:prstGeom prst="rect">
            <a:avLst/>
          </a:prstGeom>
        </p:spPr>
      </p:pic>
      <p:grpSp>
        <p:nvGrpSpPr>
          <p:cNvPr id="2" name="Group 1">
            <a:extLst>
              <a:ext uri="{FF2B5EF4-FFF2-40B4-BE49-F238E27FC236}">
                <a16:creationId xmlns:a16="http://schemas.microsoft.com/office/drawing/2014/main" id="{E18F5F18-BB79-53FB-9660-152CE211DBA9}"/>
              </a:ext>
            </a:extLst>
          </p:cNvPr>
          <p:cNvGrpSpPr/>
          <p:nvPr userDrawn="1"/>
        </p:nvGrpSpPr>
        <p:grpSpPr>
          <a:xfrm flipH="1">
            <a:off x="-1" y="-1"/>
            <a:ext cx="12192001" cy="1476874"/>
            <a:chOff x="-21880" y="104870"/>
            <a:chExt cx="24831713" cy="3007981"/>
          </a:xfrm>
        </p:grpSpPr>
        <p:pic>
          <p:nvPicPr>
            <p:cNvPr id="4" name="Graphic 3">
              <a:extLst>
                <a:ext uri="{FF2B5EF4-FFF2-40B4-BE49-F238E27FC236}">
                  <a16:creationId xmlns:a16="http://schemas.microsoft.com/office/drawing/2014/main" id="{A02ED699-17C1-B2D3-65C4-B62C15988471}"/>
                </a:ext>
              </a:extLst>
            </p:cNvPr>
            <p:cNvPicPr>
              <a:picLocks noChangeAspect="1"/>
            </p:cNvPicPr>
            <p:nvPr/>
          </p:nvPicPr>
          <p:blipFill rotWithShape="1">
            <a:blip>
              <a:extLst>
                <a:ext uri="{96DAC541-7B7A-43D3-8B79-37D633B846F1}">
                  <asvg:svgBlip xmlns:asvg="http://schemas.microsoft.com/office/drawing/2016/SVG/main" r:embed="rId4"/>
                </a:ext>
              </a:extLst>
            </a:blip>
            <a:srcRect l="2074" t="34416" r="2084" b="26700"/>
            <a:stretch/>
          </p:blipFill>
          <p:spPr>
            <a:xfrm>
              <a:off x="-21878" y="104870"/>
              <a:ext cx="24831711" cy="3007979"/>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77CB3A1D-5FB2-9177-0543-AFA632B64B17}"/>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6" name="Graphic 5">
            <a:extLst>
              <a:ext uri="{FF2B5EF4-FFF2-40B4-BE49-F238E27FC236}">
                <a16:creationId xmlns:a16="http://schemas.microsoft.com/office/drawing/2014/main" id="{9F2F34A4-3136-EDD1-F820-A308329C2F9C}"/>
              </a:ext>
            </a:extLst>
          </p:cNvPr>
          <p:cNvPicPr>
            <a:picLocks noChangeAspect="1"/>
          </p:cNvPicPr>
          <p:nvPr userDrawn="1"/>
        </p:nvPicPr>
        <p:blipFill>
          <a:blip>
            <a:alphaModFix amt="66000"/>
            <a:extLst>
              <a:ext uri="{96DAC541-7B7A-43D3-8B79-37D633B846F1}">
                <asvg:svgBlip xmlns:asvg="http://schemas.microsoft.com/office/drawing/2016/SVG/main" r:embed="rId7"/>
              </a:ext>
            </a:extLst>
          </a:blip>
          <a:srcRect l="53468" t="61870" r="40853" b="-21011"/>
          <a:stretch/>
        </p:blipFill>
        <p:spPr>
          <a:xfrm rot="5400000" flipH="1">
            <a:off x="7902964" y="-2810267"/>
            <a:ext cx="1468025" cy="7088555"/>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9"/>
            <a:ext cx="9131274" cy="1879104"/>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3633235"/>
            <a:ext cx="9131274" cy="150836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63322405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35698334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28322152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06281320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30412215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51412595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6984C4-29A3-B40D-20F9-38A3F174C4E1}"/>
              </a:ext>
            </a:extLst>
          </p:cNvPr>
          <p:cNvGrpSpPr/>
          <p:nvPr userDrawn="1"/>
        </p:nvGrpSpPr>
        <p:grpSpPr>
          <a:xfrm flipV="1">
            <a:off x="5334002" y="2567"/>
            <a:ext cx="6857998" cy="6931633"/>
            <a:chOff x="-3280787" y="2059177"/>
            <a:chExt cx="4747846" cy="4798823"/>
          </a:xfrm>
        </p:grpSpPr>
        <p:pic>
          <p:nvPicPr>
            <p:cNvPr id="6" name="Graphic 5">
              <a:extLst>
                <a:ext uri="{FF2B5EF4-FFF2-40B4-BE49-F238E27FC236}">
                  <a16:creationId xmlns:a16="http://schemas.microsoft.com/office/drawing/2014/main" id="{91C3C31C-64C4-0C97-02D2-7CC7AD2844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659" t="4143" r="65424" b="41548"/>
            <a:stretch/>
          </p:blipFill>
          <p:spPr>
            <a:xfrm flipV="1">
              <a:off x="-3280787" y="2059177"/>
              <a:ext cx="4747846" cy="4798823"/>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C909F457-7675-FDFE-87A1-CE8910B2C99C}"/>
                </a:ext>
              </a:extLst>
            </p:cNvPr>
            <p:cNvPicPr>
              <a:picLocks noChangeAspect="1"/>
            </p:cNvPicPr>
            <p:nvPr userDrawn="1"/>
          </p:nvPicPr>
          <p:blipFill>
            <a:blip r:embed="rId3">
              <a:alphaModFix amt="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2059177"/>
              <a:ext cx="4747846" cy="4798823"/>
            </a:xfrm>
            <a:prstGeom prst="rect">
              <a:avLst/>
            </a:prstGeom>
          </p:spPr>
        </p:pic>
      </p:grpSp>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dirty="0" err="1">
                <a:solidFill>
                  <a:srgbClr val="242424"/>
                </a:solidFill>
                <a:latin typeface="+mj-lt"/>
                <a:ea typeface="XP Light Lighthouse" pitchFamily="50" charset="0"/>
              </a:rPr>
              <a:t>Summary</a:t>
            </a:r>
            <a:endParaRPr lang="pt-BR" sz="5800" dirty="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cxnSp>
        <p:nvCxnSpPr>
          <p:cNvPr id="9" name="Straight Connector 8">
            <a:extLst>
              <a:ext uri="{FF2B5EF4-FFF2-40B4-BE49-F238E27FC236}">
                <a16:creationId xmlns:a16="http://schemas.microsoft.com/office/drawing/2014/main" id="{77AB3FB9-B22D-69B5-FDE0-03955081039D}"/>
              </a:ext>
            </a:extLst>
          </p:cNvPr>
          <p:cNvCxnSpPr>
            <a:cxnSpLocks/>
          </p:cNvCxnSpPr>
          <p:nvPr userDrawn="1"/>
        </p:nvCxnSpPr>
        <p:spPr>
          <a:xfrm flipH="1">
            <a:off x="7705725" y="555420"/>
            <a:ext cx="1943100" cy="0"/>
          </a:xfrm>
          <a:prstGeom prst="line">
            <a:avLst/>
          </a:prstGeom>
          <a:ln w="15875">
            <a:gradFill>
              <a:gsLst>
                <a:gs pos="0">
                  <a:srgbClr val="63C1F0">
                    <a:alpha val="67000"/>
                  </a:srgbClr>
                </a:gs>
                <a:gs pos="100000">
                  <a:srgbClr val="84B7FF"/>
                </a:gs>
              </a:gsLst>
              <a:lin ang="10800000" scaled="0"/>
            </a:gradFil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829A26EE-4AE0-2BD5-F845-DEE656369C45}"/>
              </a:ext>
            </a:extLst>
          </p:cNvPr>
          <p:cNvGrpSpPr/>
          <p:nvPr userDrawn="1"/>
        </p:nvGrpSpPr>
        <p:grpSpPr>
          <a:xfrm>
            <a:off x="0" y="2191657"/>
            <a:ext cx="6096000" cy="4704443"/>
            <a:chOff x="0" y="2191657"/>
            <a:chExt cx="6096000" cy="4704443"/>
          </a:xfrm>
        </p:grpSpPr>
        <p:cxnSp>
          <p:nvCxnSpPr>
            <p:cNvPr id="39" name="Conector reto 7">
              <a:extLst>
                <a:ext uri="{FF2B5EF4-FFF2-40B4-BE49-F238E27FC236}">
                  <a16:creationId xmlns:a16="http://schemas.microsoft.com/office/drawing/2014/main" id="{2E22FFA9-6E0D-EFBF-1E5D-2714B755DEA4}"/>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40" name="Conector reto 2">
              <a:extLst>
                <a:ext uri="{FF2B5EF4-FFF2-40B4-BE49-F238E27FC236}">
                  <a16:creationId xmlns:a16="http://schemas.microsoft.com/office/drawing/2014/main" id="{482D91AB-407C-37C3-6024-D241AD434EC7}"/>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pic>
        <p:nvPicPr>
          <p:cNvPr id="8" name="Graphic 7">
            <a:extLst>
              <a:ext uri="{FF2B5EF4-FFF2-40B4-BE49-F238E27FC236}">
                <a16:creationId xmlns:a16="http://schemas.microsoft.com/office/drawing/2014/main" id="{D8D31F3E-3433-6616-39E4-837BA5023049}"/>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51220" t="85161" r="41053" b="-17761"/>
          <a:stretch/>
        </p:blipFill>
        <p:spPr>
          <a:xfrm rot="16200000">
            <a:off x="7584661" y="-1615234"/>
            <a:ext cx="3116242" cy="6095188"/>
          </a:xfrm>
          <a:prstGeom prst="rect">
            <a:avLst/>
          </a:prstGeom>
        </p:spPr>
      </p:pic>
    </p:spTree>
    <p:extLst>
      <p:ext uri="{BB962C8B-B14F-4D97-AF65-F5344CB8AC3E}">
        <p14:creationId xmlns:p14="http://schemas.microsoft.com/office/powerpoint/2010/main" val="42046476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9134025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B37B724-EF64-4BE4-A4A8-DD688A529BBA}" type="datetime4">
              <a:rPr lang="en-US" smtClean="0"/>
              <a:pPr/>
              <a:t>August 10, 2026</a:t>
            </a:fld>
            <a:endParaRPr lang="en-US" dirty="0"/>
          </a:p>
        </p:txBody>
      </p:sp>
    </p:spTree>
    <p:extLst>
      <p:ext uri="{BB962C8B-B14F-4D97-AF65-F5344CB8AC3E}">
        <p14:creationId xmlns:p14="http://schemas.microsoft.com/office/powerpoint/2010/main" val="339370467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9EDB1FC-BDC8-4D8B-9200-B40651578453}" type="datetime4">
              <a:rPr lang="en-US" smtClean="0"/>
              <a:pPr/>
              <a:t>August 10, 2026</a:t>
            </a:fld>
            <a:endParaRPr lang="en-US" dirty="0"/>
          </a:p>
        </p:txBody>
      </p:sp>
    </p:spTree>
    <p:extLst>
      <p:ext uri="{BB962C8B-B14F-4D97-AF65-F5344CB8AC3E}">
        <p14:creationId xmlns:p14="http://schemas.microsoft.com/office/powerpoint/2010/main" val="293219230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dirty="0"/>
          </a:p>
        </p:txBody>
      </p:sp>
    </p:spTree>
    <p:extLst>
      <p:ext uri="{BB962C8B-B14F-4D97-AF65-F5344CB8AC3E}">
        <p14:creationId xmlns:p14="http://schemas.microsoft.com/office/powerpoint/2010/main" val="102092629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E5FF2B1-13CC-4FD8-A51D-E30001B400D7}" type="datetime4">
              <a:rPr lang="en-US" smtClean="0"/>
              <a:pPr/>
              <a:t>August 10, 2026</a:t>
            </a:fld>
            <a:endParaRPr lang="en-US" dirty="0"/>
          </a:p>
        </p:txBody>
      </p:sp>
    </p:spTree>
    <p:extLst>
      <p:ext uri="{BB962C8B-B14F-4D97-AF65-F5344CB8AC3E}">
        <p14:creationId xmlns:p14="http://schemas.microsoft.com/office/powerpoint/2010/main" val="114946221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B28F01B-1B26-4D5D-9A84-9F181CC0F8B4}" type="datetime4">
              <a:rPr lang="en-US" smtClean="0"/>
              <a:pPr/>
              <a:t>August 10, 2026</a:t>
            </a:fld>
            <a:endParaRPr lang="en-US" dirty="0"/>
          </a:p>
        </p:txBody>
      </p:sp>
    </p:spTree>
    <p:extLst>
      <p:ext uri="{BB962C8B-B14F-4D97-AF65-F5344CB8AC3E}">
        <p14:creationId xmlns:p14="http://schemas.microsoft.com/office/powerpoint/2010/main" val="5333264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August 10,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75621426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E23A8C0B-53FA-405C-9923-9E46C92CE8AC}" type="datetime4">
              <a:rPr lang="en-US" smtClean="0"/>
              <a:pPr/>
              <a:t>August 10,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22514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nSpc>
                <a:spcPts val="800"/>
              </a:lnSpc>
              <a:buNone/>
            </a:pPr>
            <a:r>
              <a:rPr lang="en-US" sz="900" dirty="0"/>
              <a:t>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nSpc>
                <a:spcPts val="800"/>
              </a:lnSpc>
              <a:buAutoNum type="arabicParenR"/>
            </a:pPr>
            <a:endParaRPr lang="en-US" sz="900" dirty="0"/>
          </a:p>
          <a:p>
            <a:pPr lvl="0">
              <a:lnSpc>
                <a:spcPts val="800"/>
              </a:lnSpc>
            </a:pPr>
            <a:r>
              <a:rPr lang="en-US" sz="900" dirty="0"/>
              <a:t>2) This report was prepared considering the product risk classification in order to generate allocation results for each investor profile.  </a:t>
            </a:r>
          </a:p>
          <a:p>
            <a:pPr lvl="0">
              <a:lnSpc>
                <a:spcPts val="800"/>
              </a:lnSpc>
            </a:pPr>
            <a:endParaRPr lang="en-US" sz="900" dirty="0"/>
          </a:p>
          <a:p>
            <a:pPr lvl="0">
              <a:lnSpc>
                <a:spcPts val="800"/>
              </a:lnSpc>
            </a:pPr>
            <a:r>
              <a:rPr lang="en-US" sz="900" dirty="0"/>
              <a:t>3)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lnSpc>
                <a:spcPts val="800"/>
              </a:lnSpc>
            </a:pPr>
            <a:endParaRPr lang="en-US" sz="900" dirty="0"/>
          </a:p>
          <a:p>
            <a:pPr lvl="0">
              <a:lnSpc>
                <a:spcPts val="800"/>
              </a:lnSpc>
            </a:pPr>
            <a:r>
              <a:rPr lang="en-US" sz="900" dirty="0"/>
              <a:t>4)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lnSpc>
                <a:spcPts val="800"/>
              </a:lnSpc>
            </a:pPr>
            <a:endParaRPr lang="en-US" sz="900" dirty="0"/>
          </a:p>
          <a:p>
            <a:pPr lvl="0">
              <a:lnSpc>
                <a:spcPts val="800"/>
              </a:lnSpc>
            </a:pPr>
            <a:r>
              <a:rPr lang="en-US" sz="900" dirty="0"/>
              <a:t>5) XP Investimentos’ analysts are obligated to comply with all the rules laid down in the APIMEC’s conduct code for the securities analyst and XP Investimentos’ analyst of securities conduct policy.  </a:t>
            </a:r>
          </a:p>
          <a:p>
            <a:pPr lvl="0">
              <a:lnSpc>
                <a:spcPts val="800"/>
              </a:lnSpc>
            </a:pPr>
            <a:endParaRPr lang="en-US" sz="900" dirty="0"/>
          </a:p>
          <a:p>
            <a:pPr lvl="0">
              <a:lnSpc>
                <a:spcPts val="800"/>
              </a:lnSpc>
            </a:pPr>
            <a:r>
              <a:rPr lang="en-US" sz="900" dirty="0"/>
              <a:t>6)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lnSpc>
                <a:spcPts val="800"/>
              </a:lnSpc>
            </a:pPr>
            <a:endParaRPr lang="en-US" sz="900" dirty="0"/>
          </a:p>
          <a:p>
            <a:pPr lvl="0">
              <a:lnSpc>
                <a:spcPts val="800"/>
              </a:lnSpc>
            </a:pPr>
            <a:r>
              <a:rPr lang="en-US" sz="900" dirty="0"/>
              <a:t>7)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lnSpc>
                <a:spcPts val="800"/>
              </a:lnSpc>
            </a:pPr>
            <a:endParaRPr lang="en-US" sz="900" dirty="0"/>
          </a:p>
          <a:p>
            <a:pPr lvl="0">
              <a:lnSpc>
                <a:spcPts val="800"/>
              </a:lnSpc>
            </a:pPr>
            <a:r>
              <a:rPr lang="en-US" sz="900" dirty="0"/>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lnSpc>
                <a:spcPts val="800"/>
              </a:lnSpc>
            </a:pPr>
            <a:endParaRPr lang="en-US" sz="900" dirty="0"/>
          </a:p>
          <a:p>
            <a:pPr lvl="0">
              <a:lnSpc>
                <a:spcPts val="800"/>
              </a:lnSpc>
            </a:pPr>
            <a:r>
              <a:rPr lang="en-US" sz="900" dirty="0"/>
              <a:t>9)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lnSpc>
                <a:spcPts val="800"/>
              </a:lnSpc>
            </a:pPr>
            <a:endParaRPr lang="en-US" sz="900" dirty="0"/>
          </a:p>
          <a:p>
            <a:pPr lvl="0">
              <a:lnSpc>
                <a:spcPts val="800"/>
              </a:lnSpc>
            </a:pPr>
            <a:r>
              <a:rPr lang="en-US" sz="900" dirty="0"/>
              <a:t>10) XP Investimentos’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lnSpc>
                <a:spcPts val="800"/>
              </a:lnSpc>
            </a:pPr>
            <a:endParaRPr lang="en-US" sz="900" dirty="0"/>
          </a:p>
          <a:p>
            <a:pPr lvl="0">
              <a:lnSpc>
                <a:spcPts val="800"/>
              </a:lnSpc>
            </a:pPr>
            <a:r>
              <a:rPr lang="en-US" sz="900" dirty="0"/>
              <a:t>11) The cost of the transactions billing policies are defined in the operational cost tables which are made available on XP Investimentos' website: </a:t>
            </a:r>
            <a:r>
              <a:rPr lang="en-US" sz="900" dirty="0">
                <a:hlinkClick r:id="rId3"/>
              </a:rPr>
              <a:t>www.xpi.com.br</a:t>
            </a:r>
            <a:r>
              <a:rPr lang="en-US" sz="900" dirty="0"/>
              <a:t>.</a:t>
            </a:r>
          </a:p>
          <a:p>
            <a:pPr lvl="0">
              <a:lnSpc>
                <a:spcPts val="800"/>
              </a:lnSpc>
            </a:pPr>
            <a:endParaRPr lang="en-US" sz="900" dirty="0"/>
          </a:p>
          <a:p>
            <a:pPr lvl="0">
              <a:lnSpc>
                <a:spcPts val="800"/>
              </a:lnSpc>
            </a:pPr>
            <a:r>
              <a:rPr lang="en-US" sz="900" dirty="0"/>
              <a:t>12) XP Investimentos is exempt from any liability for any damages, direct or indirect, that come from the use of this report or its contents. </a:t>
            </a:r>
          </a:p>
          <a:p>
            <a:pPr lvl="0">
              <a:lnSpc>
                <a:spcPts val="800"/>
              </a:lnSpc>
            </a:pPr>
            <a:endParaRPr lang="en-US" sz="900" dirty="0"/>
          </a:p>
          <a:p>
            <a:pPr lvl="0">
              <a:lnSpc>
                <a:spcPts val="800"/>
              </a:lnSpc>
            </a:pPr>
            <a:r>
              <a:rPr lang="en-US" sz="900" dirty="0"/>
              <a:t>13)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lnSpc>
                <a:spcPts val="800"/>
              </a:lnSpc>
            </a:pPr>
            <a:endParaRPr lang="en-US" sz="900" dirty="0"/>
          </a:p>
          <a:p>
            <a:pPr lvl="0">
              <a:lnSpc>
                <a:spcPts val="800"/>
              </a:lnSpc>
            </a:pPr>
            <a:r>
              <a:rPr lang="en-US" sz="900" dirty="0"/>
              <a:t>14) For the purpose of verifying the suitability of the investor's profile to the investment services and products offered by XP Investimentos, we use the methodology of suitability of products by portfolio, in accordance with the ANBIMA Suitability Rules and Procedures  01 and the ANBIMA Regulation Code for Investment Product Distribution Practices. This methodology consists of assigning a maximum risk score for each investor profile (conservative, moderate and aggressive), as well as a risk score for each of the products offered by XP Investimentos, so that all clients can have access to all the products, as long as they are within the amounts and limits of the risk score defined for their profile. Before applying to the products and/or contracting the services that are the subject of this material, it is important to verify that the current risk score supports the application in the products and/or the contracting of the services in question, as well as if there are volume limitations, concentration and/or amount for the desired application. You can consult this information directly at the time of transmission of your order, or by consulting the general risk of your portfolio on the portfolio screen (Risk View). If your current risk score does not support the intended application/contracting, or if there are limitations in relation to the amount and/or financial volume for said application/contracting, this means that, based on the current composition of your portfolio, this application is not suitable for your profile. In case of doubts about the process of adapting the products offered by XP Investimentos to your investor profile, consult the FAQ. The recommended duration of the investment is short-term and the client's assets are not guaranteed in this type of product. Market conditions, climate change and the macroeconomic scenario may affect investment performance.</a:t>
            </a:r>
          </a:p>
          <a:p>
            <a:pPr lvl="0">
              <a:lnSpc>
                <a:spcPts val="800"/>
              </a:lnSpc>
            </a:pPr>
            <a:endParaRPr lang="en-US" sz="900" dirty="0"/>
          </a:p>
          <a:p>
            <a:pPr lvl="0">
              <a:lnSpc>
                <a:spcPts val="800"/>
              </a:lnSpc>
            </a:pPr>
            <a:r>
              <a:rPr lang="en-US" sz="900" dirty="0"/>
              <a:t>15)  This institution is adhering CVM Resolution 16/21.</a:t>
            </a:r>
          </a:p>
        </p:txBody>
      </p:sp>
    </p:spTree>
    <p:extLst>
      <p:ext uri="{BB962C8B-B14F-4D97-AF65-F5344CB8AC3E}">
        <p14:creationId xmlns:p14="http://schemas.microsoft.com/office/powerpoint/2010/main" val="216030464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1_Layout Personalizado">
    <p:bg>
      <p:bgPr>
        <a:solidFill>
          <a:schemeClr val="bg1">
            <a:lumMod val="95000"/>
          </a:schemeClr>
        </a:solidFill>
        <a:effectLst/>
      </p:bgPr>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75312585-0E97-0F65-AD40-D42923894AA3}"/>
              </a:ext>
            </a:extLst>
          </p:cNvPr>
          <p:cNvGrpSpPr/>
          <p:nvPr userDrawn="1"/>
        </p:nvGrpSpPr>
        <p:grpSpPr>
          <a:xfrm>
            <a:off x="0" y="0"/>
            <a:ext cx="12192000" cy="6858000"/>
            <a:chOff x="0" y="0"/>
            <a:chExt cx="12192000" cy="6858000"/>
          </a:xfrm>
        </p:grpSpPr>
        <p:pic>
          <p:nvPicPr>
            <p:cNvPr id="5" name="Graphic 4">
              <a:extLst>
                <a:ext uri="{FF2B5EF4-FFF2-40B4-BE49-F238E27FC236}">
                  <a16:creationId xmlns:a16="http://schemas.microsoft.com/office/drawing/2014/main" id="{F2F6E854-A47C-D6BF-A8F7-906F7427704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0" y="0"/>
              <a:ext cx="12192000" cy="6858000"/>
            </a:xfrm>
            <a:prstGeom prst="rect">
              <a:avLst/>
            </a:prstGeom>
          </p:spPr>
        </p:pic>
        <p:pic>
          <p:nvPicPr>
            <p:cNvPr id="51" name="Picture 50" descr="A blue and white dot pattern&#10;&#10;AI-generated content may be incorrect.">
              <a:extLst>
                <a:ext uri="{FF2B5EF4-FFF2-40B4-BE49-F238E27FC236}">
                  <a16:creationId xmlns:a16="http://schemas.microsoft.com/office/drawing/2014/main" id="{F8B16AAB-C258-3B6C-4830-3EFE3D925B32}"/>
                </a:ext>
              </a:extLst>
            </p:cNvPr>
            <p:cNvPicPr>
              <a:picLocks noChangeAspect="1"/>
            </p:cNvPicPr>
            <p:nvPr userDrawn="1"/>
          </p:nvPicPr>
          <p:blipFill>
            <a:blip r:embed="rId3" cstate="screen">
              <a:alphaModFix amt="1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21874" y="0"/>
              <a:ext cx="12170126" cy="6858000"/>
            </a:xfrm>
            <a:prstGeom prst="rect">
              <a:avLst/>
            </a:prstGeom>
          </p:spPr>
        </p:pic>
      </p:grpSp>
      <p:pic>
        <p:nvPicPr>
          <p:cNvPr id="33" name="Graphic 32">
            <a:extLst>
              <a:ext uri="{FF2B5EF4-FFF2-40B4-BE49-F238E27FC236}">
                <a16:creationId xmlns:a16="http://schemas.microsoft.com/office/drawing/2014/main" id="{A486CF9C-BA52-208B-9837-98E4E206D243}"/>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tretch>
            <a:fillRect/>
          </a:stretch>
        </p:blipFill>
        <p:spPr>
          <a:xfrm>
            <a:off x="291489" y="304800"/>
            <a:ext cx="11633200" cy="5393742"/>
          </a:xfrm>
          <a:prstGeom prst="rect">
            <a:avLst/>
          </a:prstGeom>
        </p:spPr>
      </p:pic>
      <p:sp>
        <p:nvSpPr>
          <p:cNvPr id="34" name="Oval 33">
            <a:extLst>
              <a:ext uri="{FF2B5EF4-FFF2-40B4-BE49-F238E27FC236}">
                <a16:creationId xmlns:a16="http://schemas.microsoft.com/office/drawing/2014/main" id="{02D7DF42-8CDD-3B62-5BFA-80AFD3AB0212}"/>
              </a:ext>
            </a:extLst>
          </p:cNvPr>
          <p:cNvSpPr/>
          <p:nvPr userDrawn="1"/>
        </p:nvSpPr>
        <p:spPr>
          <a:xfrm>
            <a:off x="3960826"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5" name="Oval 34">
            <a:extLst>
              <a:ext uri="{FF2B5EF4-FFF2-40B4-BE49-F238E27FC236}">
                <a16:creationId xmlns:a16="http://schemas.microsoft.com/office/drawing/2014/main" id="{E59A9826-0000-AD77-4B78-2129F973DCDD}"/>
              </a:ext>
            </a:extLst>
          </p:cNvPr>
          <p:cNvSpPr/>
          <p:nvPr userDrawn="1"/>
        </p:nvSpPr>
        <p:spPr>
          <a:xfrm>
            <a:off x="5434721"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6" name="Oval 35">
            <a:extLst>
              <a:ext uri="{FF2B5EF4-FFF2-40B4-BE49-F238E27FC236}">
                <a16:creationId xmlns:a16="http://schemas.microsoft.com/office/drawing/2014/main" id="{935F74C0-2CF8-FF81-9977-A4ABD8CFBE6B}"/>
              </a:ext>
            </a:extLst>
          </p:cNvPr>
          <p:cNvSpPr/>
          <p:nvPr userDrawn="1"/>
        </p:nvSpPr>
        <p:spPr>
          <a:xfrm>
            <a:off x="6914274"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7" name="Oval 36">
            <a:extLst>
              <a:ext uri="{FF2B5EF4-FFF2-40B4-BE49-F238E27FC236}">
                <a16:creationId xmlns:a16="http://schemas.microsoft.com/office/drawing/2014/main" id="{45837BA7-7E73-8B82-F619-7A452311AACD}"/>
              </a:ext>
            </a:extLst>
          </p:cNvPr>
          <p:cNvSpPr/>
          <p:nvPr userDrawn="1"/>
        </p:nvSpPr>
        <p:spPr>
          <a:xfrm>
            <a:off x="8224453"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43" name="TextBox 42">
            <a:extLst>
              <a:ext uri="{FF2B5EF4-FFF2-40B4-BE49-F238E27FC236}">
                <a16:creationId xmlns:a16="http://schemas.microsoft.com/office/drawing/2014/main" id="{D2531E3B-2F31-3ED2-524C-D1F9A71F9116}"/>
              </a:ext>
            </a:extLst>
          </p:cNvPr>
          <p:cNvSpPr txBox="1"/>
          <p:nvPr userDrawn="1"/>
        </p:nvSpPr>
        <p:spPr>
          <a:xfrm>
            <a:off x="3311944" y="5873375"/>
            <a:ext cx="1336256" cy="246221"/>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RESEARCH</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44" name="TextBox 43">
            <a:extLst>
              <a:ext uri="{FF2B5EF4-FFF2-40B4-BE49-F238E27FC236}">
                <a16:creationId xmlns:a16="http://schemas.microsoft.com/office/drawing/2014/main" id="{65F20A96-362C-CD29-071D-3659A4C14F63}"/>
              </a:ext>
            </a:extLst>
          </p:cNvPr>
          <p:cNvSpPr txBox="1"/>
          <p:nvPr userDrawn="1"/>
        </p:nvSpPr>
        <p:spPr>
          <a:xfrm>
            <a:off x="6283055" y="5873375"/>
            <a:ext cx="1336256" cy="246221"/>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SALES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45" name="TextBox 44">
            <a:extLst>
              <a:ext uri="{FF2B5EF4-FFF2-40B4-BE49-F238E27FC236}">
                <a16:creationId xmlns:a16="http://schemas.microsoft.com/office/drawing/2014/main" id="{51243D07-FEAD-95F5-D57A-4E27290C363A}"/>
              </a:ext>
            </a:extLst>
          </p:cNvPr>
          <p:cNvSpPr txBox="1"/>
          <p:nvPr userDrawn="1"/>
        </p:nvSpPr>
        <p:spPr>
          <a:xfrm>
            <a:off x="4809852" y="5873375"/>
            <a:ext cx="1336256"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CORPORATE ACCESS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46" name="TextBox 45">
            <a:extLst>
              <a:ext uri="{FF2B5EF4-FFF2-40B4-BE49-F238E27FC236}">
                <a16:creationId xmlns:a16="http://schemas.microsoft.com/office/drawing/2014/main" id="{C04ADC12-7061-DDE8-77D8-6F9E9BE69B30}"/>
              </a:ext>
            </a:extLst>
          </p:cNvPr>
          <p:cNvSpPr txBox="1"/>
          <p:nvPr userDrawn="1"/>
        </p:nvSpPr>
        <p:spPr>
          <a:xfrm>
            <a:off x="7594600" y="5873375"/>
            <a:ext cx="1336256"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TRADING &amp; EXECUTION</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47" name="Rectangle: Rounded Corners 46">
            <a:extLst>
              <a:ext uri="{FF2B5EF4-FFF2-40B4-BE49-F238E27FC236}">
                <a16:creationId xmlns:a16="http://schemas.microsoft.com/office/drawing/2014/main" id="{357DF504-28DC-409B-994E-4BE7B5759541}"/>
              </a:ext>
            </a:extLst>
          </p:cNvPr>
          <p:cNvSpPr/>
          <p:nvPr userDrawn="1"/>
        </p:nvSpPr>
        <p:spPr>
          <a:xfrm>
            <a:off x="3479800" y="2539874"/>
            <a:ext cx="5232400" cy="631628"/>
          </a:xfrm>
          <a:prstGeom prst="roundRect">
            <a:avLst>
              <a:gd name="adj" fmla="val 50000"/>
            </a:avLst>
          </a:prstGeom>
          <a:solidFill>
            <a:srgbClr val="0E161F">
              <a:alpha val="48000"/>
            </a:srgbClr>
          </a:solidFill>
          <a:ln w="12700">
            <a:noFill/>
            <a:prstDash val="solid"/>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52" name="TextBox 51">
            <a:extLst>
              <a:ext uri="{FF2B5EF4-FFF2-40B4-BE49-F238E27FC236}">
                <a16:creationId xmlns:a16="http://schemas.microsoft.com/office/drawing/2014/main" id="{F062E513-574F-522C-833D-52DB293E0379}"/>
              </a:ext>
            </a:extLst>
          </p:cNvPr>
          <p:cNvSpPr txBox="1"/>
          <p:nvPr userDrawn="1"/>
        </p:nvSpPr>
        <p:spPr>
          <a:xfrm>
            <a:off x="7309120" y="2493908"/>
            <a:ext cx="3625267" cy="1384995"/>
          </a:xfrm>
          <a:prstGeom prst="rect">
            <a:avLst/>
          </a:prstGeom>
          <a:noFill/>
          <a:effectLst/>
        </p:spPr>
        <p:txBody>
          <a:bodyPr wrap="square" lIns="0">
            <a:spAutoFit/>
          </a:bodyPr>
          <a:lstStyle/>
          <a:p>
            <a:r>
              <a:rPr lang="en-US" sz="2800" b="0" dirty="0">
                <a:solidFill>
                  <a:schemeClr val="accent2"/>
                </a:solidFill>
                <a:latin typeface="XP Medium Lighthouse" pitchFamily="50" charset="0"/>
                <a:ea typeface="XP Medium Lighthouse" pitchFamily="50" charset="0"/>
              </a:rPr>
              <a:t>Vote</a:t>
            </a:r>
            <a:r>
              <a:rPr lang="en-US" sz="2800" dirty="0">
                <a:solidFill>
                  <a:schemeClr val="bg1"/>
                </a:solidFill>
                <a:latin typeface="XP Medium Lighthouse" pitchFamily="50" charset="0"/>
                <a:ea typeface="XP Medium Lighthouse" pitchFamily="50" charset="0"/>
              </a:rPr>
              <a:t> for all XP </a:t>
            </a:r>
            <a:br>
              <a:rPr lang="en-US" sz="2800" dirty="0">
                <a:solidFill>
                  <a:schemeClr val="bg1"/>
                </a:solidFill>
                <a:latin typeface="XP Medium Lighthouse" pitchFamily="50" charset="0"/>
                <a:ea typeface="XP Medium Lighthouse" pitchFamily="50" charset="0"/>
              </a:rPr>
            </a:br>
            <a:r>
              <a:rPr lang="en-US" sz="2800" dirty="0">
                <a:solidFill>
                  <a:schemeClr val="bg1"/>
                </a:solidFill>
                <a:latin typeface="XP Medium Lighthouse" pitchFamily="50" charset="0"/>
                <a:ea typeface="XP Medium Lighthouse" pitchFamily="50" charset="0"/>
              </a:rPr>
              <a:t>teams that helped shape your decisions</a:t>
            </a:r>
          </a:p>
        </p:txBody>
      </p:sp>
      <p:pic>
        <p:nvPicPr>
          <p:cNvPr id="4" name="Graphic 3">
            <a:extLst>
              <a:ext uri="{FF2B5EF4-FFF2-40B4-BE49-F238E27FC236}">
                <a16:creationId xmlns:a16="http://schemas.microsoft.com/office/drawing/2014/main" id="{88857B0F-A594-C649-5573-15281E4AF35E}"/>
              </a:ext>
            </a:extLst>
          </p:cNvPr>
          <p:cNvPicPr>
            <a:picLocks noChangeAspect="1"/>
          </p:cNvPicPr>
          <p:nvPr userDrawn="1"/>
        </p:nvPicPr>
        <p:blipFill>
          <a:blip>
            <a:extLst>
              <a:ext uri="{96DAC541-7B7A-43D3-8B79-37D633B846F1}">
                <asvg:svgBlip xmlns:asvg="http://schemas.microsoft.com/office/drawing/2016/SVG/main" r:embed="rId6"/>
              </a:ext>
            </a:extLst>
          </a:blip>
          <a:srcRect r="74010"/>
          <a:stretch/>
        </p:blipFill>
        <p:spPr>
          <a:xfrm>
            <a:off x="1379538" y="912549"/>
            <a:ext cx="643292" cy="571764"/>
          </a:xfrm>
          <a:prstGeom prst="rect">
            <a:avLst/>
          </a:prstGeom>
        </p:spPr>
      </p:pic>
      <p:pic>
        <p:nvPicPr>
          <p:cNvPr id="8" name="Picture 7">
            <a:extLst>
              <a:ext uri="{FF2B5EF4-FFF2-40B4-BE49-F238E27FC236}">
                <a16:creationId xmlns:a16="http://schemas.microsoft.com/office/drawing/2014/main" id="{CFE558C5-4531-7261-2FFF-387BCCD16F4C}"/>
              </a:ext>
            </a:extLst>
          </p:cNvPr>
          <p:cNvPicPr>
            <a:picLocks noChangeAspect="1"/>
          </p:cNvPicPr>
          <p:nvPr userDrawn="1"/>
        </p:nvPicPr>
        <p:blipFill>
          <a:blip r:embed="rId7" cstate="screen">
            <a:extLst>
              <a:ext uri="{28A0092B-C50C-407E-A947-70E740481C1C}">
                <a14:useLocalDpi xmlns:a14="http://schemas.microsoft.com/office/drawing/2010/main"/>
              </a:ext>
            </a:extLst>
          </a:blip>
          <a:srcRect l="13604" t="19885" r="13604" b="31275"/>
          <a:stretch/>
        </p:blipFill>
        <p:spPr>
          <a:xfrm>
            <a:off x="1331449" y="2402327"/>
            <a:ext cx="5582825" cy="1689564"/>
          </a:xfrm>
          <a:prstGeom prst="rect">
            <a:avLst/>
          </a:prstGeom>
          <a:effectLst>
            <a:outerShdw blurRad="292100" dist="190500" sx="102000" sy="102000" algn="ctr" rotWithShape="0">
              <a:prstClr val="black">
                <a:alpha val="84000"/>
              </a:prstClr>
            </a:outerShdw>
          </a:effectLst>
        </p:spPr>
      </p:pic>
      <p:pic>
        <p:nvPicPr>
          <p:cNvPr id="9" name="Picture 8" descr="A black background with a black square&#10;&#10;AI-generated content may be incorrect.">
            <a:extLst>
              <a:ext uri="{FF2B5EF4-FFF2-40B4-BE49-F238E27FC236}">
                <a16:creationId xmlns:a16="http://schemas.microsoft.com/office/drawing/2014/main" id="{58233917-8200-67F9-7770-51E0E093DE98}"/>
              </a:ext>
            </a:extLst>
          </p:cNvPr>
          <p:cNvPicPr>
            <a:picLocks noChangeAspect="1"/>
          </p:cNvPicPr>
          <p:nvPr userDrawn="1"/>
        </p:nvPicPr>
        <p:blipFill>
          <a:blip r:embed="rId8" cstate="screen">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tretch>
            <a:fillRect/>
          </a:stretch>
        </p:blipFill>
        <p:spPr>
          <a:xfrm>
            <a:off x="9364861" y="958160"/>
            <a:ext cx="1447601" cy="480541"/>
          </a:xfrm>
          <a:prstGeom prst="rect">
            <a:avLst/>
          </a:prstGeom>
        </p:spPr>
      </p:pic>
    </p:spTree>
    <p:extLst>
      <p:ext uri="{BB962C8B-B14F-4D97-AF65-F5344CB8AC3E}">
        <p14:creationId xmlns:p14="http://schemas.microsoft.com/office/powerpoint/2010/main" val="3183903175"/>
      </p:ext>
    </p:extLst>
  </p:cSld>
  <p:clrMapOvr>
    <a:masterClrMapping/>
  </p:clrMapOvr>
  <p:extLst>
    <p:ext uri="{DCECCB84-F9BA-43D5-87BE-67443E8EF086}">
      <p15:sldGuideLst xmlns:p15="http://schemas.microsoft.com/office/powerpoint/2012/main">
        <p15:guide id="1" orient="horz" pos="572">
          <p15:clr>
            <a:srgbClr val="FBAE40"/>
          </p15:clr>
        </p15:guide>
        <p15:guide id="2" orient="horz" pos="3906">
          <p15:clr>
            <a:srgbClr val="FBAE40"/>
          </p15:clr>
        </p15:guide>
        <p15:guide id="3" orient="horz" pos="935">
          <p15:clr>
            <a:srgbClr val="FBAE40"/>
          </p15:clr>
        </p15:guide>
        <p15:guide id="4" pos="869">
          <p15:clr>
            <a:srgbClr val="FBAE40"/>
          </p15:clr>
        </p15:guide>
        <p15:guide id="5" pos="6811">
          <p15:clr>
            <a:srgbClr val="FBAE40"/>
          </p15:clr>
        </p15:guide>
        <p15:guide id="6" pos="3840">
          <p15:clr>
            <a:srgbClr val="FBAE40"/>
          </p15:clr>
        </p15:guide>
        <p15:guide id="7" orient="horz" pos="2160">
          <p15:clr>
            <a:srgbClr val="FBAE40"/>
          </p15:clr>
        </p15:guide>
        <p15:guide id="8" orient="horz" pos="1638">
          <p15:clr>
            <a:srgbClr val="FBAE40"/>
          </p15:clr>
        </p15:guide>
        <p15:guide id="9" orient="horz" pos="2364">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60" name="Picture 59" descr="A black background with white text&#10;&#10;Description automatically generated">
            <a:extLst>
              <a:ext uri="{FF2B5EF4-FFF2-40B4-BE49-F238E27FC236}">
                <a16:creationId xmlns:a16="http://schemas.microsoft.com/office/drawing/2014/main" id="{3947FB2A-59C4-E45A-AD0C-11439241CCE8}"/>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44091" y="1755982"/>
            <a:ext cx="2253138" cy="1021091"/>
          </a:xfrm>
          <a:prstGeom prst="rect">
            <a:avLst/>
          </a:prstGeom>
        </p:spPr>
      </p:pic>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Tree>
    <p:extLst>
      <p:ext uri="{BB962C8B-B14F-4D97-AF65-F5344CB8AC3E}">
        <p14:creationId xmlns:p14="http://schemas.microsoft.com/office/powerpoint/2010/main" val="4530643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9" name="Picture 8" descr="A white text on a black background&#10;&#10;AI-generated content may be incorrect.">
            <a:extLst>
              <a:ext uri="{FF2B5EF4-FFF2-40B4-BE49-F238E27FC236}">
                <a16:creationId xmlns:a16="http://schemas.microsoft.com/office/drawing/2014/main" id="{D84F9E62-71B2-64DA-8722-EB9303C217E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9"/>
          <a:stretch/>
        </p:blipFill>
        <p:spPr>
          <a:xfrm>
            <a:off x="335998" y="5253825"/>
            <a:ext cx="9131259" cy="767564"/>
          </a:xfrm>
          <a:prstGeom prst="rect">
            <a:avLst/>
          </a:prstGeom>
        </p:spPr>
      </p:pic>
      <p:grpSp>
        <p:nvGrpSpPr>
          <p:cNvPr id="2" name="Group 1">
            <a:extLst>
              <a:ext uri="{FF2B5EF4-FFF2-40B4-BE49-F238E27FC236}">
                <a16:creationId xmlns:a16="http://schemas.microsoft.com/office/drawing/2014/main" id="{E18F5F18-BB79-53FB-9660-152CE211DBA9}"/>
              </a:ext>
            </a:extLst>
          </p:cNvPr>
          <p:cNvGrpSpPr/>
          <p:nvPr userDrawn="1"/>
        </p:nvGrpSpPr>
        <p:grpSpPr>
          <a:xfrm flipH="1">
            <a:off x="-1" y="-1"/>
            <a:ext cx="12192001" cy="1476874"/>
            <a:chOff x="-21880" y="104870"/>
            <a:chExt cx="24831713" cy="3007981"/>
          </a:xfrm>
        </p:grpSpPr>
        <p:pic>
          <p:nvPicPr>
            <p:cNvPr id="4" name="Graphic 3">
              <a:extLst>
                <a:ext uri="{FF2B5EF4-FFF2-40B4-BE49-F238E27FC236}">
                  <a16:creationId xmlns:a16="http://schemas.microsoft.com/office/drawing/2014/main" id="{A02ED699-17C1-B2D3-65C4-B62C15988471}"/>
                </a:ext>
              </a:extLst>
            </p:cNvPr>
            <p:cNvPicPr>
              <a:picLocks noChangeAspect="1"/>
            </p:cNvPicPr>
            <p:nvPr/>
          </p:nvPicPr>
          <p:blipFill rotWithShape="1">
            <a:blip>
              <a:extLst>
                <a:ext uri="{96DAC541-7B7A-43D3-8B79-37D633B846F1}">
                  <asvg:svgBlip xmlns:asvg="http://schemas.microsoft.com/office/drawing/2016/SVG/main" r:embed="rId4"/>
                </a:ext>
              </a:extLst>
            </a:blip>
            <a:srcRect l="2074" t="34416" r="2084" b="26700"/>
            <a:stretch/>
          </p:blipFill>
          <p:spPr>
            <a:xfrm>
              <a:off x="-21878" y="104870"/>
              <a:ext cx="24831711" cy="3007979"/>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77CB3A1D-5FB2-9177-0543-AFA632B64B17}"/>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6" name="Graphic 5">
            <a:extLst>
              <a:ext uri="{FF2B5EF4-FFF2-40B4-BE49-F238E27FC236}">
                <a16:creationId xmlns:a16="http://schemas.microsoft.com/office/drawing/2014/main" id="{9F2F34A4-3136-EDD1-F820-A308329C2F9C}"/>
              </a:ext>
            </a:extLst>
          </p:cNvPr>
          <p:cNvPicPr>
            <a:picLocks noChangeAspect="1"/>
          </p:cNvPicPr>
          <p:nvPr userDrawn="1"/>
        </p:nvPicPr>
        <p:blipFill>
          <a:blip>
            <a:alphaModFix amt="66000"/>
            <a:extLst>
              <a:ext uri="{96DAC541-7B7A-43D3-8B79-37D633B846F1}">
                <asvg:svgBlip xmlns:asvg="http://schemas.microsoft.com/office/drawing/2016/SVG/main" r:embed="rId7"/>
              </a:ext>
            </a:extLst>
          </a:blip>
          <a:srcRect l="53468" t="61870" r="40853" b="-21011"/>
          <a:stretch/>
        </p:blipFill>
        <p:spPr>
          <a:xfrm rot="5400000" flipH="1">
            <a:off x="7902964" y="-2810267"/>
            <a:ext cx="1468025" cy="7088555"/>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9"/>
            <a:ext cx="9131274" cy="1879104"/>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3633235"/>
            <a:ext cx="9131274" cy="150836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7" name="Rectangle: Rounded Corners 20">
            <a:hlinkClick r:id="rId8"/>
            <a:extLst>
              <a:ext uri="{FF2B5EF4-FFF2-40B4-BE49-F238E27FC236}">
                <a16:creationId xmlns:a16="http://schemas.microsoft.com/office/drawing/2014/main" id="{0DCA877D-2DF7-F865-729C-9AEF5869D9CF}"/>
              </a:ext>
            </a:extLst>
          </p:cNvPr>
          <p:cNvSpPr/>
          <p:nvPr userDrawn="1"/>
        </p:nvSpPr>
        <p:spPr>
          <a:xfrm>
            <a:off x="4970033" y="5685713"/>
            <a:ext cx="1396725" cy="190955"/>
          </a:xfrm>
          <a:prstGeom prst="roundRect">
            <a:avLst>
              <a:gd name="adj" fmla="val 0"/>
            </a:avLst>
          </a:prstGeom>
          <a:solidFill>
            <a:srgbClr val="3E7A9B"/>
          </a:solidFill>
          <a:ln>
            <a:noFill/>
          </a:ln>
          <a:effectLst>
            <a:outerShdw blurRad="222914" dist="58514" dir="5400000" sx="107000" sy="107000" algn="t" rotWithShape="0">
              <a:prstClr val="black">
                <a:alpha val="86883"/>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b="1" spc="200" dirty="0">
                <a:solidFill>
                  <a:srgbClr val="E8E8E8"/>
                </a:solidFill>
                <a:effectLst>
                  <a:outerShdw blurRad="276269" dist="38100" dir="2700000" algn="tl" rotWithShape="0">
                    <a:prstClr val="black">
                      <a:alpha val="40000"/>
                    </a:prstClr>
                  </a:outerShdw>
                </a:effectLst>
                <a:latin typeface="XP" pitchFamily="50" charset="0"/>
                <a:ea typeface="XP" pitchFamily="50" charset="0"/>
                <a:cs typeface="Roboto" panose="02000000000000000000" pitchFamily="2" charset="0"/>
              </a:rPr>
              <a:t>VOTE HERE</a:t>
            </a:r>
          </a:p>
        </p:txBody>
      </p:sp>
    </p:spTree>
    <p:extLst>
      <p:ext uri="{BB962C8B-B14F-4D97-AF65-F5344CB8AC3E}">
        <p14:creationId xmlns:p14="http://schemas.microsoft.com/office/powerpoint/2010/main" val="32000244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guide id="4" orient="horz" pos="365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239305647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263156630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320214976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31552637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329171311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6984C4-29A3-B40D-20F9-38A3F174C4E1}"/>
              </a:ext>
            </a:extLst>
          </p:cNvPr>
          <p:cNvGrpSpPr/>
          <p:nvPr userDrawn="1"/>
        </p:nvGrpSpPr>
        <p:grpSpPr>
          <a:xfrm flipV="1">
            <a:off x="5334002" y="2567"/>
            <a:ext cx="6857998" cy="6931633"/>
            <a:chOff x="-3280787" y="2059177"/>
            <a:chExt cx="4747846" cy="4798823"/>
          </a:xfrm>
        </p:grpSpPr>
        <p:pic>
          <p:nvPicPr>
            <p:cNvPr id="6" name="Graphic 5">
              <a:extLst>
                <a:ext uri="{FF2B5EF4-FFF2-40B4-BE49-F238E27FC236}">
                  <a16:creationId xmlns:a16="http://schemas.microsoft.com/office/drawing/2014/main" id="{91C3C31C-64C4-0C97-02D2-7CC7AD2844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659" t="4143" r="65424" b="41548"/>
            <a:stretch/>
          </p:blipFill>
          <p:spPr>
            <a:xfrm flipV="1">
              <a:off x="-3280787" y="2059177"/>
              <a:ext cx="4747846" cy="4798823"/>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C909F457-7675-FDFE-87A1-CE8910B2C99C}"/>
                </a:ext>
              </a:extLst>
            </p:cNvPr>
            <p:cNvPicPr>
              <a:picLocks noChangeAspect="1"/>
            </p:cNvPicPr>
            <p:nvPr userDrawn="1"/>
          </p:nvPicPr>
          <p:blipFill>
            <a:blip r:embed="rId3">
              <a:alphaModFix amt="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2059177"/>
              <a:ext cx="4747846" cy="4798823"/>
            </a:xfrm>
            <a:prstGeom prst="rect">
              <a:avLst/>
            </a:prstGeom>
          </p:spPr>
        </p:pic>
      </p:grpSp>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140603" cy="1877437"/>
          </a:xfrm>
          <a:prstGeom prst="rect">
            <a:avLst/>
          </a:prstGeom>
        </p:spPr>
        <p:txBody>
          <a:bodyPr wrap="none" rtlCol="0">
            <a:spAutoFit/>
          </a:bodyPr>
          <a:lstStyle/>
          <a:p>
            <a:r>
              <a:rPr lang="pt-BR" sz="5800" dirty="0" err="1">
                <a:solidFill>
                  <a:srgbClr val="242424"/>
                </a:solidFill>
                <a:latin typeface="+mj-lt"/>
                <a:ea typeface="XP Light Lighthouse" pitchFamily="50" charset="0"/>
              </a:rPr>
              <a:t>Table</a:t>
            </a:r>
            <a:r>
              <a:rPr lang="pt-BR" sz="5800" dirty="0">
                <a:solidFill>
                  <a:srgbClr val="242424"/>
                </a:solidFill>
                <a:latin typeface="+mj-lt"/>
                <a:ea typeface="XP Light Lighthouse" pitchFamily="50" charset="0"/>
              </a:rPr>
              <a:t> </a:t>
            </a:r>
            <a:r>
              <a:rPr lang="pt-BR" sz="5800" dirty="0" err="1">
                <a:solidFill>
                  <a:srgbClr val="242424"/>
                </a:solidFill>
                <a:latin typeface="+mj-lt"/>
                <a:ea typeface="XP Light Lighthouse" pitchFamily="50" charset="0"/>
              </a:rPr>
              <a:t>of</a:t>
            </a:r>
            <a:r>
              <a:rPr lang="pt-BR" sz="5800" dirty="0">
                <a:solidFill>
                  <a:srgbClr val="242424"/>
                </a:solidFill>
                <a:latin typeface="+mj-lt"/>
                <a:ea typeface="XP Light Lighthouse" pitchFamily="50" charset="0"/>
              </a:rPr>
              <a:t> </a:t>
            </a:r>
          </a:p>
          <a:p>
            <a:r>
              <a:rPr lang="pt-BR" sz="5800" dirty="0" err="1">
                <a:solidFill>
                  <a:srgbClr val="242424"/>
                </a:solidFill>
                <a:latin typeface="+mj-lt"/>
                <a:ea typeface="XP Light Lighthouse" pitchFamily="50" charset="0"/>
              </a:rPr>
              <a:t>Contents</a:t>
            </a:r>
            <a:endParaRPr lang="pt-BR" sz="5800" dirty="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grpSp>
        <p:nvGrpSpPr>
          <p:cNvPr id="3" name="Group 2">
            <a:extLst>
              <a:ext uri="{FF2B5EF4-FFF2-40B4-BE49-F238E27FC236}">
                <a16:creationId xmlns:a16="http://schemas.microsoft.com/office/drawing/2014/main" id="{20635316-7695-B5A3-140B-97225CE3B07B}"/>
              </a:ext>
            </a:extLst>
          </p:cNvPr>
          <p:cNvGrpSpPr/>
          <p:nvPr userDrawn="1"/>
        </p:nvGrpSpPr>
        <p:grpSpPr>
          <a:xfrm>
            <a:off x="6095188" y="-114170"/>
            <a:ext cx="6095188" cy="3116242"/>
            <a:chOff x="6095188" y="71442"/>
            <a:chExt cx="6095188" cy="3116242"/>
          </a:xfrm>
        </p:grpSpPr>
        <p:pic>
          <p:nvPicPr>
            <p:cNvPr id="8" name="Graphic 7">
              <a:extLst>
                <a:ext uri="{FF2B5EF4-FFF2-40B4-BE49-F238E27FC236}">
                  <a16:creationId xmlns:a16="http://schemas.microsoft.com/office/drawing/2014/main" id="{D8D31F3E-3433-6616-39E4-837BA5023049}"/>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51220" t="85161" r="41053" b="-17761"/>
            <a:stretch/>
          </p:blipFill>
          <p:spPr>
            <a:xfrm rot="16200000">
              <a:off x="7584661" y="-1418031"/>
              <a:ext cx="3116242" cy="6095188"/>
            </a:xfrm>
            <a:prstGeom prst="rect">
              <a:avLst/>
            </a:prstGeom>
          </p:spPr>
        </p:pic>
        <p:cxnSp>
          <p:nvCxnSpPr>
            <p:cNvPr id="9" name="Straight Connector 8">
              <a:extLst>
                <a:ext uri="{FF2B5EF4-FFF2-40B4-BE49-F238E27FC236}">
                  <a16:creationId xmlns:a16="http://schemas.microsoft.com/office/drawing/2014/main" id="{77AB3FB9-B22D-69B5-FDE0-03955081039D}"/>
                </a:ext>
              </a:extLst>
            </p:cNvPr>
            <p:cNvCxnSpPr>
              <a:cxnSpLocks/>
            </p:cNvCxnSpPr>
            <p:nvPr userDrawn="1"/>
          </p:nvCxnSpPr>
          <p:spPr>
            <a:xfrm flipH="1">
              <a:off x="7705725" y="752623"/>
              <a:ext cx="1943100" cy="0"/>
            </a:xfrm>
            <a:prstGeom prst="line">
              <a:avLst/>
            </a:prstGeom>
            <a:ln w="15875">
              <a:gradFill>
                <a:gsLst>
                  <a:gs pos="0">
                    <a:srgbClr val="63C1F0">
                      <a:alpha val="67000"/>
                    </a:srgbClr>
                  </a:gs>
                  <a:gs pos="100000">
                    <a:srgbClr val="84B7FF"/>
                  </a:gs>
                </a:gsLst>
                <a:lin ang="10800000" scaled="0"/>
              </a:gradFill>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829A26EE-4AE0-2BD5-F845-DEE656369C45}"/>
              </a:ext>
            </a:extLst>
          </p:cNvPr>
          <p:cNvGrpSpPr/>
          <p:nvPr userDrawn="1"/>
        </p:nvGrpSpPr>
        <p:grpSpPr>
          <a:xfrm>
            <a:off x="0" y="2191657"/>
            <a:ext cx="6096000" cy="4704443"/>
            <a:chOff x="0" y="2191657"/>
            <a:chExt cx="6096000" cy="4704443"/>
          </a:xfrm>
        </p:grpSpPr>
        <p:cxnSp>
          <p:nvCxnSpPr>
            <p:cNvPr id="39" name="Conector reto 7">
              <a:extLst>
                <a:ext uri="{FF2B5EF4-FFF2-40B4-BE49-F238E27FC236}">
                  <a16:creationId xmlns:a16="http://schemas.microsoft.com/office/drawing/2014/main" id="{2E22FFA9-6E0D-EFBF-1E5D-2714B755DEA4}"/>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40" name="Conector reto 2">
              <a:extLst>
                <a:ext uri="{FF2B5EF4-FFF2-40B4-BE49-F238E27FC236}">
                  <a16:creationId xmlns:a16="http://schemas.microsoft.com/office/drawing/2014/main" id="{482D91AB-407C-37C3-6024-D241AD434EC7}"/>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697998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17661024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B37B724-EF64-4BE4-A4A8-DD688A529BBA}" type="datetime4">
              <a:rPr lang="en-US" smtClean="0"/>
              <a:pPr/>
              <a:t>August 10, 2026</a:t>
            </a:fld>
            <a:endParaRPr lang="en-US" dirty="0"/>
          </a:p>
        </p:txBody>
      </p:sp>
    </p:spTree>
    <p:extLst>
      <p:ext uri="{BB962C8B-B14F-4D97-AF65-F5344CB8AC3E}">
        <p14:creationId xmlns:p14="http://schemas.microsoft.com/office/powerpoint/2010/main" val="78635488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9EDB1FC-BDC8-4D8B-9200-B40651578453}" type="datetime4">
              <a:rPr lang="en-US" smtClean="0"/>
              <a:pPr/>
              <a:t>August 10, 2026</a:t>
            </a:fld>
            <a:endParaRPr lang="en-US" dirty="0"/>
          </a:p>
        </p:txBody>
      </p:sp>
    </p:spTree>
    <p:extLst>
      <p:ext uri="{BB962C8B-B14F-4D97-AF65-F5344CB8AC3E}">
        <p14:creationId xmlns:p14="http://schemas.microsoft.com/office/powerpoint/2010/main" val="204714191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dirty="0"/>
          </a:p>
        </p:txBody>
      </p:sp>
    </p:spTree>
    <p:extLst>
      <p:ext uri="{BB962C8B-B14F-4D97-AF65-F5344CB8AC3E}">
        <p14:creationId xmlns:p14="http://schemas.microsoft.com/office/powerpoint/2010/main" val="403300500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E5FF2B1-13CC-4FD8-A51D-E30001B400D7}" type="datetime4">
              <a:rPr lang="en-US" smtClean="0"/>
              <a:pPr/>
              <a:t>August 10, 2026</a:t>
            </a:fld>
            <a:endParaRPr lang="en-US" dirty="0"/>
          </a:p>
        </p:txBody>
      </p:sp>
    </p:spTree>
    <p:extLst>
      <p:ext uri="{BB962C8B-B14F-4D97-AF65-F5344CB8AC3E}">
        <p14:creationId xmlns:p14="http://schemas.microsoft.com/office/powerpoint/2010/main" val="232180434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B28F01B-1B26-4D5D-9A84-9F181CC0F8B4}" type="datetime4">
              <a:rPr lang="en-US" smtClean="0"/>
              <a:pPr/>
              <a:t>August 10, 2026</a:t>
            </a:fld>
            <a:endParaRPr lang="en-US" dirty="0"/>
          </a:p>
        </p:txBody>
      </p:sp>
    </p:spTree>
    <p:extLst>
      <p:ext uri="{BB962C8B-B14F-4D97-AF65-F5344CB8AC3E}">
        <p14:creationId xmlns:p14="http://schemas.microsoft.com/office/powerpoint/2010/main" val="50792930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August 10,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57295879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E23A8C0B-53FA-405C-9923-9E46C92CE8AC}" type="datetime4">
              <a:rPr lang="en-US" smtClean="0"/>
              <a:pPr/>
              <a:t>August 10,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22514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nSpc>
                <a:spcPts val="800"/>
              </a:lnSpc>
              <a:buNone/>
            </a:pPr>
            <a:r>
              <a:rPr lang="en-US" sz="900" dirty="0"/>
              <a:t>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nSpc>
                <a:spcPts val="800"/>
              </a:lnSpc>
              <a:buAutoNum type="arabicParenR"/>
            </a:pPr>
            <a:endParaRPr lang="en-US" sz="900" dirty="0"/>
          </a:p>
          <a:p>
            <a:pPr lvl="0">
              <a:lnSpc>
                <a:spcPts val="800"/>
              </a:lnSpc>
            </a:pPr>
            <a:r>
              <a:rPr lang="en-US" sz="900" dirty="0"/>
              <a:t>2) This report was prepared considering the product risk classification in order to generate allocation results for each investor profile.  </a:t>
            </a:r>
          </a:p>
          <a:p>
            <a:pPr lvl="0">
              <a:lnSpc>
                <a:spcPts val="800"/>
              </a:lnSpc>
            </a:pPr>
            <a:endParaRPr lang="en-US" sz="900" dirty="0"/>
          </a:p>
          <a:p>
            <a:pPr lvl="0">
              <a:lnSpc>
                <a:spcPts val="800"/>
              </a:lnSpc>
            </a:pPr>
            <a:r>
              <a:rPr lang="en-US" sz="900" dirty="0"/>
              <a:t>3)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lnSpc>
                <a:spcPts val="800"/>
              </a:lnSpc>
            </a:pPr>
            <a:endParaRPr lang="en-US" sz="900" dirty="0"/>
          </a:p>
          <a:p>
            <a:pPr lvl="0">
              <a:lnSpc>
                <a:spcPts val="800"/>
              </a:lnSpc>
            </a:pPr>
            <a:r>
              <a:rPr lang="en-US" sz="900" dirty="0"/>
              <a:t>4)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lnSpc>
                <a:spcPts val="800"/>
              </a:lnSpc>
            </a:pPr>
            <a:endParaRPr lang="en-US" sz="900" dirty="0"/>
          </a:p>
          <a:p>
            <a:pPr lvl="0">
              <a:lnSpc>
                <a:spcPts val="800"/>
              </a:lnSpc>
            </a:pPr>
            <a:r>
              <a:rPr lang="en-US" sz="900" dirty="0"/>
              <a:t>5) XP Investimentos’ analysts are obligated to comply with all the rules laid down in the APIMEC’s conduct code for the securities analyst and XP Investimentos’ analyst of securities conduct policy.  </a:t>
            </a:r>
          </a:p>
          <a:p>
            <a:pPr lvl="0">
              <a:lnSpc>
                <a:spcPts val="800"/>
              </a:lnSpc>
            </a:pPr>
            <a:endParaRPr lang="en-US" sz="900" dirty="0"/>
          </a:p>
          <a:p>
            <a:pPr lvl="0">
              <a:lnSpc>
                <a:spcPts val="800"/>
              </a:lnSpc>
            </a:pPr>
            <a:r>
              <a:rPr lang="en-US" sz="900" dirty="0"/>
              <a:t>6)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lnSpc>
                <a:spcPts val="800"/>
              </a:lnSpc>
            </a:pPr>
            <a:endParaRPr lang="en-US" sz="900" dirty="0"/>
          </a:p>
          <a:p>
            <a:pPr lvl="0">
              <a:lnSpc>
                <a:spcPts val="800"/>
              </a:lnSpc>
            </a:pPr>
            <a:r>
              <a:rPr lang="en-US" sz="900" dirty="0"/>
              <a:t>7)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lnSpc>
                <a:spcPts val="800"/>
              </a:lnSpc>
            </a:pPr>
            <a:endParaRPr lang="en-US" sz="900" dirty="0"/>
          </a:p>
          <a:p>
            <a:pPr lvl="0">
              <a:lnSpc>
                <a:spcPts val="800"/>
              </a:lnSpc>
            </a:pPr>
            <a:r>
              <a:rPr lang="en-US" sz="900" dirty="0"/>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lnSpc>
                <a:spcPts val="800"/>
              </a:lnSpc>
            </a:pPr>
            <a:endParaRPr lang="en-US" sz="900" dirty="0"/>
          </a:p>
          <a:p>
            <a:pPr lvl="0">
              <a:lnSpc>
                <a:spcPts val="800"/>
              </a:lnSpc>
            </a:pPr>
            <a:r>
              <a:rPr lang="en-US" sz="900" dirty="0"/>
              <a:t>9)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lnSpc>
                <a:spcPts val="800"/>
              </a:lnSpc>
            </a:pPr>
            <a:endParaRPr lang="en-US" sz="900" dirty="0"/>
          </a:p>
          <a:p>
            <a:pPr lvl="0">
              <a:lnSpc>
                <a:spcPts val="800"/>
              </a:lnSpc>
            </a:pPr>
            <a:r>
              <a:rPr lang="en-US" sz="900" dirty="0"/>
              <a:t>10) XP Investimentos’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lnSpc>
                <a:spcPts val="800"/>
              </a:lnSpc>
            </a:pPr>
            <a:endParaRPr lang="en-US" sz="900" dirty="0"/>
          </a:p>
          <a:p>
            <a:pPr lvl="0">
              <a:lnSpc>
                <a:spcPts val="800"/>
              </a:lnSpc>
            </a:pPr>
            <a:r>
              <a:rPr lang="en-US" sz="900" dirty="0"/>
              <a:t>11) The cost of the transactions billing policies are defined in the operational cost tables which are made available on XP Investimentos' website: </a:t>
            </a:r>
            <a:r>
              <a:rPr lang="en-US" sz="900" dirty="0">
                <a:hlinkClick r:id="rId3"/>
              </a:rPr>
              <a:t>www.xpi.com.br</a:t>
            </a:r>
            <a:r>
              <a:rPr lang="en-US" sz="900" dirty="0"/>
              <a:t>.</a:t>
            </a:r>
          </a:p>
          <a:p>
            <a:pPr lvl="0">
              <a:lnSpc>
                <a:spcPts val="800"/>
              </a:lnSpc>
            </a:pPr>
            <a:endParaRPr lang="en-US" sz="900" dirty="0"/>
          </a:p>
          <a:p>
            <a:pPr lvl="0">
              <a:lnSpc>
                <a:spcPts val="800"/>
              </a:lnSpc>
            </a:pPr>
            <a:r>
              <a:rPr lang="en-US" sz="900" dirty="0"/>
              <a:t>12) XP Investimentos is exempt from any liability for any damages, direct or indirect, that come from the use of this report or its contents. </a:t>
            </a:r>
          </a:p>
          <a:p>
            <a:pPr lvl="0">
              <a:lnSpc>
                <a:spcPts val="800"/>
              </a:lnSpc>
            </a:pPr>
            <a:endParaRPr lang="en-US" sz="900" dirty="0"/>
          </a:p>
          <a:p>
            <a:pPr lvl="0">
              <a:lnSpc>
                <a:spcPts val="800"/>
              </a:lnSpc>
            </a:pPr>
            <a:r>
              <a:rPr lang="en-US" sz="900" dirty="0"/>
              <a:t>13)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lnSpc>
                <a:spcPts val="800"/>
              </a:lnSpc>
            </a:pPr>
            <a:endParaRPr lang="en-US" sz="900" dirty="0"/>
          </a:p>
          <a:p>
            <a:pPr lvl="0">
              <a:lnSpc>
                <a:spcPts val="800"/>
              </a:lnSpc>
            </a:pPr>
            <a:r>
              <a:rPr lang="en-US" sz="900" dirty="0"/>
              <a:t>14) For the purpose of verifying the suitability of the investor's profile to the investment services and products offered by XP Investimentos, we use the methodology of suitability of products by portfolio, in accordance with the ANBIMA Suitability Rules and Procedures  01 and the ANBIMA Regulation Code for Investment Product Distribution Practices. This methodology consists of assigning a maximum risk score for each investor profile (conservative, moderate and aggressive), as well as a risk score for each of the products offered by XP Investimentos, so that all clients can have access to all the products, as long as they are within the amounts and limits of the risk score defined for their profile. Before applying to the products and/or contracting the services that are the subject of this material, it is important to verify that the current risk score supports the application in the products and/or the contracting of the services in question, as well as if there are volume limitations, concentration and/or amount for the desired application. You can consult this information directly at the time of transmission of your order, or by consulting the general risk of your portfolio on the portfolio screen (Risk View). If your current risk score does not support the intended application/contracting, or if there are limitations in relation to the amount and/or financial volume for said application/contracting, this means that, based on the current composition of your portfolio, this application is not suitable for your profile. In case of doubts about the process of adapting the products offered by XP Investimentos to your investor profile, consult the FAQ. The recommended duration of the investment is short-term and the client's assets are not guaranteed in this type of product. Market conditions, climate change and the macroeconomic scenario may affect investment performance.</a:t>
            </a:r>
          </a:p>
          <a:p>
            <a:pPr lvl="0">
              <a:lnSpc>
                <a:spcPts val="800"/>
              </a:lnSpc>
            </a:pPr>
            <a:endParaRPr lang="en-US" sz="900" dirty="0"/>
          </a:p>
          <a:p>
            <a:pPr lvl="0">
              <a:lnSpc>
                <a:spcPts val="800"/>
              </a:lnSpc>
            </a:pPr>
            <a:r>
              <a:rPr lang="en-US" sz="900" dirty="0"/>
              <a:t>15)  This institution is adhering CVM Resolution 16/21.</a:t>
            </a:r>
          </a:p>
        </p:txBody>
      </p:sp>
    </p:spTree>
    <p:extLst>
      <p:ext uri="{BB962C8B-B14F-4D97-AF65-F5344CB8AC3E}">
        <p14:creationId xmlns:p14="http://schemas.microsoft.com/office/powerpoint/2010/main" val="124786203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1_Layout Personalizado">
    <p:bg>
      <p:bgPr>
        <a:solidFill>
          <a:schemeClr val="bg1">
            <a:lumMod val="95000"/>
          </a:schemeClr>
        </a:solidFill>
        <a:effectLst/>
      </p:bgPr>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75312585-0E97-0F65-AD40-D42923894AA3}"/>
              </a:ext>
            </a:extLst>
          </p:cNvPr>
          <p:cNvGrpSpPr/>
          <p:nvPr userDrawn="1"/>
        </p:nvGrpSpPr>
        <p:grpSpPr>
          <a:xfrm>
            <a:off x="0" y="0"/>
            <a:ext cx="12192000" cy="6858000"/>
            <a:chOff x="0" y="0"/>
            <a:chExt cx="12192000" cy="6858000"/>
          </a:xfrm>
        </p:grpSpPr>
        <p:pic>
          <p:nvPicPr>
            <p:cNvPr id="5" name="Graphic 4">
              <a:extLst>
                <a:ext uri="{FF2B5EF4-FFF2-40B4-BE49-F238E27FC236}">
                  <a16:creationId xmlns:a16="http://schemas.microsoft.com/office/drawing/2014/main" id="{F2F6E854-A47C-D6BF-A8F7-906F7427704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0" y="0"/>
              <a:ext cx="12192000" cy="6858000"/>
            </a:xfrm>
            <a:prstGeom prst="rect">
              <a:avLst/>
            </a:prstGeom>
          </p:spPr>
        </p:pic>
        <p:pic>
          <p:nvPicPr>
            <p:cNvPr id="51" name="Picture 50" descr="A blue and white dot pattern&#10;&#10;AI-generated content may be incorrect.">
              <a:extLst>
                <a:ext uri="{FF2B5EF4-FFF2-40B4-BE49-F238E27FC236}">
                  <a16:creationId xmlns:a16="http://schemas.microsoft.com/office/drawing/2014/main" id="{F8B16AAB-C258-3B6C-4830-3EFE3D925B32}"/>
                </a:ext>
              </a:extLst>
            </p:cNvPr>
            <p:cNvPicPr>
              <a:picLocks noChangeAspect="1"/>
            </p:cNvPicPr>
            <p:nvPr userDrawn="1"/>
          </p:nvPicPr>
          <p:blipFill>
            <a:blip r:embed="rId3" cstate="screen">
              <a:alphaModFix amt="1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21874" y="0"/>
              <a:ext cx="12170126" cy="6858000"/>
            </a:xfrm>
            <a:prstGeom prst="rect">
              <a:avLst/>
            </a:prstGeom>
          </p:spPr>
        </p:pic>
      </p:grpSp>
      <p:pic>
        <p:nvPicPr>
          <p:cNvPr id="6" name="Picture 4" descr="Picture 4">
            <a:extLst>
              <a:ext uri="{FF2B5EF4-FFF2-40B4-BE49-F238E27FC236}">
                <a16:creationId xmlns:a16="http://schemas.microsoft.com/office/drawing/2014/main" id="{84D65335-42CB-6A2D-447F-648F467708C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rot="5400000">
            <a:off x="-2656818" y="3223893"/>
            <a:ext cx="3832381" cy="768833"/>
          </a:xfrm>
          <a:prstGeom prst="rect">
            <a:avLst/>
          </a:prstGeom>
          <a:ln w="12700">
            <a:miter lim="400000"/>
          </a:ln>
        </p:spPr>
      </p:pic>
      <p:pic>
        <p:nvPicPr>
          <p:cNvPr id="33" name="Graphic 32">
            <a:extLst>
              <a:ext uri="{FF2B5EF4-FFF2-40B4-BE49-F238E27FC236}">
                <a16:creationId xmlns:a16="http://schemas.microsoft.com/office/drawing/2014/main" id="{A486CF9C-BA52-208B-9837-98E4E206D243}"/>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tretch>
            <a:fillRect/>
          </a:stretch>
        </p:blipFill>
        <p:spPr>
          <a:xfrm>
            <a:off x="291489" y="304800"/>
            <a:ext cx="11633200" cy="5393742"/>
          </a:xfrm>
          <a:prstGeom prst="rect">
            <a:avLst/>
          </a:prstGeom>
        </p:spPr>
      </p:pic>
      <p:sp>
        <p:nvSpPr>
          <p:cNvPr id="47" name="Rectangle: Rounded Corners 46">
            <a:extLst>
              <a:ext uri="{FF2B5EF4-FFF2-40B4-BE49-F238E27FC236}">
                <a16:creationId xmlns:a16="http://schemas.microsoft.com/office/drawing/2014/main" id="{357DF504-28DC-409B-994E-4BE7B5759541}"/>
              </a:ext>
            </a:extLst>
          </p:cNvPr>
          <p:cNvSpPr/>
          <p:nvPr userDrawn="1"/>
        </p:nvSpPr>
        <p:spPr>
          <a:xfrm>
            <a:off x="3479800" y="2539874"/>
            <a:ext cx="5232400" cy="631628"/>
          </a:xfrm>
          <a:prstGeom prst="roundRect">
            <a:avLst>
              <a:gd name="adj" fmla="val 50000"/>
            </a:avLst>
          </a:prstGeom>
          <a:solidFill>
            <a:srgbClr val="0E161F">
              <a:alpha val="48000"/>
            </a:srgbClr>
          </a:solidFill>
          <a:ln w="12700">
            <a:noFill/>
            <a:prstDash val="solid"/>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pic>
        <p:nvPicPr>
          <p:cNvPr id="4" name="Graphic 3">
            <a:extLst>
              <a:ext uri="{FF2B5EF4-FFF2-40B4-BE49-F238E27FC236}">
                <a16:creationId xmlns:a16="http://schemas.microsoft.com/office/drawing/2014/main" id="{88857B0F-A594-C649-5573-15281E4AF35E}"/>
              </a:ext>
            </a:extLst>
          </p:cNvPr>
          <p:cNvPicPr>
            <a:picLocks noChangeAspect="1"/>
          </p:cNvPicPr>
          <p:nvPr userDrawn="1"/>
        </p:nvPicPr>
        <p:blipFill>
          <a:blip>
            <a:extLst>
              <a:ext uri="{96DAC541-7B7A-43D3-8B79-37D633B846F1}">
                <asvg:svgBlip xmlns:asvg="http://schemas.microsoft.com/office/drawing/2016/SVG/main" r:embed="rId7"/>
              </a:ext>
            </a:extLst>
          </a:blip>
          <a:srcRect r="74010"/>
          <a:stretch/>
        </p:blipFill>
        <p:spPr>
          <a:xfrm>
            <a:off x="1379538" y="912549"/>
            <a:ext cx="643292" cy="571764"/>
          </a:xfrm>
          <a:prstGeom prst="rect">
            <a:avLst/>
          </a:prstGeom>
        </p:spPr>
      </p:pic>
    </p:spTree>
    <p:extLst>
      <p:ext uri="{BB962C8B-B14F-4D97-AF65-F5344CB8AC3E}">
        <p14:creationId xmlns:p14="http://schemas.microsoft.com/office/powerpoint/2010/main" val="1839331333"/>
      </p:ext>
    </p:extLst>
  </p:cSld>
  <p:clrMapOvr>
    <a:masterClrMapping/>
  </p:clrMapOvr>
  <p:extLst>
    <p:ext uri="{DCECCB84-F9BA-43D5-87BE-67443E8EF086}">
      <p15:sldGuideLst xmlns:p15="http://schemas.microsoft.com/office/powerpoint/2012/main">
        <p15:guide id="1" orient="horz" pos="572">
          <p15:clr>
            <a:srgbClr val="FBAE40"/>
          </p15:clr>
        </p15:guide>
        <p15:guide id="2" orient="horz" pos="3906">
          <p15:clr>
            <a:srgbClr val="FBAE40"/>
          </p15:clr>
        </p15:guide>
        <p15:guide id="3" orient="horz" pos="935">
          <p15:clr>
            <a:srgbClr val="FBAE40"/>
          </p15:clr>
        </p15:guide>
        <p15:guide id="4" pos="869">
          <p15:clr>
            <a:srgbClr val="FBAE40"/>
          </p15:clr>
        </p15:guide>
        <p15:guide id="5" pos="6811">
          <p15:clr>
            <a:srgbClr val="FBAE40"/>
          </p15:clr>
        </p15:guide>
        <p15:guide id="6" pos="3840">
          <p15:clr>
            <a:srgbClr val="FBAE40"/>
          </p15:clr>
        </p15:guide>
        <p15:guide id="7" orient="horz" pos="2160">
          <p15:clr>
            <a:srgbClr val="FBAE40"/>
          </p15:clr>
        </p15:guide>
        <p15:guide id="8" orient="horz" pos="1638">
          <p15:clr>
            <a:srgbClr val="FBAE40"/>
          </p15:clr>
        </p15:guide>
        <p15:guide id="9" orient="horz" pos="236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60" name="Picture 59" descr="A black background with white text&#10;&#10;Description automatically generated">
            <a:extLst>
              <a:ext uri="{FF2B5EF4-FFF2-40B4-BE49-F238E27FC236}">
                <a16:creationId xmlns:a16="http://schemas.microsoft.com/office/drawing/2014/main" id="{3947FB2A-59C4-E45A-AD0C-11439241CCE8}"/>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44091" y="1755982"/>
            <a:ext cx="2253138" cy="1021091"/>
          </a:xfrm>
          <a:prstGeom prst="rect">
            <a:avLst/>
          </a:prstGeom>
        </p:spPr>
      </p:pic>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Tree>
    <p:extLst>
      <p:ext uri="{BB962C8B-B14F-4D97-AF65-F5344CB8AC3E}">
        <p14:creationId xmlns:p14="http://schemas.microsoft.com/office/powerpoint/2010/main" val="32311665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8F5F18-BB79-53FB-9660-152CE211DBA9}"/>
              </a:ext>
            </a:extLst>
          </p:cNvPr>
          <p:cNvGrpSpPr/>
          <p:nvPr userDrawn="1"/>
        </p:nvGrpSpPr>
        <p:grpSpPr>
          <a:xfrm flipH="1">
            <a:off x="-1" y="-1"/>
            <a:ext cx="12192001" cy="1476874"/>
            <a:chOff x="-21880" y="104870"/>
            <a:chExt cx="24831713" cy="3007981"/>
          </a:xfrm>
        </p:grpSpPr>
        <p:pic>
          <p:nvPicPr>
            <p:cNvPr id="4" name="Graphic 3">
              <a:extLst>
                <a:ext uri="{FF2B5EF4-FFF2-40B4-BE49-F238E27FC236}">
                  <a16:creationId xmlns:a16="http://schemas.microsoft.com/office/drawing/2014/main" id="{A02ED699-17C1-B2D3-65C4-B62C15988471}"/>
                </a:ext>
              </a:extLst>
            </p:cNvPr>
            <p:cNvPicPr>
              <a:picLocks noChangeAspect="1"/>
            </p:cNvPicPr>
            <p:nvPr/>
          </p:nvPicPr>
          <p:blipFill rotWithShape="1">
            <a:blip>
              <a:extLst>
                <a:ext uri="{96DAC541-7B7A-43D3-8B79-37D633B846F1}">
                  <asvg:svgBlip xmlns:asvg="http://schemas.microsoft.com/office/drawing/2016/SVG/main" r:embed="rId3"/>
                </a:ext>
              </a:extLst>
            </a:blip>
            <a:srcRect l="2074" t="34416" r="2084" b="26700"/>
            <a:stretch/>
          </p:blipFill>
          <p:spPr>
            <a:xfrm>
              <a:off x="-21878" y="104870"/>
              <a:ext cx="24831711" cy="3007979"/>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77CB3A1D-5FB2-9177-0543-AFA632B64B17}"/>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6" name="Graphic 5">
            <a:extLst>
              <a:ext uri="{FF2B5EF4-FFF2-40B4-BE49-F238E27FC236}">
                <a16:creationId xmlns:a16="http://schemas.microsoft.com/office/drawing/2014/main" id="{9F2F34A4-3136-EDD1-F820-A308329C2F9C}"/>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468" t="61870" r="40853" b="-21011"/>
          <a:stretch/>
        </p:blipFill>
        <p:spPr>
          <a:xfrm rot="5400000" flipH="1">
            <a:off x="7902964" y="-2810267"/>
            <a:ext cx="1468025" cy="7088555"/>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9"/>
            <a:ext cx="9131274" cy="1879104"/>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3633234"/>
            <a:ext cx="9131274" cy="2388153"/>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49418009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guide id="4" orient="horz" pos="365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287705779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4412173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388330181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11499856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10,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338328349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6984C4-29A3-B40D-20F9-38A3F174C4E1}"/>
              </a:ext>
            </a:extLst>
          </p:cNvPr>
          <p:cNvGrpSpPr/>
          <p:nvPr userDrawn="1"/>
        </p:nvGrpSpPr>
        <p:grpSpPr>
          <a:xfrm flipV="1">
            <a:off x="5334002" y="2567"/>
            <a:ext cx="6857998" cy="6931633"/>
            <a:chOff x="-3280787" y="2059177"/>
            <a:chExt cx="4747846" cy="4798823"/>
          </a:xfrm>
        </p:grpSpPr>
        <p:pic>
          <p:nvPicPr>
            <p:cNvPr id="6" name="Graphic 5">
              <a:extLst>
                <a:ext uri="{FF2B5EF4-FFF2-40B4-BE49-F238E27FC236}">
                  <a16:creationId xmlns:a16="http://schemas.microsoft.com/office/drawing/2014/main" id="{91C3C31C-64C4-0C97-02D2-7CC7AD2844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659" t="4143" r="65424" b="41548"/>
            <a:stretch/>
          </p:blipFill>
          <p:spPr>
            <a:xfrm flipV="1">
              <a:off x="-3280787" y="2059177"/>
              <a:ext cx="4747846" cy="4798823"/>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C909F457-7675-FDFE-87A1-CE8910B2C99C}"/>
                </a:ext>
              </a:extLst>
            </p:cNvPr>
            <p:cNvPicPr>
              <a:picLocks noChangeAspect="1"/>
            </p:cNvPicPr>
            <p:nvPr userDrawn="1"/>
          </p:nvPicPr>
          <p:blipFill>
            <a:blip r:embed="rId3">
              <a:alphaModFix amt="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2059177"/>
              <a:ext cx="4747846" cy="4798823"/>
            </a:xfrm>
            <a:prstGeom prst="rect">
              <a:avLst/>
            </a:prstGeom>
          </p:spPr>
        </p:pic>
      </p:grpSp>
      <p:pic>
        <p:nvPicPr>
          <p:cNvPr id="8" name="Graphic 7">
            <a:extLst>
              <a:ext uri="{FF2B5EF4-FFF2-40B4-BE49-F238E27FC236}">
                <a16:creationId xmlns:a16="http://schemas.microsoft.com/office/drawing/2014/main" id="{D8D31F3E-3433-6616-39E4-837BA5023049}"/>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51220" t="85161" r="41053" b="-17761"/>
          <a:stretch/>
        </p:blipFill>
        <p:spPr>
          <a:xfrm rot="16200000">
            <a:off x="7584661" y="-1418031"/>
            <a:ext cx="3116242" cy="6095188"/>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dirty="0" err="1">
                <a:solidFill>
                  <a:srgbClr val="242424"/>
                </a:solidFill>
                <a:latin typeface="+mj-lt"/>
                <a:ea typeface="XP Light Lighthouse" pitchFamily="50" charset="0"/>
              </a:rPr>
              <a:t>Summary</a:t>
            </a:r>
            <a:endParaRPr lang="pt-BR" sz="5800" dirty="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cxnSp>
        <p:nvCxnSpPr>
          <p:cNvPr id="9" name="Straight Connector 8">
            <a:extLst>
              <a:ext uri="{FF2B5EF4-FFF2-40B4-BE49-F238E27FC236}">
                <a16:creationId xmlns:a16="http://schemas.microsoft.com/office/drawing/2014/main" id="{77AB3FB9-B22D-69B5-FDE0-03955081039D}"/>
              </a:ext>
            </a:extLst>
          </p:cNvPr>
          <p:cNvCxnSpPr>
            <a:cxnSpLocks/>
          </p:cNvCxnSpPr>
          <p:nvPr userDrawn="1"/>
        </p:nvCxnSpPr>
        <p:spPr>
          <a:xfrm flipH="1">
            <a:off x="7705725" y="752623"/>
            <a:ext cx="1943100" cy="0"/>
          </a:xfrm>
          <a:prstGeom prst="line">
            <a:avLst/>
          </a:prstGeom>
          <a:ln w="15875">
            <a:gradFill>
              <a:gsLst>
                <a:gs pos="0">
                  <a:srgbClr val="63C1F0">
                    <a:alpha val="67000"/>
                  </a:srgbClr>
                </a:gs>
                <a:gs pos="100000">
                  <a:srgbClr val="84B7FF"/>
                </a:gs>
              </a:gsLst>
              <a:lin ang="10800000" scaled="0"/>
            </a:gradFil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829A26EE-4AE0-2BD5-F845-DEE656369C45}"/>
              </a:ext>
            </a:extLst>
          </p:cNvPr>
          <p:cNvGrpSpPr/>
          <p:nvPr userDrawn="1"/>
        </p:nvGrpSpPr>
        <p:grpSpPr>
          <a:xfrm>
            <a:off x="0" y="2191657"/>
            <a:ext cx="6096000" cy="4704443"/>
            <a:chOff x="0" y="2191657"/>
            <a:chExt cx="6096000" cy="4704443"/>
          </a:xfrm>
        </p:grpSpPr>
        <p:cxnSp>
          <p:nvCxnSpPr>
            <p:cNvPr id="39" name="Conector reto 7">
              <a:extLst>
                <a:ext uri="{FF2B5EF4-FFF2-40B4-BE49-F238E27FC236}">
                  <a16:creationId xmlns:a16="http://schemas.microsoft.com/office/drawing/2014/main" id="{2E22FFA9-6E0D-EFBF-1E5D-2714B755DEA4}"/>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40" name="Conector reto 2">
              <a:extLst>
                <a:ext uri="{FF2B5EF4-FFF2-40B4-BE49-F238E27FC236}">
                  <a16:creationId xmlns:a16="http://schemas.microsoft.com/office/drawing/2014/main" id="{482D91AB-407C-37C3-6024-D241AD434EC7}"/>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764877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18907848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B37B724-EF64-4BE4-A4A8-DD688A529BBA}" type="datetime4">
              <a:rPr lang="en-US" smtClean="0"/>
              <a:pPr/>
              <a:t>August 10, 2026</a:t>
            </a:fld>
            <a:endParaRPr lang="en-US" dirty="0"/>
          </a:p>
        </p:txBody>
      </p:sp>
    </p:spTree>
    <p:extLst>
      <p:ext uri="{BB962C8B-B14F-4D97-AF65-F5344CB8AC3E}">
        <p14:creationId xmlns:p14="http://schemas.microsoft.com/office/powerpoint/2010/main" val="68962363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9EDB1FC-BDC8-4D8B-9200-B40651578453}" type="datetime4">
              <a:rPr lang="en-US" smtClean="0"/>
              <a:pPr/>
              <a:t>August 10, 2026</a:t>
            </a:fld>
            <a:endParaRPr lang="en-US" dirty="0"/>
          </a:p>
        </p:txBody>
      </p:sp>
    </p:spTree>
    <p:extLst>
      <p:ext uri="{BB962C8B-B14F-4D97-AF65-F5344CB8AC3E}">
        <p14:creationId xmlns:p14="http://schemas.microsoft.com/office/powerpoint/2010/main" val="305768614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10, 2026</a:t>
            </a:fld>
            <a:endParaRPr lang="en-US" dirty="0"/>
          </a:p>
        </p:txBody>
      </p:sp>
    </p:spTree>
    <p:extLst>
      <p:ext uri="{BB962C8B-B14F-4D97-AF65-F5344CB8AC3E}">
        <p14:creationId xmlns:p14="http://schemas.microsoft.com/office/powerpoint/2010/main" val="358973796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E5FF2B1-13CC-4FD8-A51D-E30001B400D7}" type="datetime4">
              <a:rPr lang="en-US" smtClean="0"/>
              <a:pPr/>
              <a:t>August 10, 2026</a:t>
            </a:fld>
            <a:endParaRPr lang="en-US" dirty="0"/>
          </a:p>
        </p:txBody>
      </p:sp>
    </p:spTree>
    <p:extLst>
      <p:ext uri="{BB962C8B-B14F-4D97-AF65-F5344CB8AC3E}">
        <p14:creationId xmlns:p14="http://schemas.microsoft.com/office/powerpoint/2010/main" val="288715908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B28F01B-1B26-4D5D-9A84-9F181CC0F8B4}" type="datetime4">
              <a:rPr lang="en-US" smtClean="0"/>
              <a:pPr/>
              <a:t>August 10, 2026</a:t>
            </a:fld>
            <a:endParaRPr lang="en-US" dirty="0"/>
          </a:p>
        </p:txBody>
      </p:sp>
    </p:spTree>
    <p:extLst>
      <p:ext uri="{BB962C8B-B14F-4D97-AF65-F5344CB8AC3E}">
        <p14:creationId xmlns:p14="http://schemas.microsoft.com/office/powerpoint/2010/main" val="153437705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August 10,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46510824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E23A8C0B-53FA-405C-9923-9E46C92CE8AC}" type="datetime4">
              <a:rPr lang="en-US" smtClean="0"/>
              <a:pPr/>
              <a:t>August 10,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22514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report was prepared considering the product risk classification in order to generate allocation results for each investor profile.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analysts are obligated to comply with all the rules laid down in the APIMEC’s conduct code for the securities analyst and XP Investimentos’ analyst of securities conduct policy.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Customer service is carried out by XP Investimentos employees or by autonomous investment agents who perform their activities through XP, in accordance with CVM Resolution 178/2023,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a:t>
            </a:r>
            <a:r>
              <a:rPr kumimoji="0" lang="en-US" sz="700" b="0" i="0" u="none" strike="noStrike" kern="100" cap="none" spc="0" normalizeH="0" baseline="0" noProof="0" dirty="0" err="1">
                <a:ln>
                  <a:noFill/>
                </a:ln>
                <a:solidFill>
                  <a:srgbClr val="18191A"/>
                </a:solidFill>
                <a:effectLst/>
                <a:uLnTx/>
                <a:uFillTx/>
                <a:latin typeface="XP" pitchFamily="2" charset="77"/>
                <a:ea typeface="XP" pitchFamily="2" charset="77"/>
                <a:cs typeface="Times New Roman" panose="02020603050405020304" pitchFamily="18" charset="0"/>
              </a:rPr>
              <a:t>ttps</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t>
            </a:r>
            <a:r>
              <a:rPr kumimoji="0" lang="en-US" sz="700" b="0" i="0" u="none" strike="noStrike" kern="100" cap="none" spc="0" normalizeH="0" baseline="0" noProof="0" dirty="0" err="1">
                <a:ln>
                  <a:noFill/>
                </a:ln>
                <a:solidFill>
                  <a:srgbClr val="18191A"/>
                </a:solidFill>
                <a:effectLst/>
                <a:uLnTx/>
                <a:uFillTx/>
                <a:latin typeface="XP" pitchFamily="2" charset="77"/>
                <a:ea typeface="XP" pitchFamily="2" charset="77"/>
                <a:cs typeface="Times New Roman" panose="02020603050405020304" pitchFamily="18" charset="0"/>
              </a:rPr>
              <a:t>institucional.xpi.com.br</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t>
            </a:r>
            <a:r>
              <a:rPr kumimoji="0" lang="en-US" sz="700" b="0" i="0" u="none" strike="noStrike" kern="100" cap="none" spc="0" normalizeH="0" baseline="0" noProof="0" dirty="0" err="1">
                <a:ln>
                  <a:noFill/>
                </a:ln>
                <a:solidFill>
                  <a:srgbClr val="18191A"/>
                </a:solidFill>
                <a:effectLst/>
                <a:uLnTx/>
                <a:uFillTx/>
                <a:latin typeface="XP" pitchFamily="2" charset="77"/>
                <a:ea typeface="XP" pitchFamily="2" charset="77"/>
                <a:cs typeface="Times New Roman" panose="02020603050405020304" pitchFamily="18" charset="0"/>
              </a:rPr>
              <a:t>ouvidoria.aspx</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cost of the transactions billing policies are defined in the operational cost tables which are made available on XP Investimentos website: </a:t>
            </a:r>
            <a:r>
              <a:rPr kumimoji="0" lang="en-US" sz="700" b="0" i="0" u="sng"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hlinkClick r:id="rId3">
                  <a:extLst>
                    <a:ext uri="{A12FA001-AC4F-418D-AE19-62706E023703}">
                      <ahyp:hlinkClr xmlns:ahyp="http://schemas.microsoft.com/office/drawing/2018/hyperlinkcolor" val="tx"/>
                    </a:ext>
                  </a:extLst>
                </a:hlinkClick>
              </a:rPr>
              <a:t>www.xpi.com.br</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is exempt from any liability for any damages, direct or indirect, that come from the use of this report or its contents.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institution is adhering ANBIMA Code of Regulation and best practices for the distribution activity of retail investment products.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Investments US, LLC, a broker-dealer registered with the U.S. Securities and Exchange Commission, has assumed responsibility for this research for purposes of U.S. law.  All transactions arising from this research should be directed to XP Investments US, LLC, at +1 646-664-0525.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80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p:txBody>
      </p:sp>
    </p:spTree>
    <p:extLst>
      <p:ext uri="{BB962C8B-B14F-4D97-AF65-F5344CB8AC3E}">
        <p14:creationId xmlns:p14="http://schemas.microsoft.com/office/powerpoint/2010/main" val="225218923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99_Fechamento">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4372988" y="2954016"/>
            <a:ext cx="3446025" cy="949968"/>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35401173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Relationship Id="rId15" Type="http://schemas.openxmlformats.org/officeDocument/2006/relationships/slideLayout" Target="../slideLayouts/slideLayout61.xml"/><Relationship Id="rId16" Type="http://schemas.openxmlformats.org/officeDocument/2006/relationships/slideLayout" Target="../slideLayouts/slideLayout62.xml"/><Relationship Id="rId17" Type="http://schemas.openxmlformats.org/officeDocument/2006/relationships/slideLayout" Target="../slideLayouts/slideLayout63.xml"/><Relationship Id="rId1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9" Type="http://schemas.openxmlformats.org/officeDocument/2006/relationships/slideLayout" Target="../slideLayouts/slideLayout72.xml"/><Relationship Id="rId10" Type="http://schemas.openxmlformats.org/officeDocument/2006/relationships/slideLayout" Target="../slideLayouts/slideLayout73.xml"/><Relationship Id="rId11" Type="http://schemas.openxmlformats.org/officeDocument/2006/relationships/slideLayout" Target="../slideLayouts/slideLayout74.xml"/><Relationship Id="rId12" Type="http://schemas.openxmlformats.org/officeDocument/2006/relationships/slideLayout" Target="../slideLayouts/slideLayout75.xml"/><Relationship Id="rId13" Type="http://schemas.openxmlformats.org/officeDocument/2006/relationships/slideLayout" Target="../slideLayouts/slideLayout76.xml"/><Relationship Id="rId14" Type="http://schemas.openxmlformats.org/officeDocument/2006/relationships/slideLayout" Target="../slideLayouts/slideLayout77.xml"/><Relationship Id="rId15" Type="http://schemas.openxmlformats.org/officeDocument/2006/relationships/slideLayout" Target="../slideLayouts/slideLayout78.xml"/><Relationship Id="rId16" Type="http://schemas.openxmlformats.org/officeDocument/2006/relationships/slideLayout" Target="../slideLayouts/slideLayout79.xml"/><Relationship Id="rId17" Type="http://schemas.openxmlformats.org/officeDocument/2006/relationships/slideLayout" Target="../slideLayouts/slideLayout80.xml"/><Relationship Id="rId18"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slideLayout" Target="../slideLayouts/slideLayout82.xml"/><Relationship Id="rId3" Type="http://schemas.openxmlformats.org/officeDocument/2006/relationships/slideLayout" Target="../slideLayouts/slideLayout83.xml"/><Relationship Id="rId4" Type="http://schemas.openxmlformats.org/officeDocument/2006/relationships/slideLayout" Target="../slideLayouts/slideLayout84.xml"/><Relationship Id="rId5" Type="http://schemas.openxmlformats.org/officeDocument/2006/relationships/slideLayout" Target="../slideLayouts/slideLayout85.xml"/><Relationship Id="rId6" Type="http://schemas.openxmlformats.org/officeDocument/2006/relationships/slideLayout" Target="../slideLayouts/slideLayout86.xml"/><Relationship Id="rId7" Type="http://schemas.openxmlformats.org/officeDocument/2006/relationships/slideLayout" Target="../slideLayouts/slideLayout87.xml"/><Relationship Id="rId8" Type="http://schemas.openxmlformats.org/officeDocument/2006/relationships/slideLayout" Target="../slideLayouts/slideLayout88.xml"/><Relationship Id="rId9" Type="http://schemas.openxmlformats.org/officeDocument/2006/relationships/slideLayout" Target="../slideLayouts/slideLayout89.xml"/><Relationship Id="rId10" Type="http://schemas.openxmlformats.org/officeDocument/2006/relationships/slideLayout" Target="../slideLayouts/slideLayout90.xml"/><Relationship Id="rId11" Type="http://schemas.openxmlformats.org/officeDocument/2006/relationships/slideLayout" Target="../slideLayouts/slideLayout91.xml"/><Relationship Id="rId12" Type="http://schemas.openxmlformats.org/officeDocument/2006/relationships/slideLayout" Target="../slideLayouts/slideLayout92.xml"/><Relationship Id="rId13" Type="http://schemas.openxmlformats.org/officeDocument/2006/relationships/slideLayout" Target="../slideLayouts/slideLayout93.xml"/><Relationship Id="rId14" Type="http://schemas.openxmlformats.org/officeDocument/2006/relationships/slideLayout" Target="../slideLayouts/slideLayout94.xml"/><Relationship Id="rId15" Type="http://schemas.openxmlformats.org/officeDocument/2006/relationships/slideLayout" Target="../slideLayouts/slideLayout95.xml"/><Relationship Id="rId16" Type="http://schemas.openxmlformats.org/officeDocument/2006/relationships/slideLayout" Target="../slideLayouts/slideLayout96.xml"/><Relationship Id="rId17" Type="http://schemas.openxmlformats.org/officeDocument/2006/relationships/slideLayout" Target="../slideLayouts/slideLayout97.xml"/><Relationship Id="rId18"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Medium" pitchFamily="2" charset="0"/>
                <a:cs typeface="Roboto" panose="02000000000000000000" pitchFamily="2" charset="0"/>
              </a:defRPr>
            </a:lvl1pPr>
          </a:lstStyle>
          <a:p>
            <a:fld id="{2DFFA9F3-E443-44E7-9E1A-B9DFF00A047E}" type="datetime4">
              <a:rPr lang="en-US" smtClean="0"/>
              <a:pPr/>
              <a:t>August 10, 2026</a:t>
            </a:fld>
            <a:endParaRPr lang="en-US"/>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Espaço Reservado para Texto 6">
            <a:extLst>
              <a:ext uri="{FF2B5EF4-FFF2-40B4-BE49-F238E27FC236}">
                <a16:creationId xmlns:a16="http://schemas.microsoft.com/office/drawing/2014/main" id="{56FAEC81-DBFC-4EBE-A673-5EBEC43C2172}"/>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55" r:id="rId1"/>
    <p:sldLayoutId id="2147483971" r:id="rId2"/>
    <p:sldLayoutId id="2147483957" r:id="rId3"/>
    <p:sldLayoutId id="2147483969" r:id="rId4"/>
    <p:sldLayoutId id="2147483970" r:id="rId5"/>
    <p:sldLayoutId id="2147483960" r:id="rId6"/>
    <p:sldLayoutId id="2147483963" r:id="rId7"/>
    <p:sldLayoutId id="2147483968" r:id="rId8"/>
    <p:sldLayoutId id="2147483976" r:id="rId9"/>
    <p:sldLayoutId id="2147483962" r:id="rId10"/>
    <p:sldLayoutId id="2147483961" r:id="rId11"/>
    <p:sldLayoutId id="2147483964" r:id="rId12"/>
    <p:sldLayoutId id="2147483965" r:id="rId13"/>
    <p:sldLayoutId id="2147483966" r:id="rId14"/>
    <p:sldLayoutId id="2147483967" r:id="rId15"/>
    <p:sldLayoutId id="2147483972" r:id="rId16"/>
    <p:sldLayoutId id="2147483956" r:id="rId17"/>
    <p:sldLayoutId id="2147483940" r:id="rId18"/>
    <p:sldLayoutId id="2147483947" r:id="rId19"/>
    <p:sldLayoutId id="2147483948" r:id="rId20"/>
    <p:sldLayoutId id="2147483951" r:id="rId21"/>
    <p:sldLayoutId id="2147483952" r:id="rId22"/>
    <p:sldLayoutId id="2147483953" r:id="rId23"/>
    <p:sldLayoutId id="2147483918" r:id="rId24"/>
    <p:sldLayoutId id="2147483920" r:id="rId25"/>
    <p:sldLayoutId id="2147483941" r:id="rId26"/>
    <p:sldLayoutId id="2147483944" r:id="rId27"/>
    <p:sldLayoutId id="2147483942" r:id="rId28"/>
    <p:sldLayoutId id="2147483958" r:id="rId29"/>
    <p:sldLayoutId id="2147483959" r:id="rId30"/>
    <p:sldLayoutId id="2147483943" r:id="rId31"/>
    <p:sldLayoutId id="2147483893" r:id="rId32"/>
    <p:sldLayoutId id="2147483954" r:id="rId33"/>
    <p:sldLayoutId id="2147483946" r:id="rId34"/>
    <p:sldLayoutId id="2147483916" r:id="rId35"/>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EAF125-7BCD-841C-6E71-36CF3C3659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id="{0B87687D-30DD-6CBF-6A1B-04E2395FE6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45DA57CD-2169-DC1A-46C4-1B1F04DA05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6693EA-FFC3-41DA-8F9A-C49BB81557A5}" type="datetimeFigureOut">
              <a:rPr lang="pt-BR" smtClean="0"/>
              <a:t>10/08/2026</a:t>
            </a:fld>
            <a:endParaRPr lang="pt-BR"/>
          </a:p>
        </p:txBody>
      </p:sp>
      <p:sp>
        <p:nvSpPr>
          <p:cNvPr id="5" name="Footer Placeholder 4">
            <a:extLst>
              <a:ext uri="{FF2B5EF4-FFF2-40B4-BE49-F238E27FC236}">
                <a16:creationId xmlns:a16="http://schemas.microsoft.com/office/drawing/2014/main" id="{A334591E-27D2-0F71-8E50-636915DF3F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a:extLst>
              <a:ext uri="{FF2B5EF4-FFF2-40B4-BE49-F238E27FC236}">
                <a16:creationId xmlns:a16="http://schemas.microsoft.com/office/drawing/2014/main" id="{CC99E062-3CAE-1424-27D6-F68EBEB6A6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1A97-5690-4E1C-BEA8-89E81DA3A248}" type="slidenum">
              <a:rPr lang="pt-BR" smtClean="0"/>
              <a:t>‹#›</a:t>
            </a:fld>
            <a:endParaRPr lang="pt-BR"/>
          </a:p>
        </p:txBody>
      </p:sp>
    </p:spTree>
    <p:extLst>
      <p:ext uri="{BB962C8B-B14F-4D97-AF65-F5344CB8AC3E}">
        <p14:creationId xmlns:p14="http://schemas.microsoft.com/office/powerpoint/2010/main" val="3943150749"/>
      </p:ext>
    </p:extLst>
  </p:cSld>
  <p:clrMap bg1="lt1" tx1="dk1" bg2="lt2" tx2="dk2" accent1="accent1" accent2="accent2" accent3="accent3" accent4="accent4" accent5="accent5" accent6="accent6" hlink="hlink" folHlink="folHlink"/>
  <p:sldLayoutIdLst>
    <p:sldLayoutId id="2147483978" r:id="rId1"/>
    <p:sldLayoutId id="2147483979" r:id="rId2"/>
    <p:sldLayoutId id="2147483980" r:id="rId3"/>
    <p:sldLayoutId id="2147483981" r:id="rId4"/>
    <p:sldLayoutId id="2147483982" r:id="rId5"/>
    <p:sldLayoutId id="2147483983" r:id="rId6"/>
    <p:sldLayoutId id="2147483984" r:id="rId7"/>
    <p:sldLayoutId id="2147483985" r:id="rId8"/>
    <p:sldLayoutId id="2147483986" r:id="rId9"/>
    <p:sldLayoutId id="2147483987" r:id="rId10"/>
    <p:sldLayoutId id="21474839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pitchFamily="2" charset="0"/>
                <a:cs typeface="Roboto" panose="02000000000000000000" pitchFamily="2" charset="0"/>
              </a:defRPr>
            </a:lvl1pPr>
          </a:lstStyle>
          <a:p>
            <a:fld id="{2DFFA9F3-E443-44E7-9E1A-B9DFF00A047E}" type="datetime4">
              <a:rPr lang="en-US" smtClean="0"/>
              <a:pPr/>
              <a:t>August 10, 2026</a:t>
            </a:fld>
            <a:endParaRPr lang="en-US" dirty="0"/>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Espaço Reservado para Texto 6">
            <a:extLst>
              <a:ext uri="{FF2B5EF4-FFF2-40B4-BE49-F238E27FC236}">
                <a16:creationId xmlns:a16="http://schemas.microsoft.com/office/drawing/2014/main" id="{56FAEC81-DBFC-4EBE-A673-5EBEC43C2172}"/>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t>ESG – Meatpackers</a:t>
            </a:r>
            <a:endParaRPr lang="en-US" dirty="0"/>
          </a:p>
        </p:txBody>
      </p:sp>
    </p:spTree>
    <p:extLst>
      <p:ext uri="{BB962C8B-B14F-4D97-AF65-F5344CB8AC3E}">
        <p14:creationId xmlns:p14="http://schemas.microsoft.com/office/powerpoint/2010/main" val="3058471370"/>
      </p:ext>
    </p:extLst>
  </p:cSld>
  <p:clrMap bg1="lt1" tx1="dk1" bg2="lt2" tx2="dk2" accent1="accent1" accent2="accent2" accent3="accent3" accent4="accent4" accent5="accent5" accent6="accent6" hlink="hlink" folHlink="folHlink"/>
  <p:sldLayoutIdLst>
    <p:sldLayoutId id="2147483990" r:id="rId1"/>
    <p:sldLayoutId id="2147483991" r:id="rId2"/>
    <p:sldLayoutId id="2147483992" r:id="rId3"/>
    <p:sldLayoutId id="2147483993" r:id="rId4"/>
    <p:sldLayoutId id="2147483994" r:id="rId5"/>
    <p:sldLayoutId id="2147483995" r:id="rId6"/>
    <p:sldLayoutId id="2147483996" r:id="rId7"/>
    <p:sldLayoutId id="2147483997" r:id="rId8"/>
    <p:sldLayoutId id="2147483998" r:id="rId9"/>
    <p:sldLayoutId id="2147483999" r:id="rId10"/>
    <p:sldLayoutId id="2147484000" r:id="rId11"/>
    <p:sldLayoutId id="2147484001" r:id="rId12"/>
    <p:sldLayoutId id="2147484002" r:id="rId13"/>
    <p:sldLayoutId id="2147484003" r:id="rId14"/>
    <p:sldLayoutId id="2147484004" r:id="rId15"/>
    <p:sldLayoutId id="2147484005" r:id="rId16"/>
    <p:sldLayoutId id="2147484006" r:id="rId17"/>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p15:clr>
            <a:srgbClr val="F26B43"/>
          </p15:clr>
        </p15:guide>
        <p15:guide id="5" orient="horz" pos="7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pitchFamily="2" charset="0"/>
                <a:cs typeface="Roboto" panose="02000000000000000000" pitchFamily="2" charset="0"/>
              </a:defRPr>
            </a:lvl1pPr>
          </a:lstStyle>
          <a:p>
            <a:fld id="{2DFFA9F3-E443-44E7-9E1A-B9DFF00A047E}" type="datetime4">
              <a:rPr lang="en-US" smtClean="0"/>
              <a:pPr/>
              <a:t>August 10, 2026</a:t>
            </a:fld>
            <a:endParaRPr lang="en-US" dirty="0"/>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Espaço Reservado para Texto 6">
            <a:extLst>
              <a:ext uri="{FF2B5EF4-FFF2-40B4-BE49-F238E27FC236}">
                <a16:creationId xmlns:a16="http://schemas.microsoft.com/office/drawing/2014/main" id="{56FAEC81-DBFC-4EBE-A673-5EBEC43C2172}"/>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t>ESG – Meatpackers</a:t>
            </a:r>
            <a:endParaRPr lang="en-US" dirty="0"/>
          </a:p>
        </p:txBody>
      </p:sp>
      <p:sp>
        <p:nvSpPr>
          <p:cNvPr id="5" name="TextBox 4">
            <a:extLst>
              <a:ext uri="{FF2B5EF4-FFF2-40B4-BE49-F238E27FC236}">
                <a16:creationId xmlns:a16="http://schemas.microsoft.com/office/drawing/2014/main" id="{9ABD2F85-23B3-D9D0-95FF-34A9A2A70985}"/>
              </a:ext>
            </a:extLst>
          </p:cNvPr>
          <p:cNvSpPr txBox="1"/>
          <p:nvPr userDrawn="1">
            <p:extLst>
              <p:ext uri="{1162E1C5-73C7-4A58-AE30-91384D911F3F}">
                <p184:classification xmlns:p184="http://schemas.microsoft.com/office/powerpoint/2018/4/main" val="ftr"/>
              </p:ext>
            </p:extLst>
          </p:nvPr>
        </p:nvSpPr>
        <p:spPr>
          <a:xfrm>
            <a:off x="10685463" y="6642100"/>
            <a:ext cx="1471612"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ea typeface="Calibri" panose="020F0502020204030204" pitchFamily="34" charset="0"/>
                <a:cs typeface="Calibri" panose="020F0502020204030204" pitchFamily="34" charset="0"/>
              </a:rPr>
              <a:t>[ CLASSIFICAÇÃO: PÚBLICA ]</a:t>
            </a:r>
          </a:p>
        </p:txBody>
      </p:sp>
    </p:spTree>
    <p:extLst>
      <p:ext uri="{BB962C8B-B14F-4D97-AF65-F5344CB8AC3E}">
        <p14:creationId xmlns:p14="http://schemas.microsoft.com/office/powerpoint/2010/main" val="2588041438"/>
      </p:ext>
    </p:extLst>
  </p:cSld>
  <p:clrMap bg1="lt1" tx1="dk1" bg2="lt2" tx2="dk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 id="2147484019" r:id="rId12"/>
    <p:sldLayoutId id="2147484020" r:id="rId13"/>
    <p:sldLayoutId id="2147484021" r:id="rId14"/>
    <p:sldLayoutId id="2147484022" r:id="rId15"/>
    <p:sldLayoutId id="2147484023" r:id="rId16"/>
    <p:sldLayoutId id="2147484024" r:id="rId17"/>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p15:clr>
            <a:srgbClr val="F26B43"/>
          </p15:clr>
        </p15:guide>
        <p15:guide id="5" orient="horz" pos="73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pitchFamily="2" charset="0"/>
                <a:cs typeface="Roboto" panose="02000000000000000000" pitchFamily="2" charset="0"/>
              </a:defRPr>
            </a:lvl1pPr>
          </a:lstStyle>
          <a:p>
            <a:fld id="{2DFFA9F3-E443-44E7-9E1A-B9DFF00A047E}" type="datetime4">
              <a:rPr lang="en-US" smtClean="0"/>
              <a:pPr/>
              <a:t>August 10, 2026</a:t>
            </a:fld>
            <a:endParaRPr lang="en-US" dirty="0"/>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Espaço Reservado para Texto 6">
            <a:extLst>
              <a:ext uri="{FF2B5EF4-FFF2-40B4-BE49-F238E27FC236}">
                <a16:creationId xmlns:a16="http://schemas.microsoft.com/office/drawing/2014/main" id="{56FAEC81-DBFC-4EBE-A673-5EBEC43C2172}"/>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t>ESG – Meatpackers</a:t>
            </a:r>
            <a:endParaRPr lang="en-US" dirty="0"/>
          </a:p>
        </p:txBody>
      </p:sp>
      <p:sp>
        <p:nvSpPr>
          <p:cNvPr id="5" name="TextBox 4">
            <a:extLst>
              <a:ext uri="{FF2B5EF4-FFF2-40B4-BE49-F238E27FC236}">
                <a16:creationId xmlns:a16="http://schemas.microsoft.com/office/drawing/2014/main" id="{9ABD2F85-23B3-D9D0-95FF-34A9A2A70985}"/>
              </a:ext>
            </a:extLst>
          </p:cNvPr>
          <p:cNvSpPr txBox="1"/>
          <p:nvPr userDrawn="1">
            <p:extLst>
              <p:ext uri="{1162E1C5-73C7-4A58-AE30-91384D911F3F}">
                <p184:classification xmlns:p184="http://schemas.microsoft.com/office/powerpoint/2018/4/main" val="ftr"/>
              </p:ext>
            </p:extLst>
          </p:nvPr>
        </p:nvSpPr>
        <p:spPr>
          <a:xfrm>
            <a:off x="10685463" y="6642100"/>
            <a:ext cx="1471612"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ea typeface="Calibri" panose="020F0502020204030204" pitchFamily="34" charset="0"/>
                <a:cs typeface="Calibri" panose="020F0502020204030204" pitchFamily="34" charset="0"/>
              </a:rPr>
              <a:t>[ CLASSIFICAÇÃO: PÚBLICA ]</a:t>
            </a:r>
          </a:p>
        </p:txBody>
      </p:sp>
    </p:spTree>
    <p:extLst>
      <p:ext uri="{BB962C8B-B14F-4D97-AF65-F5344CB8AC3E}">
        <p14:creationId xmlns:p14="http://schemas.microsoft.com/office/powerpoint/2010/main" val="2169375499"/>
      </p:ext>
    </p:extLst>
  </p:cSld>
  <p:clrMap bg1="lt1" tx1="dk1" bg2="lt2" tx2="dk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 id="2147484039" r:id="rId14"/>
    <p:sldLayoutId id="2147484040" r:id="rId15"/>
    <p:sldLayoutId id="2147484041" r:id="rId16"/>
    <p:sldLayoutId id="2147484042" r:id="rId17"/>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svg"/><Relationship Id="rId4" Type="http://schemas.openxmlformats.org/officeDocument/2006/relationships/image" Target="../media/image9.png"/><Relationship Id="rId5" Type="http://schemas.microsoft.com/office/2007/relationships/hdphoto" Target="../media/hdphoto2.wdp"/><Relationship Id="rId6" Type="http://schemas.openxmlformats.org/officeDocument/2006/relationships/hyperlink" Target="https://researchxp1.s3.sa-east-1.amazonaws.com/XP+Ray+-+July+2026.pdf" TargetMode="External"/><Relationship Id="rId7" Type="http://schemas.openxmlformats.org/officeDocument/2006/relationships/image" Target="../media/image2.svg"/><Relationship Id="rId8" Type="http://schemas.openxmlformats.org/officeDocument/2006/relationships/oleObject" Target="file:///\\xpdocs\Research\Equities\Estrategia\Reports\Fluxo%20investidores%20na%20Bolsa\Banco%20de%20dados\Consolidated%20Charts.xlsx!Foreign!%5bConsolidated%20Charts.xlsx%5dForeign%20Chart%201" TargetMode="External"/><Relationship Id="rId9" Type="http://schemas.openxmlformats.org/officeDocument/2006/relationships/image" Target="../media/image19.emf"/><Relationship Id="rId10" Type="http://schemas.openxmlformats.org/officeDocument/2006/relationships/hyperlink" Target="https://researchxp1.s3.sa-east-1.amazonaws.com/XP+Ray+-+August+2026.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hyperlink" Target="https://researchxp1.s3.sa-east-1.amazonaws.com/XP+Ray+-+July+2026.pdf" TargetMode="External"/><Relationship Id="rId4" Type="http://schemas.openxmlformats.org/officeDocument/2006/relationships/oleObject" Target="file:///\\xpdocs\Research\Equities\Estrategia\Reports\Fluxo%20investidores%20na%20Bolsa\Banco%20de%20dados\Consolidated%20Charts.xlsx!Foreign!%5bConsolidated%20Charts.xlsx%5dForeign%20Chart%202" TargetMode="External"/><Relationship Id="rId5" Type="http://schemas.openxmlformats.org/officeDocument/2006/relationships/image" Target="../media/image20.emf"/><Relationship Id="rId6" Type="http://schemas.openxmlformats.org/officeDocument/2006/relationships/oleObject" Target="file:///\\xpdocs\Research\Equities\Estrategia\Reports\Fluxo%20investidores%20na%20Bolsa\Banco%20de%20dados\Consolidated%20Charts.xlsx!Foreign!%5bConsolidated%20Charts.xlsx%5dForeign%20Chart%205" TargetMode="External"/><Relationship Id="rId7" Type="http://schemas.openxmlformats.org/officeDocument/2006/relationships/image" Target="../media/image21.emf"/><Relationship Id="rId8" Type="http://schemas.openxmlformats.org/officeDocument/2006/relationships/oleObject" Target="file:///\\xpdocs\Research\Equities\Estrategia\Reports\Fluxo%20investidores%20na%20Bolsa\Banco%20de%20dados\Consolidated%20Charts.xlsx!Foreign!%5bConsolidated%20Charts.xlsx%5dForeign%20Chart%206" TargetMode="External"/><Relationship Id="rId9" Type="http://schemas.openxmlformats.org/officeDocument/2006/relationships/image" Target="../media/image22.emf"/><Relationship Id="rId10" Type="http://schemas.openxmlformats.org/officeDocument/2006/relationships/hyperlink" Target="https://researchxp1.s3.sa-east-1.amazonaws.com/XP+Ray+-+August+2026.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oleObject" Target="file:///\\xpdocs\Research\Equities\Estrategia\Reports\Fluxo%20investidores%20na%20Bolsa\Banco%20de%20dados\Consolidated%20Charts.xlsx!Sector%20flows!%5bConsolidated%20Charts.xlsx%5dSector%20flows%20Chart%201" TargetMode="External"/><Relationship Id="rId4" Type="http://schemas.openxmlformats.org/officeDocument/2006/relationships/image" Target="../media/image23.emf"/><Relationship Id="rId5" Type="http://schemas.openxmlformats.org/officeDocument/2006/relationships/oleObject" Target="file:///\\xpdocs\Research\Equities\Estrategia\Reports\Fluxo%20investidores%20na%20Bolsa\Banco%20de%20dados\Consolidated%20Charts.xlsx!Sector%20flows!%5bConsolidated%20Charts.xlsx%5dSector%20flows%20Chart%202" TargetMode="External"/><Relationship Id="rId6" Type="http://schemas.openxmlformats.org/officeDocument/2006/relationships/image" Target="../media/image2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oleObject" Target="file:///\\xpdocs\Research\Equities\Estrategia\Reports\Fluxo%20investidores%20na%20Bolsa\Banco%20de%20dados\Consolidated%20Charts.xlsx!Institutional!%5bConsolidated%20Charts.xlsx%5dInstitutional%20Chart%206" TargetMode="External"/><Relationship Id="rId4" Type="http://schemas.openxmlformats.org/officeDocument/2006/relationships/image" Target="../media/image25.emf"/><Relationship Id="rId5" Type="http://schemas.openxmlformats.org/officeDocument/2006/relationships/oleObject" Target="file:///\\xpdocs\Research\Equities\Estrategia\Reports\Fluxo%20investidores%20na%20Bolsa\Banco%20de%20dados\Consolidated%20Charts.xlsx!Institutional!%5bConsolidated%20Charts.xlsx%5dInstitutional%20Chart%205" TargetMode="External"/><Relationship Id="rId6" Type="http://schemas.openxmlformats.org/officeDocument/2006/relationships/image" Target="../media/image26.emf"/><Relationship Id="rId7" Type="http://schemas.openxmlformats.org/officeDocument/2006/relationships/oleObject" Target="file:///\\xpdocs\Research\Equities\Estrategia\Reports\Fluxo%20investidores%20na%20Bolsa\Banco%20de%20dados\Consolidated%20Charts.xlsx!PFs!%5bConsolidated%20Charts.xlsx%5dPFs%20Chart%201" TargetMode="External"/><Relationship Id="rId8" Type="http://schemas.openxmlformats.org/officeDocument/2006/relationships/image" Target="../media/image27.emf"/><Relationship Id="rId9" Type="http://schemas.openxmlformats.org/officeDocument/2006/relationships/oleObject" Target="file:///\\xpdocs\Research\Equities\Estrategia\Reports\Fluxo%20investidores%20na%20Bolsa\Banco%20de%20dados\Consolidated%20Charts.xlsx!PFs!%5bConsolidated%20Charts.xlsx%5dPFs%20Chart%202" TargetMode="External"/><Relationship Id="rId10" Type="http://schemas.openxmlformats.org/officeDocument/2006/relationships/image" Target="../media/image28.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oleObject" Target="file:///\\xpdocs\Research\Equities\Estrategia\Reports\Fluxo%20investidores%20na%20Bolsa\Banco%20de%20dados\Consolidated%20Charts.xlsx!Others!%5bConsolidated%20Charts.xlsx%5dOthers%20Chart%202" TargetMode="External"/><Relationship Id="rId4" Type="http://schemas.openxmlformats.org/officeDocument/2006/relationships/image" Target="../media/image29.emf"/><Relationship Id="rId5" Type="http://schemas.openxmlformats.org/officeDocument/2006/relationships/oleObject" Target="file:///\\xpdocs\Research\Equities\Estrategia\Reports\Fluxo%20investidores%20na%20Bolsa\Banco%20de%20dados\Consolidated%20Charts.xlsx!Fin%20Inst.!%5bConsolidated%20Charts.xlsx%5dFin%20Inst.%20Chart%202" TargetMode="External"/><Relationship Id="rId6" Type="http://schemas.openxmlformats.org/officeDocument/2006/relationships/image" Target="../media/image30.emf"/><Relationship Id="rId7" Type="http://schemas.openxmlformats.org/officeDocument/2006/relationships/oleObject" Target="file:///\\xpdocs\Research\Equities\Estrategia\Reports\Fluxo%20investidores%20na%20Bolsa\Banco%20de%20dados\Consolidated%20Charts.xlsx!Fin%20Inst.!%5bConsolidated%20Charts.xlsx%5dFin%20Inst.%20Chart%201" TargetMode="External"/><Relationship Id="rId8" Type="http://schemas.openxmlformats.org/officeDocument/2006/relationships/image" Target="../media/image31.emf"/><Relationship Id="rId9" Type="http://schemas.openxmlformats.org/officeDocument/2006/relationships/oleObject" Target="file:///\\xpdocs\Research\Equities\Estrategia\Reports\Fluxo%20investidores%20na%20Bolsa\Banco%20de%20dados\Consolidated%20Charts.xlsx!Others!%5bConsolidated%20Charts.xlsx%5dOthers%20Chart%201" TargetMode="External"/><Relationship Id="rId10" Type="http://schemas.openxmlformats.org/officeDocument/2006/relationships/image" Target="../media/image3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oleObject" Target="file:///\\xpdocs\Research\Equities\Estrategia\Reports\Fluxo%20investidores%20na%20Bolsa\Banco%20de%20dados\Consolidated%20Charts.xlsx!Fundos%20-%20Classe!%5bConsolidated%20Charts.xlsx%5dFundos%20-%20Classe%20Chart%204" TargetMode="External"/><Relationship Id="rId4" Type="http://schemas.openxmlformats.org/officeDocument/2006/relationships/image" Target="../media/image33.emf"/><Relationship Id="rId5" Type="http://schemas.openxmlformats.org/officeDocument/2006/relationships/oleObject" Target="file:///\\xpdocs\Research\Equities\Estrategia\Reports\Fluxo%20investidores%20na%20Bolsa\Banco%20de%20dados\Consolidated%20Charts.xlsx!Fundos%20-%20Classe!%5bConsolidated%20Charts.xlsx%5dFundos%20-%20Classe%20Chart%203" TargetMode="External"/><Relationship Id="rId6" Type="http://schemas.openxmlformats.org/officeDocument/2006/relationships/image" Target="../media/image34.emf"/><Relationship Id="rId7" Type="http://schemas.openxmlformats.org/officeDocument/2006/relationships/oleObject" Target="file:///\\xpdocs\Research\Equities\Estrategia\Reports\Fluxo%20investidores%20na%20Bolsa\Banco%20de%20dados\Consolidated%20Charts.xlsx!Fundos%20-%20Classe!%5bConsolidated%20Charts.xlsx%5dFundos%20-%20Classe%20Chart%205" TargetMode="External"/><Relationship Id="rId8" Type="http://schemas.openxmlformats.org/officeDocument/2006/relationships/image" Target="../media/image35.emf"/><Relationship Id="rId9" Type="http://schemas.openxmlformats.org/officeDocument/2006/relationships/oleObject" Target="file:///\\xpdocs\Research\Equities\Estrategia\Reports\Fluxo%20investidores%20na%20Bolsa\Banco%20de%20dados\Consolidated%20Charts.xlsx!Fundos%20-%20Classe!%5bConsolidated%20Charts.xlsx%5dFundos%20-%20Classe%20Chart%207" TargetMode="External"/><Relationship Id="rId10" Type="http://schemas.openxmlformats.org/officeDocument/2006/relationships/image" Target="../media/image36.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oleObject" Target="file:///\\xpdocs\Research\Equities\Estrategia\Reports\Fluxo%20investidores%20na%20Bolsa\Banco%20de%20dados\Consolidated%20Charts.xlsx!Aloca&#231;&#227;o%20em%20fundos!%5bConsolidated%20Charts.xlsx%5dAloca&#231;&#227;o%20em%20fundos%20Chart%203" TargetMode="External"/><Relationship Id="rId4" Type="http://schemas.openxmlformats.org/officeDocument/2006/relationships/image" Target="../media/image37.emf"/><Relationship Id="rId5" Type="http://schemas.openxmlformats.org/officeDocument/2006/relationships/oleObject" Target="file:///\\xpdocs\Research\Equities\Estrategia\Reports\Fluxo%20investidores%20na%20Bolsa\Banco%20de%20dados\Consolidated%20Charts.xlsx!Aloca&#231;&#227;o%20em%20fundos!%5bConsolidated%20Charts.xlsx%5dAloca&#231;&#227;o%20em%20fundos%20Chart%202" TargetMode="External"/><Relationship Id="rId6" Type="http://schemas.openxmlformats.org/officeDocument/2006/relationships/image" Target="../media/image3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oleObject" Target="file:///\\xpdocs\Research\Equities\Estrategia\Reports\Fluxo%20investidores%20na%20Bolsa\Banco%20de%20dados\Consolidated%20Charts.xlsx!Fundos%20de%20a&#231;&#245;es!%5bConsolidated%20Charts.xlsx%5dFundos%20de%20a&#231;&#245;es%20Chart%202" TargetMode="External"/><Relationship Id="rId4" Type="http://schemas.openxmlformats.org/officeDocument/2006/relationships/image" Target="../media/image39.emf"/><Relationship Id="rId5" Type="http://schemas.openxmlformats.org/officeDocument/2006/relationships/oleObject" Target="file:///\\xpdocs\Research\Equities\Estrategia\Reports\Fluxo%20investidores%20na%20Bolsa\Banco%20de%20dados\Consolidated%20Charts.xlsx!Fundos%20de%20a&#231;&#245;es!%5bConsolidated%20Charts.xlsx%5dFundos%20de%20a&#231;&#245;es%20Chart%203" TargetMode="External"/><Relationship Id="rId6" Type="http://schemas.openxmlformats.org/officeDocument/2006/relationships/image" Target="../media/image40.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oleObject" Target="file:///\\xpdocs\Research\Equities\Estrategia\Reports\Fluxo%20investidores%20na%20Bolsa\Banco%20de%20dados\Consolidated%20Charts.xlsx!Participa&#231;&#227;o%20B3!%5bConsolidated%20Charts.xlsx%5dParticipa&#231;&#227;o%20B3%20Chart%202" TargetMode="External"/><Relationship Id="rId4" Type="http://schemas.openxmlformats.org/officeDocument/2006/relationships/image" Target="../media/image41.emf"/><Relationship Id="rId5" Type="http://schemas.openxmlformats.org/officeDocument/2006/relationships/oleObject" Target="file:///\\xpdocs\Research\Equities\Estrategia\Reports\Fluxo%20investidores%20na%20Bolsa\Banco%20de%20dados\Consolidated%20Charts.xlsx!Participa&#231;&#227;o%20B3!%5bConsolidated%20Charts.xlsx%5dParticipa&#231;&#227;o%20B3%20Chart%2035" TargetMode="External"/><Relationship Id="rId6" Type="http://schemas.openxmlformats.org/officeDocument/2006/relationships/image" Target="../media/image42.emf"/><Relationship Id="rId7" Type="http://schemas.openxmlformats.org/officeDocument/2006/relationships/oleObject" Target="file:///\\xpdocs\Research\Equities\Estrategia\Reports\Fluxo%20investidores%20na%20Bolsa\Banco%20de%20dados\Consolidated%20Charts.xlsx!Numero%20PFs!%5bConsolidated%20Charts.xlsx%5dNumero%20PFs%20Chart%203" TargetMode="External"/><Relationship Id="rId8" Type="http://schemas.openxmlformats.org/officeDocument/2006/relationships/image" Target="../media/image43.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FCBFB9E-EE93-3988-A575-8C9CEB1CAF0B}"/>
              </a:ext>
            </a:extLst>
          </p:cNvPr>
          <p:cNvGrpSpPr/>
          <p:nvPr/>
        </p:nvGrpSpPr>
        <p:grpSpPr>
          <a:xfrm flipH="1">
            <a:off x="-10747" y="0"/>
            <a:ext cx="12192001" cy="1476874"/>
            <a:chOff x="-21880" y="104870"/>
            <a:chExt cx="24831713" cy="3007981"/>
          </a:xfrm>
        </p:grpSpPr>
        <p:pic>
          <p:nvPicPr>
            <p:cNvPr id="35" name="Graphic 34">
              <a:extLst>
                <a:ext uri="{FF2B5EF4-FFF2-40B4-BE49-F238E27FC236}">
                  <a16:creationId xmlns:a16="http://schemas.microsoft.com/office/drawing/2014/main" id="{A8278D19-2B47-FC2F-8C97-A5C42C2EE0A8}"/>
                </a:ext>
              </a:extLst>
            </p:cNvPr>
            <p:cNvPicPr>
              <a:picLocks noChangeAspect="1"/>
            </p:cNvPicPr>
            <p:nvPr/>
          </p:nvPicPr>
          <p:blipFill rotWithShape="1">
            <a:blip>
              <a:extLst>
                <a:ext uri="{96DAC541-7B7A-43D3-8B79-37D633B846F1}">
                  <asvg:svgBlip xmlns:asvg="http://schemas.microsoft.com/office/drawing/2016/SVG/main" r:embed="rId3"/>
                </a:ext>
              </a:extLst>
            </a:blip>
            <a:srcRect l="2074" t="34416" r="2084" b="26700"/>
            <a:stretch/>
          </p:blipFill>
          <p:spPr>
            <a:xfrm>
              <a:off x="-21878" y="104870"/>
              <a:ext cx="24831711" cy="3007979"/>
            </a:xfrm>
            <a:prstGeom prst="rect">
              <a:avLst/>
            </a:prstGeom>
          </p:spPr>
        </p:pic>
        <p:pic>
          <p:nvPicPr>
            <p:cNvPr id="34" name="Picture 33" descr="A blue and white dot pattern&#10;&#10;AI-generated content may be incorrect.">
              <a:extLst>
                <a:ext uri="{FF2B5EF4-FFF2-40B4-BE49-F238E27FC236}">
                  <a16:creationId xmlns:a16="http://schemas.microsoft.com/office/drawing/2014/main" id="{3E79FBD7-F346-6166-36E8-D2855BCCBF76}"/>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sp>
        <p:nvSpPr>
          <p:cNvPr id="2" name="Content Placeholder 1">
            <a:extLst>
              <a:ext uri="{FF2B5EF4-FFF2-40B4-BE49-F238E27FC236}">
                <a16:creationId xmlns:a16="http://schemas.microsoft.com/office/drawing/2014/main" id="{16CB950C-CD44-7683-7713-6E232CF70C1E}"/>
              </a:ext>
            </a:extLst>
          </p:cNvPr>
          <p:cNvSpPr>
            <a:spLocks noGrp="1"/>
          </p:cNvSpPr>
          <p:nvPr>
            <p:ph sz="quarter" idx="22"/>
          </p:nvPr>
        </p:nvSpPr>
        <p:spPr>
          <a:xfrm>
            <a:off x="9940706" y="1631474"/>
            <a:ext cx="1914195" cy="185179"/>
          </a:xfrm>
        </p:spPr>
        <p:txBody>
          <a:bodyPr/>
          <a:lstStyle/>
          <a:p>
            <a:pPr>
              <a:lnSpc>
                <a:spcPct val="125000"/>
              </a:lnSpc>
            </a:pPr>
            <a:r>
              <a:rPr lang="pt-BR" sz="1050" dirty="0"/>
              <a:t>Fernando Ferreira, CFA</a:t>
            </a:r>
            <a:endParaRPr lang="en-US" sz="1050" dirty="0"/>
          </a:p>
        </p:txBody>
      </p:sp>
      <p:sp>
        <p:nvSpPr>
          <p:cNvPr id="3" name="Text Placeholder 2">
            <a:extLst>
              <a:ext uri="{FF2B5EF4-FFF2-40B4-BE49-F238E27FC236}">
                <a16:creationId xmlns:a16="http://schemas.microsoft.com/office/drawing/2014/main" id="{00133535-24B1-B2D6-9CD9-6E7241DC8DF0}"/>
              </a:ext>
            </a:extLst>
          </p:cNvPr>
          <p:cNvSpPr>
            <a:spLocks noGrp="1"/>
          </p:cNvSpPr>
          <p:nvPr>
            <p:ph type="body" sz="quarter" idx="16"/>
          </p:nvPr>
        </p:nvSpPr>
        <p:spPr/>
        <p:txBody>
          <a:bodyPr/>
          <a:lstStyle/>
          <a:p>
            <a:r>
              <a:rPr lang="pt-BR" dirty="0" err="1"/>
              <a:t>Brazil</a:t>
            </a:r>
            <a:r>
              <a:rPr lang="pt-BR" dirty="0"/>
              <a:t> </a:t>
            </a:r>
            <a:r>
              <a:rPr lang="pt-BR" dirty="0" err="1"/>
              <a:t>Equity</a:t>
            </a:r>
            <a:r>
              <a:rPr lang="pt-BR" dirty="0"/>
              <a:t> </a:t>
            </a:r>
            <a:r>
              <a:rPr lang="pt-BR" dirty="0" err="1"/>
              <a:t>Flows</a:t>
            </a:r>
            <a:r>
              <a:rPr lang="pt-BR" dirty="0"/>
              <a:t> Monitor</a:t>
            </a:r>
          </a:p>
        </p:txBody>
      </p:sp>
      <p:sp>
        <p:nvSpPr>
          <p:cNvPr id="4" name="Content Placeholder 3">
            <a:extLst>
              <a:ext uri="{FF2B5EF4-FFF2-40B4-BE49-F238E27FC236}">
                <a16:creationId xmlns:a16="http://schemas.microsoft.com/office/drawing/2014/main" id="{AA1242DA-E278-0B45-ED1F-567E6AE08B17}"/>
              </a:ext>
            </a:extLst>
          </p:cNvPr>
          <p:cNvSpPr>
            <a:spLocks noGrp="1"/>
          </p:cNvSpPr>
          <p:nvPr>
            <p:ph sz="quarter" idx="20"/>
          </p:nvPr>
        </p:nvSpPr>
        <p:spPr>
          <a:xfrm>
            <a:off x="335999" y="1631474"/>
            <a:ext cx="9131274" cy="1130805"/>
          </a:xfrm>
        </p:spPr>
        <p:txBody>
          <a:bodyPr/>
          <a:lstStyle/>
          <a:p>
            <a:pPr>
              <a:lnSpc>
                <a:spcPct val="124000"/>
              </a:lnSpc>
            </a:pPr>
            <a:r>
              <a:rPr lang="en-US" sz="950" dirty="0">
                <a:solidFill>
                  <a:schemeClr val="tx1"/>
                </a:solidFill>
              </a:rPr>
              <a:t>July was the first positive month for foreign flows since March, with foreign investors posting R$3.7bn of inflows (+R$2.6bn in cash and +R$1.2bn in futures), interrupting the negative trend that began in mid-April. As discussed in our latest </a:t>
            </a:r>
            <a:r>
              <a:rPr lang="en-US" sz="950" dirty="0">
                <a:solidFill>
                  <a:schemeClr val="tx1"/>
                </a:solidFill>
                <a:hlinkClick r:id="rId10"/>
              </a:rPr>
              <a:t>XP-Ray</a:t>
            </a:r>
            <a:r>
              <a:rPr lang="en-US" sz="950" dirty="0">
                <a:solidFill>
                  <a:schemeClr val="tx1"/>
                </a:solidFill>
              </a:rPr>
              <a:t>, the pullback in the AI trade drove a global rotation back toward markets that had lagged, while softer inflation prints supported local assets. </a:t>
            </a:r>
            <a:r>
              <a:rPr lang="en-US" sz="950" dirty="0" b="1">
                <a:solidFill>
                  <a:schemeClr val="tx1"/>
                </a:solidFill>
              </a:rPr>
              <a:t>That said, the recovery has not carried into August</a:t>
            </a:r>
            <a:r>
              <a:rPr lang="en-US" sz="950" dirty="0">
                <a:solidFill>
                  <a:schemeClr val="tx1"/>
                </a:solidFill>
              </a:rPr>
              <a:t>: month-to-date, foreign investors have posted R$7.7bn of outflows. Meanwhile, domestic investors were net sellers in July, with institutional investors posting net outflows of R$5.6bn, while individual investors were broadly neutral (+R$0.2bn). Finally, the fund industry recorded its weakest month since December 2025, registering net outflows of R$25.3bn, driven primarily by R$19.8bn of outflows from fixed income funds. Hedge funds posted R$5.6bn of outflows, while equity funds recorded R$1.4bn of net redemptions.</a:t>
            </a:r>
          </a:p>
        </p:txBody>
      </p:sp>
      <p:sp>
        <p:nvSpPr>
          <p:cNvPr id="5" name="Date Placeholder 4">
            <a:extLst>
              <a:ext uri="{FF2B5EF4-FFF2-40B4-BE49-F238E27FC236}">
                <a16:creationId xmlns:a16="http://schemas.microsoft.com/office/drawing/2014/main" id="{514A3506-B7C5-0BA0-B9CC-3756C4B02A0A}"/>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15275-2A9D-4E88-B2A7-86BF8AFFB43A}" type="datetime4">
              <a:rPr kumimoji="0" lang="en-US" sz="1200" b="0" i="0" u="none" strike="noStrike" kern="1200" cap="none" spc="0" normalizeH="0" baseline="0" noProof="0" smtClean="0">
                <a:ln>
                  <a:noFill/>
                </a:ln>
                <a:solidFill>
                  <a:srgbClr val="F9C113"/>
                </a:solidFill>
                <a:effectLst/>
                <a:uLnTx/>
                <a:uFillTx/>
                <a:latin typeface="Roboto Light" panose="02000000000000000000" pitchFamily="2" charset="0"/>
                <a:ea typeface="Roboto Light" panose="02000000000000000000" pitchFamily="2" charset="0"/>
                <a:cs typeface="Roboto Light" panose="02000000000000000000"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August 10, 2026</a:t>
            </a:fld>
            <a:endParaRPr kumimoji="0" lang="en-US" sz="1200" b="0" i="0" u="none" strike="noStrike" kern="1200" cap="none" spc="0" normalizeH="0" baseline="0" noProof="0">
              <a:ln>
                <a:noFill/>
              </a:ln>
              <a:solidFill>
                <a:srgbClr val="F9C113"/>
              </a:solidFill>
              <a:effectLst/>
              <a:uLnTx/>
              <a:uFillTx/>
              <a:latin typeface="Roboto Light" panose="02000000000000000000" pitchFamily="2" charset="0"/>
              <a:ea typeface="Roboto Light" panose="02000000000000000000" pitchFamily="2" charset="0"/>
              <a:cs typeface="Roboto Light" panose="02000000000000000000" pitchFamily="2" charset="0"/>
            </a:endParaRPr>
          </a:p>
        </p:txBody>
      </p:sp>
      <p:sp>
        <p:nvSpPr>
          <p:cNvPr id="6" name="Text Placeholder 5">
            <a:extLst>
              <a:ext uri="{FF2B5EF4-FFF2-40B4-BE49-F238E27FC236}">
                <a16:creationId xmlns:a16="http://schemas.microsoft.com/office/drawing/2014/main" id="{80AFBA35-F564-D2E5-536D-C59541F7A7BA}"/>
              </a:ext>
            </a:extLst>
          </p:cNvPr>
          <p:cNvSpPr>
            <a:spLocks noGrp="1"/>
          </p:cNvSpPr>
          <p:nvPr>
            <p:ph type="body" sz="quarter" idx="24"/>
          </p:nvPr>
        </p:nvSpPr>
        <p:spPr/>
        <p:txBody>
          <a:bodyPr/>
          <a:lstStyle/>
          <a:p>
            <a:r>
              <a:rPr lang="en-US" dirty="0"/>
              <a:t>The fund industry posted its weakest month since December, driven by fixed income funds</a:t>
            </a:r>
          </a:p>
        </p:txBody>
      </p:sp>
      <p:sp>
        <p:nvSpPr>
          <p:cNvPr id="7" name="Content Placeholder 6">
            <a:extLst>
              <a:ext uri="{FF2B5EF4-FFF2-40B4-BE49-F238E27FC236}">
                <a16:creationId xmlns:a16="http://schemas.microsoft.com/office/drawing/2014/main" id="{1D961B86-9D35-BAF0-5EEB-44C9E73D6A74}"/>
              </a:ext>
            </a:extLst>
          </p:cNvPr>
          <p:cNvSpPr>
            <a:spLocks noGrp="1"/>
          </p:cNvSpPr>
          <p:nvPr>
            <p:ph sz="quarter" idx="25"/>
          </p:nvPr>
        </p:nvSpPr>
        <p:spPr>
          <a:xfrm>
            <a:off x="9940706" y="1769663"/>
            <a:ext cx="2122464" cy="176330"/>
          </a:xfrm>
        </p:spPr>
        <p:txBody>
          <a:bodyPr/>
          <a:lstStyle/>
          <a:p>
            <a:pPr>
              <a:lnSpc>
                <a:spcPct val="125000"/>
              </a:lnSpc>
            </a:pPr>
            <a:r>
              <a:rPr lang="en-US" dirty="0"/>
              <a:t>Chief Strategist and Head of Research</a:t>
            </a:r>
          </a:p>
        </p:txBody>
      </p:sp>
      <p:sp>
        <p:nvSpPr>
          <p:cNvPr id="8" name="Content Placeholder 7">
            <a:extLst>
              <a:ext uri="{FF2B5EF4-FFF2-40B4-BE49-F238E27FC236}">
                <a16:creationId xmlns:a16="http://schemas.microsoft.com/office/drawing/2014/main" id="{E86ACC77-966C-BE79-B9F5-D45A35502373}"/>
              </a:ext>
            </a:extLst>
          </p:cNvPr>
          <p:cNvSpPr>
            <a:spLocks noGrp="1"/>
          </p:cNvSpPr>
          <p:nvPr>
            <p:ph sz="quarter" idx="26"/>
          </p:nvPr>
        </p:nvSpPr>
        <p:spPr>
          <a:xfrm>
            <a:off x="9940706" y="1891723"/>
            <a:ext cx="1914195" cy="176330"/>
          </a:xfrm>
        </p:spPr>
        <p:txBody>
          <a:bodyPr/>
          <a:lstStyle/>
          <a:p>
            <a:pPr>
              <a:lnSpc>
                <a:spcPct val="125000"/>
              </a:lnSpc>
            </a:pPr>
            <a:r>
              <a:rPr lang="en-US" dirty="0"/>
              <a:t>fernando.f.ferreira@xpi.com.br</a:t>
            </a:r>
          </a:p>
        </p:txBody>
      </p:sp>
      <p:sp>
        <p:nvSpPr>
          <p:cNvPr id="12" name="Text Placeholder 11">
            <a:extLst>
              <a:ext uri="{FF2B5EF4-FFF2-40B4-BE49-F238E27FC236}">
                <a16:creationId xmlns:a16="http://schemas.microsoft.com/office/drawing/2014/main" id="{67E2E702-7B80-8A17-910D-4C5DD59E33DF}"/>
              </a:ext>
            </a:extLst>
          </p:cNvPr>
          <p:cNvSpPr>
            <a:spLocks noGrp="1"/>
          </p:cNvSpPr>
          <p:nvPr>
            <p:ph type="body" sz="quarter" idx="17"/>
          </p:nvPr>
        </p:nvSpPr>
        <p:spPr/>
        <p:txBody>
          <a:bodyPr/>
          <a:lstStyle/>
          <a:p>
            <a:r>
              <a:rPr lang="en-US" dirty="0"/>
              <a:t>Foreign inflows resume as the AI trade loses momentum</a:t>
            </a:r>
          </a:p>
        </p:txBody>
      </p:sp>
      <p:sp>
        <p:nvSpPr>
          <p:cNvPr id="13" name="Text Placeholder 12">
            <a:extLst>
              <a:ext uri="{FF2B5EF4-FFF2-40B4-BE49-F238E27FC236}">
                <a16:creationId xmlns:a16="http://schemas.microsoft.com/office/drawing/2014/main" id="{5289676E-11E9-2E75-2E99-455B9F2951B6}"/>
              </a:ext>
            </a:extLst>
          </p:cNvPr>
          <p:cNvSpPr>
            <a:spLocks noGrp="1"/>
          </p:cNvSpPr>
          <p:nvPr>
            <p:ph type="body" sz="quarter" idx="19"/>
          </p:nvPr>
        </p:nvSpPr>
        <p:spPr/>
        <p:txBody>
          <a:bodyPr/>
          <a:lstStyle/>
          <a:p>
            <a:r>
              <a:rPr lang="pt-BR" dirty="0" err="1"/>
              <a:t>Equity</a:t>
            </a:r>
            <a:r>
              <a:rPr lang="pt-BR" dirty="0"/>
              <a:t> </a:t>
            </a:r>
            <a:r>
              <a:rPr lang="pt-BR" dirty="0" err="1"/>
              <a:t>Strategy</a:t>
            </a:r>
            <a:endParaRPr lang="pt-BR" dirty="0"/>
          </a:p>
        </p:txBody>
      </p:sp>
      <p:sp>
        <p:nvSpPr>
          <p:cNvPr id="14" name="Text Placeholder 13">
            <a:extLst>
              <a:ext uri="{FF2B5EF4-FFF2-40B4-BE49-F238E27FC236}">
                <a16:creationId xmlns:a16="http://schemas.microsoft.com/office/drawing/2014/main" id="{EC660E8E-2B34-AA3D-7379-35478DDC7E10}"/>
              </a:ext>
            </a:extLst>
          </p:cNvPr>
          <p:cNvSpPr>
            <a:spLocks noGrp="1"/>
          </p:cNvSpPr>
          <p:nvPr>
            <p:ph type="body" sz="quarter" idx="18"/>
          </p:nvPr>
        </p:nvSpPr>
        <p:spPr/>
        <p:txBody>
          <a:bodyPr/>
          <a:lstStyle/>
          <a:p>
            <a:r>
              <a:rPr lang="en-US" dirty="0"/>
              <a:t>Source: B3, Bloomberg, XP Research. *Data as of August 7, 2026. </a:t>
            </a:r>
          </a:p>
        </p:txBody>
      </p:sp>
      <p:sp>
        <p:nvSpPr>
          <p:cNvPr id="15" name="Content Placeholder 14">
            <a:extLst>
              <a:ext uri="{FF2B5EF4-FFF2-40B4-BE49-F238E27FC236}">
                <a16:creationId xmlns:a16="http://schemas.microsoft.com/office/drawing/2014/main" id="{329073A8-2ABA-B571-9095-B67EF2CC2CA9}"/>
              </a:ext>
            </a:extLst>
          </p:cNvPr>
          <p:cNvSpPr>
            <a:spLocks noGrp="1"/>
          </p:cNvSpPr>
          <p:nvPr>
            <p:ph sz="quarter" idx="36"/>
          </p:nvPr>
        </p:nvSpPr>
        <p:spPr>
          <a:xfrm>
            <a:off x="335999" y="2762279"/>
            <a:ext cx="9131272" cy="3376546"/>
          </a:xfrm>
        </p:spPr>
        <p:txBody>
          <a:bodyPr/>
          <a:lstStyle/>
          <a:p>
            <a:pPr>
              <a:lnSpc>
                <a:spcPct val="125000"/>
              </a:lnSpc>
              <a:spcBef>
                <a:spcPts val="600"/>
              </a:spcBef>
            </a:pPr>
            <a:r>
              <a:rPr lang="en-US" sz="980" b="1" dirty="0">
                <a:solidFill>
                  <a:schemeClr val="tx1"/>
                </a:solidFill>
              </a:rPr>
              <a:t>Foreign investors returned as net buyers in July. </a:t>
            </a:r>
            <a:r>
              <a:rPr lang="en-US" sz="980" dirty="0">
                <a:solidFill>
                  <a:schemeClr val="tx1"/>
                </a:solidFill>
              </a:rPr>
              <a:t>After three consecutive months of outflows, foreign flows turned positive, with net inflows of R$2.6bn in the cash market and R$1.2bn in futures, totaling R$3.7bn — the first positive month since March. As discussed in our latest </a:t>
            </a:r>
            <a:r>
              <a:rPr lang="en-US" sz="980" dirty="0">
                <a:solidFill>
                  <a:schemeClr val="tx1"/>
                </a:solidFill>
                <a:hlinkClick r:id="rId10"/>
              </a:rPr>
              <a:t>XP-Ray</a:t>
            </a:r>
            <a:r>
              <a:rPr lang="en-US" sz="980" dirty="0">
                <a:solidFill>
                  <a:schemeClr val="tx1"/>
                </a:solidFill>
              </a:rPr>
              <a:t>, Brazil benefited directly from the global rotation out of the AI trade, as the sharp correction in semiconductor and memory names redirected capital toward markets that had lagged, while softer-than-expected IPCA and IPCA-15 prints pushed the front end of the local curve lower.</a:t>
            </a:r>
          </a:p>
          <a:p>
            <a:pPr>
              <a:lnSpc>
                <a:spcPct val="125000"/>
              </a:lnSpc>
              <a:spcBef>
                <a:spcPts val="600"/>
              </a:spcBef>
            </a:pPr>
            <a:r>
              <a:rPr lang="en-US" sz="980" b="1" dirty="0">
                <a:solidFill>
                  <a:schemeClr val="tx1"/>
                </a:solidFill>
              </a:rPr>
              <a:t>However, foreign flows have turned negative again in August. </a:t>
            </a:r>
            <a:r>
              <a:rPr lang="en-US" sz="980" dirty="0">
                <a:solidFill>
                  <a:schemeClr val="tx1"/>
                </a:solidFill>
              </a:rPr>
              <a:t>Month-to-date, foreign investors have posted net outflows of R$3.3bn in the cash market and R$4.4bn in futures, with the bulk of the cash outflow concentrated on August 6 (-R$2.5bn), the second-largest single-day outflow of 2026. Cumulative inflows in 2026 now stand at R$37.8bn in the cash market, down from the R$69.1bn peak in mid-April. As Brazil enters the election-trade period, we expect volatility to remain higher than usual.</a:t>
            </a:r>
          </a:p>
          <a:p>
            <a:pPr>
              <a:lnSpc>
                <a:spcPct val="125000"/>
              </a:lnSpc>
              <a:spcBef>
                <a:spcPts val="600"/>
              </a:spcBef>
            </a:pPr>
            <a:r>
              <a:rPr lang="en-US" sz="980" b="1" dirty="0">
                <a:solidFill>
                  <a:schemeClr val="tx1"/>
                </a:solidFill>
              </a:rPr>
              <a:t>At the sector level,</a:t>
            </a:r>
            <a:r>
              <a:rPr lang="en-US" sz="980" dirty="0">
                <a:solidFill>
                  <a:schemeClr val="tx1"/>
                </a:solidFill>
              </a:rPr>
              <a:t> most sectors recorded net foreign inflows in July, led by </a:t>
            </a:r>
            <a:r>
              <a:rPr lang="en-US" sz="980" b="1" dirty="0">
                <a:solidFill>
                  <a:schemeClr val="tx1"/>
                </a:solidFill>
              </a:rPr>
              <a:t>Health Care</a:t>
            </a:r>
            <a:r>
              <a:rPr lang="en-US" sz="980" dirty="0">
                <a:solidFill>
                  <a:schemeClr val="tx1"/>
                </a:solidFill>
              </a:rPr>
              <a:t>, </a:t>
            </a:r>
            <a:r>
              <a:rPr lang="en-US" sz="980" b="1" dirty="0">
                <a:solidFill>
                  <a:schemeClr val="tx1"/>
                </a:solidFill>
              </a:rPr>
              <a:t>Financials Non-Banks</a:t>
            </a:r>
            <a:r>
              <a:rPr lang="en-US" sz="980" dirty="0">
                <a:solidFill>
                  <a:schemeClr val="tx1"/>
                </a:solidFill>
              </a:rPr>
              <a:t>, </a:t>
            </a:r>
            <a:r>
              <a:rPr lang="en-US" sz="980" b="1" dirty="0">
                <a:solidFill>
                  <a:schemeClr val="tx1"/>
                </a:solidFill>
              </a:rPr>
              <a:t>Pulp &amp; Paper</a:t>
            </a:r>
            <a:r>
              <a:rPr lang="en-US" sz="980" dirty="0">
                <a:solidFill>
                  <a:schemeClr val="tx1"/>
                </a:solidFill>
              </a:rPr>
              <a:t>, and </a:t>
            </a:r>
            <a:r>
              <a:rPr lang="en-US" sz="980" b="1" dirty="0">
                <a:solidFill>
                  <a:schemeClr val="tx1"/>
                </a:solidFill>
              </a:rPr>
              <a:t>Oil, Gas &amp; Petrochemicals</a:t>
            </a:r>
            <a:r>
              <a:rPr lang="en-US" sz="980" dirty="0">
                <a:solidFill>
                  <a:schemeClr val="tx1"/>
                </a:solidFill>
              </a:rPr>
              <a:t>, the last boosted by higher oil prices amid the renewed US-Iran conflict. By contrast, </a:t>
            </a:r>
            <a:r>
              <a:rPr lang="en-US" sz="980" b="1" dirty="0">
                <a:solidFill>
                  <a:schemeClr val="tx1"/>
                </a:solidFill>
              </a:rPr>
              <a:t>Food &amp; Beverages</a:t>
            </a:r>
            <a:r>
              <a:rPr lang="en-US" sz="980" dirty="0">
                <a:solidFill>
                  <a:schemeClr val="tx1"/>
                </a:solidFill>
              </a:rPr>
              <a:t>, </a:t>
            </a:r>
            <a:r>
              <a:rPr lang="en-US" sz="980" b="1" dirty="0">
                <a:solidFill>
                  <a:schemeClr val="tx1"/>
                </a:solidFill>
              </a:rPr>
              <a:t>Agribusiness</a:t>
            </a:r>
            <a:r>
              <a:rPr lang="en-US" sz="980" dirty="0">
                <a:solidFill>
                  <a:schemeClr val="tx1"/>
                </a:solidFill>
              </a:rPr>
              <a:t>, and </a:t>
            </a:r>
            <a:r>
              <a:rPr lang="en-US" sz="980" b="1" dirty="0">
                <a:solidFill>
                  <a:schemeClr val="tx1"/>
                </a:solidFill>
              </a:rPr>
              <a:t>Metals &amp; Mining</a:t>
            </a:r>
            <a:r>
              <a:rPr lang="en-US" sz="980" dirty="0">
                <a:solidFill>
                  <a:schemeClr val="tx1"/>
                </a:solidFill>
              </a:rPr>
              <a:t> saw the largest withdrawals, alongside rate-sensitive </a:t>
            </a:r>
            <a:r>
              <a:rPr lang="en-US" sz="980" b="1" dirty="0">
                <a:solidFill>
                  <a:schemeClr val="tx1"/>
                </a:solidFill>
              </a:rPr>
              <a:t>Homebuilders</a:t>
            </a:r>
            <a:r>
              <a:rPr lang="en-US" sz="980" dirty="0">
                <a:solidFill>
                  <a:schemeClr val="tx1"/>
                </a:solidFill>
              </a:rPr>
              <a:t>, as long-term real rates moved toward 8%. In August, the picture has reversed, with outflows in most sectors. </a:t>
            </a:r>
            <a:endParaRPr lang="en-US" sz="980" b="1" dirty="0">
              <a:solidFill>
                <a:schemeClr val="tx1"/>
              </a:solidFill>
            </a:endParaRPr>
          </a:p>
          <a:p>
            <a:pPr>
              <a:lnSpc>
                <a:spcPct val="125000"/>
              </a:lnSpc>
              <a:spcBef>
                <a:spcPts val="600"/>
              </a:spcBef>
            </a:pPr>
            <a:r>
              <a:rPr lang="en-US" sz="980" b="1" dirty="0">
                <a:solidFill>
                  <a:schemeClr val="tx1"/>
                </a:solidFill>
              </a:rPr>
              <a:t>Meanwhile, institutional investors returned to net selling in July.</a:t>
            </a:r>
            <a:r>
              <a:rPr lang="en-US" sz="980" dirty="0">
                <a:solidFill>
                  <a:schemeClr val="tx1"/>
                </a:solidFill>
              </a:rPr>
              <a:t> They recorded net outflows of R$5.4bn in the cash market and R$0.2bn in futures, and are slightly positive in August so far (+R$0.4bn). </a:t>
            </a:r>
            <a:r>
              <a:rPr lang="en-US" sz="980" b="1" dirty="0">
                <a:solidFill>
                  <a:schemeClr val="tx1"/>
                </a:solidFill>
              </a:rPr>
              <a:t>Individual investors were broadly neutral last month,</a:t>
            </a:r>
            <a:r>
              <a:rPr lang="en-US" sz="980" dirty="0">
                <a:solidFill>
                  <a:schemeClr val="tx1"/>
                </a:solidFill>
              </a:rPr>
              <a:t> posting net inflows of R$1.1bn in the cash market and net outflows of R$0.9bn in futures, but have turned more constructive in August (+R$2.6bn).</a:t>
            </a:r>
          </a:p>
          <a:p>
            <a:pPr>
              <a:lnSpc>
                <a:spcPct val="125000"/>
              </a:lnSpc>
              <a:spcBef>
                <a:spcPts val="600"/>
              </a:spcBef>
            </a:pPr>
            <a:r>
              <a:rPr lang="en-US" sz="980" b="1" dirty="0">
                <a:solidFill>
                  <a:schemeClr val="tx1"/>
                </a:solidFill>
              </a:rPr>
              <a:t>Finally, the fund industry posted its weakest month since December 2025</a:t>
            </a:r>
            <a:r>
              <a:rPr lang="en-US" sz="980" dirty="0">
                <a:solidFill>
                  <a:schemeClr val="tx1"/>
                </a:solidFill>
              </a:rPr>
              <a:t>, registering net outflows of R$25.3bn in July, driven primarily by R$19.8bn of outflows from fixed income funds. </a:t>
            </a:r>
            <a:r>
              <a:rPr lang="en-US" sz="980" b="1" dirty="0">
                <a:solidFill>
                  <a:schemeClr val="tx1"/>
                </a:solidFill>
              </a:rPr>
              <a:t>Hedge funds</a:t>
            </a:r>
            <a:r>
              <a:rPr lang="en-US" sz="980" dirty="0">
                <a:solidFill>
                  <a:schemeClr val="tx1"/>
                </a:solidFill>
              </a:rPr>
              <a:t> posted net outflows of R$5.6bn, extending their negative streak to six consecutive months, while equity funds recorded R$1.4bn of net redemptions.</a:t>
            </a:r>
          </a:p>
          <a:p>
            <a:pPr>
              <a:lnSpc>
                <a:spcPct val="125000"/>
              </a:lnSpc>
              <a:spcBef>
                <a:spcPts val="600"/>
              </a:spcBef>
            </a:pPr>
            <a:endParaRPr lang="en-US" dirty="0">
              <a:solidFill>
                <a:schemeClr val="tx1"/>
              </a:solidFill>
            </a:endParaRPr>
          </a:p>
        </p:txBody>
      </p:sp>
      <p:sp>
        <p:nvSpPr>
          <p:cNvPr id="18" name="Content Placeholder 17">
            <a:extLst>
              <a:ext uri="{FF2B5EF4-FFF2-40B4-BE49-F238E27FC236}">
                <a16:creationId xmlns:a16="http://schemas.microsoft.com/office/drawing/2014/main" id="{3CBD5F9C-00EA-E419-5ABD-84125EDB77BA}"/>
              </a:ext>
            </a:extLst>
          </p:cNvPr>
          <p:cNvSpPr>
            <a:spLocks noGrp="1"/>
          </p:cNvSpPr>
          <p:nvPr>
            <p:ph sz="quarter" idx="43"/>
          </p:nvPr>
        </p:nvSpPr>
        <p:spPr>
          <a:xfrm>
            <a:off x="9807190" y="3775574"/>
            <a:ext cx="2048259" cy="369332"/>
          </a:xfrm>
        </p:spPr>
        <p:txBody>
          <a:bodyPr/>
          <a:lstStyle/>
          <a:p>
            <a:r>
              <a:rPr lang="en-US" dirty="0"/>
              <a:t>Chart 1: Monthly net foreign flows (R$ bn)</a:t>
            </a:r>
          </a:p>
        </p:txBody>
      </p:sp>
      <p:sp>
        <p:nvSpPr>
          <p:cNvPr id="17" name="Content Placeholder 8">
            <a:extLst>
              <a:ext uri="{FF2B5EF4-FFF2-40B4-BE49-F238E27FC236}">
                <a16:creationId xmlns:a16="http://schemas.microsoft.com/office/drawing/2014/main" id="{9A64AF7E-9B51-9629-2D72-35E9A1ACB4FC}"/>
              </a:ext>
            </a:extLst>
          </p:cNvPr>
          <p:cNvSpPr txBox="1">
            <a:spLocks/>
          </p:cNvSpPr>
          <p:nvPr/>
        </p:nvSpPr>
        <p:spPr>
          <a:xfrm>
            <a:off x="9940706" y="2170142"/>
            <a:ext cx="1914195" cy="185179"/>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lang="en-US" sz="1050" dirty="0">
                <a:solidFill>
                  <a:srgbClr val="18191A"/>
                </a:solidFill>
              </a:rPr>
              <a:t>Raphael Figueredo</a:t>
            </a:r>
            <a:endParaRPr kumimoji="0" lang="en-US" sz="1050" b="1" i="0" u="none" strike="noStrike" kern="1200" cap="none" spc="0" normalizeH="0" baseline="0" noProof="0" dirty="0">
              <a:ln>
                <a:noFill/>
              </a:ln>
              <a:solidFill>
                <a:srgbClr val="18191A"/>
              </a:solidFill>
              <a:effectLst/>
              <a:uLnTx/>
              <a:uFillTx/>
              <a:latin typeface="Roboto Light" panose="02000000000000000000" pitchFamily="2" charset="0"/>
              <a:ea typeface="Roboto Light" panose="02000000000000000000" pitchFamily="2" charset="0"/>
              <a:cs typeface="Roboto Light" panose="02000000000000000000" pitchFamily="2" charset="0"/>
            </a:endParaRPr>
          </a:p>
        </p:txBody>
      </p:sp>
      <p:sp>
        <p:nvSpPr>
          <p:cNvPr id="19" name="Content Placeholder 9">
            <a:extLst>
              <a:ext uri="{FF2B5EF4-FFF2-40B4-BE49-F238E27FC236}">
                <a16:creationId xmlns:a16="http://schemas.microsoft.com/office/drawing/2014/main" id="{CC7F1407-3325-5698-1D8D-F249CC333FC8}"/>
              </a:ext>
            </a:extLst>
          </p:cNvPr>
          <p:cNvSpPr txBox="1">
            <a:spLocks/>
          </p:cNvSpPr>
          <p:nvPr/>
        </p:nvSpPr>
        <p:spPr>
          <a:xfrm>
            <a:off x="9940706" y="2315952"/>
            <a:ext cx="1914195" cy="176330"/>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Roboto Light" panose="02000000000000000000" pitchFamily="2" charset="0"/>
              </a:rPr>
              <a:t>Equity Strategist</a:t>
            </a:r>
          </a:p>
        </p:txBody>
      </p:sp>
      <p:sp>
        <p:nvSpPr>
          <p:cNvPr id="20" name="Content Placeholder 10">
            <a:extLst>
              <a:ext uri="{FF2B5EF4-FFF2-40B4-BE49-F238E27FC236}">
                <a16:creationId xmlns:a16="http://schemas.microsoft.com/office/drawing/2014/main" id="{F48AAA7F-BF67-09F3-224B-5F5DE81F9A6C}"/>
              </a:ext>
            </a:extLst>
          </p:cNvPr>
          <p:cNvSpPr txBox="1">
            <a:spLocks/>
          </p:cNvSpPr>
          <p:nvPr/>
        </p:nvSpPr>
        <p:spPr>
          <a:xfrm>
            <a:off x="9940706" y="2439769"/>
            <a:ext cx="1914195" cy="176330"/>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lang="pt-BR" dirty="0">
                <a:solidFill>
                  <a:srgbClr val="18191A"/>
                </a:solidFill>
              </a:rPr>
              <a:t>r</a:t>
            </a:r>
            <a:r>
              <a:rPr kumimoji="0" lang="pt-BR" b="0" i="0" u="none" strike="noStrike" kern="1200" cap="none" spc="0" normalizeH="0" baseline="0" noProof="0" dirty="0">
                <a:ln>
                  <a:noFill/>
                </a:ln>
                <a:solidFill>
                  <a:srgbClr val="18191A"/>
                </a:solidFill>
                <a:effectLst/>
                <a:uLnTx/>
                <a:uFillTx/>
                <a:latin typeface="Roboto Light" panose="02000000000000000000" pitchFamily="2" charset="0"/>
                <a:ea typeface="Roboto Light" panose="02000000000000000000" pitchFamily="2" charset="0"/>
                <a:cs typeface="Roboto Light" panose="02000000000000000000" pitchFamily="2" charset="0"/>
              </a:rPr>
              <a:t>aphael.sfigueredo@xpi.com.br</a:t>
            </a:r>
          </a:p>
        </p:txBody>
      </p:sp>
      <p:pic>
        <p:nvPicPr>
          <p:cNvPr id="37" name="Graphic 36">
            <a:extLst>
              <a:ext uri="{FF2B5EF4-FFF2-40B4-BE49-F238E27FC236}">
                <a16:creationId xmlns:a16="http://schemas.microsoft.com/office/drawing/2014/main" id="{01451FD6-0367-C03D-19F6-815FA99463F7}"/>
              </a:ext>
            </a:extLst>
          </p:cNvPr>
          <p:cNvPicPr>
            <a:picLocks noChangeAspect="1"/>
          </p:cNvPicPr>
          <p:nvPr/>
        </p:nvPicPr>
        <p:blipFill>
          <a:blip>
            <a:alphaModFix amt="66000"/>
            <a:extLst>
              <a:ext uri="{96DAC541-7B7A-43D3-8B79-37D633B846F1}">
                <asvg:svgBlip xmlns:asvg="http://schemas.microsoft.com/office/drawing/2016/SVG/main" r:embed="rId7"/>
              </a:ext>
            </a:extLst>
          </a:blip>
          <a:srcRect l="53468" t="61870" r="40853" b="-21011"/>
          <a:stretch/>
        </p:blipFill>
        <p:spPr>
          <a:xfrm rot="5400000" flipH="1">
            <a:off x="7902964" y="-2810267"/>
            <a:ext cx="1468025" cy="7088555"/>
          </a:xfrm>
          <a:prstGeom prst="rect">
            <a:avLst/>
          </a:prstGeom>
        </p:spPr>
      </p:pic>
      <p:sp>
        <p:nvSpPr>
          <p:cNvPr id="10" name="Content Placeholder 8">
            <a:extLst>
              <a:ext uri="{FF2B5EF4-FFF2-40B4-BE49-F238E27FC236}">
                <a16:creationId xmlns:a16="http://schemas.microsoft.com/office/drawing/2014/main" id="{4811470F-41D2-9D03-3534-F2CB40824DAC}"/>
              </a:ext>
            </a:extLst>
          </p:cNvPr>
          <p:cNvSpPr txBox="1">
            <a:spLocks/>
          </p:cNvSpPr>
          <p:nvPr/>
        </p:nvSpPr>
        <p:spPr>
          <a:xfrm>
            <a:off x="9940706" y="2679260"/>
            <a:ext cx="1914195" cy="185179"/>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kumimoji="0" lang="en-US" sz="1050" b="1" i="0" u="none" strike="noStrike" kern="1200" cap="none" spc="0" normalizeH="0" baseline="0" noProof="0" dirty="0">
                <a:ln>
                  <a:noFill/>
                </a:ln>
                <a:solidFill>
                  <a:srgbClr val="18191A"/>
                </a:solidFill>
                <a:effectLst/>
                <a:uLnTx/>
                <a:uFillTx/>
                <a:latin typeface="Roboto Light" panose="02000000000000000000" pitchFamily="2" charset="0"/>
                <a:ea typeface="Roboto Light" panose="02000000000000000000" pitchFamily="2" charset="0"/>
                <a:cs typeface="Roboto Light" panose="02000000000000000000" pitchFamily="2" charset="0"/>
              </a:rPr>
              <a:t>Caio Souza</a:t>
            </a:r>
          </a:p>
        </p:txBody>
      </p:sp>
      <p:sp>
        <p:nvSpPr>
          <p:cNvPr id="11" name="Content Placeholder 9">
            <a:extLst>
              <a:ext uri="{FF2B5EF4-FFF2-40B4-BE49-F238E27FC236}">
                <a16:creationId xmlns:a16="http://schemas.microsoft.com/office/drawing/2014/main" id="{C4DBA7B6-89C9-EF20-D215-4F7D5F532E13}"/>
              </a:ext>
            </a:extLst>
          </p:cNvPr>
          <p:cNvSpPr txBox="1">
            <a:spLocks/>
          </p:cNvSpPr>
          <p:nvPr/>
        </p:nvSpPr>
        <p:spPr>
          <a:xfrm>
            <a:off x="9940706" y="2825070"/>
            <a:ext cx="1914195" cy="176330"/>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Roboto Light" panose="02000000000000000000" pitchFamily="2" charset="0"/>
              </a:rPr>
              <a:t>Equity Strategist</a:t>
            </a:r>
          </a:p>
        </p:txBody>
      </p:sp>
      <p:sp>
        <p:nvSpPr>
          <p:cNvPr id="16" name="Content Placeholder 10">
            <a:extLst>
              <a:ext uri="{FF2B5EF4-FFF2-40B4-BE49-F238E27FC236}">
                <a16:creationId xmlns:a16="http://schemas.microsoft.com/office/drawing/2014/main" id="{8D977F74-0108-C3AA-3A97-E903F31AB909}"/>
              </a:ext>
            </a:extLst>
          </p:cNvPr>
          <p:cNvSpPr txBox="1">
            <a:spLocks/>
          </p:cNvSpPr>
          <p:nvPr/>
        </p:nvSpPr>
        <p:spPr>
          <a:xfrm>
            <a:off x="9940706" y="2946773"/>
            <a:ext cx="1914195" cy="176330"/>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kumimoji="0" lang="pt-BR" b="0" i="0" u="none" strike="noStrike" kern="1200" cap="none" spc="0" normalizeH="0" baseline="0" noProof="0" dirty="0">
                <a:ln>
                  <a:noFill/>
                </a:ln>
                <a:solidFill>
                  <a:srgbClr val="18191A"/>
                </a:solidFill>
                <a:effectLst/>
                <a:uLnTx/>
                <a:uFillTx/>
                <a:latin typeface="Roboto Light" panose="02000000000000000000" pitchFamily="2" charset="0"/>
                <a:ea typeface="Roboto Light" panose="02000000000000000000" pitchFamily="2" charset="0"/>
                <a:cs typeface="Roboto Light" panose="02000000000000000000" pitchFamily="2" charset="0"/>
              </a:rPr>
              <a:t>caio.lsouza@xpi.com.br</a:t>
            </a:r>
          </a:p>
        </p:txBody>
      </p:sp>
      <p:sp>
        <p:nvSpPr>
          <p:cNvPr id="9" name="Content Placeholder 8">
            <a:extLst>
              <a:ext uri="{FF2B5EF4-FFF2-40B4-BE49-F238E27FC236}">
                <a16:creationId xmlns:a16="http://schemas.microsoft.com/office/drawing/2014/main" id="{1E31596B-4E6F-C0CD-4591-859C50394B78}"/>
              </a:ext>
            </a:extLst>
          </p:cNvPr>
          <p:cNvSpPr txBox="1">
            <a:spLocks/>
          </p:cNvSpPr>
          <p:nvPr/>
        </p:nvSpPr>
        <p:spPr>
          <a:xfrm>
            <a:off x="9940706" y="3156382"/>
            <a:ext cx="1914195" cy="185179"/>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kumimoji="0" lang="en-US" sz="1050" b="1" i="0" u="none" strike="noStrike" kern="1200" cap="none" spc="0" normalizeH="0" baseline="0" noProof="0" dirty="0">
                <a:ln>
                  <a:noFill/>
                </a:ln>
                <a:solidFill>
                  <a:srgbClr val="18191A"/>
                </a:solidFill>
                <a:effectLst/>
                <a:uLnTx/>
                <a:uFillTx/>
                <a:latin typeface="Roboto Light" panose="02000000000000000000" pitchFamily="2" charset="0"/>
                <a:ea typeface="Roboto Light" panose="02000000000000000000" pitchFamily="2" charset="0"/>
                <a:cs typeface="Roboto Light" panose="02000000000000000000" pitchFamily="2" charset="0"/>
              </a:rPr>
              <a:t>Antonio Mello</a:t>
            </a:r>
          </a:p>
        </p:txBody>
      </p:sp>
      <p:sp>
        <p:nvSpPr>
          <p:cNvPr id="22" name="Content Placeholder 9">
            <a:extLst>
              <a:ext uri="{FF2B5EF4-FFF2-40B4-BE49-F238E27FC236}">
                <a16:creationId xmlns:a16="http://schemas.microsoft.com/office/drawing/2014/main" id="{3664BBB7-4241-4628-DD53-887B539AE98F}"/>
              </a:ext>
            </a:extLst>
          </p:cNvPr>
          <p:cNvSpPr txBox="1">
            <a:spLocks/>
          </p:cNvSpPr>
          <p:nvPr/>
        </p:nvSpPr>
        <p:spPr>
          <a:xfrm>
            <a:off x="9940706" y="3302192"/>
            <a:ext cx="1914195" cy="176330"/>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00"/>
                </a:solidFill>
                <a:effectLst/>
                <a:uLnTx/>
                <a:uFillTx/>
                <a:latin typeface="Roboto Light" panose="02000000000000000000" pitchFamily="2" charset="0"/>
                <a:ea typeface="Roboto Light" panose="02000000000000000000" pitchFamily="2" charset="0"/>
                <a:cs typeface="Roboto Light" panose="02000000000000000000" pitchFamily="2" charset="0"/>
              </a:rPr>
              <a:t>Quantitative Equity Strategist</a:t>
            </a:r>
          </a:p>
        </p:txBody>
      </p:sp>
      <p:sp>
        <p:nvSpPr>
          <p:cNvPr id="23" name="Content Placeholder 10">
            <a:extLst>
              <a:ext uri="{FF2B5EF4-FFF2-40B4-BE49-F238E27FC236}">
                <a16:creationId xmlns:a16="http://schemas.microsoft.com/office/drawing/2014/main" id="{2982A17F-EEAE-4F7F-470E-6557FD3FCAD7}"/>
              </a:ext>
            </a:extLst>
          </p:cNvPr>
          <p:cNvSpPr txBox="1">
            <a:spLocks/>
          </p:cNvSpPr>
          <p:nvPr/>
        </p:nvSpPr>
        <p:spPr>
          <a:xfrm>
            <a:off x="9940706" y="3423895"/>
            <a:ext cx="1914195" cy="176330"/>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125000"/>
              </a:lnSpc>
              <a:spcBef>
                <a:spcPts val="0"/>
              </a:spcBef>
              <a:spcAft>
                <a:spcPts val="0"/>
              </a:spcAft>
              <a:buClrTx/>
              <a:buSzTx/>
              <a:buFont typeface="Arial" panose="020B0604020202020204" pitchFamily="34" charset="0"/>
              <a:buNone/>
              <a:tabLst/>
              <a:defRPr/>
            </a:pPr>
            <a:r>
              <a:rPr lang="pt-BR" dirty="0">
                <a:solidFill>
                  <a:srgbClr val="18191A"/>
                </a:solidFill>
              </a:rPr>
              <a:t>a</a:t>
            </a:r>
            <a:r>
              <a:rPr kumimoji="0" lang="pt-BR" b="0" i="0" u="none" strike="noStrike" kern="1200" cap="none" spc="0" normalizeH="0" baseline="0" noProof="0" dirty="0">
                <a:ln>
                  <a:noFill/>
                </a:ln>
                <a:solidFill>
                  <a:srgbClr val="18191A"/>
                </a:solidFill>
                <a:effectLst/>
                <a:uLnTx/>
                <a:uFillTx/>
                <a:latin typeface="Roboto Light" panose="02000000000000000000" pitchFamily="2" charset="0"/>
                <a:ea typeface="Roboto Light" panose="02000000000000000000" pitchFamily="2" charset="0"/>
                <a:cs typeface="Roboto Light" panose="02000000000000000000" pitchFamily="2" charset="0"/>
              </a:rPr>
              <a:t>ntonio.mello@xpi.com.br</a:t>
            </a:r>
          </a:p>
        </p:txBody>
      </p:sp>
      <p:graphicFrame>
        <p:nvGraphicFramePr>
          <p:cNvPr id="21" name="Object 20">
            <a:extLst>
              <a:ext uri="{FF2B5EF4-FFF2-40B4-BE49-F238E27FC236}">
                <a16:creationId xmlns:a16="http://schemas.microsoft.com/office/drawing/2014/main" id="{6D4A2FB4-E598-E8E2-52A5-22C39D81E1B2}"/>
              </a:ext>
            </a:extLst>
          </p:cNvPr>
          <p:cNvGraphicFramePr>
            <a:graphicFrameLocks noChangeAspect="1"/>
          </p:cNvGraphicFramePr>
          <p:nvPr>
            <p:extLst>
              <p:ext uri="{D42A27DB-BD31-4B8C-83A1-F6EECF244321}">
                <p14:modId xmlns:p14="http://schemas.microsoft.com/office/powerpoint/2010/main" val="3249013984"/>
              </p:ext>
            </p:extLst>
          </p:nvPr>
        </p:nvGraphicFramePr>
        <p:xfrm>
          <a:off x="9812338" y="4197350"/>
          <a:ext cx="2041525" cy="1874838"/>
        </p:xfrm>
        <a:graphic>
          <a:graphicData uri="http://schemas.openxmlformats.org/presentationml/2006/ole">
            <mc:AlternateContent xmlns:mc="http://schemas.openxmlformats.org/markup-compatibility/2006">
              <mc:Choice xmlns:v="urn:schemas-microsoft-com:vml" Requires="v">
                <p:oleObj name="Worksheet" r:id="rId8" imgW="2041876" imgH="1874143" progId="Excel.Sheet.12">
                  <p:link updateAutomatic="1"/>
                </p:oleObj>
              </mc:Choice>
              <mc:Fallback>
                <p:oleObj name="Worksheet" r:id="rId8" imgW="2041876" imgH="1874143" progId="Excel.Sheet.12">
                  <p:link updateAutomatic="1"/>
                  <p:pic>
                    <p:nvPicPr>
                      <p:cNvPr id="0" name=""/>
                      <p:cNvPicPr/>
                      <p:nvPr/>
                    </p:nvPicPr>
                    <p:blipFill>
                      <a:blip r:embed="rId9"/>
                      <a:stretch>
                        <a:fillRect/>
                      </a:stretch>
                    </p:blipFill>
                    <p:spPr>
                      <a:xfrm>
                        <a:off x="9812338" y="4197350"/>
                        <a:ext cx="2041525" cy="1874838"/>
                      </a:xfrm>
                      <a:prstGeom prst="rect">
                        <a:avLst/>
                      </a:prstGeom>
                    </p:spPr>
                  </p:pic>
                </p:oleObj>
              </mc:Fallback>
            </mc:AlternateContent>
          </a:graphicData>
        </a:graphic>
      </p:graphicFrame>
    </p:spTree>
    <p:extLst>
      <p:ext uri="{BB962C8B-B14F-4D97-AF65-F5344CB8AC3E}">
        <p14:creationId xmlns:p14="http://schemas.microsoft.com/office/powerpoint/2010/main" val="4184231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Placeholder 7">
            <a:extLst>
              <a:ext uri="{FF2B5EF4-FFF2-40B4-BE49-F238E27FC236}">
                <a16:creationId xmlns:a16="http://schemas.microsoft.com/office/drawing/2014/main" id="{D53F7AA4-AC9E-24BC-22CF-F00E0FA92A2C}"/>
              </a:ext>
            </a:extLst>
          </p:cNvPr>
          <p:cNvSpPr txBox="1">
            <a:spLocks/>
          </p:cNvSpPr>
          <p:nvPr/>
        </p:nvSpPr>
        <p:spPr>
          <a:xfrm>
            <a:off x="6624232" y="1160463"/>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sz="1600" dirty="0" err="1">
                <a:hlinkClick r:id="rId2" action="ppaction://hlinksldjump">
                  <a:extLst>
                    <a:ext uri="{A12FA001-AC4F-418D-AE19-62706E023703}">
                      <ahyp:hlinkClr xmlns:ahyp="http://schemas.microsoft.com/office/drawing/2018/hyperlinkcolor" val="tx"/>
                    </a:ext>
                  </a:extLst>
                </a:hlinkClick>
              </a:rPr>
              <a:t>Foreign</a:t>
            </a:r>
            <a:r>
              <a:rPr lang="pt-BR" sz="1600" dirty="0">
                <a:hlinkClick r:id="rId2" action="ppaction://hlinksldjump">
                  <a:extLst>
                    <a:ext uri="{A12FA001-AC4F-418D-AE19-62706E023703}">
                      <ahyp:hlinkClr xmlns:ahyp="http://schemas.microsoft.com/office/drawing/2018/hyperlinkcolor" val="tx"/>
                    </a:ext>
                  </a:extLst>
                </a:hlinkClick>
              </a:rPr>
              <a:t> </a:t>
            </a:r>
            <a:r>
              <a:rPr lang="pt-BR" sz="1600" dirty="0" err="1">
                <a:hlinkClick r:id="rId2" action="ppaction://hlinksldjump">
                  <a:extLst>
                    <a:ext uri="{A12FA001-AC4F-418D-AE19-62706E023703}">
                      <ahyp:hlinkClr xmlns:ahyp="http://schemas.microsoft.com/office/drawing/2018/hyperlinkcolor" val="tx"/>
                    </a:ext>
                  </a:extLst>
                </a:hlinkClick>
              </a:rPr>
              <a:t>flows</a:t>
            </a:r>
            <a:endParaRPr lang="pt-BR" sz="1600" dirty="0"/>
          </a:p>
        </p:txBody>
      </p:sp>
      <p:sp>
        <p:nvSpPr>
          <p:cNvPr id="33" name="Text Placeholder 8">
            <a:extLst>
              <a:ext uri="{FF2B5EF4-FFF2-40B4-BE49-F238E27FC236}">
                <a16:creationId xmlns:a16="http://schemas.microsoft.com/office/drawing/2014/main" id="{5089757E-0DD2-724B-C0FF-09EB984268C8}"/>
              </a:ext>
            </a:extLst>
          </p:cNvPr>
          <p:cNvSpPr txBox="1">
            <a:spLocks/>
          </p:cNvSpPr>
          <p:nvPr/>
        </p:nvSpPr>
        <p:spPr>
          <a:xfrm>
            <a:off x="6624232" y="1490681"/>
            <a:ext cx="5053648"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200" dirty="0"/>
              <a:t>Foreign flows turned positive in July</a:t>
            </a:r>
          </a:p>
        </p:txBody>
      </p:sp>
      <p:sp>
        <p:nvSpPr>
          <p:cNvPr id="34" name="Text Placeholder 7">
            <a:extLst>
              <a:ext uri="{FF2B5EF4-FFF2-40B4-BE49-F238E27FC236}">
                <a16:creationId xmlns:a16="http://schemas.microsoft.com/office/drawing/2014/main" id="{FAD2F1A5-88F2-50B5-86C0-8B23BBD9492F}"/>
              </a:ext>
            </a:extLst>
          </p:cNvPr>
          <p:cNvSpPr txBox="1">
            <a:spLocks/>
          </p:cNvSpPr>
          <p:nvPr/>
        </p:nvSpPr>
        <p:spPr>
          <a:xfrm>
            <a:off x="6624232" y="2421236"/>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hlinkClick r:id="rId3" action="ppaction://hlinksldjump">
                  <a:extLst>
                    <a:ext uri="{A12FA001-AC4F-418D-AE19-62706E023703}">
                      <ahyp:hlinkClr xmlns:ahyp="http://schemas.microsoft.com/office/drawing/2018/hyperlinkcolor" val="tx"/>
                    </a:ext>
                  </a:extLst>
                </a:hlinkClick>
              </a:rPr>
              <a:t>Local </a:t>
            </a: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3" action="ppaction://hlinksldjump">
                  <a:extLst>
                    <a:ext uri="{A12FA001-AC4F-418D-AE19-62706E023703}">
                      <ahyp:hlinkClr xmlns:ahyp="http://schemas.microsoft.com/office/drawing/2018/hyperlinkcolor" val="tx"/>
                    </a:ext>
                  </a:extLst>
                </a:hlinkClick>
              </a:rPr>
              <a:t>flows</a:t>
            </a:r>
            <a:endPar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endParaRPr>
          </a:p>
        </p:txBody>
      </p:sp>
      <p:sp>
        <p:nvSpPr>
          <p:cNvPr id="35" name="Text Placeholder 8">
            <a:extLst>
              <a:ext uri="{FF2B5EF4-FFF2-40B4-BE49-F238E27FC236}">
                <a16:creationId xmlns:a16="http://schemas.microsoft.com/office/drawing/2014/main" id="{D1C4CDB8-DB45-3D2E-16EB-56EEBA3BD969}"/>
              </a:ext>
            </a:extLst>
          </p:cNvPr>
          <p:cNvSpPr txBox="1">
            <a:spLocks/>
          </p:cNvSpPr>
          <p:nvPr/>
        </p:nvSpPr>
        <p:spPr>
          <a:xfrm>
            <a:off x="6624232" y="2751454"/>
            <a:ext cx="5238749"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200" i="0" u="none" strike="noStrike" kern="1200" cap="none" spc="0" normalizeH="0" baseline="0" noProof="0" dirty="0">
                <a:ln>
                  <a:noFill/>
                </a:ln>
                <a:solidFill>
                  <a:srgbClr val="FFFFFF"/>
                </a:solidFill>
                <a:effectLst/>
                <a:uLnTx/>
                <a:uFillTx/>
                <a:latin typeface="Roboto Light"/>
                <a:ea typeface="Roboto Light" panose="02000000000000000000" pitchFamily="2" charset="0"/>
                <a:cs typeface="Roboto Light" panose="02000000000000000000" pitchFamily="2" charset="0"/>
              </a:rPr>
              <a:t>Institutional investors returned to net selling</a:t>
            </a:r>
          </a:p>
        </p:txBody>
      </p:sp>
      <p:sp>
        <p:nvSpPr>
          <p:cNvPr id="36" name="Text Placeholder 7">
            <a:extLst>
              <a:ext uri="{FF2B5EF4-FFF2-40B4-BE49-F238E27FC236}">
                <a16:creationId xmlns:a16="http://schemas.microsoft.com/office/drawing/2014/main" id="{31F7DE8C-09FB-4CC6-D73E-5B2826A882B9}"/>
              </a:ext>
            </a:extLst>
          </p:cNvPr>
          <p:cNvSpPr txBox="1">
            <a:spLocks/>
          </p:cNvSpPr>
          <p:nvPr/>
        </p:nvSpPr>
        <p:spPr>
          <a:xfrm>
            <a:off x="6624232" y="3090446"/>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hlinkClick r:id="rId4" action="ppaction://hlinksldjump">
                  <a:extLst>
                    <a:ext uri="{A12FA001-AC4F-418D-AE19-62706E023703}">
                      <ahyp:hlinkClr xmlns:ahyp="http://schemas.microsoft.com/office/drawing/2018/hyperlinkcolor" val="tx"/>
                    </a:ext>
                  </a:extLst>
                </a:hlinkClick>
              </a:rPr>
              <a:t>Financial </a:t>
            </a: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4" action="ppaction://hlinksldjump">
                  <a:extLst>
                    <a:ext uri="{A12FA001-AC4F-418D-AE19-62706E023703}">
                      <ahyp:hlinkClr xmlns:ahyp="http://schemas.microsoft.com/office/drawing/2018/hyperlinkcolor" val="tx"/>
                    </a:ext>
                  </a:extLst>
                </a:hlinkClick>
              </a:rPr>
              <a:t>institutions</a:t>
            </a:r>
            <a:r>
              <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hlinkClick r:id="rId4" action="ppaction://hlinksldjump">
                  <a:extLst>
                    <a:ext uri="{A12FA001-AC4F-418D-AE19-62706E023703}">
                      <ahyp:hlinkClr xmlns:ahyp="http://schemas.microsoft.com/office/drawing/2018/hyperlinkcolor" val="tx"/>
                    </a:ext>
                  </a:extLst>
                </a:hlinkClick>
              </a:rPr>
              <a:t> &amp; </a:t>
            </a: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4" action="ppaction://hlinksldjump">
                  <a:extLst>
                    <a:ext uri="{A12FA001-AC4F-418D-AE19-62706E023703}">
                      <ahyp:hlinkClr xmlns:ahyp="http://schemas.microsoft.com/office/drawing/2018/hyperlinkcolor" val="tx"/>
                    </a:ext>
                  </a:extLst>
                </a:hlinkClick>
              </a:rPr>
              <a:t>others</a:t>
            </a:r>
            <a:endPar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endParaRPr>
          </a:p>
        </p:txBody>
      </p:sp>
      <p:sp>
        <p:nvSpPr>
          <p:cNvPr id="37" name="Text Placeholder 8">
            <a:extLst>
              <a:ext uri="{FF2B5EF4-FFF2-40B4-BE49-F238E27FC236}">
                <a16:creationId xmlns:a16="http://schemas.microsoft.com/office/drawing/2014/main" id="{91DAE504-5720-1202-6136-62F8A67A80EE}"/>
              </a:ext>
            </a:extLst>
          </p:cNvPr>
          <p:cNvSpPr txBox="1">
            <a:spLocks/>
          </p:cNvSpPr>
          <p:nvPr/>
        </p:nvSpPr>
        <p:spPr>
          <a:xfrm>
            <a:off x="6624232" y="3420664"/>
            <a:ext cx="5238749"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200" i="0" u="none" strike="noStrike" kern="1200" cap="none" spc="0" normalizeH="0" baseline="0" noProof="0" dirty="0">
                <a:ln>
                  <a:noFill/>
                </a:ln>
                <a:solidFill>
                  <a:srgbClr val="FFFFFF"/>
                </a:solidFill>
                <a:effectLst/>
                <a:uLnTx/>
                <a:uFillTx/>
                <a:latin typeface="Roboto Light"/>
                <a:ea typeface="Roboto Light" panose="02000000000000000000" pitchFamily="2" charset="0"/>
                <a:cs typeface="Roboto Light" panose="02000000000000000000" pitchFamily="2" charset="0"/>
              </a:rPr>
              <a:t>Financial institutions remained net buyers</a:t>
            </a:r>
          </a:p>
        </p:txBody>
      </p:sp>
      <p:sp>
        <p:nvSpPr>
          <p:cNvPr id="38" name="Text Placeholder 7">
            <a:extLst>
              <a:ext uri="{FF2B5EF4-FFF2-40B4-BE49-F238E27FC236}">
                <a16:creationId xmlns:a16="http://schemas.microsoft.com/office/drawing/2014/main" id="{EFC56ADE-27E2-DB69-CAC3-06EDA42C8F6E}"/>
              </a:ext>
            </a:extLst>
          </p:cNvPr>
          <p:cNvSpPr txBox="1">
            <a:spLocks/>
          </p:cNvSpPr>
          <p:nvPr/>
        </p:nvSpPr>
        <p:spPr>
          <a:xfrm>
            <a:off x="6616701" y="3818854"/>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5" action="ppaction://hlinksldjump">
                  <a:extLst>
                    <a:ext uri="{A12FA001-AC4F-418D-AE19-62706E023703}">
                      <ahyp:hlinkClr xmlns:ahyp="http://schemas.microsoft.com/office/drawing/2018/hyperlinkcolor" val="tx"/>
                    </a:ext>
                  </a:extLst>
                </a:hlinkClick>
              </a:rPr>
              <a:t>Funds</a:t>
            </a:r>
            <a:r>
              <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hlinkClick r:id="rId5" action="ppaction://hlinksldjump">
                  <a:extLst>
                    <a:ext uri="{A12FA001-AC4F-418D-AE19-62706E023703}">
                      <ahyp:hlinkClr xmlns:ahyp="http://schemas.microsoft.com/office/drawing/2018/hyperlinkcolor" val="tx"/>
                    </a:ext>
                  </a:extLst>
                </a:hlinkClick>
              </a:rPr>
              <a:t> </a:t>
            </a: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5" action="ppaction://hlinksldjump">
                  <a:extLst>
                    <a:ext uri="{A12FA001-AC4F-418D-AE19-62706E023703}">
                      <ahyp:hlinkClr xmlns:ahyp="http://schemas.microsoft.com/office/drawing/2018/hyperlinkcolor" val="tx"/>
                    </a:ext>
                  </a:extLst>
                </a:hlinkClick>
              </a:rPr>
              <a:t>flows</a:t>
            </a:r>
            <a:endPar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endParaRPr>
          </a:p>
        </p:txBody>
      </p:sp>
      <p:sp>
        <p:nvSpPr>
          <p:cNvPr id="39" name="Text Placeholder 8">
            <a:extLst>
              <a:ext uri="{FF2B5EF4-FFF2-40B4-BE49-F238E27FC236}">
                <a16:creationId xmlns:a16="http://schemas.microsoft.com/office/drawing/2014/main" id="{17946EF8-0DD7-794D-81FA-1D496C525FA3}"/>
              </a:ext>
            </a:extLst>
          </p:cNvPr>
          <p:cNvSpPr txBox="1">
            <a:spLocks/>
          </p:cNvSpPr>
          <p:nvPr/>
        </p:nvSpPr>
        <p:spPr>
          <a:xfrm>
            <a:off x="6616701" y="4149072"/>
            <a:ext cx="5061179"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200" i="0" u="none" strike="noStrike" kern="1200" cap="none" spc="0" normalizeH="0" baseline="0" noProof="0" dirty="0">
                <a:ln>
                  <a:noFill/>
                </a:ln>
                <a:solidFill>
                  <a:srgbClr val="FFFFFF"/>
                </a:solidFill>
                <a:effectLst/>
                <a:uLnTx/>
                <a:uFillTx/>
                <a:latin typeface="Roboto Light"/>
                <a:ea typeface="Roboto Light" panose="02000000000000000000" pitchFamily="2" charset="0"/>
                <a:cs typeface="Roboto Light" panose="02000000000000000000" pitchFamily="2" charset="0"/>
              </a:rPr>
              <a:t>Fixed income funds drove the industry's outflows</a:t>
            </a:r>
          </a:p>
        </p:txBody>
      </p:sp>
      <p:sp>
        <p:nvSpPr>
          <p:cNvPr id="40" name="Text Placeholder 7">
            <a:extLst>
              <a:ext uri="{FF2B5EF4-FFF2-40B4-BE49-F238E27FC236}">
                <a16:creationId xmlns:a16="http://schemas.microsoft.com/office/drawing/2014/main" id="{010FD582-8408-1CF3-EA56-F5D7279E0ACA}"/>
              </a:ext>
            </a:extLst>
          </p:cNvPr>
          <p:cNvSpPr txBox="1">
            <a:spLocks/>
          </p:cNvSpPr>
          <p:nvPr/>
        </p:nvSpPr>
        <p:spPr>
          <a:xfrm>
            <a:off x="6624232" y="4487626"/>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6" action="ppaction://hlinksldjump">
                  <a:extLst>
                    <a:ext uri="{A12FA001-AC4F-418D-AE19-62706E023703}">
                      <ahyp:hlinkClr xmlns:ahyp="http://schemas.microsoft.com/office/drawing/2018/hyperlinkcolor" val="tx"/>
                    </a:ext>
                  </a:extLst>
                </a:hlinkClick>
              </a:rPr>
              <a:t>Funds</a:t>
            </a:r>
            <a:r>
              <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hlinkClick r:id="rId6" action="ppaction://hlinksldjump">
                  <a:extLst>
                    <a:ext uri="{A12FA001-AC4F-418D-AE19-62706E023703}">
                      <ahyp:hlinkClr xmlns:ahyp="http://schemas.microsoft.com/office/drawing/2018/hyperlinkcolor" val="tx"/>
                    </a:ext>
                  </a:extLst>
                </a:hlinkClick>
              </a:rPr>
              <a:t> </a:t>
            </a: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6" action="ppaction://hlinksldjump">
                  <a:extLst>
                    <a:ext uri="{A12FA001-AC4F-418D-AE19-62706E023703}">
                      <ahyp:hlinkClr xmlns:ahyp="http://schemas.microsoft.com/office/drawing/2018/hyperlinkcolor" val="tx"/>
                    </a:ext>
                  </a:extLst>
                </a:hlinkClick>
              </a:rPr>
              <a:t>allocation</a:t>
            </a:r>
            <a:endPar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endParaRPr>
          </a:p>
        </p:txBody>
      </p:sp>
      <p:sp>
        <p:nvSpPr>
          <p:cNvPr id="41" name="Text Placeholder 8">
            <a:extLst>
              <a:ext uri="{FF2B5EF4-FFF2-40B4-BE49-F238E27FC236}">
                <a16:creationId xmlns:a16="http://schemas.microsoft.com/office/drawing/2014/main" id="{300167C7-7B82-8B96-3863-526424BAFCFF}"/>
              </a:ext>
            </a:extLst>
          </p:cNvPr>
          <p:cNvSpPr txBox="1">
            <a:spLocks/>
          </p:cNvSpPr>
          <p:nvPr/>
        </p:nvSpPr>
        <p:spPr>
          <a:xfrm>
            <a:off x="6624232" y="4817844"/>
            <a:ext cx="5238749"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200" i="0" u="none" strike="noStrike" kern="1200" cap="none" spc="0" normalizeH="0" baseline="0" noProof="0" dirty="0">
                <a:ln>
                  <a:noFill/>
                </a:ln>
                <a:solidFill>
                  <a:srgbClr val="FFFFFF"/>
                </a:solidFill>
                <a:effectLst/>
                <a:uLnTx/>
                <a:uFillTx/>
                <a:latin typeface="Roboto Light"/>
                <a:ea typeface="Roboto Light" panose="02000000000000000000" pitchFamily="2" charset="0"/>
                <a:cs typeface="Roboto Light" panose="02000000000000000000" pitchFamily="2" charset="0"/>
              </a:rPr>
              <a:t>Equity funds allocation remains stable at 6.1%</a:t>
            </a:r>
          </a:p>
        </p:txBody>
      </p:sp>
      <p:sp>
        <p:nvSpPr>
          <p:cNvPr id="42" name="Text Placeholder 7">
            <a:extLst>
              <a:ext uri="{FF2B5EF4-FFF2-40B4-BE49-F238E27FC236}">
                <a16:creationId xmlns:a16="http://schemas.microsoft.com/office/drawing/2014/main" id="{32B8E0D6-4311-DF1B-F0DF-E91432802A64}"/>
              </a:ext>
            </a:extLst>
          </p:cNvPr>
          <p:cNvSpPr txBox="1">
            <a:spLocks/>
          </p:cNvSpPr>
          <p:nvPr/>
        </p:nvSpPr>
        <p:spPr>
          <a:xfrm>
            <a:off x="6616701" y="5170786"/>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7" action="ppaction://hlinksldjump">
                  <a:extLst>
                    <a:ext uri="{A12FA001-AC4F-418D-AE19-62706E023703}">
                      <ahyp:hlinkClr xmlns:ahyp="http://schemas.microsoft.com/office/drawing/2018/hyperlinkcolor" val="tx"/>
                    </a:ext>
                  </a:extLst>
                </a:hlinkClick>
              </a:rPr>
              <a:t>Equity</a:t>
            </a:r>
            <a:r>
              <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hlinkClick r:id="rId7" action="ppaction://hlinksldjump">
                  <a:extLst>
                    <a:ext uri="{A12FA001-AC4F-418D-AE19-62706E023703}">
                      <ahyp:hlinkClr xmlns:ahyp="http://schemas.microsoft.com/office/drawing/2018/hyperlinkcolor" val="tx"/>
                    </a:ext>
                  </a:extLst>
                </a:hlinkClick>
              </a:rPr>
              <a:t> </a:t>
            </a: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7" action="ppaction://hlinksldjump">
                  <a:extLst>
                    <a:ext uri="{A12FA001-AC4F-418D-AE19-62706E023703}">
                      <ahyp:hlinkClr xmlns:ahyp="http://schemas.microsoft.com/office/drawing/2018/hyperlinkcolor" val="tx"/>
                    </a:ext>
                  </a:extLst>
                </a:hlinkClick>
              </a:rPr>
              <a:t>funds</a:t>
            </a:r>
            <a:r>
              <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hlinkClick r:id="rId7" action="ppaction://hlinksldjump">
                  <a:extLst>
                    <a:ext uri="{A12FA001-AC4F-418D-AE19-62706E023703}">
                      <ahyp:hlinkClr xmlns:ahyp="http://schemas.microsoft.com/office/drawing/2018/hyperlinkcolor" val="tx"/>
                    </a:ext>
                  </a:extLst>
                </a:hlinkClick>
              </a:rPr>
              <a:t> </a:t>
            </a:r>
            <a:r>
              <a:rPr kumimoji="0" lang="pt-BR" sz="1600" b="0" i="0" u="none" strike="noStrike" kern="1200" cap="none" spc="0" normalizeH="0" baseline="0" noProof="0" dirty="0" err="1">
                <a:ln>
                  <a:noFill/>
                </a:ln>
                <a:solidFill>
                  <a:srgbClr val="8EB3DF"/>
                </a:solidFill>
                <a:effectLst/>
                <a:uLnTx/>
                <a:uFillTx/>
                <a:latin typeface="Roboto Light"/>
                <a:ea typeface="Roboto Light" panose="02000000000000000000" pitchFamily="2" charset="0"/>
                <a:cs typeface="Roboto Light" panose="02000000000000000000" pitchFamily="2" charset="0"/>
                <a:hlinkClick r:id="rId7" action="ppaction://hlinksldjump">
                  <a:extLst>
                    <a:ext uri="{A12FA001-AC4F-418D-AE19-62706E023703}">
                      <ahyp:hlinkClr xmlns:ahyp="http://schemas.microsoft.com/office/drawing/2018/hyperlinkcolor" val="tx"/>
                    </a:ext>
                  </a:extLst>
                </a:hlinkClick>
              </a:rPr>
              <a:t>allocation</a:t>
            </a:r>
            <a:endParaRPr kumimoji="0" lang="pt-BR" sz="1600" b="0" i="0" u="none" strike="noStrike" kern="1200" cap="none" spc="0" normalizeH="0" baseline="0" noProof="0" dirty="0">
              <a:ln>
                <a:noFill/>
              </a:ln>
              <a:solidFill>
                <a:srgbClr val="8EB3DF"/>
              </a:solidFill>
              <a:effectLst/>
              <a:uLnTx/>
              <a:uFillTx/>
              <a:latin typeface="Roboto Light"/>
              <a:ea typeface="Roboto Light" panose="02000000000000000000" pitchFamily="2" charset="0"/>
              <a:cs typeface="Roboto Light" panose="02000000000000000000" pitchFamily="2" charset="0"/>
            </a:endParaRPr>
          </a:p>
        </p:txBody>
      </p:sp>
      <p:sp>
        <p:nvSpPr>
          <p:cNvPr id="43" name="Text Placeholder 8">
            <a:extLst>
              <a:ext uri="{FF2B5EF4-FFF2-40B4-BE49-F238E27FC236}">
                <a16:creationId xmlns:a16="http://schemas.microsoft.com/office/drawing/2014/main" id="{3ED61B51-5D83-5DE7-3E2E-6F78410358C4}"/>
              </a:ext>
            </a:extLst>
          </p:cNvPr>
          <p:cNvSpPr txBox="1">
            <a:spLocks/>
          </p:cNvSpPr>
          <p:nvPr/>
        </p:nvSpPr>
        <p:spPr>
          <a:xfrm>
            <a:off x="6616700" y="5562288"/>
            <a:ext cx="5575300"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200" i="0" u="none" strike="noStrike" kern="1200" cap="none" spc="0" normalizeH="0" baseline="0" noProof="0" dirty="0">
                <a:ln>
                  <a:noFill/>
                </a:ln>
                <a:solidFill>
                  <a:srgbClr val="FFFFFF"/>
                </a:solidFill>
                <a:effectLst/>
                <a:uLnTx/>
                <a:uFillTx/>
                <a:latin typeface="Roboto Light"/>
                <a:ea typeface="Roboto Light" panose="02000000000000000000" pitchFamily="2" charset="0"/>
                <a:cs typeface="Roboto Light" panose="02000000000000000000" pitchFamily="2" charset="0"/>
              </a:rPr>
              <a:t>All equity fund classes posted redemptions</a:t>
            </a:r>
          </a:p>
        </p:txBody>
      </p:sp>
      <p:sp>
        <p:nvSpPr>
          <p:cNvPr id="46" name="Text Placeholder 7">
            <a:extLst>
              <a:ext uri="{FF2B5EF4-FFF2-40B4-BE49-F238E27FC236}">
                <a16:creationId xmlns:a16="http://schemas.microsoft.com/office/drawing/2014/main" id="{66309415-072D-3A93-630D-B972D30EC12D}"/>
              </a:ext>
            </a:extLst>
          </p:cNvPr>
          <p:cNvSpPr txBox="1">
            <a:spLocks/>
          </p:cNvSpPr>
          <p:nvPr/>
        </p:nvSpPr>
        <p:spPr>
          <a:xfrm>
            <a:off x="6624232" y="5843696"/>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pt-BR" sz="1600" dirty="0" err="1">
                <a:solidFill>
                  <a:srgbClr val="8EB3DF"/>
                </a:solidFill>
                <a:hlinkClick r:id="rId8" action="ppaction://hlinksldjump">
                  <a:extLst>
                    <a:ext uri="{A12FA001-AC4F-418D-AE19-62706E023703}">
                      <ahyp:hlinkClr xmlns:ahyp="http://schemas.microsoft.com/office/drawing/2018/hyperlinkcolor" val="tx"/>
                    </a:ext>
                  </a:extLst>
                </a:hlinkClick>
              </a:rPr>
              <a:t>Investors</a:t>
            </a:r>
            <a:r>
              <a:rPr lang="pt-BR" sz="1600" dirty="0">
                <a:solidFill>
                  <a:srgbClr val="8EB3DF"/>
                </a:solidFill>
                <a:hlinkClick r:id="rId8" action="ppaction://hlinksldjump">
                  <a:extLst>
                    <a:ext uri="{A12FA001-AC4F-418D-AE19-62706E023703}">
                      <ahyp:hlinkClr xmlns:ahyp="http://schemas.microsoft.com/office/drawing/2018/hyperlinkcolor" val="tx"/>
                    </a:ext>
                  </a:extLst>
                </a:hlinkClick>
              </a:rPr>
              <a:t> profile</a:t>
            </a:r>
            <a:endParaRPr lang="pt-BR" sz="1600" dirty="0">
              <a:solidFill>
                <a:srgbClr val="8EB3DF"/>
              </a:solidFill>
            </a:endParaRPr>
          </a:p>
        </p:txBody>
      </p:sp>
      <p:sp>
        <p:nvSpPr>
          <p:cNvPr id="47" name="Text Placeholder 8">
            <a:extLst>
              <a:ext uri="{FF2B5EF4-FFF2-40B4-BE49-F238E27FC236}">
                <a16:creationId xmlns:a16="http://schemas.microsoft.com/office/drawing/2014/main" id="{E8E11E0B-DF71-0E0F-B733-F10BFCE1B7DF}"/>
              </a:ext>
            </a:extLst>
          </p:cNvPr>
          <p:cNvSpPr txBox="1">
            <a:spLocks/>
          </p:cNvSpPr>
          <p:nvPr/>
        </p:nvSpPr>
        <p:spPr>
          <a:xfrm>
            <a:off x="6624232" y="6173914"/>
            <a:ext cx="5238749"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en-US" sz="1200" dirty="0">
                <a:solidFill>
                  <a:srgbClr val="FFFFFF"/>
                </a:solidFill>
              </a:rPr>
              <a:t>Foreign investor participation declines</a:t>
            </a:r>
          </a:p>
        </p:txBody>
      </p:sp>
      <p:sp>
        <p:nvSpPr>
          <p:cNvPr id="2" name="Text Placeholder 7">
            <a:extLst>
              <a:ext uri="{FF2B5EF4-FFF2-40B4-BE49-F238E27FC236}">
                <a16:creationId xmlns:a16="http://schemas.microsoft.com/office/drawing/2014/main" id="{390A7C84-B15F-892F-1EF1-AC48FCB80669}"/>
              </a:ext>
            </a:extLst>
          </p:cNvPr>
          <p:cNvSpPr txBox="1">
            <a:spLocks/>
          </p:cNvSpPr>
          <p:nvPr/>
        </p:nvSpPr>
        <p:spPr>
          <a:xfrm>
            <a:off x="6624232" y="1752464"/>
            <a:ext cx="5238749" cy="338554"/>
          </a:xfrm>
          <a:prstGeom prst="rect">
            <a:avLst/>
          </a:prstGeom>
        </p:spPr>
        <p:txBody>
          <a:bodyPr vert="horz" lIns="0" tIns="45720" rIns="91440" bIns="45720" rtlCol="0" anchor="t">
            <a:noAutofit/>
          </a:bodyPr>
          <a:lstStyle>
            <a:lvl1pPr marL="0" indent="0" algn="l" defTabSz="685808" rtl="0" eaLnBrk="1" latinLnBrk="0" hangingPunct="1">
              <a:lnSpc>
                <a:spcPct val="90000"/>
              </a:lnSpc>
              <a:spcBef>
                <a:spcPts val="751"/>
              </a:spcBef>
              <a:buFont typeface="Arial" panose="020B0604020202020204" pitchFamily="34" charset="0"/>
              <a:buNone/>
              <a:defRPr lang="pt-BR" sz="2000" b="0" kern="1200" dirty="0">
                <a:solidFill>
                  <a:schemeClr val="accent3"/>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sz="1600" dirty="0" err="1">
                <a:hlinkClick r:id="rId9" action="ppaction://hlinksldjump">
                  <a:extLst>
                    <a:ext uri="{A12FA001-AC4F-418D-AE19-62706E023703}">
                      <ahyp:hlinkClr xmlns:ahyp="http://schemas.microsoft.com/office/drawing/2018/hyperlinkcolor" val="tx"/>
                    </a:ext>
                  </a:extLst>
                </a:hlinkClick>
              </a:rPr>
              <a:t>Foreign</a:t>
            </a:r>
            <a:r>
              <a:rPr lang="pt-BR" sz="1600" dirty="0">
                <a:hlinkClick r:id="rId9" action="ppaction://hlinksldjump">
                  <a:extLst>
                    <a:ext uri="{A12FA001-AC4F-418D-AE19-62706E023703}">
                      <ahyp:hlinkClr xmlns:ahyp="http://schemas.microsoft.com/office/drawing/2018/hyperlinkcolor" val="tx"/>
                    </a:ext>
                  </a:extLst>
                </a:hlinkClick>
              </a:rPr>
              <a:t> </a:t>
            </a:r>
            <a:r>
              <a:rPr lang="pt-BR" sz="1600" dirty="0" err="1">
                <a:hlinkClick r:id="rId9" action="ppaction://hlinksldjump">
                  <a:extLst>
                    <a:ext uri="{A12FA001-AC4F-418D-AE19-62706E023703}">
                      <ahyp:hlinkClr xmlns:ahyp="http://schemas.microsoft.com/office/drawing/2018/hyperlinkcolor" val="tx"/>
                    </a:ext>
                  </a:extLst>
                </a:hlinkClick>
              </a:rPr>
              <a:t>flows</a:t>
            </a:r>
            <a:r>
              <a:rPr lang="pt-BR" sz="1600" dirty="0">
                <a:hlinkClick r:id="rId9" action="ppaction://hlinksldjump">
                  <a:extLst>
                    <a:ext uri="{A12FA001-AC4F-418D-AE19-62706E023703}">
                      <ahyp:hlinkClr xmlns:ahyp="http://schemas.microsoft.com/office/drawing/2018/hyperlinkcolor" val="tx"/>
                    </a:ext>
                  </a:extLst>
                </a:hlinkClick>
              </a:rPr>
              <a:t> </a:t>
            </a:r>
            <a:r>
              <a:rPr lang="pt-BR" sz="1600" dirty="0" err="1">
                <a:hlinkClick r:id="rId9" action="ppaction://hlinksldjump">
                  <a:extLst>
                    <a:ext uri="{A12FA001-AC4F-418D-AE19-62706E023703}">
                      <ahyp:hlinkClr xmlns:ahyp="http://schemas.microsoft.com/office/drawing/2018/hyperlinkcolor" val="tx"/>
                    </a:ext>
                  </a:extLst>
                </a:hlinkClick>
              </a:rPr>
              <a:t>by</a:t>
            </a:r>
            <a:r>
              <a:rPr lang="pt-BR" sz="1600" dirty="0">
                <a:hlinkClick r:id="rId9" action="ppaction://hlinksldjump">
                  <a:extLst>
                    <a:ext uri="{A12FA001-AC4F-418D-AE19-62706E023703}">
                      <ahyp:hlinkClr xmlns:ahyp="http://schemas.microsoft.com/office/drawing/2018/hyperlinkcolor" val="tx"/>
                    </a:ext>
                  </a:extLst>
                </a:hlinkClick>
              </a:rPr>
              <a:t> sector</a:t>
            </a:r>
            <a:endParaRPr lang="pt-BR" sz="1600" dirty="0"/>
          </a:p>
        </p:txBody>
      </p:sp>
      <p:sp>
        <p:nvSpPr>
          <p:cNvPr id="3" name="Text Placeholder 8">
            <a:extLst>
              <a:ext uri="{FF2B5EF4-FFF2-40B4-BE49-F238E27FC236}">
                <a16:creationId xmlns:a16="http://schemas.microsoft.com/office/drawing/2014/main" id="{6AED981E-03A0-0F33-893E-79A8274AC7A3}"/>
              </a:ext>
            </a:extLst>
          </p:cNvPr>
          <p:cNvSpPr txBox="1">
            <a:spLocks/>
          </p:cNvSpPr>
          <p:nvPr/>
        </p:nvSpPr>
        <p:spPr>
          <a:xfrm>
            <a:off x="6624232" y="2082682"/>
            <a:ext cx="5053648" cy="258532"/>
          </a:xfrm>
          <a:prstGeom prst="rect">
            <a:avLst/>
          </a:prstGeom>
        </p:spPr>
        <p:txBody>
          <a:bodyPr vert="horz" wrap="square" lIns="0" tIns="45720" rIns="91440" bIns="45720" rtlCol="0" anchor="t">
            <a:spAutoFit/>
          </a:bodyPr>
          <a:lstStyle>
            <a:lvl1pPr marL="0" indent="0" algn="l" defTabSz="685808" rtl="0" eaLnBrk="1" latinLnBrk="0" hangingPunct="1">
              <a:lnSpc>
                <a:spcPct val="90000"/>
              </a:lnSpc>
              <a:spcBef>
                <a:spcPts val="751"/>
              </a:spcBef>
              <a:buFont typeface="Arial" panose="020B0604020202020204" pitchFamily="34" charset="0"/>
              <a:buNone/>
              <a:defRPr lang="pt-BR" sz="1600" b="0" kern="1200" dirty="0">
                <a:solidFill>
                  <a:schemeClr val="bg1"/>
                </a:solidFill>
                <a:latin typeface="+mj-lt"/>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200" dirty="0"/>
              <a:t>Most sectors posted foreign inflows in July</a:t>
            </a:r>
          </a:p>
        </p:txBody>
      </p:sp>
    </p:spTree>
    <p:extLst>
      <p:ext uri="{BB962C8B-B14F-4D97-AF65-F5344CB8AC3E}">
        <p14:creationId xmlns:p14="http://schemas.microsoft.com/office/powerpoint/2010/main" val="249550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3B-0B4D-9961-2384-2C55F276159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746F6C2-9F69-7F96-59F8-52FA9DA11EF3}"/>
              </a:ext>
            </a:extLst>
          </p:cNvPr>
          <p:cNvSpPr>
            <a:spLocks noGrp="1"/>
          </p:cNvSpPr>
          <p:nvPr>
            <p:ph type="body" sz="quarter" idx="18"/>
          </p:nvPr>
        </p:nvSpPr>
        <p:spPr/>
        <p:txBody>
          <a:bodyPr/>
          <a:lstStyle/>
          <a:p>
            <a:r>
              <a:rPr lang="en-US" dirty="0"/>
              <a:t>Source: B3, Bloomberg, XP Research. *Data as of August 7, 2026. </a:t>
            </a:r>
          </a:p>
        </p:txBody>
      </p:sp>
      <p:sp>
        <p:nvSpPr>
          <p:cNvPr id="4" name="Text Placeholder 3">
            <a:extLst>
              <a:ext uri="{FF2B5EF4-FFF2-40B4-BE49-F238E27FC236}">
                <a16:creationId xmlns:a16="http://schemas.microsoft.com/office/drawing/2014/main" id="{B1EFD56A-DFFE-0E01-8C55-5AA6760916BA}"/>
              </a:ext>
            </a:extLst>
          </p:cNvPr>
          <p:cNvSpPr>
            <a:spLocks noGrp="1"/>
          </p:cNvSpPr>
          <p:nvPr>
            <p:ph type="body" sz="quarter" idx="24"/>
          </p:nvPr>
        </p:nvSpPr>
        <p:spPr/>
        <p:txBody>
          <a:bodyPr/>
          <a:lstStyle/>
          <a:p>
            <a:pPr marL="171450" indent="-171450">
              <a:lnSpc>
                <a:spcPct val="114000"/>
              </a:lnSpc>
              <a:buFont typeface="Arial" panose="020B0604020202020204" pitchFamily="34" charset="0"/>
              <a:buChar char="•"/>
            </a:pPr>
            <a:r>
              <a:rPr lang="en-US" b="1" dirty="0"/>
              <a:t>Foreign investors </a:t>
            </a:r>
            <a:r>
              <a:rPr lang="en-US" dirty="0"/>
              <a:t>ended July with net inflows of R$3.7bn, reflecting R$2.6bn of net inflows in the cash market and R$1.2bn of net inflows into futures — the first positive month since March. August flows are negative so far, at R$7.7bn.</a:t>
            </a:r>
          </a:p>
          <a:p>
            <a:pPr marL="171450" indent="-171450">
              <a:lnSpc>
                <a:spcPct val="114000"/>
              </a:lnSpc>
              <a:buFont typeface="Arial" panose="020B0604020202020204" pitchFamily="34" charset="0"/>
              <a:buChar char="•"/>
            </a:pPr>
            <a:r>
              <a:rPr lang="en-US" dirty="0"/>
              <a:t>As discussed in our latest </a:t>
            </a:r>
            <a:r>
              <a:rPr lang="en-US" dirty="0">
                <a:hlinkClick r:id="rId10"/>
              </a:rPr>
              <a:t>XP-Ray</a:t>
            </a:r>
            <a:r>
              <a:rPr lang="en-US" dirty="0"/>
              <a:t>, the pullback in the AI trade and softer domestic inflation prints brought foreign investors back to Brazilian equities. Cumulative foreign inflows in 2026 stand at R$37.8bn in the cash market, down from the R$69.1bn peak reached in mid-April, while futures accumulate R$21.4bn of net outflows in the year.</a:t>
            </a:r>
          </a:p>
        </p:txBody>
      </p:sp>
      <p:sp>
        <p:nvSpPr>
          <p:cNvPr id="11" name="Text Placeholder 10">
            <a:extLst>
              <a:ext uri="{FF2B5EF4-FFF2-40B4-BE49-F238E27FC236}">
                <a16:creationId xmlns:a16="http://schemas.microsoft.com/office/drawing/2014/main" id="{494FE4FB-0E9F-849E-00D6-2401B3EADFFD}"/>
              </a:ext>
            </a:extLst>
          </p:cNvPr>
          <p:cNvSpPr>
            <a:spLocks noGrp="1"/>
          </p:cNvSpPr>
          <p:nvPr>
            <p:ph type="body" sz="quarter" idx="16"/>
          </p:nvPr>
        </p:nvSpPr>
        <p:spPr/>
        <p:txBody>
          <a:bodyPr/>
          <a:lstStyle/>
          <a:p>
            <a:r>
              <a:rPr lang="pt-BR" dirty="0" err="1"/>
              <a:t>Foreign</a:t>
            </a:r>
            <a:r>
              <a:rPr lang="pt-BR" dirty="0"/>
              <a:t> </a:t>
            </a:r>
            <a:r>
              <a:rPr lang="pt-BR" dirty="0" err="1"/>
              <a:t>flows</a:t>
            </a:r>
            <a:endParaRPr lang="pt-BR" dirty="0"/>
          </a:p>
        </p:txBody>
      </p:sp>
      <p:sp>
        <p:nvSpPr>
          <p:cNvPr id="12" name="Text Placeholder 11">
            <a:extLst>
              <a:ext uri="{FF2B5EF4-FFF2-40B4-BE49-F238E27FC236}">
                <a16:creationId xmlns:a16="http://schemas.microsoft.com/office/drawing/2014/main" id="{316EACF2-EB48-A754-042A-23829DA25A0E}"/>
              </a:ext>
            </a:extLst>
          </p:cNvPr>
          <p:cNvSpPr>
            <a:spLocks noGrp="1"/>
          </p:cNvSpPr>
          <p:nvPr>
            <p:ph type="body" sz="quarter" idx="17"/>
          </p:nvPr>
        </p:nvSpPr>
        <p:spPr/>
        <p:txBody>
          <a:bodyPr/>
          <a:lstStyle/>
          <a:p>
            <a:r>
              <a:rPr lang="en-US" dirty="0">
                <a:solidFill>
                  <a:schemeClr val="tx1"/>
                </a:solidFill>
              </a:rPr>
              <a:t>Foreign flows turned positive in July</a:t>
            </a:r>
            <a:endParaRPr lang="pt-BR" dirty="0">
              <a:solidFill>
                <a:schemeClr val="tx1"/>
              </a:solidFill>
            </a:endParaRPr>
          </a:p>
        </p:txBody>
      </p:sp>
      <p:sp>
        <p:nvSpPr>
          <p:cNvPr id="13" name="Date Placeholder 12">
            <a:extLst>
              <a:ext uri="{FF2B5EF4-FFF2-40B4-BE49-F238E27FC236}">
                <a16:creationId xmlns:a16="http://schemas.microsoft.com/office/drawing/2014/main" id="{7463D5F9-A68A-3903-86ED-9972163DA21C}"/>
              </a:ext>
            </a:extLst>
          </p:cNvPr>
          <p:cNvSpPr>
            <a:spLocks noGrp="1"/>
          </p:cNvSpPr>
          <p:nvPr>
            <p:ph type="dt" sz="half" idx="2"/>
          </p:nvPr>
        </p:nvSpPr>
        <p:spPr/>
        <p:txBody>
          <a:bodyPr/>
          <a:lstStyle/>
          <a:p>
            <a:fld id="{6B37B724-EF64-4BE4-A4A8-DD688A529BBA}" type="datetime4">
              <a:rPr lang="en-US" smtClean="0"/>
              <a:pPr/>
              <a:t>August 10, 2026</a:t>
            </a:fld>
            <a:endParaRPr lang="en-US"/>
          </a:p>
        </p:txBody>
      </p:sp>
      <p:sp>
        <p:nvSpPr>
          <p:cNvPr id="14" name="Content Placeholder 2">
            <a:extLst>
              <a:ext uri="{FF2B5EF4-FFF2-40B4-BE49-F238E27FC236}">
                <a16:creationId xmlns:a16="http://schemas.microsoft.com/office/drawing/2014/main" id="{15589441-3CC9-EF61-0E78-6279679FAE02}"/>
              </a:ext>
            </a:extLst>
          </p:cNvPr>
          <p:cNvSpPr txBox="1">
            <a:spLocks/>
          </p:cNvSpPr>
          <p:nvPr/>
        </p:nvSpPr>
        <p:spPr>
          <a:xfrm>
            <a:off x="488399" y="2176265"/>
            <a:ext cx="5569200" cy="2599105"/>
          </a:xfrm>
          <a:prstGeom prst="rect">
            <a:avLst/>
          </a:prstGeom>
        </p:spPr>
        <p:txBody>
          <a:bodyPr lIns="0">
            <a:noAutofit/>
          </a:bodyPr>
          <a:lstStyle>
            <a:lvl1pPr marL="0" indent="0" algn="just" defTabSz="685808" rtl="0" eaLnBrk="1" latinLnBrk="0" hangingPunct="1">
              <a:lnSpc>
                <a:spcPct val="125000"/>
              </a:lnSpc>
              <a:spcBef>
                <a:spcPts val="60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endParaRPr lang="pt-BR" dirty="0"/>
          </a:p>
        </p:txBody>
      </p:sp>
      <p:sp>
        <p:nvSpPr>
          <p:cNvPr id="16" name="Content Placeholder 5">
            <a:extLst>
              <a:ext uri="{FF2B5EF4-FFF2-40B4-BE49-F238E27FC236}">
                <a16:creationId xmlns:a16="http://schemas.microsoft.com/office/drawing/2014/main" id="{6EB800D2-CBF1-0051-A6AA-57E1FC13FB6D}"/>
              </a:ext>
            </a:extLst>
          </p:cNvPr>
          <p:cNvSpPr txBox="1">
            <a:spLocks/>
          </p:cNvSpPr>
          <p:nvPr/>
        </p:nvSpPr>
        <p:spPr>
          <a:xfrm>
            <a:off x="340813" y="4015578"/>
            <a:ext cx="54288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4: Annual net foreign flows to Brazilian equities (R$ billion)</a:t>
            </a:r>
          </a:p>
        </p:txBody>
      </p:sp>
      <p:sp>
        <p:nvSpPr>
          <p:cNvPr id="17" name="Content Placeholder 5">
            <a:extLst>
              <a:ext uri="{FF2B5EF4-FFF2-40B4-BE49-F238E27FC236}">
                <a16:creationId xmlns:a16="http://schemas.microsoft.com/office/drawing/2014/main" id="{808D9FF0-CFB5-9F4D-4204-6E72013697C2}"/>
              </a:ext>
            </a:extLst>
          </p:cNvPr>
          <p:cNvSpPr txBox="1">
            <a:spLocks/>
          </p:cNvSpPr>
          <p:nvPr/>
        </p:nvSpPr>
        <p:spPr>
          <a:xfrm>
            <a:off x="340813" y="2074131"/>
            <a:ext cx="54288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2: Monthly net foreign flows to Brazilian equities (R$ billion)</a:t>
            </a:r>
          </a:p>
        </p:txBody>
      </p:sp>
      <p:sp>
        <p:nvSpPr>
          <p:cNvPr id="23" name="Content Placeholder 5">
            <a:extLst>
              <a:ext uri="{FF2B5EF4-FFF2-40B4-BE49-F238E27FC236}">
                <a16:creationId xmlns:a16="http://schemas.microsoft.com/office/drawing/2014/main" id="{8168D09B-D927-A5B3-9D59-60798F16A159}"/>
              </a:ext>
            </a:extLst>
          </p:cNvPr>
          <p:cNvSpPr txBox="1">
            <a:spLocks/>
          </p:cNvSpPr>
          <p:nvPr/>
        </p:nvSpPr>
        <p:spPr>
          <a:xfrm>
            <a:off x="6428037" y="2074131"/>
            <a:ext cx="5427413"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3: P</a:t>
            </a:r>
            <a:r>
              <a:rPr lang="en-US" b="1" dirty="0">
                <a:latin typeface="Roboto Light" panose="02000000000000000000" pitchFamily="2" charset="0"/>
                <a:ea typeface="Roboto Light" panose="02000000000000000000" pitchFamily="2" charset="0"/>
                <a:cs typeface="Roboto Light" panose="02000000000000000000" pitchFamily="2" charset="0"/>
              </a:rPr>
              <a:t>rimary or secondary market foreign flow (R$ billion)</a:t>
            </a:r>
          </a:p>
        </p:txBody>
      </p:sp>
      <p:sp>
        <p:nvSpPr>
          <p:cNvPr id="3" name="TextBox 2">
            <a:extLst>
              <a:ext uri="{FF2B5EF4-FFF2-40B4-BE49-F238E27FC236}">
                <a16:creationId xmlns:a16="http://schemas.microsoft.com/office/drawing/2014/main" id="{932AE957-EE0F-A18D-7CC8-BA391AF86E5D}"/>
              </a:ext>
            </a:extLst>
          </p:cNvPr>
          <p:cNvSpPr txBox="1"/>
          <p:nvPr/>
        </p:nvSpPr>
        <p:spPr>
          <a:xfrm>
            <a:off x="5625850" y="3598649"/>
            <a:ext cx="276726" cy="307777"/>
          </a:xfrm>
          <a:prstGeom prst="rect">
            <a:avLst/>
          </a:prstGeom>
          <a:noFill/>
        </p:spPr>
        <p:txBody>
          <a:bodyPr wrap="square" rtlCol="0">
            <a:spAutoFit/>
          </a:bodyPr>
          <a:lstStyle/>
          <a:p>
            <a:pPr algn="l"/>
            <a:r>
              <a:rPr lang="pt-BR" sz="700" dirty="0">
                <a:latin typeface="Roboto" panose="02000000000000000000" pitchFamily="2" charset="0"/>
                <a:ea typeface="Roboto" panose="02000000000000000000" pitchFamily="2" charset="0"/>
                <a:cs typeface="Roboto" panose="02000000000000000000" pitchFamily="2" charset="0"/>
              </a:rPr>
              <a:t>*</a:t>
            </a:r>
          </a:p>
          <a:p>
            <a:pPr algn="l"/>
            <a:endParaRPr lang="pt-BR" sz="700" dirty="0">
              <a:latin typeface="Roboto" panose="02000000000000000000" pitchFamily="2" charset="0"/>
              <a:ea typeface="Roboto" panose="02000000000000000000" pitchFamily="2" charset="0"/>
              <a:cs typeface="Roboto" panose="02000000000000000000" pitchFamily="2" charset="0"/>
            </a:endParaRPr>
          </a:p>
        </p:txBody>
      </p:sp>
      <p:graphicFrame>
        <p:nvGraphicFramePr>
          <p:cNvPr id="6" name="Object 5">
            <a:extLst>
              <a:ext uri="{FF2B5EF4-FFF2-40B4-BE49-F238E27FC236}">
                <a16:creationId xmlns:a16="http://schemas.microsoft.com/office/drawing/2014/main" id="{3EDABB91-D309-6E7A-7B4F-1021EAF6792F}"/>
              </a:ext>
            </a:extLst>
          </p:cNvPr>
          <p:cNvGraphicFramePr>
            <a:graphicFrameLocks noChangeAspect="1"/>
          </p:cNvGraphicFramePr>
          <p:nvPr>
            <p:extLst>
              <p:ext uri="{D42A27DB-BD31-4B8C-83A1-F6EECF244321}">
                <p14:modId xmlns:p14="http://schemas.microsoft.com/office/powerpoint/2010/main" val="1636572682"/>
              </p:ext>
            </p:extLst>
          </p:nvPr>
        </p:nvGraphicFramePr>
        <p:xfrm>
          <a:off x="303213" y="2349500"/>
          <a:ext cx="5508625" cy="1622425"/>
        </p:xfrm>
        <a:graphic>
          <a:graphicData uri="http://schemas.openxmlformats.org/presentationml/2006/ole">
            <mc:AlternateContent xmlns:mc="http://schemas.openxmlformats.org/markup-compatibility/2006">
              <mc:Choice xmlns:v="urn:schemas-microsoft-com:vml" Requires="v">
                <p:oleObj name="Worksheet" r:id="rId4" imgW="5508941" imgH="1623013" progId="Excel.Sheet.12">
                  <p:link updateAutomatic="1"/>
                </p:oleObj>
              </mc:Choice>
              <mc:Fallback>
                <p:oleObj name="Worksheet" r:id="rId4" imgW="5508941" imgH="1623013" progId="Excel.Sheet.12">
                  <p:link updateAutomatic="1"/>
                  <p:pic>
                    <p:nvPicPr>
                      <p:cNvPr id="0" name=""/>
                      <p:cNvPicPr/>
                      <p:nvPr/>
                    </p:nvPicPr>
                    <p:blipFill>
                      <a:blip r:embed="rId5"/>
                      <a:stretch>
                        <a:fillRect/>
                      </a:stretch>
                    </p:blipFill>
                    <p:spPr>
                      <a:xfrm>
                        <a:off x="303213" y="2349500"/>
                        <a:ext cx="5508625" cy="162242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9C94199D-30CE-9E58-FD29-B7B68C1C6ABC}"/>
              </a:ext>
            </a:extLst>
          </p:cNvPr>
          <p:cNvGraphicFramePr>
            <a:graphicFrameLocks noChangeAspect="1"/>
          </p:cNvGraphicFramePr>
          <p:nvPr>
            <p:extLst>
              <p:ext uri="{D42A27DB-BD31-4B8C-83A1-F6EECF244321}">
                <p14:modId xmlns:p14="http://schemas.microsoft.com/office/powerpoint/2010/main" val="2477550518"/>
              </p:ext>
            </p:extLst>
          </p:nvPr>
        </p:nvGraphicFramePr>
        <p:xfrm>
          <a:off x="339725" y="4291013"/>
          <a:ext cx="5432425" cy="1554162"/>
        </p:xfrm>
        <a:graphic>
          <a:graphicData uri="http://schemas.openxmlformats.org/presentationml/2006/ole">
            <mc:AlternateContent xmlns:mc="http://schemas.openxmlformats.org/markup-compatibility/2006">
              <mc:Choice xmlns:v="urn:schemas-microsoft-com:vml" Requires="v">
                <p:oleObj name="Worksheet" r:id="rId6" imgW="5432812" imgH="1554291" progId="Excel.Sheet.12">
                  <p:link updateAutomatic="1"/>
                </p:oleObj>
              </mc:Choice>
              <mc:Fallback>
                <p:oleObj name="Worksheet" r:id="rId6" imgW="5432812" imgH="1554291" progId="Excel.Sheet.12">
                  <p:link updateAutomatic="1"/>
                  <p:pic>
                    <p:nvPicPr>
                      <p:cNvPr id="0" name=""/>
                      <p:cNvPicPr/>
                      <p:nvPr/>
                    </p:nvPicPr>
                    <p:blipFill>
                      <a:blip r:embed="rId7"/>
                      <a:stretch>
                        <a:fillRect/>
                      </a:stretch>
                    </p:blipFill>
                    <p:spPr>
                      <a:xfrm>
                        <a:off x="339725" y="4291013"/>
                        <a:ext cx="5432425" cy="155416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56A19DC4-7BA9-AAC2-8753-44682CED2AEC}"/>
              </a:ext>
            </a:extLst>
          </p:cNvPr>
          <p:cNvGraphicFramePr>
            <a:graphicFrameLocks noChangeAspect="1"/>
          </p:cNvGraphicFramePr>
          <p:nvPr>
            <p:extLst>
              <p:ext uri="{D42A27DB-BD31-4B8C-83A1-F6EECF244321}">
                <p14:modId xmlns:p14="http://schemas.microsoft.com/office/powerpoint/2010/main" val="2841297809"/>
              </p:ext>
            </p:extLst>
          </p:nvPr>
        </p:nvGraphicFramePr>
        <p:xfrm>
          <a:off x="6410325" y="2339975"/>
          <a:ext cx="5440363" cy="3636963"/>
        </p:xfrm>
        <a:graphic>
          <a:graphicData uri="http://schemas.openxmlformats.org/presentationml/2006/ole">
            <mc:AlternateContent xmlns:mc="http://schemas.openxmlformats.org/markup-compatibility/2006">
              <mc:Choice xmlns:v="urn:schemas-microsoft-com:vml" Requires="v">
                <p:oleObj name="Worksheet" r:id="rId8" imgW="5440467" imgH="3542970" progId="Excel.Sheet.12">
                  <p:link updateAutomatic="1"/>
                </p:oleObj>
              </mc:Choice>
              <mc:Fallback>
                <p:oleObj name="Worksheet" r:id="rId8" imgW="5440467" imgH="3542970" progId="Excel.Sheet.12">
                  <p:link updateAutomatic="1"/>
                  <p:pic>
                    <p:nvPicPr>
                      <p:cNvPr id="0" name=""/>
                      <p:cNvPicPr/>
                      <p:nvPr/>
                    </p:nvPicPr>
                    <p:blipFill>
                      <a:blip r:embed="rId9"/>
                      <a:stretch>
                        <a:fillRect/>
                      </a:stretch>
                    </p:blipFill>
                    <p:spPr>
                      <a:xfrm>
                        <a:off x="6410325" y="2339975"/>
                        <a:ext cx="5440363" cy="3636963"/>
                      </a:xfrm>
                      <a:prstGeom prst="rect">
                        <a:avLst/>
                      </a:prstGeom>
                    </p:spPr>
                  </p:pic>
                </p:oleObj>
              </mc:Fallback>
            </mc:AlternateContent>
          </a:graphicData>
        </a:graphic>
      </p:graphicFrame>
    </p:spTree>
    <p:extLst>
      <p:ext uri="{BB962C8B-B14F-4D97-AF65-F5344CB8AC3E}">
        <p14:creationId xmlns:p14="http://schemas.microsoft.com/office/powerpoint/2010/main" val="2439134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DF1FA-76AC-BC84-876B-C856E28D647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413929-BD98-259A-16D7-15D88EF1C64C}"/>
              </a:ext>
            </a:extLst>
          </p:cNvPr>
          <p:cNvSpPr>
            <a:spLocks noGrp="1"/>
          </p:cNvSpPr>
          <p:nvPr>
            <p:ph type="body" sz="quarter" idx="18"/>
          </p:nvPr>
        </p:nvSpPr>
        <p:spPr/>
        <p:txBody>
          <a:bodyPr/>
          <a:lstStyle/>
          <a:p>
            <a:r>
              <a:rPr lang="en-US" dirty="0"/>
              <a:t>Source: B3, XP Research.</a:t>
            </a:r>
          </a:p>
        </p:txBody>
      </p:sp>
      <p:sp>
        <p:nvSpPr>
          <p:cNvPr id="4" name="Text Placeholder 3">
            <a:extLst>
              <a:ext uri="{FF2B5EF4-FFF2-40B4-BE49-F238E27FC236}">
                <a16:creationId xmlns:a16="http://schemas.microsoft.com/office/drawing/2014/main" id="{8B0D15C5-1D42-0828-975D-31736D83B2C0}"/>
              </a:ext>
            </a:extLst>
          </p:cNvPr>
          <p:cNvSpPr>
            <a:spLocks noGrp="1"/>
          </p:cNvSpPr>
          <p:nvPr>
            <p:ph type="body" sz="quarter" idx="24"/>
          </p:nvPr>
        </p:nvSpPr>
        <p:spPr/>
        <p:txBody>
          <a:bodyPr/>
          <a:lstStyle/>
          <a:p>
            <a:pPr marL="171450" indent="-171450">
              <a:buFont typeface="Arial" panose="020B0604020202020204" pitchFamily="34" charset="0"/>
              <a:buChar char="•"/>
            </a:pPr>
            <a:r>
              <a:rPr lang="en-US" dirty="0"/>
              <a:t>In July, most sectors posted net inflows from foreign investors, led by Health Care, Financials Non-Banks, Pulp &amp; Paper, and Oil, Gas &amp; Petrochemicals — the last boosted by the spike in oil prices amid the renewed US-Iran conflict. By contrast, Food &amp; Beverages, Agribusiness, and Metals &amp; Mining saw the largest outflows. So far in August, the trend has reversed, with 13 of the 17 sectors posting net outflows.</a:t>
            </a:r>
          </a:p>
          <a:p>
            <a:pPr marL="171450" indent="-171450">
              <a:buFont typeface="Arial" panose="020B0604020202020204" pitchFamily="34" charset="0"/>
              <a:buChar char="•"/>
            </a:pPr>
            <a:r>
              <a:rPr lang="en-US" dirty="0"/>
              <a:t>YTD, commodity-linked and defensive sectors have been the preferred destinations for foreign investors and have also outperformed, while rate-sensitive cyclicals (Education, Health Care, Homebuilders) have lagged.</a:t>
            </a:r>
          </a:p>
        </p:txBody>
      </p:sp>
      <p:sp>
        <p:nvSpPr>
          <p:cNvPr id="11" name="Text Placeholder 10">
            <a:extLst>
              <a:ext uri="{FF2B5EF4-FFF2-40B4-BE49-F238E27FC236}">
                <a16:creationId xmlns:a16="http://schemas.microsoft.com/office/drawing/2014/main" id="{F00AD0B0-63CF-E47F-0C6A-A29FA18CCEEF}"/>
              </a:ext>
            </a:extLst>
          </p:cNvPr>
          <p:cNvSpPr>
            <a:spLocks noGrp="1"/>
          </p:cNvSpPr>
          <p:nvPr>
            <p:ph type="body" sz="quarter" idx="16"/>
          </p:nvPr>
        </p:nvSpPr>
        <p:spPr/>
        <p:txBody>
          <a:bodyPr/>
          <a:lstStyle/>
          <a:p>
            <a:r>
              <a:rPr lang="pt-BR" dirty="0" err="1"/>
              <a:t>Foreign</a:t>
            </a:r>
            <a:r>
              <a:rPr lang="pt-BR" dirty="0"/>
              <a:t> </a:t>
            </a:r>
            <a:r>
              <a:rPr lang="pt-BR" dirty="0" err="1"/>
              <a:t>flows</a:t>
            </a:r>
            <a:r>
              <a:rPr lang="pt-BR" dirty="0"/>
              <a:t> </a:t>
            </a:r>
            <a:r>
              <a:rPr lang="pt-BR" dirty="0" err="1"/>
              <a:t>by</a:t>
            </a:r>
            <a:r>
              <a:rPr lang="pt-BR" dirty="0"/>
              <a:t> sector</a:t>
            </a:r>
          </a:p>
        </p:txBody>
      </p:sp>
      <p:sp>
        <p:nvSpPr>
          <p:cNvPr id="12" name="Text Placeholder 11">
            <a:extLst>
              <a:ext uri="{FF2B5EF4-FFF2-40B4-BE49-F238E27FC236}">
                <a16:creationId xmlns:a16="http://schemas.microsoft.com/office/drawing/2014/main" id="{A1438FDA-F7D6-05EE-C790-68F38169B4B7}"/>
              </a:ext>
            </a:extLst>
          </p:cNvPr>
          <p:cNvSpPr>
            <a:spLocks noGrp="1"/>
          </p:cNvSpPr>
          <p:nvPr>
            <p:ph type="body" sz="quarter" idx="17"/>
          </p:nvPr>
        </p:nvSpPr>
        <p:spPr/>
        <p:txBody>
          <a:bodyPr/>
          <a:lstStyle/>
          <a:p>
            <a:r>
              <a:rPr lang="pt-BR" dirty="0" err="1">
                <a:solidFill>
                  <a:schemeClr val="tx1"/>
                </a:solidFill>
              </a:rPr>
              <a:t>Most sectors posted foreign inflows in July</a:t>
            </a:r>
            <a:endParaRPr lang="pt-BR" dirty="0">
              <a:solidFill>
                <a:schemeClr val="tx1"/>
              </a:solidFill>
            </a:endParaRPr>
          </a:p>
        </p:txBody>
      </p:sp>
      <p:sp>
        <p:nvSpPr>
          <p:cNvPr id="13" name="Date Placeholder 12">
            <a:extLst>
              <a:ext uri="{FF2B5EF4-FFF2-40B4-BE49-F238E27FC236}">
                <a16:creationId xmlns:a16="http://schemas.microsoft.com/office/drawing/2014/main" id="{E664FE34-361D-56B5-C7B0-6FD9022A5C96}"/>
              </a:ext>
            </a:extLst>
          </p:cNvPr>
          <p:cNvSpPr>
            <a:spLocks noGrp="1"/>
          </p:cNvSpPr>
          <p:nvPr>
            <p:ph type="dt" sz="half" idx="2"/>
          </p:nvPr>
        </p:nvSpPr>
        <p:spPr/>
        <p:txBody>
          <a:bodyPr/>
          <a:lstStyle/>
          <a:p>
            <a:fld id="{6B37B724-EF64-4BE4-A4A8-DD688A529BBA}" type="datetime4">
              <a:rPr lang="en-US" smtClean="0"/>
              <a:pPr/>
              <a:t>August 10, 2026</a:t>
            </a:fld>
            <a:endParaRPr lang="en-US"/>
          </a:p>
        </p:txBody>
      </p:sp>
      <p:sp>
        <p:nvSpPr>
          <p:cNvPr id="14" name="Content Placeholder 2">
            <a:extLst>
              <a:ext uri="{FF2B5EF4-FFF2-40B4-BE49-F238E27FC236}">
                <a16:creationId xmlns:a16="http://schemas.microsoft.com/office/drawing/2014/main" id="{CFD6A30F-A360-6168-7257-EDE2C92AAD84}"/>
              </a:ext>
            </a:extLst>
          </p:cNvPr>
          <p:cNvSpPr txBox="1">
            <a:spLocks/>
          </p:cNvSpPr>
          <p:nvPr/>
        </p:nvSpPr>
        <p:spPr>
          <a:xfrm>
            <a:off x="488399" y="2176265"/>
            <a:ext cx="5569200" cy="2599105"/>
          </a:xfrm>
          <a:prstGeom prst="rect">
            <a:avLst/>
          </a:prstGeom>
        </p:spPr>
        <p:txBody>
          <a:bodyPr lIns="0">
            <a:noAutofit/>
          </a:bodyPr>
          <a:lstStyle>
            <a:lvl1pPr marL="0" indent="0" algn="just" defTabSz="685808" rtl="0" eaLnBrk="1" latinLnBrk="0" hangingPunct="1">
              <a:lnSpc>
                <a:spcPct val="125000"/>
              </a:lnSpc>
              <a:spcBef>
                <a:spcPts val="60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endParaRPr lang="pt-BR" dirty="0"/>
          </a:p>
        </p:txBody>
      </p:sp>
      <p:sp>
        <p:nvSpPr>
          <p:cNvPr id="17" name="Content Placeholder 5">
            <a:extLst>
              <a:ext uri="{FF2B5EF4-FFF2-40B4-BE49-F238E27FC236}">
                <a16:creationId xmlns:a16="http://schemas.microsoft.com/office/drawing/2014/main" id="{6A2C4829-5861-B18D-274B-ED24A1A74090}"/>
              </a:ext>
            </a:extLst>
          </p:cNvPr>
          <p:cNvSpPr txBox="1">
            <a:spLocks/>
          </p:cNvSpPr>
          <p:nvPr/>
        </p:nvSpPr>
        <p:spPr>
          <a:xfrm>
            <a:off x="340813" y="2074131"/>
            <a:ext cx="54288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5: Accumulated foreign flows relative to sector ADTV</a:t>
            </a:r>
          </a:p>
        </p:txBody>
      </p:sp>
      <p:sp>
        <p:nvSpPr>
          <p:cNvPr id="23" name="Content Placeholder 5">
            <a:extLst>
              <a:ext uri="{FF2B5EF4-FFF2-40B4-BE49-F238E27FC236}">
                <a16:creationId xmlns:a16="http://schemas.microsoft.com/office/drawing/2014/main" id="{6072F368-81E1-83AB-357A-CAE7B9EC0647}"/>
              </a:ext>
            </a:extLst>
          </p:cNvPr>
          <p:cNvSpPr txBox="1">
            <a:spLocks/>
          </p:cNvSpPr>
          <p:nvPr/>
        </p:nvSpPr>
        <p:spPr>
          <a:xfrm>
            <a:off x="6428037" y="2074131"/>
            <a:ext cx="5427413"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6: YTD accumulated foreign flows relative to sector ADTV vs. YTD performance</a:t>
            </a:r>
            <a:endParaRPr lang="en-US" b="1" dirty="0">
              <a:latin typeface="Roboto Light" panose="02000000000000000000" pitchFamily="2" charset="0"/>
              <a:ea typeface="Roboto Light" panose="02000000000000000000" pitchFamily="2" charset="0"/>
              <a:cs typeface="Roboto Light" panose="02000000000000000000" pitchFamily="2" charset="0"/>
            </a:endParaRPr>
          </a:p>
        </p:txBody>
      </p:sp>
      <p:sp>
        <p:nvSpPr>
          <p:cNvPr id="3" name="TextBox 2">
            <a:extLst>
              <a:ext uri="{FF2B5EF4-FFF2-40B4-BE49-F238E27FC236}">
                <a16:creationId xmlns:a16="http://schemas.microsoft.com/office/drawing/2014/main" id="{D4A9E14B-148D-90B0-2221-3A8234E5C1F9}"/>
              </a:ext>
            </a:extLst>
          </p:cNvPr>
          <p:cNvSpPr txBox="1"/>
          <p:nvPr/>
        </p:nvSpPr>
        <p:spPr>
          <a:xfrm>
            <a:off x="5625850" y="3598649"/>
            <a:ext cx="276726" cy="307777"/>
          </a:xfrm>
          <a:prstGeom prst="rect">
            <a:avLst/>
          </a:prstGeom>
          <a:noFill/>
        </p:spPr>
        <p:txBody>
          <a:bodyPr wrap="square" rtlCol="0">
            <a:spAutoFit/>
          </a:bodyPr>
          <a:lstStyle/>
          <a:p>
            <a:pPr algn="l"/>
            <a:r>
              <a:rPr lang="pt-BR" sz="700" dirty="0">
                <a:latin typeface="Roboto" panose="02000000000000000000" pitchFamily="2" charset="0"/>
                <a:ea typeface="Roboto" panose="02000000000000000000" pitchFamily="2" charset="0"/>
                <a:cs typeface="Roboto" panose="02000000000000000000" pitchFamily="2" charset="0"/>
              </a:rPr>
              <a:t>*</a:t>
            </a:r>
          </a:p>
          <a:p>
            <a:pPr algn="l"/>
            <a:endParaRPr lang="pt-BR" sz="700" dirty="0">
              <a:latin typeface="Roboto" panose="02000000000000000000" pitchFamily="2" charset="0"/>
              <a:ea typeface="Roboto" panose="02000000000000000000" pitchFamily="2" charset="0"/>
              <a:cs typeface="Roboto" panose="02000000000000000000" pitchFamily="2" charset="0"/>
            </a:endParaRPr>
          </a:p>
        </p:txBody>
      </p:sp>
      <p:graphicFrame>
        <p:nvGraphicFramePr>
          <p:cNvPr id="6" name="Object 5">
            <a:extLst>
              <a:ext uri="{FF2B5EF4-FFF2-40B4-BE49-F238E27FC236}">
                <a16:creationId xmlns:a16="http://schemas.microsoft.com/office/drawing/2014/main" id="{EDC5F5E0-DEC0-A57F-4170-DCCE67E47F36}"/>
              </a:ext>
            </a:extLst>
          </p:cNvPr>
          <p:cNvGraphicFramePr>
            <a:graphicFrameLocks noChangeAspect="1"/>
          </p:cNvGraphicFramePr>
          <p:nvPr>
            <p:extLst>
              <p:ext uri="{D42A27DB-BD31-4B8C-83A1-F6EECF244321}">
                <p14:modId xmlns:p14="http://schemas.microsoft.com/office/powerpoint/2010/main" val="2904735479"/>
              </p:ext>
            </p:extLst>
          </p:nvPr>
        </p:nvGraphicFramePr>
        <p:xfrm>
          <a:off x="339725" y="2378075"/>
          <a:ext cx="5432425" cy="3848100"/>
        </p:xfrm>
        <a:graphic>
          <a:graphicData uri="http://schemas.openxmlformats.org/presentationml/2006/ole">
            <mc:AlternateContent xmlns:mc="http://schemas.openxmlformats.org/markup-compatibility/2006">
              <mc:Choice xmlns:v="urn:schemas-microsoft-com:vml" Requires="v">
                <p:oleObj name="Worksheet" r:id="rId3" imgW="5432812" imgH="3847974" progId="Excel.Sheet.12">
                  <p:link updateAutomatic="1"/>
                </p:oleObj>
              </mc:Choice>
              <mc:Fallback>
                <p:oleObj name="Worksheet" r:id="rId3" imgW="5432812" imgH="3847974" progId="Excel.Sheet.12">
                  <p:link updateAutomatic="1"/>
                  <p:pic>
                    <p:nvPicPr>
                      <p:cNvPr id="0" name=""/>
                      <p:cNvPicPr/>
                      <p:nvPr/>
                    </p:nvPicPr>
                    <p:blipFill>
                      <a:blip r:embed="rId4"/>
                      <a:stretch>
                        <a:fillRect/>
                      </a:stretch>
                    </p:blipFill>
                    <p:spPr>
                      <a:xfrm>
                        <a:off x="339725" y="2378075"/>
                        <a:ext cx="5432425" cy="38481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857C55E2-E8D8-CFDF-72B2-EAD0EBED73C6}"/>
              </a:ext>
            </a:extLst>
          </p:cNvPr>
          <p:cNvGraphicFramePr>
            <a:graphicFrameLocks noChangeAspect="1"/>
          </p:cNvGraphicFramePr>
          <p:nvPr>
            <p:extLst>
              <p:ext uri="{D42A27DB-BD31-4B8C-83A1-F6EECF244321}">
                <p14:modId xmlns:p14="http://schemas.microsoft.com/office/powerpoint/2010/main" val="3804887467"/>
              </p:ext>
            </p:extLst>
          </p:nvPr>
        </p:nvGraphicFramePr>
        <p:xfrm>
          <a:off x="6424613" y="2381250"/>
          <a:ext cx="5440362" cy="3840163"/>
        </p:xfrm>
        <a:graphic>
          <a:graphicData uri="http://schemas.openxmlformats.org/presentationml/2006/ole">
            <mc:AlternateContent xmlns:mc="http://schemas.openxmlformats.org/markup-compatibility/2006">
              <mc:Choice xmlns:v="urn:schemas-microsoft-com:vml" Requires="v">
                <p:oleObj name="Worksheet" r:id="rId5" imgW="5440467" imgH="3840339" progId="Excel.Sheet.12">
                  <p:link updateAutomatic="1"/>
                </p:oleObj>
              </mc:Choice>
              <mc:Fallback>
                <p:oleObj name="Worksheet" r:id="rId5" imgW="5440467" imgH="3840339" progId="Excel.Sheet.12">
                  <p:link updateAutomatic="1"/>
                  <p:pic>
                    <p:nvPicPr>
                      <p:cNvPr id="0" name=""/>
                      <p:cNvPicPr/>
                      <p:nvPr/>
                    </p:nvPicPr>
                    <p:blipFill>
                      <a:blip r:embed="rId6"/>
                      <a:stretch>
                        <a:fillRect/>
                      </a:stretch>
                    </p:blipFill>
                    <p:spPr>
                      <a:xfrm>
                        <a:off x="6424613" y="2381250"/>
                        <a:ext cx="5440362" cy="3840163"/>
                      </a:xfrm>
                      <a:prstGeom prst="rect">
                        <a:avLst/>
                      </a:prstGeom>
                    </p:spPr>
                  </p:pic>
                </p:oleObj>
              </mc:Fallback>
            </mc:AlternateContent>
          </a:graphicData>
        </a:graphic>
      </p:graphicFrame>
    </p:spTree>
    <p:extLst>
      <p:ext uri="{BB962C8B-B14F-4D97-AF65-F5344CB8AC3E}">
        <p14:creationId xmlns:p14="http://schemas.microsoft.com/office/powerpoint/2010/main" val="170580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E7A1A-6566-DAAF-C7C6-99BEDF93EA67}"/>
            </a:ext>
          </a:extLst>
        </p:cNvPr>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D52A6681-D6DF-5C14-3D0C-E3AB6552C635}"/>
              </a:ext>
            </a:extLst>
          </p:cNvPr>
          <p:cNvGraphicFramePr>
            <a:graphicFrameLocks noChangeAspect="1"/>
          </p:cNvGraphicFramePr>
          <p:nvPr>
            <p:extLst>
              <p:ext uri="{D42A27DB-BD31-4B8C-83A1-F6EECF244321}">
                <p14:modId xmlns:p14="http://schemas.microsoft.com/office/powerpoint/2010/main" val="1209384398"/>
              </p:ext>
            </p:extLst>
          </p:nvPr>
        </p:nvGraphicFramePr>
        <p:xfrm>
          <a:off x="6303963" y="2360613"/>
          <a:ext cx="5538787" cy="1622425"/>
        </p:xfrm>
        <a:graphic>
          <a:graphicData uri="http://schemas.openxmlformats.org/presentationml/2006/ole">
            <mc:AlternateContent xmlns:mc="http://schemas.openxmlformats.org/markup-compatibility/2006">
              <mc:Choice xmlns:v="urn:schemas-microsoft-com:vml" Requires="v">
                <p:oleObj name="Worksheet" r:id="rId3" imgW="5539563" imgH="1623013" progId="Excel.Sheet.12">
                  <p:link updateAutomatic="1"/>
                </p:oleObj>
              </mc:Choice>
              <mc:Fallback>
                <p:oleObj name="Worksheet" r:id="rId3" imgW="5539563" imgH="1623013" progId="Excel.Sheet.12">
                  <p:link updateAutomatic="1"/>
                  <p:pic>
                    <p:nvPicPr>
                      <p:cNvPr id="0" name=""/>
                      <p:cNvPicPr/>
                      <p:nvPr/>
                    </p:nvPicPr>
                    <p:blipFill>
                      <a:blip r:embed="rId4"/>
                      <a:stretch>
                        <a:fillRect/>
                      </a:stretch>
                    </p:blipFill>
                    <p:spPr>
                      <a:xfrm>
                        <a:off x="6303963" y="2360613"/>
                        <a:ext cx="5538787" cy="1622425"/>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EB0939CC-DAAB-4EDC-7B47-6243AEE1E8E5}"/>
              </a:ext>
            </a:extLst>
          </p:cNvPr>
          <p:cNvSpPr>
            <a:spLocks noGrp="1"/>
          </p:cNvSpPr>
          <p:nvPr>
            <p:ph type="body" sz="quarter" idx="18"/>
          </p:nvPr>
        </p:nvSpPr>
        <p:spPr/>
        <p:txBody>
          <a:bodyPr/>
          <a:lstStyle/>
          <a:p>
            <a:r>
              <a:rPr lang="en-US" dirty="0"/>
              <a:t>Source: B3, Bloomberg, XP Research. *Data as of August 7, 2026. </a:t>
            </a:r>
          </a:p>
        </p:txBody>
      </p:sp>
      <p:sp>
        <p:nvSpPr>
          <p:cNvPr id="4" name="Text Placeholder 3">
            <a:extLst>
              <a:ext uri="{FF2B5EF4-FFF2-40B4-BE49-F238E27FC236}">
                <a16:creationId xmlns:a16="http://schemas.microsoft.com/office/drawing/2014/main" id="{FFDC58C2-F844-4F80-D9DA-0670230A24C0}"/>
              </a:ext>
            </a:extLst>
          </p:cNvPr>
          <p:cNvSpPr>
            <a:spLocks noGrp="1"/>
          </p:cNvSpPr>
          <p:nvPr>
            <p:ph type="body" sz="quarter" idx="24"/>
          </p:nvPr>
        </p:nvSpPr>
        <p:spPr/>
        <p:txBody>
          <a:bodyPr/>
          <a:lstStyle/>
          <a:p>
            <a:pPr marL="171450" indent="-171450">
              <a:lnSpc>
                <a:spcPct val="114000"/>
              </a:lnSpc>
              <a:buFont typeface="Arial" panose="020B0604020202020204" pitchFamily="34" charset="0"/>
              <a:buChar char="•"/>
            </a:pPr>
            <a:r>
              <a:rPr lang="en-US" dirty="0"/>
              <a:t>In July, </a:t>
            </a:r>
            <a:r>
              <a:rPr lang="en-US" dirty="0" b="1"/>
              <a:t>domestic investors </a:t>
            </a:r>
            <a:r>
              <a:rPr lang="en-US" dirty="0"/>
              <a:t>were net sellers of equities, with R$ 4.2bn of net outflows in the cash market and R$ 1.1bn of net outflows in futures, primarily driven by institutional investors.</a:t>
            </a:r>
          </a:p>
          <a:p>
            <a:pPr marL="171450" indent="-171450">
              <a:lnSpc>
                <a:spcPct val="114000"/>
              </a:lnSpc>
              <a:buFont typeface="Arial" panose="020B0604020202020204" pitchFamily="34" charset="0"/>
              <a:buChar char="•"/>
            </a:pPr>
            <a:r>
              <a:rPr lang="en-US" b="1" dirty="0"/>
              <a:t>Institutional investors </a:t>
            </a:r>
            <a:r>
              <a:rPr lang="en-US" dirty="0"/>
              <a:t>recorded net outflows of R$ 5.4bn in the cash market and R$ 0.2bn in futures. Initial data for August is slightly positive, with total net inflows of R$ 0.4bn.</a:t>
            </a:r>
          </a:p>
          <a:p>
            <a:pPr marL="171450" indent="-171450">
              <a:lnSpc>
                <a:spcPct val="114000"/>
              </a:lnSpc>
              <a:buFont typeface="Arial" panose="020B0604020202020204" pitchFamily="34" charset="0"/>
              <a:buChar char="•"/>
            </a:pPr>
            <a:r>
              <a:rPr lang="en-US" b="1" dirty="0"/>
              <a:t>Retail investors </a:t>
            </a:r>
            <a:r>
              <a:rPr lang="en-US" dirty="0"/>
              <a:t>registered R$ 1.1bn of net inflows in the cash market and R$ 0.9bn of net outflows in futures in the last month. In August, they are net buyers so far, with R$ 2.6bn of net inflows.</a:t>
            </a:r>
          </a:p>
        </p:txBody>
      </p:sp>
      <p:sp>
        <p:nvSpPr>
          <p:cNvPr id="11" name="Text Placeholder 10">
            <a:extLst>
              <a:ext uri="{FF2B5EF4-FFF2-40B4-BE49-F238E27FC236}">
                <a16:creationId xmlns:a16="http://schemas.microsoft.com/office/drawing/2014/main" id="{1A0A40FE-5FC7-F0D3-658B-A60EA721396F}"/>
              </a:ext>
            </a:extLst>
          </p:cNvPr>
          <p:cNvSpPr>
            <a:spLocks noGrp="1"/>
          </p:cNvSpPr>
          <p:nvPr>
            <p:ph type="body" sz="quarter" idx="16"/>
          </p:nvPr>
        </p:nvSpPr>
        <p:spPr/>
        <p:txBody>
          <a:bodyPr/>
          <a:lstStyle/>
          <a:p>
            <a:r>
              <a:rPr lang="pt-BR" dirty="0"/>
              <a:t>Local </a:t>
            </a:r>
            <a:r>
              <a:rPr lang="pt-BR" dirty="0" err="1"/>
              <a:t>flows</a:t>
            </a:r>
            <a:endParaRPr lang="pt-BR" dirty="0"/>
          </a:p>
        </p:txBody>
      </p:sp>
      <p:sp>
        <p:nvSpPr>
          <p:cNvPr id="12" name="Text Placeholder 11">
            <a:extLst>
              <a:ext uri="{FF2B5EF4-FFF2-40B4-BE49-F238E27FC236}">
                <a16:creationId xmlns:a16="http://schemas.microsoft.com/office/drawing/2014/main" id="{4F766C9C-DDFC-1493-B644-5CCE73A955CC}"/>
              </a:ext>
            </a:extLst>
          </p:cNvPr>
          <p:cNvSpPr>
            <a:spLocks noGrp="1"/>
          </p:cNvSpPr>
          <p:nvPr>
            <p:ph type="body" sz="quarter" idx="17"/>
          </p:nvPr>
        </p:nvSpPr>
        <p:spPr/>
        <p:txBody>
          <a:bodyPr/>
          <a:lstStyle/>
          <a:p>
            <a:r>
              <a:rPr lang="en-US" dirty="0">
                <a:solidFill>
                  <a:schemeClr val="tx1"/>
                </a:solidFill>
              </a:rPr>
              <a:t>Institutional investors returned to net selling</a:t>
            </a:r>
          </a:p>
        </p:txBody>
      </p:sp>
      <p:sp>
        <p:nvSpPr>
          <p:cNvPr id="13" name="Date Placeholder 12">
            <a:extLst>
              <a:ext uri="{FF2B5EF4-FFF2-40B4-BE49-F238E27FC236}">
                <a16:creationId xmlns:a16="http://schemas.microsoft.com/office/drawing/2014/main" id="{77CA6153-82E6-145D-F808-9DDD18BEB5E6}"/>
              </a:ext>
            </a:extLst>
          </p:cNvPr>
          <p:cNvSpPr>
            <a:spLocks noGrp="1"/>
          </p:cNvSpPr>
          <p:nvPr>
            <p:ph type="dt" sz="half" idx="2"/>
          </p:nvPr>
        </p:nvSpPr>
        <p:spPr/>
        <p:txBody>
          <a:bodyPr/>
          <a:lstStyle/>
          <a:p>
            <a:fld id="{6B37B724-EF64-4BE4-A4A8-DD688A529BBA}" type="datetime4">
              <a:rPr lang="en-US" smtClean="0"/>
              <a:pPr/>
              <a:t>August 10, 2026</a:t>
            </a:fld>
            <a:endParaRPr lang="en-US"/>
          </a:p>
        </p:txBody>
      </p:sp>
      <p:sp>
        <p:nvSpPr>
          <p:cNvPr id="15" name="Content Placeholder 5">
            <a:extLst>
              <a:ext uri="{FF2B5EF4-FFF2-40B4-BE49-F238E27FC236}">
                <a16:creationId xmlns:a16="http://schemas.microsoft.com/office/drawing/2014/main" id="{7093593D-A87E-68DD-D13C-75A2D8AF0373}"/>
              </a:ext>
            </a:extLst>
          </p:cNvPr>
          <p:cNvSpPr txBox="1">
            <a:spLocks/>
          </p:cNvSpPr>
          <p:nvPr/>
        </p:nvSpPr>
        <p:spPr>
          <a:xfrm>
            <a:off x="6275637" y="2073600"/>
            <a:ext cx="55692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8: Monthly net institutional flows to Brazilian equities (R$ billion)</a:t>
            </a:r>
          </a:p>
        </p:txBody>
      </p:sp>
      <p:sp>
        <p:nvSpPr>
          <p:cNvPr id="16" name="Content Placeholder 5">
            <a:extLst>
              <a:ext uri="{FF2B5EF4-FFF2-40B4-BE49-F238E27FC236}">
                <a16:creationId xmlns:a16="http://schemas.microsoft.com/office/drawing/2014/main" id="{9EAB3C79-56E7-7B6D-9B65-852E0A8FB333}"/>
              </a:ext>
            </a:extLst>
          </p:cNvPr>
          <p:cNvSpPr txBox="1">
            <a:spLocks/>
          </p:cNvSpPr>
          <p:nvPr/>
        </p:nvSpPr>
        <p:spPr>
          <a:xfrm>
            <a:off x="336000" y="4079654"/>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9: Daily net retail flows to Brazilian equities (R$ billion)</a:t>
            </a:r>
          </a:p>
        </p:txBody>
      </p:sp>
      <p:sp>
        <p:nvSpPr>
          <p:cNvPr id="19" name="Content Placeholder 5">
            <a:extLst>
              <a:ext uri="{FF2B5EF4-FFF2-40B4-BE49-F238E27FC236}">
                <a16:creationId xmlns:a16="http://schemas.microsoft.com/office/drawing/2014/main" id="{3DE01632-B9D1-F9A9-6930-9DAC26D6BBD7}"/>
              </a:ext>
            </a:extLst>
          </p:cNvPr>
          <p:cNvSpPr txBox="1">
            <a:spLocks/>
          </p:cNvSpPr>
          <p:nvPr/>
        </p:nvSpPr>
        <p:spPr>
          <a:xfrm>
            <a:off x="340813" y="2074131"/>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7: Daily net institutional flows to Brazilian equities (R$ billion)</a:t>
            </a:r>
          </a:p>
        </p:txBody>
      </p:sp>
      <p:sp>
        <p:nvSpPr>
          <p:cNvPr id="20" name="Content Placeholder 5">
            <a:extLst>
              <a:ext uri="{FF2B5EF4-FFF2-40B4-BE49-F238E27FC236}">
                <a16:creationId xmlns:a16="http://schemas.microsoft.com/office/drawing/2014/main" id="{BF6F4F28-93D2-7C97-E287-5C0601AFF6AD}"/>
              </a:ext>
            </a:extLst>
          </p:cNvPr>
          <p:cNvSpPr txBox="1">
            <a:spLocks/>
          </p:cNvSpPr>
          <p:nvPr/>
        </p:nvSpPr>
        <p:spPr>
          <a:xfrm>
            <a:off x="6279899" y="4079654"/>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10: Monthly net retail flows to Brazilian equities (R$ billion)</a:t>
            </a:r>
          </a:p>
        </p:txBody>
      </p:sp>
      <p:sp>
        <p:nvSpPr>
          <p:cNvPr id="3" name="TextBox 2">
            <a:extLst>
              <a:ext uri="{FF2B5EF4-FFF2-40B4-BE49-F238E27FC236}">
                <a16:creationId xmlns:a16="http://schemas.microsoft.com/office/drawing/2014/main" id="{1676B27E-B67C-27EF-F7BD-2DDEAB7EB2AB}"/>
              </a:ext>
            </a:extLst>
          </p:cNvPr>
          <p:cNvSpPr txBox="1"/>
          <p:nvPr/>
        </p:nvSpPr>
        <p:spPr>
          <a:xfrm>
            <a:off x="8446584" y="5163713"/>
            <a:ext cx="276726" cy="200055"/>
          </a:xfrm>
          <a:prstGeom prst="rect">
            <a:avLst/>
          </a:prstGeom>
          <a:noFill/>
        </p:spPr>
        <p:txBody>
          <a:bodyPr wrap="square" rtlCol="0">
            <a:spAutoFit/>
          </a:bodyPr>
          <a:lstStyle/>
          <a:p>
            <a:pPr algn="l"/>
            <a:r>
              <a:rPr lang="pt-BR" sz="700" dirty="0">
                <a:latin typeface="Roboto" panose="02000000000000000000" pitchFamily="2" charset="0"/>
                <a:ea typeface="Roboto" panose="02000000000000000000" pitchFamily="2" charset="0"/>
                <a:cs typeface="Roboto" panose="02000000000000000000" pitchFamily="2" charset="0"/>
              </a:rPr>
              <a:t>*</a:t>
            </a:r>
          </a:p>
        </p:txBody>
      </p:sp>
      <p:graphicFrame>
        <p:nvGraphicFramePr>
          <p:cNvPr id="5" name="Object 4">
            <a:extLst>
              <a:ext uri="{FF2B5EF4-FFF2-40B4-BE49-F238E27FC236}">
                <a16:creationId xmlns:a16="http://schemas.microsoft.com/office/drawing/2014/main" id="{33C7EC76-3DFF-DB5E-F848-3FE470D4D7C4}"/>
              </a:ext>
            </a:extLst>
          </p:cNvPr>
          <p:cNvGraphicFramePr>
            <a:graphicFrameLocks noChangeAspect="1"/>
          </p:cNvGraphicFramePr>
          <p:nvPr>
            <p:extLst>
              <p:ext uri="{D42A27DB-BD31-4B8C-83A1-F6EECF244321}">
                <p14:modId xmlns:p14="http://schemas.microsoft.com/office/powerpoint/2010/main" val="1586698577"/>
              </p:ext>
            </p:extLst>
          </p:nvPr>
        </p:nvGraphicFramePr>
        <p:xfrm>
          <a:off x="373063" y="2317750"/>
          <a:ext cx="5538787" cy="1592263"/>
        </p:xfrm>
        <a:graphic>
          <a:graphicData uri="http://schemas.openxmlformats.org/presentationml/2006/ole">
            <mc:AlternateContent xmlns:mc="http://schemas.openxmlformats.org/markup-compatibility/2006">
              <mc:Choice xmlns:v="urn:schemas-microsoft-com:vml" Requires="v">
                <p:oleObj name="Worksheet" r:id="rId5" imgW="5539563" imgH="1592470" progId="Excel.Sheet.12">
                  <p:link updateAutomatic="1"/>
                </p:oleObj>
              </mc:Choice>
              <mc:Fallback>
                <p:oleObj name="Worksheet" r:id="rId5" imgW="5539563" imgH="1592470" progId="Excel.Sheet.12">
                  <p:link updateAutomatic="1"/>
                  <p:pic>
                    <p:nvPicPr>
                      <p:cNvPr id="0" name=""/>
                      <p:cNvPicPr/>
                      <p:nvPr/>
                    </p:nvPicPr>
                    <p:blipFill>
                      <a:blip r:embed="rId6"/>
                      <a:stretch>
                        <a:fillRect/>
                      </a:stretch>
                    </p:blipFill>
                    <p:spPr>
                      <a:xfrm>
                        <a:off x="373063" y="2317750"/>
                        <a:ext cx="5538787" cy="1592263"/>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8E017D94-CE1E-A126-75AC-5381A3F7FFAE}"/>
              </a:ext>
            </a:extLst>
          </p:cNvPr>
          <p:cNvGraphicFramePr>
            <a:graphicFrameLocks noChangeAspect="1"/>
          </p:cNvGraphicFramePr>
          <p:nvPr>
            <p:extLst>
              <p:ext uri="{D42A27DB-BD31-4B8C-83A1-F6EECF244321}">
                <p14:modId xmlns:p14="http://schemas.microsoft.com/office/powerpoint/2010/main" val="3247824479"/>
              </p:ext>
            </p:extLst>
          </p:nvPr>
        </p:nvGraphicFramePr>
        <p:xfrm>
          <a:off x="366713" y="4386263"/>
          <a:ext cx="5546725" cy="1608137"/>
        </p:xfrm>
        <a:graphic>
          <a:graphicData uri="http://schemas.openxmlformats.org/presentationml/2006/ole">
            <mc:AlternateContent xmlns:mc="http://schemas.openxmlformats.org/markup-compatibility/2006">
              <mc:Choice xmlns:v="urn:schemas-microsoft-com:vml" Requires="v">
                <p:oleObj name="Worksheet" r:id="rId7" imgW="5547218" imgH="1607741" progId="Excel.Sheet.12">
                  <p:link updateAutomatic="1"/>
                </p:oleObj>
              </mc:Choice>
              <mc:Fallback>
                <p:oleObj name="Worksheet" r:id="rId7" imgW="5547218" imgH="1607741" progId="Excel.Sheet.12">
                  <p:link updateAutomatic="1"/>
                  <p:pic>
                    <p:nvPicPr>
                      <p:cNvPr id="0" name=""/>
                      <p:cNvPicPr/>
                      <p:nvPr/>
                    </p:nvPicPr>
                    <p:blipFill>
                      <a:blip r:embed="rId8"/>
                      <a:stretch>
                        <a:fillRect/>
                      </a:stretch>
                    </p:blipFill>
                    <p:spPr>
                      <a:xfrm>
                        <a:off x="366713" y="4386263"/>
                        <a:ext cx="5546725" cy="1608137"/>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DA59A5A2-D60F-84B5-9042-D9F4915D13F2}"/>
              </a:ext>
            </a:extLst>
          </p:cNvPr>
          <p:cNvGraphicFramePr>
            <a:graphicFrameLocks noChangeAspect="1"/>
          </p:cNvGraphicFramePr>
          <p:nvPr>
            <p:extLst>
              <p:ext uri="{D42A27DB-BD31-4B8C-83A1-F6EECF244321}">
                <p14:modId xmlns:p14="http://schemas.microsoft.com/office/powerpoint/2010/main" val="3886069084"/>
              </p:ext>
            </p:extLst>
          </p:nvPr>
        </p:nvGraphicFramePr>
        <p:xfrm>
          <a:off x="6275388" y="4389438"/>
          <a:ext cx="5538787" cy="1622425"/>
        </p:xfrm>
        <a:graphic>
          <a:graphicData uri="http://schemas.openxmlformats.org/presentationml/2006/ole">
            <mc:AlternateContent xmlns:mc="http://schemas.openxmlformats.org/markup-compatibility/2006">
              <mc:Choice xmlns:v="urn:schemas-microsoft-com:vml" Requires="v">
                <p:oleObj name="Worksheet" r:id="rId9" imgW="5539563" imgH="1623013" progId="Excel.Sheet.12">
                  <p:link updateAutomatic="1"/>
                </p:oleObj>
              </mc:Choice>
              <mc:Fallback>
                <p:oleObj name="Worksheet" r:id="rId9" imgW="5539563" imgH="1623013" progId="Excel.Sheet.12">
                  <p:link updateAutomatic="1"/>
                  <p:pic>
                    <p:nvPicPr>
                      <p:cNvPr id="0" name=""/>
                      <p:cNvPicPr/>
                      <p:nvPr/>
                    </p:nvPicPr>
                    <p:blipFill>
                      <a:blip r:embed="rId10"/>
                      <a:stretch>
                        <a:fillRect/>
                      </a:stretch>
                    </p:blipFill>
                    <p:spPr>
                      <a:xfrm>
                        <a:off x="6275388" y="4389438"/>
                        <a:ext cx="5538787" cy="1622425"/>
                      </a:xfrm>
                      <a:prstGeom prst="rect">
                        <a:avLst/>
                      </a:prstGeom>
                    </p:spPr>
                  </p:pic>
                </p:oleObj>
              </mc:Fallback>
            </mc:AlternateContent>
          </a:graphicData>
        </a:graphic>
      </p:graphicFrame>
    </p:spTree>
    <p:extLst>
      <p:ext uri="{BB962C8B-B14F-4D97-AF65-F5344CB8AC3E}">
        <p14:creationId xmlns:p14="http://schemas.microsoft.com/office/powerpoint/2010/main" val="4108563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a:extLst>
              <a:ext uri="{FF2B5EF4-FFF2-40B4-BE49-F238E27FC236}">
                <a16:creationId xmlns:a16="http://schemas.microsoft.com/office/drawing/2014/main" id="{E665DAA8-DDF5-DC4B-D5D5-7790A0792A33}"/>
              </a:ext>
            </a:extLst>
          </p:cNvPr>
          <p:cNvGraphicFramePr>
            <a:graphicFrameLocks noChangeAspect="1"/>
          </p:cNvGraphicFramePr>
          <p:nvPr>
            <p:extLst>
              <p:ext uri="{D42A27DB-BD31-4B8C-83A1-F6EECF244321}">
                <p14:modId xmlns:p14="http://schemas.microsoft.com/office/powerpoint/2010/main" val="1932059767"/>
              </p:ext>
            </p:extLst>
          </p:nvPr>
        </p:nvGraphicFramePr>
        <p:xfrm>
          <a:off x="6275388" y="4379913"/>
          <a:ext cx="5538787" cy="1760537"/>
        </p:xfrm>
        <a:graphic>
          <a:graphicData uri="http://schemas.openxmlformats.org/presentationml/2006/ole">
            <mc:AlternateContent xmlns:mc="http://schemas.openxmlformats.org/markup-compatibility/2006">
              <mc:Choice xmlns:v="urn:schemas-microsoft-com:vml" Requires="v">
                <p:oleObj name="Worksheet" r:id="rId3" imgW="5539563" imgH="1760031" progId="Excel.Sheet.12">
                  <p:link updateAutomatic="1"/>
                </p:oleObj>
              </mc:Choice>
              <mc:Fallback>
                <p:oleObj name="Worksheet" r:id="rId3" imgW="5539563" imgH="1760031" progId="Excel.Sheet.12">
                  <p:link updateAutomatic="1"/>
                  <p:pic>
                    <p:nvPicPr>
                      <p:cNvPr id="0" name=""/>
                      <p:cNvPicPr/>
                      <p:nvPr/>
                    </p:nvPicPr>
                    <p:blipFill>
                      <a:blip r:embed="rId4"/>
                      <a:stretch>
                        <a:fillRect/>
                      </a:stretch>
                    </p:blipFill>
                    <p:spPr>
                      <a:xfrm>
                        <a:off x="6275388" y="4379913"/>
                        <a:ext cx="5538787" cy="176053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4171443D-BEBA-3174-B190-2997F47ACBA9}"/>
              </a:ext>
            </a:extLst>
          </p:cNvPr>
          <p:cNvGraphicFramePr>
            <a:graphicFrameLocks noChangeAspect="1"/>
          </p:cNvGraphicFramePr>
          <p:nvPr>
            <p:extLst>
              <p:ext uri="{D42A27DB-BD31-4B8C-83A1-F6EECF244321}">
                <p14:modId xmlns:p14="http://schemas.microsoft.com/office/powerpoint/2010/main" val="3301239994"/>
              </p:ext>
            </p:extLst>
          </p:nvPr>
        </p:nvGraphicFramePr>
        <p:xfrm>
          <a:off x="6305550" y="2349500"/>
          <a:ext cx="5524500" cy="1760538"/>
        </p:xfrm>
        <a:graphic>
          <a:graphicData uri="http://schemas.openxmlformats.org/presentationml/2006/ole">
            <mc:AlternateContent xmlns:mc="http://schemas.openxmlformats.org/markup-compatibility/2006">
              <mc:Choice xmlns:v="urn:schemas-microsoft-com:vml" Requires="v">
                <p:oleObj name="Worksheet" r:id="rId5" imgW="5524252" imgH="1760031" progId="Excel.Sheet.12">
                  <p:link updateAutomatic="1"/>
                </p:oleObj>
              </mc:Choice>
              <mc:Fallback>
                <p:oleObj name="Worksheet" r:id="rId5" imgW="5524252" imgH="1760031" progId="Excel.Sheet.12">
                  <p:link updateAutomatic="1"/>
                  <p:pic>
                    <p:nvPicPr>
                      <p:cNvPr id="0" name=""/>
                      <p:cNvPicPr/>
                      <p:nvPr/>
                    </p:nvPicPr>
                    <p:blipFill>
                      <a:blip r:embed="rId6"/>
                      <a:stretch>
                        <a:fillRect/>
                      </a:stretch>
                    </p:blipFill>
                    <p:spPr>
                      <a:xfrm>
                        <a:off x="6305550" y="2349500"/>
                        <a:ext cx="5524500" cy="176053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2080D6F3-2917-AED3-B670-79ACE38A2FA8}"/>
              </a:ext>
            </a:extLst>
          </p:cNvPr>
          <p:cNvSpPr>
            <a:spLocks noGrp="1"/>
          </p:cNvSpPr>
          <p:nvPr>
            <p:ph type="body" sz="quarter" idx="18"/>
          </p:nvPr>
        </p:nvSpPr>
        <p:spPr/>
        <p:txBody>
          <a:bodyPr/>
          <a:lstStyle/>
          <a:p>
            <a:r>
              <a:rPr lang="en-US" dirty="0"/>
              <a:t>Source: B3, Bloomberg, XP Research. *Data as of August 7, 2026. </a:t>
            </a:r>
          </a:p>
        </p:txBody>
      </p:sp>
      <p:sp>
        <p:nvSpPr>
          <p:cNvPr id="4" name="Text Placeholder 3">
            <a:extLst>
              <a:ext uri="{FF2B5EF4-FFF2-40B4-BE49-F238E27FC236}">
                <a16:creationId xmlns:a16="http://schemas.microsoft.com/office/drawing/2014/main" id="{FD4ACE04-7CF9-3629-3FCD-C6A0B4CFA305}"/>
              </a:ext>
            </a:extLst>
          </p:cNvPr>
          <p:cNvSpPr>
            <a:spLocks noGrp="1"/>
          </p:cNvSpPr>
          <p:nvPr>
            <p:ph type="body" sz="quarter" idx="24"/>
          </p:nvPr>
        </p:nvSpPr>
        <p:spPr/>
        <p:txBody>
          <a:bodyPr/>
          <a:lstStyle/>
          <a:p>
            <a:pPr marL="171450" indent="-171450">
              <a:lnSpc>
                <a:spcPct val="114000"/>
              </a:lnSpc>
              <a:buFont typeface="Arial" panose="020B0604020202020204" pitchFamily="34" charset="0"/>
              <a:buChar char="•"/>
            </a:pPr>
            <a:r>
              <a:rPr lang="en-US" dirty="0"/>
              <a:t>Financial institutions recorded net inflows of R$ 2.4bn in July. Preliminary data for August also points to a positive trend, with net inflows of R$ 1.8bn so far.</a:t>
            </a:r>
          </a:p>
          <a:p>
            <a:pPr marL="171450" indent="-171450">
              <a:lnSpc>
                <a:spcPct val="114000"/>
              </a:lnSpc>
              <a:buFont typeface="Arial" panose="020B0604020202020204" pitchFamily="34" charset="0"/>
              <a:buChar char="•"/>
            </a:pPr>
            <a:r>
              <a:rPr lang="en-US" dirty="0"/>
              <a:t>Other investors registered net outflows of R$ 0.8bn in July. Meanwhile, data for August is positive so far, with net inflows of R$ 2.9bn.</a:t>
            </a:r>
          </a:p>
          <a:p>
            <a:pPr marL="171450" indent="-171450">
              <a:lnSpc>
                <a:spcPct val="114000"/>
              </a:lnSpc>
              <a:buFont typeface="Arial" panose="020B0604020202020204" pitchFamily="34" charset="0"/>
              <a:buChar char="•"/>
            </a:pPr>
            <a:r>
              <a:rPr lang="en-US" dirty="0"/>
              <a:t>YTD, financial institutions have accumulated net inflows of R$ 2.3bn, while other investors have also been net buyers, with net inflows of R$ 1.9bn.</a:t>
            </a:r>
          </a:p>
          <a:p>
            <a:pPr marL="171450" indent="-171450">
              <a:lnSpc>
                <a:spcPct val="114000"/>
              </a:lnSpc>
              <a:buFont typeface="Arial" panose="020B0604020202020204" pitchFamily="34" charset="0"/>
              <a:buChar char="•"/>
            </a:pPr>
            <a:endParaRPr lang="en-US" dirty="0"/>
          </a:p>
        </p:txBody>
      </p:sp>
      <p:sp>
        <p:nvSpPr>
          <p:cNvPr id="11" name="Text Placeholder 10">
            <a:extLst>
              <a:ext uri="{FF2B5EF4-FFF2-40B4-BE49-F238E27FC236}">
                <a16:creationId xmlns:a16="http://schemas.microsoft.com/office/drawing/2014/main" id="{EA4A4EAB-9997-4F6A-2B94-D10919F4F63C}"/>
              </a:ext>
            </a:extLst>
          </p:cNvPr>
          <p:cNvSpPr>
            <a:spLocks noGrp="1"/>
          </p:cNvSpPr>
          <p:nvPr>
            <p:ph type="body" sz="quarter" idx="16"/>
          </p:nvPr>
        </p:nvSpPr>
        <p:spPr/>
        <p:txBody>
          <a:bodyPr/>
          <a:lstStyle/>
          <a:p>
            <a:r>
              <a:rPr lang="en-US" dirty="0"/>
              <a:t>Financial institutions and other investors</a:t>
            </a:r>
          </a:p>
        </p:txBody>
      </p:sp>
      <p:sp>
        <p:nvSpPr>
          <p:cNvPr id="12" name="Text Placeholder 11">
            <a:extLst>
              <a:ext uri="{FF2B5EF4-FFF2-40B4-BE49-F238E27FC236}">
                <a16:creationId xmlns:a16="http://schemas.microsoft.com/office/drawing/2014/main" id="{925D084E-7C1E-D5AF-D722-C724E656BF67}"/>
              </a:ext>
            </a:extLst>
          </p:cNvPr>
          <p:cNvSpPr>
            <a:spLocks noGrp="1"/>
          </p:cNvSpPr>
          <p:nvPr>
            <p:ph type="body" sz="quarter" idx="17"/>
          </p:nvPr>
        </p:nvSpPr>
        <p:spPr>
          <a:xfrm>
            <a:off x="336001" y="775521"/>
            <a:ext cx="11518900" cy="384942"/>
          </a:xfrm>
        </p:spPr>
        <p:txBody>
          <a:bodyPr/>
          <a:lstStyle/>
          <a:p>
            <a:r>
              <a:rPr lang="en-US" dirty="0">
                <a:solidFill>
                  <a:schemeClr val="tx1"/>
                </a:solidFill>
              </a:rPr>
              <a:t>Financial institutions remained net buyers</a:t>
            </a:r>
          </a:p>
        </p:txBody>
      </p:sp>
      <p:sp>
        <p:nvSpPr>
          <p:cNvPr id="13" name="Date Placeholder 12">
            <a:extLst>
              <a:ext uri="{FF2B5EF4-FFF2-40B4-BE49-F238E27FC236}">
                <a16:creationId xmlns:a16="http://schemas.microsoft.com/office/drawing/2014/main" id="{A4EA4B1B-97D4-18E5-56FA-EDF7187B82C7}"/>
              </a:ext>
            </a:extLst>
          </p:cNvPr>
          <p:cNvSpPr>
            <a:spLocks noGrp="1"/>
          </p:cNvSpPr>
          <p:nvPr>
            <p:ph type="dt" sz="half" idx="2"/>
          </p:nvPr>
        </p:nvSpPr>
        <p:spPr/>
        <p:txBody>
          <a:bodyPr/>
          <a:lstStyle/>
          <a:p>
            <a:fld id="{6B37B724-EF64-4BE4-A4A8-DD688A529BBA}" type="datetime4">
              <a:rPr lang="en-US" smtClean="0"/>
              <a:pPr/>
              <a:t>August 10, 2026</a:t>
            </a:fld>
            <a:endParaRPr lang="en-US"/>
          </a:p>
        </p:txBody>
      </p:sp>
      <p:sp>
        <p:nvSpPr>
          <p:cNvPr id="3" name="Content Placeholder 5">
            <a:extLst>
              <a:ext uri="{FF2B5EF4-FFF2-40B4-BE49-F238E27FC236}">
                <a16:creationId xmlns:a16="http://schemas.microsoft.com/office/drawing/2014/main" id="{32E9C0F9-662E-9AFA-B54F-348E15FBB084}"/>
              </a:ext>
            </a:extLst>
          </p:cNvPr>
          <p:cNvSpPr txBox="1">
            <a:spLocks/>
          </p:cNvSpPr>
          <p:nvPr/>
        </p:nvSpPr>
        <p:spPr>
          <a:xfrm>
            <a:off x="6275637" y="2073600"/>
            <a:ext cx="55692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Chart 12: Monthly net financial </a:t>
            </a:r>
            <a:r>
              <a:rPr lang="pt-BR" dirty="0" err="1"/>
              <a:t>institution</a:t>
            </a:r>
            <a:r>
              <a:rPr lang="pt-BR" dirty="0"/>
              <a:t> </a:t>
            </a:r>
            <a:r>
              <a:rPr lang="pt-BR" dirty="0" err="1"/>
              <a:t>flows</a:t>
            </a:r>
            <a:r>
              <a:rPr lang="pt-BR" dirty="0"/>
              <a:t> </a:t>
            </a:r>
            <a:r>
              <a:rPr lang="pt-BR" dirty="0" err="1"/>
              <a:t>to</a:t>
            </a:r>
            <a:r>
              <a:rPr lang="pt-BR" dirty="0"/>
              <a:t> </a:t>
            </a:r>
            <a:r>
              <a:rPr lang="pt-BR" dirty="0" err="1"/>
              <a:t>Brazilian</a:t>
            </a:r>
            <a:r>
              <a:rPr lang="pt-BR" dirty="0"/>
              <a:t> </a:t>
            </a:r>
            <a:r>
              <a:rPr lang="pt-BR" dirty="0" err="1"/>
              <a:t>equities</a:t>
            </a:r>
            <a:r>
              <a:rPr lang="pt-BR" dirty="0"/>
              <a:t> (R$ </a:t>
            </a:r>
            <a:r>
              <a:rPr lang="pt-BR" dirty="0" err="1"/>
              <a:t>billion</a:t>
            </a:r>
            <a:r>
              <a:rPr lang="pt-BR" dirty="0"/>
              <a:t>)</a:t>
            </a:r>
          </a:p>
        </p:txBody>
      </p:sp>
      <p:sp>
        <p:nvSpPr>
          <p:cNvPr id="5" name="Content Placeholder 5">
            <a:extLst>
              <a:ext uri="{FF2B5EF4-FFF2-40B4-BE49-F238E27FC236}">
                <a16:creationId xmlns:a16="http://schemas.microsoft.com/office/drawing/2014/main" id="{98865A5D-C009-591B-E4BC-07F70E3354EF}"/>
              </a:ext>
            </a:extLst>
          </p:cNvPr>
          <p:cNvSpPr txBox="1">
            <a:spLocks/>
          </p:cNvSpPr>
          <p:nvPr/>
        </p:nvSpPr>
        <p:spPr>
          <a:xfrm>
            <a:off x="336000" y="4079654"/>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Chart 13: Daily net </a:t>
            </a:r>
            <a:r>
              <a:rPr lang="pt-BR" dirty="0" err="1"/>
              <a:t>others</a:t>
            </a:r>
            <a:r>
              <a:rPr lang="pt-BR" dirty="0"/>
              <a:t> </a:t>
            </a:r>
            <a:r>
              <a:rPr lang="pt-BR" dirty="0" err="1"/>
              <a:t>flows</a:t>
            </a:r>
            <a:r>
              <a:rPr lang="pt-BR" dirty="0"/>
              <a:t> </a:t>
            </a:r>
            <a:r>
              <a:rPr lang="pt-BR" dirty="0" err="1"/>
              <a:t>to</a:t>
            </a:r>
            <a:r>
              <a:rPr lang="pt-BR" dirty="0"/>
              <a:t> </a:t>
            </a:r>
            <a:r>
              <a:rPr lang="pt-BR" dirty="0" err="1"/>
              <a:t>Brazilian</a:t>
            </a:r>
            <a:r>
              <a:rPr lang="pt-BR" dirty="0"/>
              <a:t> </a:t>
            </a:r>
            <a:r>
              <a:rPr lang="pt-BR" dirty="0" err="1"/>
              <a:t>equities</a:t>
            </a:r>
            <a:r>
              <a:rPr lang="pt-BR" dirty="0"/>
              <a:t> </a:t>
            </a:r>
            <a:r>
              <a:rPr lang="en-US" dirty="0"/>
              <a:t>(R$ billion)</a:t>
            </a:r>
            <a:endParaRPr lang="pt-BR" dirty="0"/>
          </a:p>
        </p:txBody>
      </p:sp>
      <p:sp>
        <p:nvSpPr>
          <p:cNvPr id="6" name="Content Placeholder 5">
            <a:extLst>
              <a:ext uri="{FF2B5EF4-FFF2-40B4-BE49-F238E27FC236}">
                <a16:creationId xmlns:a16="http://schemas.microsoft.com/office/drawing/2014/main" id="{CBBD187B-FDB2-B94C-FB64-ABED5AD81FC4}"/>
              </a:ext>
            </a:extLst>
          </p:cNvPr>
          <p:cNvSpPr txBox="1">
            <a:spLocks/>
          </p:cNvSpPr>
          <p:nvPr/>
        </p:nvSpPr>
        <p:spPr>
          <a:xfrm>
            <a:off x="340813" y="2074131"/>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Chart 11: Daily net financial </a:t>
            </a:r>
            <a:r>
              <a:rPr lang="pt-BR" dirty="0" err="1"/>
              <a:t>institution</a:t>
            </a:r>
            <a:r>
              <a:rPr lang="pt-BR" dirty="0"/>
              <a:t> </a:t>
            </a:r>
            <a:r>
              <a:rPr lang="pt-BR" dirty="0" err="1"/>
              <a:t>flows</a:t>
            </a:r>
            <a:r>
              <a:rPr lang="pt-BR" dirty="0"/>
              <a:t> </a:t>
            </a:r>
            <a:r>
              <a:rPr lang="pt-BR" dirty="0" err="1"/>
              <a:t>to</a:t>
            </a:r>
            <a:r>
              <a:rPr lang="pt-BR" dirty="0"/>
              <a:t> </a:t>
            </a:r>
            <a:r>
              <a:rPr lang="pt-BR" dirty="0" err="1"/>
              <a:t>Brazilian</a:t>
            </a:r>
            <a:r>
              <a:rPr lang="pt-BR" dirty="0"/>
              <a:t> </a:t>
            </a:r>
            <a:r>
              <a:rPr lang="pt-BR" dirty="0" err="1"/>
              <a:t>equities</a:t>
            </a:r>
            <a:r>
              <a:rPr lang="pt-BR" dirty="0"/>
              <a:t> </a:t>
            </a:r>
            <a:r>
              <a:rPr lang="en-US" dirty="0"/>
              <a:t>(R$ billion)</a:t>
            </a:r>
            <a:endParaRPr lang="pt-BR" dirty="0"/>
          </a:p>
        </p:txBody>
      </p:sp>
      <p:sp>
        <p:nvSpPr>
          <p:cNvPr id="7" name="Content Placeholder 5">
            <a:extLst>
              <a:ext uri="{FF2B5EF4-FFF2-40B4-BE49-F238E27FC236}">
                <a16:creationId xmlns:a16="http://schemas.microsoft.com/office/drawing/2014/main" id="{B4DBFB88-CE1A-5DDA-1D4D-EE3AB466BD25}"/>
              </a:ext>
            </a:extLst>
          </p:cNvPr>
          <p:cNvSpPr txBox="1">
            <a:spLocks/>
          </p:cNvSpPr>
          <p:nvPr/>
        </p:nvSpPr>
        <p:spPr>
          <a:xfrm>
            <a:off x="6279899" y="4079654"/>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Chart 14: Monthly net </a:t>
            </a:r>
            <a:r>
              <a:rPr lang="pt-BR" dirty="0" err="1"/>
              <a:t>others</a:t>
            </a:r>
            <a:r>
              <a:rPr lang="pt-BR" dirty="0"/>
              <a:t> </a:t>
            </a:r>
            <a:r>
              <a:rPr lang="pt-BR" dirty="0" err="1"/>
              <a:t>flows</a:t>
            </a:r>
            <a:r>
              <a:rPr lang="pt-BR" dirty="0"/>
              <a:t> </a:t>
            </a:r>
            <a:r>
              <a:rPr lang="pt-BR" dirty="0" err="1"/>
              <a:t>to</a:t>
            </a:r>
            <a:r>
              <a:rPr lang="pt-BR" dirty="0"/>
              <a:t> </a:t>
            </a:r>
            <a:r>
              <a:rPr lang="pt-BR" dirty="0" err="1"/>
              <a:t>Brazilian</a:t>
            </a:r>
            <a:r>
              <a:rPr lang="pt-BR" dirty="0"/>
              <a:t> </a:t>
            </a:r>
            <a:r>
              <a:rPr lang="pt-BR" dirty="0" err="1"/>
              <a:t>equities</a:t>
            </a:r>
            <a:r>
              <a:rPr lang="pt-BR" dirty="0"/>
              <a:t> (R$ </a:t>
            </a:r>
            <a:r>
              <a:rPr lang="pt-BR" dirty="0" err="1"/>
              <a:t>billion</a:t>
            </a:r>
            <a:r>
              <a:rPr lang="pt-BR" dirty="0"/>
              <a:t>)</a:t>
            </a:r>
          </a:p>
        </p:txBody>
      </p:sp>
      <p:graphicFrame>
        <p:nvGraphicFramePr>
          <p:cNvPr id="14" name="Object 13">
            <a:extLst>
              <a:ext uri="{FF2B5EF4-FFF2-40B4-BE49-F238E27FC236}">
                <a16:creationId xmlns:a16="http://schemas.microsoft.com/office/drawing/2014/main" id="{E98FD83F-1407-6B5A-2B32-F96343218648}"/>
              </a:ext>
            </a:extLst>
          </p:cNvPr>
          <p:cNvGraphicFramePr>
            <a:graphicFrameLocks noChangeAspect="1"/>
          </p:cNvGraphicFramePr>
          <p:nvPr>
            <p:extLst>
              <p:ext uri="{D42A27DB-BD31-4B8C-83A1-F6EECF244321}">
                <p14:modId xmlns:p14="http://schemas.microsoft.com/office/powerpoint/2010/main" val="365998325"/>
              </p:ext>
            </p:extLst>
          </p:nvPr>
        </p:nvGraphicFramePr>
        <p:xfrm>
          <a:off x="327025" y="2336800"/>
          <a:ext cx="5546725" cy="1760538"/>
        </p:xfrm>
        <a:graphic>
          <a:graphicData uri="http://schemas.openxmlformats.org/presentationml/2006/ole">
            <mc:AlternateContent xmlns:mc="http://schemas.openxmlformats.org/markup-compatibility/2006">
              <mc:Choice xmlns:v="urn:schemas-microsoft-com:vml" Requires="v">
                <p:oleObj name="Worksheet" r:id="rId7" imgW="5547218" imgH="1760031" progId="Excel.Sheet.12">
                  <p:link updateAutomatic="1"/>
                </p:oleObj>
              </mc:Choice>
              <mc:Fallback>
                <p:oleObj name="Worksheet" r:id="rId7" imgW="5547218" imgH="1760031" progId="Excel.Sheet.12">
                  <p:link updateAutomatic="1"/>
                  <p:pic>
                    <p:nvPicPr>
                      <p:cNvPr id="0" name=""/>
                      <p:cNvPicPr/>
                      <p:nvPr/>
                    </p:nvPicPr>
                    <p:blipFill>
                      <a:blip r:embed="rId8"/>
                      <a:stretch>
                        <a:fillRect/>
                      </a:stretch>
                    </p:blipFill>
                    <p:spPr>
                      <a:xfrm>
                        <a:off x="327025" y="2336800"/>
                        <a:ext cx="5546725" cy="1760538"/>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082129B3-E1CE-BC93-63F0-93AA5A75FFC6}"/>
              </a:ext>
            </a:extLst>
          </p:cNvPr>
          <p:cNvGraphicFramePr>
            <a:graphicFrameLocks noChangeAspect="1"/>
          </p:cNvGraphicFramePr>
          <p:nvPr>
            <p:extLst>
              <p:ext uri="{D42A27DB-BD31-4B8C-83A1-F6EECF244321}">
                <p14:modId xmlns:p14="http://schemas.microsoft.com/office/powerpoint/2010/main" val="665197873"/>
              </p:ext>
            </p:extLst>
          </p:nvPr>
        </p:nvGraphicFramePr>
        <p:xfrm>
          <a:off x="369888" y="4327525"/>
          <a:ext cx="5546725" cy="1760538"/>
        </p:xfrm>
        <a:graphic>
          <a:graphicData uri="http://schemas.openxmlformats.org/presentationml/2006/ole">
            <mc:AlternateContent xmlns:mc="http://schemas.openxmlformats.org/markup-compatibility/2006">
              <mc:Choice xmlns:v="urn:schemas-microsoft-com:vml" Requires="v">
                <p:oleObj name="Worksheet" r:id="rId9" imgW="5547218" imgH="1760031" progId="Excel.Sheet.12">
                  <p:link updateAutomatic="1"/>
                </p:oleObj>
              </mc:Choice>
              <mc:Fallback>
                <p:oleObj name="Worksheet" r:id="rId9" imgW="5547218" imgH="1760031" progId="Excel.Sheet.12">
                  <p:link updateAutomatic="1"/>
                  <p:pic>
                    <p:nvPicPr>
                      <p:cNvPr id="0" name=""/>
                      <p:cNvPicPr/>
                      <p:nvPr/>
                    </p:nvPicPr>
                    <p:blipFill>
                      <a:blip r:embed="rId10"/>
                      <a:stretch>
                        <a:fillRect/>
                      </a:stretch>
                    </p:blipFill>
                    <p:spPr>
                      <a:xfrm>
                        <a:off x="369888" y="4327525"/>
                        <a:ext cx="5546725" cy="1760538"/>
                      </a:xfrm>
                      <a:prstGeom prst="rect">
                        <a:avLst/>
                      </a:prstGeom>
                    </p:spPr>
                  </p:pic>
                </p:oleObj>
              </mc:Fallback>
            </mc:AlternateContent>
          </a:graphicData>
        </a:graphic>
      </p:graphicFrame>
    </p:spTree>
    <p:extLst>
      <p:ext uri="{BB962C8B-B14F-4D97-AF65-F5344CB8AC3E}">
        <p14:creationId xmlns:p14="http://schemas.microsoft.com/office/powerpoint/2010/main" val="3590187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a:extLst>
              <a:ext uri="{FF2B5EF4-FFF2-40B4-BE49-F238E27FC236}">
                <a16:creationId xmlns:a16="http://schemas.microsoft.com/office/drawing/2014/main" id="{D8AAB1D6-4866-C690-076E-DAED931694C7}"/>
              </a:ext>
            </a:extLst>
          </p:cNvPr>
          <p:cNvGraphicFramePr>
            <a:graphicFrameLocks noChangeAspect="1"/>
          </p:cNvGraphicFramePr>
          <p:nvPr>
            <p:extLst>
              <p:ext uri="{D42A27DB-BD31-4B8C-83A1-F6EECF244321}">
                <p14:modId xmlns:p14="http://schemas.microsoft.com/office/powerpoint/2010/main" val="837935237"/>
              </p:ext>
            </p:extLst>
          </p:nvPr>
        </p:nvGraphicFramePr>
        <p:xfrm>
          <a:off x="6267450" y="2335213"/>
          <a:ext cx="5614988" cy="1582737"/>
        </p:xfrm>
        <a:graphic>
          <a:graphicData uri="http://schemas.openxmlformats.org/presentationml/2006/ole">
            <mc:AlternateContent xmlns:mc="http://schemas.openxmlformats.org/markup-compatibility/2006">
              <mc:Choice xmlns:v="urn:schemas-microsoft-com:vml" Requires="v">
                <p:oleObj name="Worksheet" r:id="rId3" imgW="5615692" imgH="1584834" progId="Excel.Sheet.12">
                  <p:link updateAutomatic="1"/>
                </p:oleObj>
              </mc:Choice>
              <mc:Fallback>
                <p:oleObj name="Worksheet" r:id="rId3" imgW="5615692" imgH="1584834" progId="Excel.Sheet.12">
                  <p:link updateAutomatic="1"/>
                  <p:pic>
                    <p:nvPicPr>
                      <p:cNvPr id="0" name=""/>
                      <p:cNvPicPr/>
                      <p:nvPr/>
                    </p:nvPicPr>
                    <p:blipFill>
                      <a:blip r:embed="rId4"/>
                      <a:stretch>
                        <a:fillRect/>
                      </a:stretch>
                    </p:blipFill>
                    <p:spPr>
                      <a:xfrm>
                        <a:off x="6267450" y="2335213"/>
                        <a:ext cx="5614988" cy="1582737"/>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2080D6F3-2917-AED3-B670-79ACE38A2FA8}"/>
              </a:ext>
            </a:extLst>
          </p:cNvPr>
          <p:cNvSpPr>
            <a:spLocks noGrp="1"/>
          </p:cNvSpPr>
          <p:nvPr>
            <p:ph type="body" sz="quarter" idx="18"/>
          </p:nvPr>
        </p:nvSpPr>
        <p:spPr/>
        <p:txBody>
          <a:bodyPr/>
          <a:lstStyle/>
          <a:p>
            <a:r>
              <a:rPr lang="en-US" dirty="0"/>
              <a:t>Source: Anbima, XP Research. Data as of August 7, 2026.</a:t>
            </a:r>
          </a:p>
        </p:txBody>
      </p:sp>
      <p:sp>
        <p:nvSpPr>
          <p:cNvPr id="4" name="Text Placeholder 3">
            <a:extLst>
              <a:ext uri="{FF2B5EF4-FFF2-40B4-BE49-F238E27FC236}">
                <a16:creationId xmlns:a16="http://schemas.microsoft.com/office/drawing/2014/main" id="{FD4ACE04-7CF9-3629-3FCD-C6A0B4CFA305}"/>
              </a:ext>
            </a:extLst>
          </p:cNvPr>
          <p:cNvSpPr>
            <a:spLocks noGrp="1"/>
          </p:cNvSpPr>
          <p:nvPr>
            <p:ph type="body" sz="quarter" idx="24"/>
          </p:nvPr>
        </p:nvSpPr>
        <p:spPr/>
        <p:txBody>
          <a:bodyPr/>
          <a:lstStyle/>
          <a:p>
            <a:pPr marL="171450" indent="-171450">
              <a:lnSpc>
                <a:spcPct val="114000"/>
              </a:lnSpc>
              <a:buFont typeface="Arial" panose="020B0604020202020204" pitchFamily="34" charset="0"/>
              <a:buChar char="•"/>
            </a:pPr>
            <a:r>
              <a:rPr lang="en-US" dirty="0"/>
              <a:t>The fund industry posted net outflows of R$ 25.3bn in July, its weakest month since December 2025, driven mainly by R$ 19.8bn of net outflows of fixed income funds.</a:t>
            </a:r>
          </a:p>
          <a:p>
            <a:pPr marL="171450" indent="-171450">
              <a:lnSpc>
                <a:spcPct val="114000"/>
              </a:lnSpc>
              <a:buFont typeface="Arial" panose="020B0604020202020204" pitchFamily="34" charset="0"/>
              <a:buChar char="•"/>
            </a:pPr>
            <a:r>
              <a:rPr lang="en-US" b="1" dirty="0"/>
              <a:t>Hedge funds </a:t>
            </a:r>
            <a:r>
              <a:rPr lang="en-US" dirty="0"/>
              <a:t>(‘fundos multimercado’) posted net outflows of R$ 5.6bn, extending their negative trend to six consecutive months.</a:t>
            </a:r>
          </a:p>
          <a:p>
            <a:pPr marL="171450" indent="-171450">
              <a:lnSpc>
                <a:spcPct val="114000"/>
              </a:lnSpc>
              <a:buFont typeface="Arial" panose="020B0604020202020204" pitchFamily="34" charset="0"/>
              <a:buChar char="•"/>
            </a:pPr>
            <a:r>
              <a:rPr lang="en-US" dirty="0"/>
              <a:t>On the other hand,</a:t>
            </a:r>
            <a:r>
              <a:rPr lang="en-US" dirty="0" b="1"/>
              <a:t> Equity funds </a:t>
            </a:r>
            <a:r>
              <a:rPr lang="en-US" dirty="0"/>
              <a:t>posted R$ 1.4bn of net outflows and now accumulate R$ 8.0bn of net redemptions YTD. </a:t>
            </a:r>
          </a:p>
        </p:txBody>
      </p:sp>
      <p:sp>
        <p:nvSpPr>
          <p:cNvPr id="11" name="Text Placeholder 10">
            <a:extLst>
              <a:ext uri="{FF2B5EF4-FFF2-40B4-BE49-F238E27FC236}">
                <a16:creationId xmlns:a16="http://schemas.microsoft.com/office/drawing/2014/main" id="{EA4A4EAB-9997-4F6A-2B94-D10919F4F63C}"/>
              </a:ext>
            </a:extLst>
          </p:cNvPr>
          <p:cNvSpPr>
            <a:spLocks noGrp="1"/>
          </p:cNvSpPr>
          <p:nvPr>
            <p:ph type="body" sz="quarter" idx="16"/>
          </p:nvPr>
        </p:nvSpPr>
        <p:spPr/>
        <p:txBody>
          <a:bodyPr/>
          <a:lstStyle/>
          <a:p>
            <a:r>
              <a:rPr lang="pt-BR" dirty="0" err="1"/>
              <a:t>Funds</a:t>
            </a:r>
            <a:r>
              <a:rPr lang="pt-BR" dirty="0"/>
              <a:t> </a:t>
            </a:r>
            <a:r>
              <a:rPr lang="pt-BR" dirty="0" err="1"/>
              <a:t>flows</a:t>
            </a:r>
            <a:endParaRPr lang="pt-BR" dirty="0"/>
          </a:p>
        </p:txBody>
      </p:sp>
      <p:sp>
        <p:nvSpPr>
          <p:cNvPr id="12" name="Text Placeholder 11">
            <a:extLst>
              <a:ext uri="{FF2B5EF4-FFF2-40B4-BE49-F238E27FC236}">
                <a16:creationId xmlns:a16="http://schemas.microsoft.com/office/drawing/2014/main" id="{925D084E-7C1E-D5AF-D722-C724E656BF67}"/>
              </a:ext>
            </a:extLst>
          </p:cNvPr>
          <p:cNvSpPr>
            <a:spLocks noGrp="1"/>
          </p:cNvSpPr>
          <p:nvPr>
            <p:ph type="body" sz="quarter" idx="17"/>
          </p:nvPr>
        </p:nvSpPr>
        <p:spPr/>
        <p:txBody>
          <a:bodyPr/>
          <a:lstStyle/>
          <a:p>
            <a:r>
              <a:rPr lang="en-US" dirty="0">
                <a:solidFill>
                  <a:schemeClr val="tx1"/>
                </a:solidFill>
              </a:rPr>
              <a:t>Fixed income funds drove the industry's outflows</a:t>
            </a:r>
          </a:p>
        </p:txBody>
      </p:sp>
      <p:sp>
        <p:nvSpPr>
          <p:cNvPr id="13" name="Date Placeholder 12">
            <a:extLst>
              <a:ext uri="{FF2B5EF4-FFF2-40B4-BE49-F238E27FC236}">
                <a16:creationId xmlns:a16="http://schemas.microsoft.com/office/drawing/2014/main" id="{A4EA4B1B-97D4-18E5-56FA-EDF7187B82C7}"/>
              </a:ext>
            </a:extLst>
          </p:cNvPr>
          <p:cNvSpPr>
            <a:spLocks noGrp="1"/>
          </p:cNvSpPr>
          <p:nvPr>
            <p:ph type="dt" sz="half" idx="2"/>
          </p:nvPr>
        </p:nvSpPr>
        <p:spPr/>
        <p:txBody>
          <a:bodyPr/>
          <a:lstStyle/>
          <a:p>
            <a:fld id="{6B37B724-EF64-4BE4-A4A8-DD688A529BBA}" type="datetime4">
              <a:rPr lang="en-US" smtClean="0"/>
              <a:pPr/>
              <a:t>August 10, 2026</a:t>
            </a:fld>
            <a:endParaRPr lang="en-US"/>
          </a:p>
        </p:txBody>
      </p:sp>
      <p:sp>
        <p:nvSpPr>
          <p:cNvPr id="3" name="Content Placeholder 5">
            <a:extLst>
              <a:ext uri="{FF2B5EF4-FFF2-40B4-BE49-F238E27FC236}">
                <a16:creationId xmlns:a16="http://schemas.microsoft.com/office/drawing/2014/main" id="{32E9C0F9-662E-9AFA-B54F-348E15FBB084}"/>
              </a:ext>
            </a:extLst>
          </p:cNvPr>
          <p:cNvSpPr txBox="1">
            <a:spLocks/>
          </p:cNvSpPr>
          <p:nvPr/>
        </p:nvSpPr>
        <p:spPr>
          <a:xfrm>
            <a:off x="6275637" y="2073600"/>
            <a:ext cx="55692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16: Net flow of equity funds (R$ billion)</a:t>
            </a:r>
          </a:p>
        </p:txBody>
      </p:sp>
      <p:sp>
        <p:nvSpPr>
          <p:cNvPr id="5" name="Content Placeholder 5">
            <a:extLst>
              <a:ext uri="{FF2B5EF4-FFF2-40B4-BE49-F238E27FC236}">
                <a16:creationId xmlns:a16="http://schemas.microsoft.com/office/drawing/2014/main" id="{98865A5D-C009-591B-E4BC-07F70E3354EF}"/>
              </a:ext>
            </a:extLst>
          </p:cNvPr>
          <p:cNvSpPr txBox="1">
            <a:spLocks/>
          </p:cNvSpPr>
          <p:nvPr/>
        </p:nvSpPr>
        <p:spPr>
          <a:xfrm>
            <a:off x="336000" y="4079654"/>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17: Net flow of hedge funds (R$ billion)</a:t>
            </a:r>
          </a:p>
        </p:txBody>
      </p:sp>
      <p:sp>
        <p:nvSpPr>
          <p:cNvPr id="6" name="Content Placeholder 5">
            <a:extLst>
              <a:ext uri="{FF2B5EF4-FFF2-40B4-BE49-F238E27FC236}">
                <a16:creationId xmlns:a16="http://schemas.microsoft.com/office/drawing/2014/main" id="{CBBD187B-FDB2-B94C-FB64-ABED5AD81FC4}"/>
              </a:ext>
            </a:extLst>
          </p:cNvPr>
          <p:cNvSpPr txBox="1">
            <a:spLocks/>
          </p:cNvSpPr>
          <p:nvPr/>
        </p:nvSpPr>
        <p:spPr>
          <a:xfrm>
            <a:off x="340813" y="2074131"/>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15: AUM of equity funds, hedge funds and fixed income funds (R$ trillion)</a:t>
            </a:r>
          </a:p>
        </p:txBody>
      </p:sp>
      <p:sp>
        <p:nvSpPr>
          <p:cNvPr id="7" name="Content Placeholder 5">
            <a:extLst>
              <a:ext uri="{FF2B5EF4-FFF2-40B4-BE49-F238E27FC236}">
                <a16:creationId xmlns:a16="http://schemas.microsoft.com/office/drawing/2014/main" id="{B4DBFB88-CE1A-5DDA-1D4D-EE3AB466BD25}"/>
              </a:ext>
            </a:extLst>
          </p:cNvPr>
          <p:cNvSpPr txBox="1">
            <a:spLocks/>
          </p:cNvSpPr>
          <p:nvPr/>
        </p:nvSpPr>
        <p:spPr>
          <a:xfrm>
            <a:off x="6279899" y="4079654"/>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18: Net flow of fixed income funds (R$ billion)</a:t>
            </a:r>
          </a:p>
        </p:txBody>
      </p:sp>
      <p:graphicFrame>
        <p:nvGraphicFramePr>
          <p:cNvPr id="10" name="Object 9">
            <a:extLst>
              <a:ext uri="{FF2B5EF4-FFF2-40B4-BE49-F238E27FC236}">
                <a16:creationId xmlns:a16="http://schemas.microsoft.com/office/drawing/2014/main" id="{18E598EA-9BC4-58D2-1364-F301CF5F38F9}"/>
              </a:ext>
            </a:extLst>
          </p:cNvPr>
          <p:cNvGraphicFramePr>
            <a:graphicFrameLocks noChangeAspect="1"/>
          </p:cNvGraphicFramePr>
          <p:nvPr>
            <p:extLst>
              <p:ext uri="{D42A27DB-BD31-4B8C-83A1-F6EECF244321}">
                <p14:modId xmlns:p14="http://schemas.microsoft.com/office/powerpoint/2010/main" val="1537493504"/>
              </p:ext>
            </p:extLst>
          </p:nvPr>
        </p:nvGraphicFramePr>
        <p:xfrm>
          <a:off x="6267450" y="4341813"/>
          <a:ext cx="5600700" cy="1577975"/>
        </p:xfrm>
        <a:graphic>
          <a:graphicData uri="http://schemas.openxmlformats.org/presentationml/2006/ole">
            <mc:AlternateContent xmlns:mc="http://schemas.openxmlformats.org/markup-compatibility/2006">
              <mc:Choice xmlns:v="urn:schemas-microsoft-com:vml" Requires="v">
                <p:oleObj name="Worksheet" r:id="rId5" imgW="5600381" imgH="1577199" progId="Excel.Sheet.12">
                  <p:link updateAutomatic="1"/>
                </p:oleObj>
              </mc:Choice>
              <mc:Fallback>
                <p:oleObj name="Worksheet" r:id="rId5" imgW="5600381" imgH="1577199" progId="Excel.Sheet.12">
                  <p:link updateAutomatic="1"/>
                  <p:pic>
                    <p:nvPicPr>
                      <p:cNvPr id="0" name=""/>
                      <p:cNvPicPr/>
                      <p:nvPr/>
                    </p:nvPicPr>
                    <p:blipFill>
                      <a:blip r:embed="rId6"/>
                      <a:stretch>
                        <a:fillRect/>
                      </a:stretch>
                    </p:blipFill>
                    <p:spPr>
                      <a:xfrm>
                        <a:off x="6267450" y="4341813"/>
                        <a:ext cx="5600700" cy="1577975"/>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1AD0DBFA-F855-DBED-C36D-3BB83931A0CB}"/>
              </a:ext>
            </a:extLst>
          </p:cNvPr>
          <p:cNvGraphicFramePr>
            <a:graphicFrameLocks noChangeAspect="1"/>
          </p:cNvGraphicFramePr>
          <p:nvPr>
            <p:extLst>
              <p:ext uri="{D42A27DB-BD31-4B8C-83A1-F6EECF244321}">
                <p14:modId xmlns:p14="http://schemas.microsoft.com/office/powerpoint/2010/main" val="916943332"/>
              </p:ext>
            </p:extLst>
          </p:nvPr>
        </p:nvGraphicFramePr>
        <p:xfrm>
          <a:off x="346075" y="4341813"/>
          <a:ext cx="5600700" cy="1538287"/>
        </p:xfrm>
        <a:graphic>
          <a:graphicData uri="http://schemas.openxmlformats.org/presentationml/2006/ole">
            <mc:AlternateContent xmlns:mc="http://schemas.openxmlformats.org/markup-compatibility/2006">
              <mc:Choice xmlns:v="urn:schemas-microsoft-com:vml" Requires="v">
                <p:oleObj name="Worksheet" r:id="rId7" imgW="5600381" imgH="1539020" progId="Excel.Sheet.12">
                  <p:link updateAutomatic="1"/>
                </p:oleObj>
              </mc:Choice>
              <mc:Fallback>
                <p:oleObj name="Worksheet" r:id="rId7" imgW="5600381" imgH="1539020" progId="Excel.Sheet.12">
                  <p:link updateAutomatic="1"/>
                  <p:pic>
                    <p:nvPicPr>
                      <p:cNvPr id="0" name=""/>
                      <p:cNvPicPr/>
                      <p:nvPr/>
                    </p:nvPicPr>
                    <p:blipFill>
                      <a:blip r:embed="rId8"/>
                      <a:stretch>
                        <a:fillRect/>
                      </a:stretch>
                    </p:blipFill>
                    <p:spPr>
                      <a:xfrm>
                        <a:off x="346075" y="4341813"/>
                        <a:ext cx="5600700" cy="1538287"/>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48446FEB-EBCB-7502-234B-48D3D77F23E9}"/>
              </a:ext>
            </a:extLst>
          </p:cNvPr>
          <p:cNvGraphicFramePr>
            <a:graphicFrameLocks noChangeAspect="1"/>
          </p:cNvGraphicFramePr>
          <p:nvPr>
            <p:extLst>
              <p:ext uri="{D42A27DB-BD31-4B8C-83A1-F6EECF244321}">
                <p14:modId xmlns:p14="http://schemas.microsoft.com/office/powerpoint/2010/main" val="2715154419"/>
              </p:ext>
            </p:extLst>
          </p:nvPr>
        </p:nvGraphicFramePr>
        <p:xfrm>
          <a:off x="309563" y="2379663"/>
          <a:ext cx="5600700" cy="1577975"/>
        </p:xfrm>
        <a:graphic>
          <a:graphicData uri="http://schemas.openxmlformats.org/presentationml/2006/ole">
            <mc:AlternateContent xmlns:mc="http://schemas.openxmlformats.org/markup-compatibility/2006">
              <mc:Choice xmlns:v="urn:schemas-microsoft-com:vml" Requires="v">
                <p:oleObj name="Worksheet" r:id="rId9" imgW="5600381" imgH="1577199" progId="Excel.Sheet.12">
                  <p:link updateAutomatic="1"/>
                </p:oleObj>
              </mc:Choice>
              <mc:Fallback>
                <p:oleObj name="Worksheet" r:id="rId9" imgW="5600381" imgH="1577199" progId="Excel.Sheet.12">
                  <p:link updateAutomatic="1"/>
                  <p:pic>
                    <p:nvPicPr>
                      <p:cNvPr id="0" name=""/>
                      <p:cNvPicPr/>
                      <p:nvPr/>
                    </p:nvPicPr>
                    <p:blipFill>
                      <a:blip r:embed="rId10"/>
                      <a:stretch>
                        <a:fillRect/>
                      </a:stretch>
                    </p:blipFill>
                    <p:spPr>
                      <a:xfrm>
                        <a:off x="309563" y="2379663"/>
                        <a:ext cx="5600700" cy="1577975"/>
                      </a:xfrm>
                      <a:prstGeom prst="rect">
                        <a:avLst/>
                      </a:prstGeom>
                    </p:spPr>
                  </p:pic>
                </p:oleObj>
              </mc:Fallback>
            </mc:AlternateContent>
          </a:graphicData>
        </a:graphic>
      </p:graphicFrame>
    </p:spTree>
    <p:extLst>
      <p:ext uri="{BB962C8B-B14F-4D97-AF65-F5344CB8AC3E}">
        <p14:creationId xmlns:p14="http://schemas.microsoft.com/office/powerpoint/2010/main" val="1886579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80D6F3-2917-AED3-B670-79ACE38A2FA8}"/>
              </a:ext>
            </a:extLst>
          </p:cNvPr>
          <p:cNvSpPr>
            <a:spLocks noGrp="1"/>
          </p:cNvSpPr>
          <p:nvPr>
            <p:ph type="body" sz="quarter" idx="18"/>
          </p:nvPr>
        </p:nvSpPr>
        <p:spPr/>
        <p:txBody>
          <a:bodyPr/>
          <a:lstStyle/>
          <a:p>
            <a:r>
              <a:rPr lang="en-US" dirty="0"/>
              <a:t>Source: B3, Bloomberg, XP Research. Data as of August 7, 2026.</a:t>
            </a:r>
          </a:p>
        </p:txBody>
      </p:sp>
      <p:sp>
        <p:nvSpPr>
          <p:cNvPr id="4" name="Text Placeholder 3">
            <a:extLst>
              <a:ext uri="{FF2B5EF4-FFF2-40B4-BE49-F238E27FC236}">
                <a16:creationId xmlns:a16="http://schemas.microsoft.com/office/drawing/2014/main" id="{FD4ACE04-7CF9-3629-3FCD-C6A0B4CFA305}"/>
              </a:ext>
            </a:extLst>
          </p:cNvPr>
          <p:cNvSpPr>
            <a:spLocks noGrp="1"/>
          </p:cNvSpPr>
          <p:nvPr>
            <p:ph type="body" sz="quarter" idx="24"/>
          </p:nvPr>
        </p:nvSpPr>
        <p:spPr/>
        <p:txBody>
          <a:bodyPr/>
          <a:lstStyle/>
          <a:p>
            <a:pPr marL="171450" indent="-171450">
              <a:lnSpc>
                <a:spcPct val="114000"/>
              </a:lnSpc>
              <a:buFont typeface="Arial" panose="020B0604020202020204" pitchFamily="34" charset="0"/>
              <a:buChar char="•"/>
            </a:pPr>
            <a:r>
              <a:rPr lang="en-US" dirty="0"/>
              <a:t>In July, Equity funds allocation was stable at 6.1%, remaining below the 10-year average of 7.3%.</a:t>
            </a:r>
          </a:p>
          <a:p>
            <a:pPr marL="171450" indent="-171450">
              <a:lnSpc>
                <a:spcPct val="114000"/>
              </a:lnSpc>
              <a:buFont typeface="Arial" panose="020B0604020202020204" pitchFamily="34" charset="0"/>
              <a:buChar char="•"/>
            </a:pPr>
            <a:r>
              <a:rPr lang="en-US" dirty="0"/>
              <a:t>Meanwhile, allocation to Fixed income funds decreased 0.1 p.p to 42.7%, while Hedge funds decreased by 0.2 p.p to 13.7% of total allocation.</a:t>
            </a:r>
          </a:p>
          <a:p>
            <a:pPr marL="171450" indent="-171450">
              <a:lnSpc>
                <a:spcPct val="114000"/>
              </a:lnSpc>
              <a:buFont typeface="Arial" panose="020B0604020202020204" pitchFamily="34" charset="0"/>
              <a:buChar char="•"/>
            </a:pPr>
            <a:r>
              <a:rPr lang="en-US" dirty="0"/>
              <a:t>On the other hand, the AUM of Equity funds increased by R$ 5.7bn in July, reaching R$ 682.2bn, while Fixed income funds recorded an increase of R$ 72.2bn, and Hedge funds a gain of R$ 8.6bn.</a:t>
            </a:r>
          </a:p>
        </p:txBody>
      </p:sp>
      <p:sp>
        <p:nvSpPr>
          <p:cNvPr id="11" name="Text Placeholder 10">
            <a:extLst>
              <a:ext uri="{FF2B5EF4-FFF2-40B4-BE49-F238E27FC236}">
                <a16:creationId xmlns:a16="http://schemas.microsoft.com/office/drawing/2014/main" id="{EA4A4EAB-9997-4F6A-2B94-D10919F4F63C}"/>
              </a:ext>
            </a:extLst>
          </p:cNvPr>
          <p:cNvSpPr>
            <a:spLocks noGrp="1"/>
          </p:cNvSpPr>
          <p:nvPr>
            <p:ph type="body" sz="quarter" idx="16"/>
          </p:nvPr>
        </p:nvSpPr>
        <p:spPr/>
        <p:txBody>
          <a:bodyPr/>
          <a:lstStyle/>
          <a:p>
            <a:r>
              <a:rPr lang="pt-BR" dirty="0" err="1"/>
              <a:t>Funds</a:t>
            </a:r>
            <a:r>
              <a:rPr lang="pt-BR" dirty="0"/>
              <a:t> </a:t>
            </a:r>
            <a:r>
              <a:rPr lang="pt-BR" dirty="0" err="1"/>
              <a:t>allocation</a:t>
            </a:r>
            <a:endParaRPr lang="pt-BR" dirty="0"/>
          </a:p>
        </p:txBody>
      </p:sp>
      <p:sp>
        <p:nvSpPr>
          <p:cNvPr id="12" name="Text Placeholder 11">
            <a:extLst>
              <a:ext uri="{FF2B5EF4-FFF2-40B4-BE49-F238E27FC236}">
                <a16:creationId xmlns:a16="http://schemas.microsoft.com/office/drawing/2014/main" id="{925D084E-7C1E-D5AF-D722-C724E656BF67}"/>
              </a:ext>
            </a:extLst>
          </p:cNvPr>
          <p:cNvSpPr>
            <a:spLocks noGrp="1"/>
          </p:cNvSpPr>
          <p:nvPr>
            <p:ph type="body" sz="quarter" idx="17"/>
          </p:nvPr>
        </p:nvSpPr>
        <p:spPr/>
        <p:txBody>
          <a:bodyPr/>
          <a:lstStyle/>
          <a:p>
            <a:r>
              <a:rPr lang="en-US" dirty="0">
                <a:solidFill>
                  <a:schemeClr val="tx1"/>
                </a:solidFill>
              </a:rPr>
              <a:t>Equity funds allocation remains stable at 6.1%</a:t>
            </a:r>
            <a:endParaRPr lang="pt-BR" dirty="0">
              <a:solidFill>
                <a:schemeClr val="tx1"/>
              </a:solidFill>
            </a:endParaRPr>
          </a:p>
        </p:txBody>
      </p:sp>
      <p:sp>
        <p:nvSpPr>
          <p:cNvPr id="13" name="Date Placeholder 12">
            <a:extLst>
              <a:ext uri="{FF2B5EF4-FFF2-40B4-BE49-F238E27FC236}">
                <a16:creationId xmlns:a16="http://schemas.microsoft.com/office/drawing/2014/main" id="{A4EA4B1B-97D4-18E5-56FA-EDF7187B82C7}"/>
              </a:ext>
            </a:extLst>
          </p:cNvPr>
          <p:cNvSpPr>
            <a:spLocks noGrp="1"/>
          </p:cNvSpPr>
          <p:nvPr>
            <p:ph type="dt" sz="half" idx="2"/>
          </p:nvPr>
        </p:nvSpPr>
        <p:spPr/>
        <p:txBody>
          <a:bodyPr/>
          <a:lstStyle/>
          <a:p>
            <a:fld id="{6B37B724-EF64-4BE4-A4A8-DD688A529BBA}" type="datetime4">
              <a:rPr lang="en-US" smtClean="0"/>
              <a:pPr/>
              <a:t>August 10, 2026</a:t>
            </a:fld>
            <a:endParaRPr lang="en-US"/>
          </a:p>
        </p:txBody>
      </p:sp>
      <p:sp>
        <p:nvSpPr>
          <p:cNvPr id="3" name="Content Placeholder 5">
            <a:extLst>
              <a:ext uri="{FF2B5EF4-FFF2-40B4-BE49-F238E27FC236}">
                <a16:creationId xmlns:a16="http://schemas.microsoft.com/office/drawing/2014/main" id="{32E9C0F9-662E-9AFA-B54F-348E15FBB084}"/>
              </a:ext>
            </a:extLst>
          </p:cNvPr>
          <p:cNvSpPr txBox="1">
            <a:spLocks/>
          </p:cNvSpPr>
          <p:nvPr/>
        </p:nvSpPr>
        <p:spPr>
          <a:xfrm>
            <a:off x="6275637" y="2073600"/>
            <a:ext cx="55692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20: Total AUM of Equity funds and funds industry vs. relative allocation to equities (R$ trillion)</a:t>
            </a:r>
          </a:p>
        </p:txBody>
      </p:sp>
      <p:sp>
        <p:nvSpPr>
          <p:cNvPr id="6" name="Content Placeholder 5">
            <a:extLst>
              <a:ext uri="{FF2B5EF4-FFF2-40B4-BE49-F238E27FC236}">
                <a16:creationId xmlns:a16="http://schemas.microsoft.com/office/drawing/2014/main" id="{CBBD187B-FDB2-B94C-FB64-ABED5AD81FC4}"/>
              </a:ext>
            </a:extLst>
          </p:cNvPr>
          <p:cNvSpPr txBox="1">
            <a:spLocks/>
          </p:cNvSpPr>
          <p:nvPr/>
        </p:nvSpPr>
        <p:spPr>
          <a:xfrm>
            <a:off x="340813" y="2074131"/>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19: Annual relative allocation to equity funds, hedge funds, fixed income funds and other funds</a:t>
            </a:r>
          </a:p>
        </p:txBody>
      </p:sp>
      <p:graphicFrame>
        <p:nvGraphicFramePr>
          <p:cNvPr id="10" name="Object 9">
            <a:extLst>
              <a:ext uri="{FF2B5EF4-FFF2-40B4-BE49-F238E27FC236}">
                <a16:creationId xmlns:a16="http://schemas.microsoft.com/office/drawing/2014/main" id="{9E4AEB98-9533-DBC9-4C64-A2E41EB318C9}"/>
              </a:ext>
            </a:extLst>
          </p:cNvPr>
          <p:cNvGraphicFramePr>
            <a:graphicFrameLocks noChangeAspect="1"/>
          </p:cNvGraphicFramePr>
          <p:nvPr>
            <p:extLst>
              <p:ext uri="{D42A27DB-BD31-4B8C-83A1-F6EECF244321}">
                <p14:modId xmlns:p14="http://schemas.microsoft.com/office/powerpoint/2010/main" val="3863324175"/>
              </p:ext>
            </p:extLst>
          </p:nvPr>
        </p:nvGraphicFramePr>
        <p:xfrm>
          <a:off x="353764" y="2378476"/>
          <a:ext cx="5562600" cy="3848100"/>
        </p:xfrm>
        <a:graphic>
          <a:graphicData uri="http://schemas.openxmlformats.org/presentationml/2006/ole">
            <mc:AlternateContent xmlns:mc="http://schemas.openxmlformats.org/markup-compatibility/2006">
              <mc:Choice xmlns:v="urn:schemas-microsoft-com:vml" Requires="v">
                <p:oleObj name="Worksheet" r:id="rId3" imgW="5562529" imgH="3847974" progId="Excel.Sheet.12">
                  <p:link updateAutomatic="1"/>
                </p:oleObj>
              </mc:Choice>
              <mc:Fallback>
                <p:oleObj name="Worksheet" r:id="rId3" imgW="5562529" imgH="3847974" progId="Excel.Sheet.12">
                  <p:link updateAutomatic="1"/>
                  <p:pic>
                    <p:nvPicPr>
                      <p:cNvPr id="0" name=""/>
                      <p:cNvPicPr/>
                      <p:nvPr/>
                    </p:nvPicPr>
                    <p:blipFill>
                      <a:blip r:embed="rId4"/>
                      <a:stretch>
                        <a:fillRect/>
                      </a:stretch>
                    </p:blipFill>
                    <p:spPr>
                      <a:xfrm>
                        <a:off x="353764" y="2378476"/>
                        <a:ext cx="5562600" cy="38481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A9243DE7-0879-74FC-9EC1-4D4D4F6A75C7}"/>
              </a:ext>
            </a:extLst>
          </p:cNvPr>
          <p:cNvGraphicFramePr>
            <a:graphicFrameLocks noChangeAspect="1"/>
          </p:cNvGraphicFramePr>
          <p:nvPr>
            <p:extLst>
              <p:ext uri="{D42A27DB-BD31-4B8C-83A1-F6EECF244321}">
                <p14:modId xmlns:p14="http://schemas.microsoft.com/office/powerpoint/2010/main" val="3316257594"/>
              </p:ext>
            </p:extLst>
          </p:nvPr>
        </p:nvGraphicFramePr>
        <p:xfrm>
          <a:off x="6275388" y="2341563"/>
          <a:ext cx="5532437" cy="3741737"/>
        </p:xfrm>
        <a:graphic>
          <a:graphicData uri="http://schemas.openxmlformats.org/presentationml/2006/ole">
            <mc:AlternateContent xmlns:mc="http://schemas.openxmlformats.org/markup-compatibility/2006">
              <mc:Choice xmlns:v="urn:schemas-microsoft-com:vml" Requires="v">
                <p:oleObj name="Worksheet" r:id="rId5" imgW="5531907" imgH="3741074" progId="Excel.Sheet.12">
                  <p:link updateAutomatic="1"/>
                </p:oleObj>
              </mc:Choice>
              <mc:Fallback>
                <p:oleObj name="Worksheet" r:id="rId5" imgW="5531907" imgH="3741074" progId="Excel.Sheet.12">
                  <p:link updateAutomatic="1"/>
                  <p:pic>
                    <p:nvPicPr>
                      <p:cNvPr id="0" name=""/>
                      <p:cNvPicPr/>
                      <p:nvPr/>
                    </p:nvPicPr>
                    <p:blipFill>
                      <a:blip r:embed="rId6"/>
                      <a:stretch>
                        <a:fillRect/>
                      </a:stretch>
                    </p:blipFill>
                    <p:spPr>
                      <a:xfrm>
                        <a:off x="6275388" y="2341563"/>
                        <a:ext cx="5532437" cy="3741737"/>
                      </a:xfrm>
                      <a:prstGeom prst="rect">
                        <a:avLst/>
                      </a:prstGeom>
                    </p:spPr>
                  </p:pic>
                </p:oleObj>
              </mc:Fallback>
            </mc:AlternateContent>
          </a:graphicData>
        </a:graphic>
      </p:graphicFrame>
    </p:spTree>
    <p:extLst>
      <p:ext uri="{BB962C8B-B14F-4D97-AF65-F5344CB8AC3E}">
        <p14:creationId xmlns:p14="http://schemas.microsoft.com/office/powerpoint/2010/main" val="57019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80D6F3-2917-AED3-B670-79ACE38A2FA8}"/>
              </a:ext>
            </a:extLst>
          </p:cNvPr>
          <p:cNvSpPr>
            <a:spLocks noGrp="1"/>
          </p:cNvSpPr>
          <p:nvPr>
            <p:ph type="body" sz="quarter" idx="18"/>
          </p:nvPr>
        </p:nvSpPr>
        <p:spPr/>
        <p:txBody>
          <a:bodyPr/>
          <a:lstStyle/>
          <a:p>
            <a:r>
              <a:rPr lang="en-US" dirty="0"/>
              <a:t>Source: B3, Bloomberg, XP Research. Data as of August 7, 2026.</a:t>
            </a:r>
          </a:p>
        </p:txBody>
      </p:sp>
      <p:sp>
        <p:nvSpPr>
          <p:cNvPr id="4" name="Text Placeholder 3">
            <a:extLst>
              <a:ext uri="{FF2B5EF4-FFF2-40B4-BE49-F238E27FC236}">
                <a16:creationId xmlns:a16="http://schemas.microsoft.com/office/drawing/2014/main" id="{FD4ACE04-7CF9-3629-3FCD-C6A0B4CFA305}"/>
              </a:ext>
            </a:extLst>
          </p:cNvPr>
          <p:cNvSpPr>
            <a:spLocks noGrp="1"/>
          </p:cNvSpPr>
          <p:nvPr>
            <p:ph type="body" sz="quarter" idx="24"/>
          </p:nvPr>
        </p:nvSpPr>
        <p:spPr/>
        <p:txBody>
          <a:bodyPr/>
          <a:lstStyle/>
          <a:p>
            <a:pPr marL="171450" indent="-171450">
              <a:lnSpc>
                <a:spcPct val="114000"/>
              </a:lnSpc>
              <a:buFont typeface="Arial" panose="020B0604020202020204" pitchFamily="34" charset="0"/>
              <a:buChar char="•"/>
            </a:pPr>
            <a:r>
              <a:rPr lang="en-US" dirty="0"/>
              <a:t>Among equity fund categories, the relative allocation to Active funds increased 0.4 p.p to 43.1%, while International Equities funds decreased 0.5 p.p, representing 40.0% of the total share.</a:t>
            </a:r>
          </a:p>
          <a:p>
            <a:pPr marL="171450" indent="-171450">
              <a:lnSpc>
                <a:spcPct val="114000"/>
              </a:lnSpc>
              <a:buFont typeface="Arial" panose="020B0604020202020204" pitchFamily="34" charset="0"/>
              <a:buChar char="•"/>
            </a:pPr>
            <a:r>
              <a:rPr lang="en-US" dirty="0"/>
              <a:t>In July, Equity funds recorded R$ 1.4bn of net outflows, with all three categories in negative territory: International equity funds (-R$ 0.7bn), Others (-R$ 0.4bn) and Active funds (-R$ 0.3bn).</a:t>
            </a:r>
          </a:p>
          <a:p>
            <a:pPr marL="171450" indent="-171450">
              <a:lnSpc>
                <a:spcPct val="114000"/>
              </a:lnSpc>
              <a:buFont typeface="Arial" panose="020B0604020202020204" pitchFamily="34" charset="0"/>
              <a:buChar char="•"/>
            </a:pPr>
            <a:r>
              <a:rPr lang="en-US" dirty="0"/>
              <a:t>YTD, active equity funds recorded net redemptions of R$ 12.3bn, while international equity funds recorded net inflows of R$ 11.4bn. </a:t>
            </a:r>
          </a:p>
        </p:txBody>
      </p:sp>
      <p:sp>
        <p:nvSpPr>
          <p:cNvPr id="11" name="Text Placeholder 10">
            <a:extLst>
              <a:ext uri="{FF2B5EF4-FFF2-40B4-BE49-F238E27FC236}">
                <a16:creationId xmlns:a16="http://schemas.microsoft.com/office/drawing/2014/main" id="{EA4A4EAB-9997-4F6A-2B94-D10919F4F63C}"/>
              </a:ext>
            </a:extLst>
          </p:cNvPr>
          <p:cNvSpPr>
            <a:spLocks noGrp="1"/>
          </p:cNvSpPr>
          <p:nvPr>
            <p:ph type="body" sz="quarter" idx="16"/>
          </p:nvPr>
        </p:nvSpPr>
        <p:spPr/>
        <p:txBody>
          <a:bodyPr/>
          <a:lstStyle/>
          <a:p>
            <a:r>
              <a:rPr lang="pt-BR" dirty="0" err="1"/>
              <a:t>Equity</a:t>
            </a:r>
            <a:r>
              <a:rPr lang="pt-BR" dirty="0"/>
              <a:t> </a:t>
            </a:r>
            <a:r>
              <a:rPr lang="pt-BR" dirty="0" err="1"/>
              <a:t>funds</a:t>
            </a:r>
            <a:r>
              <a:rPr lang="pt-BR" dirty="0"/>
              <a:t> </a:t>
            </a:r>
            <a:r>
              <a:rPr lang="pt-BR" dirty="0" err="1"/>
              <a:t>allocation</a:t>
            </a:r>
            <a:endParaRPr lang="pt-BR" dirty="0"/>
          </a:p>
        </p:txBody>
      </p:sp>
      <p:sp>
        <p:nvSpPr>
          <p:cNvPr id="12" name="Text Placeholder 11">
            <a:extLst>
              <a:ext uri="{FF2B5EF4-FFF2-40B4-BE49-F238E27FC236}">
                <a16:creationId xmlns:a16="http://schemas.microsoft.com/office/drawing/2014/main" id="{925D084E-7C1E-D5AF-D722-C724E656BF67}"/>
              </a:ext>
            </a:extLst>
          </p:cNvPr>
          <p:cNvSpPr>
            <a:spLocks noGrp="1"/>
          </p:cNvSpPr>
          <p:nvPr>
            <p:ph type="body" sz="quarter" idx="17"/>
          </p:nvPr>
        </p:nvSpPr>
        <p:spPr/>
        <p:txBody>
          <a:bodyPr/>
          <a:lstStyle/>
          <a:p>
            <a:r>
              <a:rPr lang="pt-BR" dirty="0">
                <a:solidFill>
                  <a:schemeClr val="tx1"/>
                </a:solidFill>
              </a:rPr>
              <a:t>All equity fund classes posted redemptions</a:t>
            </a:r>
            <a:endParaRPr lang="pt-BR" dirty="0">
              <a:solidFill>
                <a:schemeClr val="tx1"/>
              </a:solidFill>
            </a:endParaRPr>
          </a:p>
        </p:txBody>
      </p:sp>
      <p:sp>
        <p:nvSpPr>
          <p:cNvPr id="13" name="Date Placeholder 12">
            <a:extLst>
              <a:ext uri="{FF2B5EF4-FFF2-40B4-BE49-F238E27FC236}">
                <a16:creationId xmlns:a16="http://schemas.microsoft.com/office/drawing/2014/main" id="{A4EA4B1B-97D4-18E5-56FA-EDF7187B82C7}"/>
              </a:ext>
            </a:extLst>
          </p:cNvPr>
          <p:cNvSpPr>
            <a:spLocks noGrp="1"/>
          </p:cNvSpPr>
          <p:nvPr>
            <p:ph type="dt" sz="half" idx="2"/>
          </p:nvPr>
        </p:nvSpPr>
        <p:spPr/>
        <p:txBody>
          <a:bodyPr/>
          <a:lstStyle/>
          <a:p>
            <a:fld id="{6B37B724-EF64-4BE4-A4A8-DD688A529BBA}" type="datetime4">
              <a:rPr lang="en-US" smtClean="0"/>
              <a:pPr/>
              <a:t>August 10, 2026</a:t>
            </a:fld>
            <a:endParaRPr lang="en-US"/>
          </a:p>
        </p:txBody>
      </p:sp>
      <p:sp>
        <p:nvSpPr>
          <p:cNvPr id="3" name="Content Placeholder 5">
            <a:extLst>
              <a:ext uri="{FF2B5EF4-FFF2-40B4-BE49-F238E27FC236}">
                <a16:creationId xmlns:a16="http://schemas.microsoft.com/office/drawing/2014/main" id="{32E9C0F9-662E-9AFA-B54F-348E15FBB084}"/>
              </a:ext>
            </a:extLst>
          </p:cNvPr>
          <p:cNvSpPr txBox="1">
            <a:spLocks/>
          </p:cNvSpPr>
          <p:nvPr/>
        </p:nvSpPr>
        <p:spPr>
          <a:xfrm>
            <a:off x="6275637" y="2073600"/>
            <a:ext cx="55692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22: Relative allocation across Equity funds classes</a:t>
            </a:r>
          </a:p>
        </p:txBody>
      </p:sp>
      <p:sp>
        <p:nvSpPr>
          <p:cNvPr id="6" name="Content Placeholder 5">
            <a:extLst>
              <a:ext uri="{FF2B5EF4-FFF2-40B4-BE49-F238E27FC236}">
                <a16:creationId xmlns:a16="http://schemas.microsoft.com/office/drawing/2014/main" id="{CBBD187B-FDB2-B94C-FB64-ABED5AD81FC4}"/>
              </a:ext>
            </a:extLst>
          </p:cNvPr>
          <p:cNvSpPr txBox="1">
            <a:spLocks/>
          </p:cNvSpPr>
          <p:nvPr/>
        </p:nvSpPr>
        <p:spPr>
          <a:xfrm>
            <a:off x="340813" y="2074131"/>
            <a:ext cx="557555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t>Chart 21: Net flow of Equity funds classes (R$ billion)</a:t>
            </a:r>
          </a:p>
        </p:txBody>
      </p:sp>
      <p:graphicFrame>
        <p:nvGraphicFramePr>
          <p:cNvPr id="9" name="Object 8">
            <a:extLst>
              <a:ext uri="{FF2B5EF4-FFF2-40B4-BE49-F238E27FC236}">
                <a16:creationId xmlns:a16="http://schemas.microsoft.com/office/drawing/2014/main" id="{92AE0501-BC29-3E92-51EE-56139673289B}"/>
              </a:ext>
            </a:extLst>
          </p:cNvPr>
          <p:cNvGraphicFramePr>
            <a:graphicFrameLocks noChangeAspect="1"/>
          </p:cNvGraphicFramePr>
          <p:nvPr>
            <p:extLst>
              <p:ext uri="{D42A27DB-BD31-4B8C-83A1-F6EECF244321}">
                <p14:modId xmlns:p14="http://schemas.microsoft.com/office/powerpoint/2010/main" val="5412569"/>
              </p:ext>
            </p:extLst>
          </p:nvPr>
        </p:nvGraphicFramePr>
        <p:xfrm>
          <a:off x="6299200" y="2359025"/>
          <a:ext cx="5554663" cy="3619500"/>
        </p:xfrm>
        <a:graphic>
          <a:graphicData uri="http://schemas.openxmlformats.org/presentationml/2006/ole">
            <mc:AlternateContent xmlns:mc="http://schemas.openxmlformats.org/markup-compatibility/2006">
              <mc:Choice xmlns:v="urn:schemas-microsoft-com:vml" Requires="v">
                <p:oleObj name="Worksheet" r:id="rId3" imgW="5554874" imgH="3619327" progId="Excel.Sheet.12">
                  <p:link updateAutomatic="1"/>
                </p:oleObj>
              </mc:Choice>
              <mc:Fallback>
                <p:oleObj name="Worksheet" r:id="rId3" imgW="5554874" imgH="3619327" progId="Excel.Sheet.12">
                  <p:link updateAutomatic="1"/>
                  <p:pic>
                    <p:nvPicPr>
                      <p:cNvPr id="0" name=""/>
                      <p:cNvPicPr/>
                      <p:nvPr/>
                    </p:nvPicPr>
                    <p:blipFill>
                      <a:blip r:embed="rId4"/>
                      <a:stretch>
                        <a:fillRect/>
                      </a:stretch>
                    </p:blipFill>
                    <p:spPr>
                      <a:xfrm>
                        <a:off x="6299200" y="2359025"/>
                        <a:ext cx="5554663" cy="36195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D262C404-EA2C-B210-98D3-50A496DA6547}"/>
              </a:ext>
            </a:extLst>
          </p:cNvPr>
          <p:cNvGraphicFramePr>
            <a:graphicFrameLocks noChangeAspect="1"/>
          </p:cNvGraphicFramePr>
          <p:nvPr>
            <p:extLst>
              <p:ext uri="{D42A27DB-BD31-4B8C-83A1-F6EECF244321}">
                <p14:modId xmlns:p14="http://schemas.microsoft.com/office/powerpoint/2010/main" val="541605924"/>
              </p:ext>
            </p:extLst>
          </p:nvPr>
        </p:nvGraphicFramePr>
        <p:xfrm>
          <a:off x="336550" y="2463800"/>
          <a:ext cx="5578475" cy="3482975"/>
        </p:xfrm>
        <a:graphic>
          <a:graphicData uri="http://schemas.openxmlformats.org/presentationml/2006/ole">
            <mc:AlternateContent xmlns:mc="http://schemas.openxmlformats.org/markup-compatibility/2006">
              <mc:Choice xmlns:v="urn:schemas-microsoft-com:vml" Requires="v">
                <p:oleObj name="Worksheet" r:id="rId5" imgW="5577840" imgH="3482309" progId="Excel.Sheet.12">
                  <p:link updateAutomatic="1"/>
                </p:oleObj>
              </mc:Choice>
              <mc:Fallback>
                <p:oleObj name="Worksheet" r:id="rId5" imgW="5577840" imgH="3482309" progId="Excel.Sheet.12">
                  <p:link updateAutomatic="1"/>
                  <p:pic>
                    <p:nvPicPr>
                      <p:cNvPr id="0" name=""/>
                      <p:cNvPicPr/>
                      <p:nvPr/>
                    </p:nvPicPr>
                    <p:blipFill>
                      <a:blip r:embed="rId6"/>
                      <a:stretch>
                        <a:fillRect/>
                      </a:stretch>
                    </p:blipFill>
                    <p:spPr>
                      <a:xfrm>
                        <a:off x="336550" y="2463800"/>
                        <a:ext cx="5578475" cy="3482975"/>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FF7F7090-CD86-9ECB-A065-0B61E00D49A3}"/>
              </a:ext>
            </a:extLst>
          </p:cNvPr>
          <p:cNvSpPr txBox="1"/>
          <p:nvPr/>
        </p:nvSpPr>
        <p:spPr>
          <a:xfrm>
            <a:off x="1964267" y="3073400"/>
            <a:ext cx="381000" cy="369332"/>
          </a:xfrm>
          <a:prstGeom prst="rect">
            <a:avLst/>
          </a:prstGeom>
          <a:noFill/>
        </p:spPr>
        <p:txBody>
          <a:bodyPr wrap="square" rtlCol="0">
            <a:spAutoFit/>
          </a:bodyPr>
          <a:lstStyle/>
          <a:p>
            <a:pPr algn="l"/>
            <a:endParaRPr lang="pt-BR" dirty="0" err="1">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07092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7D89C8-5D8D-DF23-9EAB-BF3B48D2F1CD}"/>
              </a:ext>
            </a:extLst>
          </p:cNvPr>
          <p:cNvSpPr>
            <a:spLocks noGrp="1"/>
          </p:cNvSpPr>
          <p:nvPr>
            <p:ph type="body" sz="quarter" idx="18"/>
          </p:nvPr>
        </p:nvSpPr>
        <p:spPr/>
        <p:txBody>
          <a:bodyPr/>
          <a:lstStyle/>
          <a:p>
            <a:r>
              <a:rPr lang="en-US" dirty="0"/>
              <a:t>Source: B3, XP Research. Data as of August 7, 2026.</a:t>
            </a:r>
          </a:p>
        </p:txBody>
      </p:sp>
      <p:sp>
        <p:nvSpPr>
          <p:cNvPr id="4" name="Text Placeholder 3">
            <a:extLst>
              <a:ext uri="{FF2B5EF4-FFF2-40B4-BE49-F238E27FC236}">
                <a16:creationId xmlns:a16="http://schemas.microsoft.com/office/drawing/2014/main" id="{339D5F70-864E-A4BB-311D-C0120E88A516}"/>
              </a:ext>
            </a:extLst>
          </p:cNvPr>
          <p:cNvSpPr>
            <a:spLocks noGrp="1"/>
          </p:cNvSpPr>
          <p:nvPr>
            <p:ph type="body" sz="quarter" idx="24"/>
          </p:nvPr>
        </p:nvSpPr>
        <p:spPr/>
        <p:txBody>
          <a:bodyPr/>
          <a:lstStyle/>
          <a:p>
            <a:pPr marL="171450" indent="-171450">
              <a:lnSpc>
                <a:spcPct val="114000"/>
              </a:lnSpc>
              <a:buFont typeface="Arial" panose="020B0604020202020204" pitchFamily="34" charset="0"/>
              <a:buChar char="•"/>
            </a:pPr>
            <a:r>
              <a:rPr lang="en-US" dirty="0"/>
              <a:t>Foreign investors participation decreased by 2.2 p.p MoM to 57.5%, but remains above its historical average of 52.9%. Meanwhile, institutional investors participation increased 0.6 p.p to 25.5%.</a:t>
            </a:r>
          </a:p>
          <a:p>
            <a:pPr marL="171450" indent="-171450">
              <a:lnSpc>
                <a:spcPct val="114000"/>
              </a:lnSpc>
              <a:buFont typeface="Arial" panose="020B0604020202020204" pitchFamily="34" charset="0"/>
              <a:buChar char="•"/>
            </a:pPr>
            <a:r>
              <a:rPr lang="en-US" dirty="0"/>
              <a:t>Individual investors participation increased 0.6 p.p to 12.5%, while the number of individual investors rose to 6.57mn.</a:t>
            </a:r>
          </a:p>
          <a:p>
            <a:pPr marL="171450" indent="-171450">
              <a:lnSpc>
                <a:spcPct val="114000"/>
              </a:lnSpc>
              <a:buFont typeface="Arial" panose="020B0604020202020204" pitchFamily="34" charset="0"/>
              <a:buChar char="•"/>
            </a:pPr>
            <a:r>
              <a:rPr lang="en-US" dirty="0"/>
              <a:t>In summary, the main participants in B3 are: foreign investors (57.5%), institutional (25.5%) and individuals (12.5%), which together represent 95.5% of markets participants in Brazil.</a:t>
            </a:r>
          </a:p>
        </p:txBody>
      </p:sp>
      <p:sp>
        <p:nvSpPr>
          <p:cNvPr id="6" name="Content Placeholder 5">
            <a:extLst>
              <a:ext uri="{FF2B5EF4-FFF2-40B4-BE49-F238E27FC236}">
                <a16:creationId xmlns:a16="http://schemas.microsoft.com/office/drawing/2014/main" id="{2C8AB9F0-DDA9-E793-409E-0E7B7457E571}"/>
              </a:ext>
            </a:extLst>
          </p:cNvPr>
          <p:cNvSpPr>
            <a:spLocks noGrp="1"/>
          </p:cNvSpPr>
          <p:nvPr>
            <p:ph sz="quarter" idx="25"/>
          </p:nvPr>
        </p:nvSpPr>
        <p:spPr>
          <a:xfrm>
            <a:off x="336000" y="2088989"/>
            <a:ext cx="3685087" cy="230832"/>
          </a:xfrm>
        </p:spPr>
        <p:txBody>
          <a:bodyPr/>
          <a:lstStyle/>
          <a:p>
            <a:r>
              <a:rPr lang="en-US" dirty="0"/>
              <a:t>Chart 23: # of individual investors (</a:t>
            </a:r>
            <a:r>
              <a:rPr lang="en-US" dirty="0" err="1"/>
              <a:t>mn</a:t>
            </a:r>
            <a:r>
              <a:rPr lang="en-US" dirty="0"/>
              <a:t>)</a:t>
            </a:r>
          </a:p>
        </p:txBody>
      </p:sp>
      <p:sp>
        <p:nvSpPr>
          <p:cNvPr id="8" name="Content Placeholder 7">
            <a:extLst>
              <a:ext uri="{FF2B5EF4-FFF2-40B4-BE49-F238E27FC236}">
                <a16:creationId xmlns:a16="http://schemas.microsoft.com/office/drawing/2014/main" id="{4DD35A18-95E2-BF37-EBAC-7A40DDAB30E9}"/>
              </a:ext>
            </a:extLst>
          </p:cNvPr>
          <p:cNvSpPr>
            <a:spLocks noGrp="1"/>
          </p:cNvSpPr>
          <p:nvPr>
            <p:ph sz="quarter" idx="27"/>
          </p:nvPr>
        </p:nvSpPr>
        <p:spPr>
          <a:xfrm>
            <a:off x="4253456" y="2088989"/>
            <a:ext cx="3685087" cy="230832"/>
          </a:xfrm>
        </p:spPr>
        <p:txBody>
          <a:bodyPr/>
          <a:lstStyle/>
          <a:p>
            <a:r>
              <a:rPr lang="pt-BR" dirty="0"/>
              <a:t>Chart 24: </a:t>
            </a:r>
            <a:r>
              <a:rPr lang="pt-BR" dirty="0" err="1"/>
              <a:t>Investors</a:t>
            </a:r>
            <a:r>
              <a:rPr lang="pt-BR" dirty="0"/>
              <a:t> </a:t>
            </a:r>
            <a:r>
              <a:rPr lang="pt-BR" dirty="0" err="1"/>
              <a:t>participation</a:t>
            </a:r>
            <a:r>
              <a:rPr lang="pt-BR" dirty="0"/>
              <a:t> </a:t>
            </a:r>
            <a:r>
              <a:rPr lang="pt-BR" dirty="0" err="1"/>
              <a:t>history</a:t>
            </a:r>
            <a:endParaRPr lang="pt-BR" dirty="0"/>
          </a:p>
        </p:txBody>
      </p:sp>
      <p:sp>
        <p:nvSpPr>
          <p:cNvPr id="10" name="Content Placeholder 9">
            <a:extLst>
              <a:ext uri="{FF2B5EF4-FFF2-40B4-BE49-F238E27FC236}">
                <a16:creationId xmlns:a16="http://schemas.microsoft.com/office/drawing/2014/main" id="{F9E8A7A1-CE90-C779-26BF-95332CB68A33}"/>
              </a:ext>
            </a:extLst>
          </p:cNvPr>
          <p:cNvSpPr>
            <a:spLocks noGrp="1"/>
          </p:cNvSpPr>
          <p:nvPr>
            <p:ph sz="quarter" idx="29"/>
          </p:nvPr>
        </p:nvSpPr>
        <p:spPr>
          <a:xfrm>
            <a:off x="8159750" y="2088989"/>
            <a:ext cx="3685087" cy="230832"/>
          </a:xfrm>
        </p:spPr>
        <p:txBody>
          <a:bodyPr/>
          <a:lstStyle/>
          <a:p>
            <a:r>
              <a:rPr lang="pt-BR" dirty="0"/>
              <a:t>Chart 25: </a:t>
            </a:r>
            <a:r>
              <a:rPr lang="pt-BR" dirty="0" err="1"/>
              <a:t>Investors</a:t>
            </a:r>
            <a:r>
              <a:rPr lang="pt-BR" dirty="0"/>
              <a:t> </a:t>
            </a:r>
            <a:r>
              <a:rPr lang="pt-BR" dirty="0" err="1"/>
              <a:t>participation</a:t>
            </a:r>
            <a:endParaRPr lang="pt-BR" dirty="0"/>
          </a:p>
        </p:txBody>
      </p:sp>
      <p:sp>
        <p:nvSpPr>
          <p:cNvPr id="11" name="Text Placeholder 10">
            <a:extLst>
              <a:ext uri="{FF2B5EF4-FFF2-40B4-BE49-F238E27FC236}">
                <a16:creationId xmlns:a16="http://schemas.microsoft.com/office/drawing/2014/main" id="{9B4DB371-04EC-9983-37E5-71A214F15CE4}"/>
              </a:ext>
            </a:extLst>
          </p:cNvPr>
          <p:cNvSpPr>
            <a:spLocks noGrp="1"/>
          </p:cNvSpPr>
          <p:nvPr>
            <p:ph type="body" sz="quarter" idx="16"/>
          </p:nvPr>
        </p:nvSpPr>
        <p:spPr/>
        <p:txBody>
          <a:bodyPr/>
          <a:lstStyle/>
          <a:p>
            <a:r>
              <a:rPr lang="pt-BR" dirty="0" err="1"/>
              <a:t>Investors</a:t>
            </a:r>
            <a:r>
              <a:rPr lang="pt-BR" dirty="0"/>
              <a:t> profile</a:t>
            </a:r>
          </a:p>
        </p:txBody>
      </p:sp>
      <p:sp>
        <p:nvSpPr>
          <p:cNvPr id="12" name="Text Placeholder 11">
            <a:extLst>
              <a:ext uri="{FF2B5EF4-FFF2-40B4-BE49-F238E27FC236}">
                <a16:creationId xmlns:a16="http://schemas.microsoft.com/office/drawing/2014/main" id="{C06D958F-891B-52BD-FEDB-7F10F4A3D923}"/>
              </a:ext>
            </a:extLst>
          </p:cNvPr>
          <p:cNvSpPr>
            <a:spLocks noGrp="1"/>
          </p:cNvSpPr>
          <p:nvPr>
            <p:ph type="body" sz="quarter" idx="17"/>
          </p:nvPr>
        </p:nvSpPr>
        <p:spPr/>
        <p:txBody>
          <a:bodyPr/>
          <a:lstStyle/>
          <a:p>
            <a:r>
              <a:rPr lang="en-US" dirty="0">
                <a:solidFill>
                  <a:schemeClr val="tx1"/>
                </a:solidFill>
              </a:rPr>
              <a:t>Foreign investor participation declines</a:t>
            </a:r>
          </a:p>
        </p:txBody>
      </p:sp>
      <p:sp>
        <p:nvSpPr>
          <p:cNvPr id="13" name="Date Placeholder 12">
            <a:extLst>
              <a:ext uri="{FF2B5EF4-FFF2-40B4-BE49-F238E27FC236}">
                <a16:creationId xmlns:a16="http://schemas.microsoft.com/office/drawing/2014/main" id="{F441BA28-B28D-66AE-E7A5-5BCE217E39F6}"/>
              </a:ext>
            </a:extLst>
          </p:cNvPr>
          <p:cNvSpPr>
            <a:spLocks noGrp="1"/>
          </p:cNvSpPr>
          <p:nvPr>
            <p:ph type="dt" sz="half" idx="2"/>
          </p:nvPr>
        </p:nvSpPr>
        <p:spPr/>
        <p:txBody>
          <a:bodyPr/>
          <a:lstStyle/>
          <a:p>
            <a:fld id="{6B37B724-EF64-4BE4-A4A8-DD688A529BBA}" type="datetime4">
              <a:rPr lang="en-US" smtClean="0"/>
              <a:pPr/>
              <a:t>August 10, 2026</a:t>
            </a:fld>
            <a:endParaRPr lang="en-US"/>
          </a:p>
        </p:txBody>
      </p:sp>
      <p:graphicFrame>
        <p:nvGraphicFramePr>
          <p:cNvPr id="3" name="Object 2">
            <a:extLst>
              <a:ext uri="{FF2B5EF4-FFF2-40B4-BE49-F238E27FC236}">
                <a16:creationId xmlns:a16="http://schemas.microsoft.com/office/drawing/2014/main" id="{1DB2B86A-8A04-A646-6A64-66DDA3FED9C0}"/>
              </a:ext>
            </a:extLst>
          </p:cNvPr>
          <p:cNvGraphicFramePr>
            <a:graphicFrameLocks noChangeAspect="1"/>
          </p:cNvGraphicFramePr>
          <p:nvPr>
            <p:extLst>
              <p:ext uri="{D42A27DB-BD31-4B8C-83A1-F6EECF244321}">
                <p14:modId xmlns:p14="http://schemas.microsoft.com/office/powerpoint/2010/main" val="3651611986"/>
              </p:ext>
            </p:extLst>
          </p:nvPr>
        </p:nvGraphicFramePr>
        <p:xfrm>
          <a:off x="4253467" y="2399938"/>
          <a:ext cx="3680414" cy="3312000"/>
        </p:xfrm>
        <a:graphic>
          <a:graphicData uri="http://schemas.openxmlformats.org/presentationml/2006/ole">
            <mc:AlternateContent xmlns:mc="http://schemas.openxmlformats.org/markup-compatibility/2006">
              <mc:Choice xmlns:v="urn:schemas-microsoft-com:vml" Requires="v">
                <p:oleObj name="Worksheet" r:id="rId3" imgW="3710763" imgH="3581149" progId="Excel.Sheet.12">
                  <p:link updateAutomatic="1"/>
                </p:oleObj>
              </mc:Choice>
              <mc:Fallback>
                <p:oleObj name="Worksheet" r:id="rId3" imgW="3710763" imgH="3581149" progId="Excel.Sheet.12">
                  <p:link updateAutomatic="1"/>
                  <p:pic>
                    <p:nvPicPr>
                      <p:cNvPr id="0" name=""/>
                      <p:cNvPicPr/>
                      <p:nvPr/>
                    </p:nvPicPr>
                    <p:blipFill>
                      <a:blip r:embed="rId4"/>
                      <a:stretch>
                        <a:fillRect/>
                      </a:stretch>
                    </p:blipFill>
                    <p:spPr>
                      <a:xfrm>
                        <a:off x="4253467" y="2399938"/>
                        <a:ext cx="3680414" cy="33120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C3626ADF-5A2C-332E-EBE3-B6F7FCDA6DDD}"/>
              </a:ext>
            </a:extLst>
          </p:cNvPr>
          <p:cNvGraphicFramePr>
            <a:graphicFrameLocks noChangeAspect="1"/>
          </p:cNvGraphicFramePr>
          <p:nvPr>
            <p:extLst>
              <p:ext uri="{D42A27DB-BD31-4B8C-83A1-F6EECF244321}">
                <p14:modId xmlns:p14="http://schemas.microsoft.com/office/powerpoint/2010/main" val="819548678"/>
              </p:ext>
            </p:extLst>
          </p:nvPr>
        </p:nvGraphicFramePr>
        <p:xfrm>
          <a:off x="8159750" y="2436813"/>
          <a:ext cx="3695700" cy="3573462"/>
        </p:xfrm>
        <a:graphic>
          <a:graphicData uri="http://schemas.openxmlformats.org/presentationml/2006/ole">
            <mc:AlternateContent xmlns:mc="http://schemas.openxmlformats.org/markup-compatibility/2006">
              <mc:Choice xmlns:v="urn:schemas-microsoft-com:vml" Requires="v">
                <p:oleObj name="Worksheet" r:id="rId5" imgW="3695452" imgH="3573513" progId="Excel.Sheet.12">
                  <p:link updateAutomatic="1"/>
                </p:oleObj>
              </mc:Choice>
              <mc:Fallback>
                <p:oleObj name="Worksheet" r:id="rId5" imgW="3695452" imgH="3573513" progId="Excel.Sheet.12">
                  <p:link updateAutomatic="1"/>
                  <p:pic>
                    <p:nvPicPr>
                      <p:cNvPr id="0" name=""/>
                      <p:cNvPicPr/>
                      <p:nvPr/>
                    </p:nvPicPr>
                    <p:blipFill>
                      <a:blip r:embed="rId6"/>
                      <a:stretch>
                        <a:fillRect/>
                      </a:stretch>
                    </p:blipFill>
                    <p:spPr>
                      <a:xfrm>
                        <a:off x="8159750" y="2436813"/>
                        <a:ext cx="3695700" cy="3573462"/>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AA215898-09FC-2664-04BE-7FE1CDE13A35}"/>
              </a:ext>
            </a:extLst>
          </p:cNvPr>
          <p:cNvGraphicFramePr>
            <a:graphicFrameLocks noChangeAspect="1"/>
          </p:cNvGraphicFramePr>
          <p:nvPr>
            <p:extLst>
              <p:ext uri="{D42A27DB-BD31-4B8C-83A1-F6EECF244321}">
                <p14:modId xmlns:p14="http://schemas.microsoft.com/office/powerpoint/2010/main" val="3260393533"/>
              </p:ext>
            </p:extLst>
          </p:nvPr>
        </p:nvGraphicFramePr>
        <p:xfrm>
          <a:off x="336550" y="2370138"/>
          <a:ext cx="3741738" cy="3276600"/>
        </p:xfrm>
        <a:graphic>
          <a:graphicData uri="http://schemas.openxmlformats.org/presentationml/2006/ole">
            <mc:AlternateContent xmlns:mc="http://schemas.openxmlformats.org/markup-compatibility/2006">
              <mc:Choice xmlns:v="urn:schemas-microsoft-com:vml" Requires="v">
                <p:oleObj name="Worksheet" r:id="rId7" imgW="3741385" imgH="3276569" progId="Excel.Sheet.12">
                  <p:link updateAutomatic="1"/>
                </p:oleObj>
              </mc:Choice>
              <mc:Fallback>
                <p:oleObj name="Worksheet" r:id="rId7" imgW="3741385" imgH="3276569" progId="Excel.Sheet.12">
                  <p:link updateAutomatic="1"/>
                  <p:pic>
                    <p:nvPicPr>
                      <p:cNvPr id="0" name=""/>
                      <p:cNvPicPr/>
                      <p:nvPr/>
                    </p:nvPicPr>
                    <p:blipFill>
                      <a:blip r:embed="rId8"/>
                      <a:stretch>
                        <a:fillRect/>
                      </a:stretch>
                    </p:blipFill>
                    <p:spPr>
                      <a:xfrm>
                        <a:off x="336550" y="2370138"/>
                        <a:ext cx="3741738" cy="3276600"/>
                      </a:xfrm>
                      <a:prstGeom prst="rect">
                        <a:avLst/>
                      </a:prstGeom>
                    </p:spPr>
                  </p:pic>
                </p:oleObj>
              </mc:Fallback>
            </mc:AlternateContent>
          </a:graphicData>
        </a:graphic>
      </p:graphicFrame>
    </p:spTree>
    <p:extLst>
      <p:ext uri="{BB962C8B-B14F-4D97-AF65-F5344CB8AC3E}">
        <p14:creationId xmlns:p14="http://schemas.microsoft.com/office/powerpoint/2010/main" val="3430534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24CC1E-9280-4D44-8A39-BFF8DF8C92B1}"/>
              </a:ext>
            </a:extLst>
          </p:cNvPr>
          <p:cNvSpPr>
            <a:spLocks noGrp="1"/>
          </p:cNvSpPr>
          <p:nvPr>
            <p:ph type="body" sz="quarter" idx="18"/>
          </p:nvPr>
        </p:nvSpPr>
        <p:spPr/>
        <p:txBody>
          <a:bodyPr/>
          <a:lstStyle/>
          <a:p>
            <a:endParaRPr lang="en-US"/>
          </a:p>
        </p:txBody>
      </p:sp>
      <p:sp>
        <p:nvSpPr>
          <p:cNvPr id="3" name="Date Placeholder 2">
            <a:extLst>
              <a:ext uri="{FF2B5EF4-FFF2-40B4-BE49-F238E27FC236}">
                <a16:creationId xmlns:a16="http://schemas.microsoft.com/office/drawing/2014/main" id="{77FC13B5-CD08-445D-A6FF-EA842C5E95E0}"/>
              </a:ext>
            </a:extLst>
          </p:cNvPr>
          <p:cNvSpPr>
            <a:spLocks noGrp="1"/>
          </p:cNvSpPr>
          <p:nvPr>
            <p:ph type="dt" sz="half" idx="2"/>
          </p:nvPr>
        </p:nvSpPr>
        <p:spPr/>
        <p:txBody>
          <a:bodyPr/>
          <a:lstStyle/>
          <a:p>
            <a:fld id="{E23A8C0B-53FA-405C-9923-9E46C92CE8AC}" type="datetime4">
              <a:rPr lang="en-US" smtClean="0"/>
              <a:pPr/>
              <a:t>August 10, 2026</a:t>
            </a:fld>
            <a:endParaRPr lang="en-US" dirty="0"/>
          </a:p>
        </p:txBody>
      </p:sp>
    </p:spTree>
    <p:extLst>
      <p:ext uri="{BB962C8B-B14F-4D97-AF65-F5344CB8AC3E}">
        <p14:creationId xmlns:p14="http://schemas.microsoft.com/office/powerpoint/2010/main" val="1265314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25006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ags/tag42.xml><?xml version="1.0" encoding="utf-8"?>
<p:tagLst xmlns:a="http://schemas.openxmlformats.org/drawingml/2006/main" xmlns:r="http://schemas.openxmlformats.org/officeDocument/2006/relationships" xmlns:p="http://schemas.openxmlformats.org/presentationml/2006/main">
  <p:tag name="MM_SLIDE_TYPE" val="6"/>
</p:tagLst>
</file>

<file path=ppt/tags/tag43.xml><?xml version="1.0" encoding="utf-8"?>
<p:tagLst xmlns:a="http://schemas.openxmlformats.org/drawingml/2006/main" xmlns:r="http://schemas.openxmlformats.org/officeDocument/2006/relationships" xmlns:p="http://schemas.openxmlformats.org/presentationml/2006/main">
  <p:tag name="MM_SLIDE_TYPE" val="6"/>
</p:tagLst>
</file>

<file path=ppt/tags/tag44.xml><?xml version="1.0" encoding="utf-8"?>
<p:tagLst xmlns:a="http://schemas.openxmlformats.org/drawingml/2006/main" xmlns:r="http://schemas.openxmlformats.org/officeDocument/2006/relationships" xmlns:p="http://schemas.openxmlformats.org/presentationml/2006/main">
  <p:tag name="MM_SLIDE_TYPE" val="6"/>
</p:tagLst>
</file>

<file path=ppt/tags/tag45.xml><?xml version="1.0" encoding="utf-8"?>
<p:tagLst xmlns:a="http://schemas.openxmlformats.org/drawingml/2006/main" xmlns:r="http://schemas.openxmlformats.org/officeDocument/2006/relationships" xmlns:p="http://schemas.openxmlformats.org/presentationml/2006/main">
  <p:tag name="MM_SLIDE_TYPE" val="6"/>
</p:tagLst>
</file>

<file path=ppt/tags/tag46.xml><?xml version="1.0" encoding="utf-8"?>
<p:tagLst xmlns:a="http://schemas.openxmlformats.org/drawingml/2006/main" xmlns:r="http://schemas.openxmlformats.org/officeDocument/2006/relationships" xmlns:p="http://schemas.openxmlformats.org/presentationml/2006/main">
  <p:tag name="MM_SLIDE_TYPE" val="6"/>
</p:tagLst>
</file>

<file path=ppt/tags/tag47.xml><?xml version="1.0" encoding="utf-8"?>
<p:tagLst xmlns:a="http://schemas.openxmlformats.org/drawingml/2006/main" xmlns:r="http://schemas.openxmlformats.org/officeDocument/2006/relationships" xmlns:p="http://schemas.openxmlformats.org/presentationml/2006/main">
  <p:tag name="MM_SLIDE_TYPE" val="6"/>
</p:tagLst>
</file>

<file path=ppt/tags/tag48.xml><?xml version="1.0" encoding="utf-8"?>
<p:tagLst xmlns:a="http://schemas.openxmlformats.org/drawingml/2006/main" xmlns:r="http://schemas.openxmlformats.org/officeDocument/2006/relationships" xmlns:p="http://schemas.openxmlformats.org/presentationml/2006/main">
  <p:tag name="MM_SLIDE_TYPE" val="6"/>
</p:tagLst>
</file>

<file path=ppt/tags/tag49.xml><?xml version="1.0" encoding="utf-8"?>
<p:tagLst xmlns:a="http://schemas.openxmlformats.org/drawingml/2006/main" xmlns:r="http://schemas.openxmlformats.org/officeDocument/2006/relationships" xmlns:p="http://schemas.openxmlformats.org/presentationml/2006/main">
  <p:tag name="MM_SLIDE_TYPE" val="6"/>
</p:tagLst>
</file>

<file path=ppt/tags/tag50.xml><?xml version="1.0" encoding="utf-8"?>
<p:tagLst xmlns:a="http://schemas.openxmlformats.org/drawingml/2006/main" xmlns:r="http://schemas.openxmlformats.org/officeDocument/2006/relationships" xmlns:p="http://schemas.openxmlformats.org/presentationml/2006/main">
  <p:tag name="MM_SLIDE_TYPE" val="6"/>
</p:tagLst>
</file>

<file path=ppt/tags/tag51.xml><?xml version="1.0" encoding="utf-8"?>
<p:tagLst xmlns:a="http://schemas.openxmlformats.org/drawingml/2006/main" xmlns:r="http://schemas.openxmlformats.org/officeDocument/2006/relationships" xmlns:p="http://schemas.openxmlformats.org/presentationml/2006/main">
  <p:tag name="MM_SLIDE_TYPE" val="6"/>
</p:tagLst>
</file>

<file path=ppt/tags/tag52.xml><?xml version="1.0" encoding="utf-8"?>
<p:tagLst xmlns:a="http://schemas.openxmlformats.org/drawingml/2006/main" xmlns:r="http://schemas.openxmlformats.org/officeDocument/2006/relationships" xmlns:p="http://schemas.openxmlformats.org/presentationml/2006/main">
  <p:tag name="MM_SLIDE_TYPE" val="6"/>
</p:tagLst>
</file>

<file path=ppt/tags/tag53.xml><?xml version="1.0" encoding="utf-8"?>
<p:tagLst xmlns:a="http://schemas.openxmlformats.org/drawingml/2006/main" xmlns:r="http://schemas.openxmlformats.org/officeDocument/2006/relationships" xmlns:p="http://schemas.openxmlformats.org/presentationml/2006/main">
  <p:tag name="MM_SLIDE_TYPE" val="6"/>
</p:tagLst>
</file>

<file path=ppt/tags/tag54.xml><?xml version="1.0" encoding="utf-8"?>
<p:tagLst xmlns:a="http://schemas.openxmlformats.org/drawingml/2006/main" xmlns:r="http://schemas.openxmlformats.org/officeDocument/2006/relationships" xmlns:p="http://schemas.openxmlformats.org/presentationml/2006/main">
  <p:tag name="MM_SLIDE_TYPE" val="6"/>
</p:tagLst>
</file>

<file path=ppt/tags/tag55.xml><?xml version="1.0" encoding="utf-8"?>
<p:tagLst xmlns:a="http://schemas.openxmlformats.org/drawingml/2006/main" xmlns:r="http://schemas.openxmlformats.org/officeDocument/2006/relationships" xmlns:p="http://schemas.openxmlformats.org/presentationml/2006/main">
  <p:tag name="MM_SLIDE_TYPE" val="6"/>
</p:tagLst>
</file>

<file path=ppt/tags/tag56.xml><?xml version="1.0" encoding="utf-8"?>
<p:tagLst xmlns:a="http://schemas.openxmlformats.org/drawingml/2006/main" xmlns:r="http://schemas.openxmlformats.org/officeDocument/2006/relationships" xmlns:p="http://schemas.openxmlformats.org/presentationml/2006/main">
  <p:tag name="MM_SLIDE_TYPE" val="6"/>
</p:tagLst>
</file>

<file path=ppt/tags/tag57.xml><?xml version="1.0" encoding="utf-8"?>
<p:tagLst xmlns:a="http://schemas.openxmlformats.org/drawingml/2006/main" xmlns:r="http://schemas.openxmlformats.org/officeDocument/2006/relationships" xmlns:p="http://schemas.openxmlformats.org/presentationml/2006/main">
  <p:tag name="MM_SLIDE_TYPE" val="6"/>
</p:tagLst>
</file>

<file path=ppt/tags/tag58.xml><?xml version="1.0" encoding="utf-8"?>
<p:tagLst xmlns:a="http://schemas.openxmlformats.org/drawingml/2006/main" xmlns:r="http://schemas.openxmlformats.org/officeDocument/2006/relationships" xmlns:p="http://schemas.openxmlformats.org/presentationml/2006/main">
  <p:tag name="MM_SLIDE_TYPE" val="6"/>
</p:tagLst>
</file>

<file path=ppt/tags/tag59.xml><?xml version="1.0" encoding="utf-8"?>
<p:tagLst xmlns:a="http://schemas.openxmlformats.org/drawingml/2006/main" xmlns:r="http://schemas.openxmlformats.org/officeDocument/2006/relationships" xmlns:p="http://schemas.openxmlformats.org/presentationml/2006/main">
  <p:tag name="MM_SLIDE_TYPE" val="6"/>
</p:tagLst>
</file>

<file path=ppt/tags/tag60.xml><?xml version="1.0" encoding="utf-8"?>
<p:tagLst xmlns:a="http://schemas.openxmlformats.org/drawingml/2006/main" xmlns:r="http://schemas.openxmlformats.org/officeDocument/2006/relationships" xmlns:p="http://schemas.openxmlformats.org/presentationml/2006/main">
  <p:tag name="MM_SLIDE_TYPE" val="6"/>
</p:tagLst>
</file>

<file path=ppt/tags/tag61.xml><?xml version="1.0" encoding="utf-8"?>
<p:tagLst xmlns:a="http://schemas.openxmlformats.org/drawingml/2006/main" xmlns:r="http://schemas.openxmlformats.org/officeDocument/2006/relationships" xmlns:p="http://schemas.openxmlformats.org/presentationml/2006/main">
  <p:tag name="MM_SLIDE_TYPE" val="6"/>
</p:tagLst>
</file>

<file path=ppt/tags/tag62.xml><?xml version="1.0" encoding="utf-8"?>
<p:tagLst xmlns:a="http://schemas.openxmlformats.org/drawingml/2006/main" xmlns:r="http://schemas.openxmlformats.org/officeDocument/2006/relationships" xmlns:p="http://schemas.openxmlformats.org/presentationml/2006/main">
  <p:tag name="MM_SLIDE_TYPE" val="6"/>
</p:tagLst>
</file>

<file path=ppt/tags/tag63.xml><?xml version="1.0" encoding="utf-8"?>
<p:tagLst xmlns:a="http://schemas.openxmlformats.org/drawingml/2006/main" xmlns:r="http://schemas.openxmlformats.org/officeDocument/2006/relationships" xmlns:p="http://schemas.openxmlformats.org/presentationml/2006/main">
  <p:tag name="MM_SLIDE_TYPE" val="6"/>
</p:tagLst>
</file>

<file path=ppt/tags/tag64.xml><?xml version="1.0" encoding="utf-8"?>
<p:tagLst xmlns:a="http://schemas.openxmlformats.org/drawingml/2006/main" xmlns:r="http://schemas.openxmlformats.org/officeDocument/2006/relationships" xmlns:p="http://schemas.openxmlformats.org/presentationml/2006/main">
  <p:tag name="MM_SLIDE_TYPE" val="6"/>
</p:tagLst>
</file>

<file path=ppt/tags/tag65.xml><?xml version="1.0" encoding="utf-8"?>
<p:tagLst xmlns:a="http://schemas.openxmlformats.org/drawingml/2006/main" xmlns:r="http://schemas.openxmlformats.org/officeDocument/2006/relationships" xmlns:p="http://schemas.openxmlformats.org/presentationml/2006/main">
  <p:tag name="MM_SLIDE_TYPE" val="6"/>
</p:tagLst>
</file>

<file path=ppt/tags/tag66.xml><?xml version="1.0" encoding="utf-8"?>
<p:tagLst xmlns:a="http://schemas.openxmlformats.org/drawingml/2006/main" xmlns:r="http://schemas.openxmlformats.org/officeDocument/2006/relationships" xmlns:p="http://schemas.openxmlformats.org/presentationml/2006/main">
  <p:tag name="MM_SLIDE_TYPE" val="6"/>
</p:tagLst>
</file>

<file path=ppt/tags/tag67.xml><?xml version="1.0" encoding="utf-8"?>
<p:tagLst xmlns:a="http://schemas.openxmlformats.org/drawingml/2006/main" xmlns:r="http://schemas.openxmlformats.org/officeDocument/2006/relationships" xmlns:p="http://schemas.openxmlformats.org/presentationml/2006/main">
  <p:tag name="MM_SLIDE_TYPE" val="6"/>
</p:tagLst>
</file>

<file path=ppt/tags/tag68.xml><?xml version="1.0" encoding="utf-8"?>
<p:tagLst xmlns:a="http://schemas.openxmlformats.org/drawingml/2006/main" xmlns:r="http://schemas.openxmlformats.org/officeDocument/2006/relationships" xmlns:p="http://schemas.openxmlformats.org/presentationml/2006/main">
  <p:tag name="MM_SLIDE_TYPE" val="6"/>
</p:tagLst>
</file>

<file path=ppt/tags/tag69.xml><?xml version="1.0" encoding="utf-8"?>
<p:tagLst xmlns:a="http://schemas.openxmlformats.org/drawingml/2006/main" xmlns:r="http://schemas.openxmlformats.org/officeDocument/2006/relationships" xmlns:p="http://schemas.openxmlformats.org/presentationml/2006/main">
  <p:tag name="MM_SLIDE_TYPE" val="6"/>
</p:tagLst>
</file>

<file path=ppt/tags/tag70.xml><?xml version="1.0" encoding="utf-8"?>
<p:tagLst xmlns:a="http://schemas.openxmlformats.org/drawingml/2006/main" xmlns:r="http://schemas.openxmlformats.org/officeDocument/2006/relationships" xmlns:p="http://schemas.openxmlformats.org/presentationml/2006/main">
  <p:tag name="MM_SLIDE_TYPE" val="6"/>
</p:tagLst>
</file>

<file path=ppt/tags/tag71.xml><?xml version="1.0" encoding="utf-8"?>
<p:tagLst xmlns:a="http://schemas.openxmlformats.org/drawingml/2006/main" xmlns:r="http://schemas.openxmlformats.org/officeDocument/2006/relationships" xmlns:p="http://schemas.openxmlformats.org/presentationml/2006/main">
  <p:tag name="MM_SLIDE_TYPE" val="6"/>
</p:tagLst>
</file>

<file path=ppt/tags/tag72.xml><?xml version="1.0" encoding="utf-8"?>
<p:tagLst xmlns:a="http://schemas.openxmlformats.org/drawingml/2006/main" xmlns:r="http://schemas.openxmlformats.org/officeDocument/2006/relationships" xmlns:p="http://schemas.openxmlformats.org/presentationml/2006/main">
  <p:tag name="MM_SLIDE_TYPE" val="6"/>
</p:tagLst>
</file>

<file path=ppt/tags/tag73.xml><?xml version="1.0" encoding="utf-8"?>
<p:tagLst xmlns:a="http://schemas.openxmlformats.org/drawingml/2006/main" xmlns:r="http://schemas.openxmlformats.org/officeDocument/2006/relationships" xmlns:p="http://schemas.openxmlformats.org/presentationml/2006/main">
  <p:tag name="MM_SLIDE_TYPE" val="6"/>
</p:tagLst>
</file>

<file path=ppt/tags/tag7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4.xml><?xml version="1.0" encoding="utf-8"?>
<a:theme xmlns:a="http://schemas.openxmlformats.org/drawingml/2006/main" name="5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5.xml><?xml version="1.0" encoding="utf-8"?>
<a:theme xmlns:a="http://schemas.openxmlformats.org/drawingml/2006/main" name="6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6.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BBSettings xmlns="http://schemas.bloomberg.com/settings/1.0">
  <Item name="DocumentId_Charts">{3C8E227A-B1A9-46D7-BBC5-A2D5F2BD2526}</Item>
  <Item xmlns="" name="ShapesMap_Charts">{"{3C8E227A-B1A9-46D7-BBC5-A2D5F2BD2526}":{"2134961546":{},"2134961552":{},"2134961554":{},"2134961555":{},"2134961556":{},"2134961557":{},"2134961559":{},"2134961560":{},"2134961561":{},"2134961562":{},"2134961563":{},"256":{},"262":{},"271":{}}}</Item>
</BBSettings>
</file>

<file path=customXml/itemProps1.xml><?xml version="1.0" encoding="utf-8"?>
<ds:datastoreItem xmlns:ds="http://schemas.openxmlformats.org/officeDocument/2006/customXml" ds:itemID="{98E4DE29-FCA5-441A-A5C0-116A6978817A}">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3C14C19-827A-43CC-840A-25F83CDFFAAA}">
  <ds:schemaRefs>
    <ds:schemaRef ds:uri="http://schemas.microsoft.com/sharepoint/v3/contenttype/forms"/>
  </ds:schemaRefs>
</ds:datastoreItem>
</file>

<file path=customXml/itemProps3.xml><?xml version="1.0" encoding="utf-8"?>
<ds:datastoreItem xmlns:ds="http://schemas.openxmlformats.org/officeDocument/2006/customXml" ds:itemID="{291DFE75-644F-4655-9AAB-1BA51DEA2D18}">
  <ds:schemaRefs>
    <ds:schemaRef ds:uri="http://schemas.microsoft.com/office/2006/metadata/properties"/>
    <ds:schemaRef ds:uri="http://schemas.microsoft.com/office/2006/documentManagement/types"/>
    <ds:schemaRef ds:uri="http://purl.org/dc/dcmitype/"/>
    <ds:schemaRef ds:uri="http://schemas.microsoft.com/office/infopath/2007/PartnerControls"/>
    <ds:schemaRef ds:uri="http://purl.org/dc/terms/"/>
    <ds:schemaRef ds:uri="http://www.w3.org/XML/1998/namespace"/>
    <ds:schemaRef ds:uri="http://schemas.openxmlformats.org/package/2006/metadata/core-properties"/>
    <ds:schemaRef ds:uri="http://purl.org/dc/elements/1.1/"/>
  </ds:schemaRefs>
</ds:datastoreItem>
</file>

<file path=customXml/itemProps4.xml><?xml version="1.0" encoding="utf-8"?>
<ds:datastoreItem xmlns:ds="http://schemas.openxmlformats.org/officeDocument/2006/customXml" ds:itemID="{77E49A10-1F81-43F2-B1E4-E817E850D1EA}">
  <ds:schemaRefs>
    <ds:schemaRef ds:uri="http://schemas.bloomberg.com/settings/1.0"/>
    <ds:schemaRef ds:uri=""/>
  </ds:schemaRefs>
</ds:datastoreItem>
</file>

<file path=docMetadata/LabelInfo.xml><?xml version="1.0" encoding="utf-8"?>
<clbl:labelList xmlns:clbl="http://schemas.microsoft.com/office/2020/mipLabelMetadata">
  <clbl:label id="{e6a9157b-bcf3-4eac-b03e-7cf007ba9fdf}" enabled="1" method="Standar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15920</TotalTime>
  <Words>2111</Words>
  <Application>Microsoft Office PowerPoint</Application>
  <PresentationFormat>Widescreen</PresentationFormat>
  <Paragraphs>132</Paragraphs>
  <Slides>12</Slides>
  <Notes>9</Notes>
  <HiddenSlides>0</HiddenSlides>
  <MMClips>0</MMClips>
  <ScaleCrop>false</ScaleCrop>
  <HeadingPairs>
    <vt:vector size="8" baseType="variant">
      <vt:variant>
        <vt:lpstr>Fonts Used</vt:lpstr>
      </vt:variant>
      <vt:variant>
        <vt:i4>8</vt:i4>
      </vt:variant>
      <vt:variant>
        <vt:lpstr>Theme</vt:lpstr>
      </vt:variant>
      <vt:variant>
        <vt:i4>5</vt:i4>
      </vt:variant>
      <vt:variant>
        <vt:lpstr>Links</vt:lpstr>
      </vt:variant>
      <vt:variant>
        <vt:i4>25</vt:i4>
      </vt:variant>
      <vt:variant>
        <vt:lpstr>Slide Titles</vt:lpstr>
      </vt:variant>
      <vt:variant>
        <vt:i4>12</vt:i4>
      </vt:variant>
    </vt:vector>
  </HeadingPairs>
  <TitlesOfParts>
    <vt:vector size="50" baseType="lpstr">
      <vt:lpstr>Arial</vt:lpstr>
      <vt:lpstr>Calibri</vt:lpstr>
      <vt:lpstr>Calibri Light</vt:lpstr>
      <vt:lpstr>Roboto</vt:lpstr>
      <vt:lpstr>Roboto Light</vt:lpstr>
      <vt:lpstr>XP</vt:lpstr>
      <vt:lpstr>XP Lighthouse</vt:lpstr>
      <vt:lpstr>XP Medium Lighthouse</vt:lpstr>
      <vt:lpstr>3_Template DGA 16-9</vt:lpstr>
      <vt:lpstr>Custom Design</vt:lpstr>
      <vt:lpstr>4_Template DGA 16-9</vt:lpstr>
      <vt:lpstr>5_Template DGA 16-9</vt:lpstr>
      <vt:lpstr>6_Template DGA 16-9</vt:lpstr>
      <vt:lpstr>file:///\\xpdocs\Research\Equities\Estrategia\Reports\Fluxo%20investidores%20na%20Bolsa\Banco%20de%20dados\Consolidated%20Charts.xlsx!Foreign!%5bConsolidated%20Charts.xlsx%5dForeign%20Chart%201</vt:lpstr>
      <vt:lpstr>file:///\\xpdocs\Research\Equities\Estrategia\Reports\Fluxo%20investidores%20na%20Bolsa\Banco%20de%20dados\Consolidated%20Charts.xlsx!Foreign!%5bConsolidated%20Charts.xlsx%5dForeign%20Chart%202</vt:lpstr>
      <vt:lpstr>file:///\\xpdocs\Research\Equities\Estrategia\Reports\Fluxo%20investidores%20na%20Bolsa\Banco%20de%20dados\Consolidated%20Charts.xlsx!Foreign!%5bConsolidated%20Charts.xlsx%5dForeign%20Chart%205</vt:lpstr>
      <vt:lpstr>file:///\\xpdocs\Research\Equities\Estrategia\Reports\Fluxo%20investidores%20na%20Bolsa\Banco%20de%20dados\Consolidated%20Charts.xlsx!Foreign!%5bConsolidated%20Charts.xlsx%5dForeign%20Chart%206</vt:lpstr>
      <vt:lpstr>file:///\\xpdocs\Research\Equities\Estrategia\Reports\Fluxo%20investidores%20na%20Bolsa\Banco%20de%20dados\Consolidated%20Charts.xlsx!Sector%20flows!%5bConsolidated%20Charts.xlsx%5dSector%20flows%20Chart%201</vt:lpstr>
      <vt:lpstr>file:///\\xpdocs\Research\Equities\Estrategia\Reports\Fluxo%20investidores%20na%20Bolsa\Banco%20de%20dados\Consolidated%20Charts.xlsx!Sector%20flows!%5bConsolidated%20Charts.xlsx%5dSector%20flows%20Chart%202</vt:lpstr>
      <vt:lpstr>file:///\\xpdocs\Research\Equities\Estrategia\Reports\Fluxo%20investidores%20na%20Bolsa\Banco%20de%20dados\Consolidated%20Charts.xlsx!Institutional!%5bConsolidated%20Charts.xlsx%5dInstitutional%20Chart%206</vt:lpstr>
      <vt:lpstr>file:///\\xpdocs\Research\Equities\Estrategia\Reports\Fluxo%20investidores%20na%20Bolsa\Banco%20de%20dados\Consolidated%20Charts.xlsx!Institutional!%5bConsolidated%20Charts.xlsx%5dInstitutional%20Chart%205</vt:lpstr>
      <vt:lpstr>file:///\\xpdocs\Research\Equities\Estrategia\Reports\Fluxo%20investidores%20na%20Bolsa\Banco%20de%20dados\Consolidated%20Charts.xlsx!PFs!%5bConsolidated%20Charts.xlsx%5dPFs%20Chart%201</vt:lpstr>
      <vt:lpstr>file:///\\xpdocs\Research\Equities\Estrategia\Reports\Fluxo%20investidores%20na%20Bolsa\Banco%20de%20dados\Consolidated%20Charts.xlsx!PFs!%5bConsolidated%20Charts.xlsx%5dPFs%20Chart%202</vt:lpstr>
      <vt:lpstr>file:///\\xpdocs\Research\Equities\Estrategia\Reports\Fluxo%20investidores%20na%20Bolsa\Banco%20de%20dados\Consolidated%20Charts.xlsx!Others!%5bConsolidated%20Charts.xlsx%5dOthers%20Chart%202</vt:lpstr>
      <vt:lpstr>file:///\\xpdocs\Research\Equities\Estrategia\Reports\Fluxo%20investidores%20na%20Bolsa\Banco%20de%20dados\Consolidated%20Charts.xlsx!Fin%20Inst.!%5bConsolidated%20Charts.xlsx%5dFin%20Inst.%20Chart%202</vt:lpstr>
      <vt:lpstr>file:///\\xpdocs\Research\Equities\Estrategia\Reports\Fluxo%20investidores%20na%20Bolsa\Banco%20de%20dados\Consolidated%20Charts.xlsx!Fin%20Inst.!%5bConsolidated%20Charts.xlsx%5dFin%20Inst.%20Chart%201</vt:lpstr>
      <vt:lpstr>file:///\\xpdocs\Research\Equities\Estrategia\Reports\Fluxo%20investidores%20na%20Bolsa\Banco%20de%20dados\Consolidated%20Charts.xlsx!Others!%5bConsolidated%20Charts.xlsx%5dOthers%20Chart%201</vt:lpstr>
      <vt:lpstr>file:///\\xpdocs\Research\Equities\Estrategia\Reports\Fluxo%20investidores%20na%20Bolsa\Banco%20de%20dados\Consolidated%20Charts.xlsx!Fundos%20-%20Classe!%5bConsolidated%20Charts.xlsx%5dFundos%20-%20Classe%20Chart%204</vt:lpstr>
      <vt:lpstr>file:///\\xpdocs\Research\Equities\Estrategia\Reports\Fluxo%20investidores%20na%20Bolsa\Banco%20de%20dados\Consolidated%20Charts.xlsx!Fundos%20-%20Classe!%5bConsolidated%20Charts.xlsx%5dFundos%20-%20Classe%20Chart%203</vt:lpstr>
      <vt:lpstr>file:///\\xpdocs\Research\Equities\Estrategia\Reports\Fluxo%20investidores%20na%20Bolsa\Banco%20de%20dados\Consolidated%20Charts.xlsx!Fundos%20-%20Classe!%5bConsolidated%20Charts.xlsx%5dFundos%20-%20Classe%20Chart%205</vt:lpstr>
      <vt:lpstr>file:///\\xpdocs\Research\Equities\Estrategia\Reports\Fluxo%20investidores%20na%20Bolsa\Banco%20de%20dados\Consolidated%20Charts.xlsx!Fundos%20-%20Classe!%5bConsolidated%20Charts.xlsx%5dFundos%20-%20Classe%20Chart%207</vt:lpstr>
      <vt:lpstr>file:///\\xpdocs\Research\Equities\Estrategia\Reports\Fluxo%20investidores%20na%20Bolsa\Banco%20de%20dados\Consolidated%20Charts.xlsx!Alocação%20em%20fundos!%5bConsolidated%20Charts.xlsx%5dAlocação%20em%20fundos%20Chart%203</vt:lpstr>
      <vt:lpstr>file:///\\xpdocs\Research\Equities\Estrategia\Reports\Fluxo%20investidores%20na%20Bolsa\Banco%20de%20dados\Consolidated%20Charts.xlsx!Alocação%20em%20fundos!%5bConsolidated%20Charts.xlsx%5dAlocação%20em%20fundos%20Chart%202</vt:lpstr>
      <vt:lpstr>file:///\\xpdocs\Research\Equities\Estrategia\Reports\Fluxo%20investidores%20na%20Bolsa\Banco%20de%20dados\Consolidated%20Charts.xlsx!Fundos%20de%20ações!%5bConsolidated%20Charts.xlsx%5dFundos%20de%20ações%20Chart%202</vt:lpstr>
      <vt:lpstr>file:///\\xpdocs\Research\Equities\Estrategia\Reports\Fluxo%20investidores%20na%20Bolsa\Banco%20de%20dados\Consolidated%20Charts.xlsx!Fundos%20de%20ações!%5bConsolidated%20Charts.xlsx%5dFundos%20de%20ações%20Chart%203</vt:lpstr>
      <vt:lpstr>file:///\\xpdocs\Research\Equities\Estrategia\Reports\Fluxo%20investidores%20na%20Bolsa\Banco%20de%20dados\Consolidated%20Charts.xlsx!Participação%20B3!%5bConsolidated%20Charts.xlsx%5dParticipação%20B3%20Chart%202</vt:lpstr>
      <vt:lpstr>file:///\\xpdocs\Research\Equities\Estrategia\Reports\Fluxo%20investidores%20na%20Bolsa\Banco%20de%20dados\Consolidated%20Charts.xlsx!Participação%20B3!%5bConsolidated%20Charts.xlsx%5dParticipação%20B3%20Chart%2035</vt:lpstr>
      <vt:lpstr>\\xpdocs\Research\Equities\Estrategia\Reports\Fluxo investidores na Bolsa\Banco de dados\Consolidated Charts.xlsx!Numero PFs![Consolidated Charts.xlsx]Numero PFs Chart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XP Brazil Equity Flows Monitor</dc:title>
  <dc:creator>Pedro Urbinati</dc:creator>
  <cp:lastModifiedBy>Caio Souza</cp:lastModifiedBy>
  <cp:revision>777</cp:revision>
  <cp:lastPrinted>2019-11-05T18:41:12Z</cp:lastPrinted>
  <dcterms:created xsi:type="dcterms:W3CDTF">2016-08-23T12:44:29Z</dcterms:created>
  <dcterms:modified xsi:type="dcterms:W3CDTF">2026-08-10T15:55:55Z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MSIP_Label_e6a9157b-bcf3-4eac-b03e-7cf007ba9fdf_Enabled">
    <vt:lpwstr>true</vt:lpwstr>
  </property>
  <property fmtid="{D5CDD505-2E9C-101B-9397-08002B2CF9AE}" pid="4" name="MSIP_Label_e6a9157b-bcf3-4eac-b03e-7cf007ba9fdf_SetDate">
    <vt:lpwstr>2024-11-13T17:59:26Z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631c88f4-cced-4d10-87fe-d5a5e84a09e7</vt:lpwstr>
  </property>
  <property fmtid="{D5CDD505-2E9C-101B-9397-08002B2CF9AE}" pid="9" name="MSIP_Label_e6a9157b-bcf3-4eac-b03e-7cf007ba9fdf_ContentBits">
    <vt:lpwstr>2</vt:lpwstr>
  </property>
  <property fmtid="{D5CDD505-2E9C-101B-9397-08002B2CF9AE}" pid="10" name="ClassificationContentMarkingFooterLocations">
    <vt:lpwstr>3_Template DGA 16-9:5</vt:lpwstr>
  </property>
  <property fmtid="{D5CDD505-2E9C-101B-9397-08002B2CF9AE}" pid="11" name="ClassificationContentMarkingFooterText">
    <vt:lpwstr>[ CLASSIFICAÇÃO: PÚBLICA ]</vt:lpwstr>
  </property>
</Properties>
</file>